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4"/>
  </p:handoutMasterIdLst>
  <p:sldIdLst>
    <p:sldId id="271" r:id="rId3"/>
    <p:sldId id="300" r:id="rId5"/>
    <p:sldId id="288" r:id="rId6"/>
    <p:sldId id="258" r:id="rId7"/>
    <p:sldId id="316" r:id="rId8"/>
    <p:sldId id="314" r:id="rId9"/>
    <p:sldId id="313" r:id="rId10"/>
    <p:sldId id="310" r:id="rId11"/>
    <p:sldId id="287" r:id="rId12"/>
    <p:sldId id="317" r:id="rId13"/>
    <p:sldId id="318" r:id="rId14"/>
    <p:sldId id="322" r:id="rId15"/>
    <p:sldId id="320" r:id="rId16"/>
    <p:sldId id="321" r:id="rId17"/>
    <p:sldId id="301" r:id="rId18"/>
    <p:sldId id="311" r:id="rId19"/>
    <p:sldId id="315" r:id="rId20"/>
    <p:sldId id="302" r:id="rId21"/>
    <p:sldId id="30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1.xml"/><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2.xml"/><Relationship Id="rId2" Type="http://schemas.openxmlformats.org/officeDocument/2006/relationships/image" Target="../media/image17.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3.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4.xml"/><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5.xml"/><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6.xml"/><Relationship Id="rId2" Type="http://schemas.openxmlformats.org/officeDocument/2006/relationships/image" Target="../media/image22.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29226" y="2820599"/>
            <a:ext cx="7948938" cy="236728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Analog electronic Circuit Design</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24ec2104</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effectLst/>
                <a:cs typeface="Poppins" panose="00000500000000000000" pitchFamily="2" charset="0"/>
              </a:rPr>
              <a:t>Op-Amp characteristics</a:t>
            </a:r>
            <a:endParaRPr lang="en-US" sz="3200" b="1" dirty="0">
              <a:solidFill>
                <a:srgbClr val="C00000"/>
              </a:solidFill>
              <a:effectLst/>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endParaRPr lang="en-US" sz="3600" dirty="0">
              <a:solidFill>
                <a:srgbClr val="C00000"/>
              </a:solidFill>
              <a:cs typeface="Poppins" pitchFamily="2" charset="77"/>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endParaRPr lang="en-US" sz="2000" dirty="0"/>
          </a:p>
        </p:txBody>
      </p:sp>
      <p:sp>
        <p:nvSpPr>
          <p:cNvPr id="5" name="TextBox 4"/>
          <p:cNvSpPr txBox="1"/>
          <p:nvPr/>
        </p:nvSpPr>
        <p:spPr>
          <a:xfrm>
            <a:off x="885748" y="637745"/>
            <a:ext cx="10731286" cy="881908"/>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This session aims to discuss the DC and AC characteristics of Op-Amp and their interpretation for ideal and practical Op-Amps.</a:t>
            </a:r>
            <a:endParaRPr lang="en-US" sz="1600" b="0" i="0" dirty="0">
              <a:effectLst/>
              <a:latin typeface="Poppins"/>
              <a:cs typeface="Poppins"/>
            </a:endParaRPr>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endParaRPr lang="en-US" sz="2000" dirty="0"/>
          </a:p>
        </p:txBody>
      </p:sp>
      <p:sp>
        <p:nvSpPr>
          <p:cNvPr id="9" name="TextBox 8"/>
          <p:cNvSpPr txBox="1"/>
          <p:nvPr/>
        </p:nvSpPr>
        <p:spPr>
          <a:xfrm>
            <a:off x="885749" y="2241406"/>
            <a:ext cx="10731286"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800100" lvl="1" indent="-342900">
              <a:buFont typeface="+mj-lt"/>
              <a:buAutoNum type="arabicPeriod"/>
            </a:pPr>
            <a:r>
              <a:rPr lang="en-GB" sz="1600" dirty="0"/>
              <a:t>Define the electrical parameters/characteristics of the Op-Amp.</a:t>
            </a:r>
            <a:endParaRPr lang="en-GB" sz="1600" dirty="0"/>
          </a:p>
          <a:p>
            <a:pPr marL="800100" lvl="1" indent="-342900">
              <a:buFont typeface="+mj-lt"/>
              <a:buAutoNum type="arabicPeriod"/>
            </a:pPr>
            <a:r>
              <a:rPr lang="en-GB" sz="1600" dirty="0"/>
              <a:t>Discuss the characteristics of ideal Op-Amp.</a:t>
            </a:r>
            <a:endParaRPr lang="en-GB" sz="1600" dirty="0"/>
          </a:p>
          <a:p>
            <a:pPr marL="800100" lvl="1" indent="-342900">
              <a:buFont typeface="+mj-lt"/>
              <a:buAutoNum type="arabicPeriod"/>
            </a:pPr>
            <a:r>
              <a:rPr lang="en-GB" sz="1600" dirty="0"/>
              <a:t>Illustrate the significance of Practical Op-Amp.</a:t>
            </a:r>
            <a:endParaRPr lang="en-GB" sz="1600" dirty="0"/>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800100" lvl="1" indent="-342900">
              <a:buFont typeface="+mj-lt"/>
              <a:buAutoNum type="arabicPeriod"/>
            </a:pPr>
            <a:r>
              <a:rPr lang="en-GB" sz="1600" dirty="0"/>
              <a:t>Understand the DC and AC characteristics of the Op-Amp.</a:t>
            </a:r>
            <a:endParaRPr lang="en-GB" sz="1600" dirty="0"/>
          </a:p>
          <a:p>
            <a:pPr marL="800100" lvl="1" indent="-342900">
              <a:buFont typeface="+mj-lt"/>
              <a:buAutoNum type="arabicPeriod"/>
            </a:pPr>
            <a:r>
              <a:rPr lang="en-GB" sz="1600" dirty="0"/>
              <a:t>Differentiate between ideal Op-Amp and Practical Op-Amp.</a:t>
            </a:r>
            <a:endParaRPr 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0" y="89578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DC Characteristics of Op-Amp</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 name="Content Placeholder 2"/>
          <p:cNvSpPr>
            <a:spLocks noGrp="1"/>
          </p:cNvSpPr>
          <p:nvPr>
            <p:ph idx="1"/>
          </p:nvPr>
        </p:nvSpPr>
        <p:spPr>
          <a:xfrm>
            <a:off x="1199271" y="2015553"/>
            <a:ext cx="10050620" cy="3450613"/>
          </a:xfrm>
        </p:spPr>
        <p:txBody>
          <a:bodyPr>
            <a:noAutofit/>
          </a:bodyPr>
          <a:lstStyle/>
          <a:p>
            <a:pPr marL="0" indent="0" algn="just">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The DC characteristics represent internal errors that occur as a result of mismatches between devices and components inside the op-amp. These errors are always present from the time the power is turned on (for example, before, during, and after any input signal is applied), and they determine how precisely the output matches the ideal op amp model. Thus, the precision of the op-amp is determined by the magnitude of the DC errors. </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DC Characteristics of Op-Amp are:</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1. Input Offset Voltage                                              2. Input Offset Current</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3. Input Bias Current                                                 4. Common Mode Rejection Ratio (CMRR)</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defRPr/>
            </a:pPr>
            <a:r>
              <a:rPr lang="en-US" sz="1800" dirty="0">
                <a:latin typeface="Cambria" panose="02040503050406030204" pitchFamily="18" charset="0"/>
                <a:ea typeface="Cambria" panose="02040503050406030204" pitchFamily="18" charset="0"/>
                <a:cs typeface="Times New Roman" panose="02020603050405020304" pitchFamily="18" charset="0"/>
              </a:rPr>
              <a:t>	5. Supply Voltage Rejection Ratio (SVRR)            6. Large Signal Voltage Gain</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defRPr/>
            </a:pP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en-GB" sz="18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85780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Input Offset Voltage</a:t>
            </a:r>
            <a:endParaRPr lang="en-US" sz="2400" dirty="0"/>
          </a:p>
        </p:txBody>
      </p:sp>
      <p:pic>
        <p:nvPicPr>
          <p:cNvPr id="5" name="Picture 4"/>
          <p:cNvPicPr>
            <a:picLocks noChangeAspect="1"/>
          </p:cNvPicPr>
          <p:nvPr/>
        </p:nvPicPr>
        <p:blipFill>
          <a:blip r:embed="rId1"/>
          <a:stretch>
            <a:fillRect/>
          </a:stretch>
        </p:blipFill>
        <p:spPr>
          <a:xfrm>
            <a:off x="7254342" y="3707126"/>
            <a:ext cx="4937658" cy="2208597"/>
          </a:xfrm>
          <a:prstGeom prst="rect">
            <a:avLst/>
          </a:prstGeom>
        </p:spPr>
      </p:pic>
      <p:sp>
        <p:nvSpPr>
          <p:cNvPr id="3" name="Content Placeholder 2"/>
          <p:cNvSpPr>
            <a:spLocks noGrp="1"/>
          </p:cNvSpPr>
          <p:nvPr>
            <p:ph idx="1"/>
          </p:nvPr>
        </p:nvSpPr>
        <p:spPr>
          <a:xfrm>
            <a:off x="1396162" y="1981820"/>
            <a:ext cx="9826019" cy="3450613"/>
          </a:xfrm>
        </p:spPr>
        <p:txBody>
          <a:bodyPr>
            <a:normAutofit/>
          </a:bodyPr>
          <a:lstStyle/>
          <a:p>
            <a:pPr marL="0" indent="0" algn="just">
              <a:buNone/>
            </a:pPr>
            <a:r>
              <a:rPr lang="en-US" dirty="0"/>
              <a:t>The input offset voltage (V</a:t>
            </a:r>
            <a:r>
              <a:rPr lang="en-US" baseline="-25000" dirty="0"/>
              <a:t>io</a:t>
            </a:r>
            <a:r>
              <a:rPr lang="en-US" dirty="0"/>
              <a:t>) is defined as the voltage that must be applied between the two input terminals of the op-amp to obtain zero volts at the output. V</a:t>
            </a:r>
            <a:r>
              <a:rPr lang="en-US" baseline="-25000" dirty="0"/>
              <a:t>io</a:t>
            </a:r>
            <a:r>
              <a:rPr lang="en-US" dirty="0"/>
              <a:t> is considered to be a DC error and is present from the moment that power is applied until it is turned off, with or without an input signal. It occurs during the biasing of the op-amp and its effect can only be reduced, not eliminated.</a:t>
            </a:r>
            <a:endParaRPr lang="en-US" dirty="0"/>
          </a:p>
          <a:p>
            <a:pPr marL="0" indent="0" algn="just">
              <a:buNone/>
            </a:pPr>
            <a:r>
              <a:rPr lang="en-US" dirty="0"/>
              <a:t>V</a:t>
            </a:r>
            <a:r>
              <a:rPr lang="en-US" baseline="-25000" dirty="0"/>
              <a:t>dc1</a:t>
            </a:r>
            <a:r>
              <a:rPr lang="en-US" dirty="0"/>
              <a:t> and V</a:t>
            </a:r>
            <a:r>
              <a:rPr lang="en-US" baseline="-25000" dirty="0"/>
              <a:t>dc2</a:t>
            </a:r>
            <a:r>
              <a:rPr lang="en-US" dirty="0"/>
              <a:t> are the DC voltages and R</a:t>
            </a:r>
            <a:r>
              <a:rPr lang="en-US" baseline="-25000" dirty="0"/>
              <a:t>s</a:t>
            </a:r>
            <a:r>
              <a:rPr lang="en-US" dirty="0"/>
              <a:t> is the source resistance.</a:t>
            </a:r>
            <a:endParaRPr lang="en-US" dirty="0"/>
          </a:p>
          <a:p>
            <a:pPr marL="0" indent="0" algn="just">
              <a:buNone/>
            </a:pPr>
            <a:r>
              <a:rPr lang="en-US" dirty="0"/>
              <a:t>V</a:t>
            </a:r>
            <a:r>
              <a:rPr lang="en-US" baseline="-25000" dirty="0"/>
              <a:t>io</a:t>
            </a:r>
            <a:r>
              <a:rPr lang="en-US" dirty="0"/>
              <a:t>=</a:t>
            </a:r>
            <a:r>
              <a:rPr lang="en-US" baseline="-25000" dirty="0"/>
              <a:t> </a:t>
            </a:r>
            <a:r>
              <a:rPr lang="en-US" dirty="0"/>
              <a:t>V</a:t>
            </a:r>
            <a:r>
              <a:rPr lang="en-US" baseline="-25000" dirty="0"/>
              <a:t>dc1</a:t>
            </a:r>
            <a:r>
              <a:rPr lang="en-US" dirty="0"/>
              <a:t> -  V</a:t>
            </a:r>
            <a:r>
              <a:rPr lang="en-US" baseline="-25000" dirty="0"/>
              <a:t>dc2</a:t>
            </a:r>
            <a:r>
              <a:rPr lang="en-US" dirty="0"/>
              <a:t> </a:t>
            </a:r>
            <a:endParaRPr lang="en-US" dirty="0"/>
          </a:p>
        </p:txBody>
      </p:sp>
      <p:sp>
        <p:nvSpPr>
          <p:cNvPr id="7" name="TextBox 6"/>
          <p:cNvSpPr txBox="1"/>
          <p:nvPr/>
        </p:nvSpPr>
        <p:spPr>
          <a:xfrm>
            <a:off x="1396162" y="5109267"/>
            <a:ext cx="6102926" cy="646331"/>
          </a:xfrm>
          <a:prstGeom prst="rect">
            <a:avLst/>
          </a:prstGeom>
          <a:noFill/>
        </p:spPr>
        <p:txBody>
          <a:bodyPr wrap="square">
            <a:spAutoFit/>
          </a:bodyPr>
          <a:lstStyle/>
          <a:p>
            <a:pPr marL="0" indent="0" algn="just">
              <a:buNone/>
            </a:pPr>
            <a:r>
              <a:rPr lang="en-US" dirty="0"/>
              <a:t>The smaller the value of V</a:t>
            </a:r>
            <a:r>
              <a:rPr lang="en-US" baseline="-25000" dirty="0"/>
              <a:t>io</a:t>
            </a:r>
            <a:r>
              <a:rPr lang="en-US" dirty="0"/>
              <a:t>, the better the input terminals are matched.</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4"/>
          <p:cNvGrpSpPr>
            <a:grpSpLocks noChangeAspect="1"/>
          </p:cNvGrpSpPr>
          <p:nvPr/>
        </p:nvGrpSpPr>
        <p:grpSpPr bwMode="auto">
          <a:xfrm>
            <a:off x="8428181" y="4037977"/>
            <a:ext cx="3663950" cy="1935162"/>
            <a:chOff x="5152" y="2481"/>
            <a:chExt cx="2308" cy="1219"/>
          </a:xfrm>
        </p:grpSpPr>
        <p:pic>
          <p:nvPicPr>
            <p:cNvPr id="102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52" y="2481"/>
              <a:ext cx="2316" cy="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AutoShape 3"/>
            <p:cNvSpPr>
              <a:spLocks noChangeAspect="1" noChangeArrowheads="1" noTextEdit="1"/>
            </p:cNvSpPr>
            <p:nvPr/>
          </p:nvSpPr>
          <p:spPr bwMode="auto">
            <a:xfrm>
              <a:off x="5152" y="2481"/>
              <a:ext cx="2308" cy="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IN"/>
            </a:p>
          </p:txBody>
        </p:sp>
      </p:grpSp>
      <p:sp>
        <p:nvSpPr>
          <p:cNvPr id="4" name="Rounded Rectangle 17"/>
          <p:cNvSpPr/>
          <p:nvPr/>
        </p:nvSpPr>
        <p:spPr>
          <a:xfrm>
            <a:off x="3033469" y="884861"/>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Input Offset Current</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7" name="Content Placeholder 2"/>
          <p:cNvSpPr>
            <a:spLocks noGrp="1"/>
          </p:cNvSpPr>
          <p:nvPr>
            <p:ph idx="1"/>
          </p:nvPr>
        </p:nvSpPr>
        <p:spPr>
          <a:xfrm>
            <a:off x="1382307" y="2051093"/>
            <a:ext cx="9826019" cy="3450613"/>
          </a:xfrm>
        </p:spPr>
        <p:txBody>
          <a:bodyPr>
            <a:normAutofit/>
          </a:bodyPr>
          <a:lstStyle/>
          <a:p>
            <a:pPr marL="0" indent="0" algn="just">
              <a:buNone/>
            </a:pPr>
            <a:r>
              <a:rPr lang="en-US" dirty="0"/>
              <a:t>The input offset current (I</a:t>
            </a:r>
            <a:r>
              <a:rPr lang="en-US" baseline="-25000" dirty="0"/>
              <a:t>io</a:t>
            </a:r>
            <a:r>
              <a:rPr lang="en-US" dirty="0"/>
              <a:t>) is defined as t</a:t>
            </a:r>
            <a:r>
              <a:rPr lang="en-US" sz="2000" baseline="0" dirty="0"/>
              <a:t>he algebraic difference between the currents into the inverting and non-inverting</a:t>
            </a:r>
            <a:r>
              <a:rPr lang="en-US" sz="2000" dirty="0"/>
              <a:t> terminals.</a:t>
            </a:r>
            <a:endParaRPr lang="en-US" sz="2000" dirty="0"/>
          </a:p>
          <a:p>
            <a:pPr marL="0" indent="0" algn="just">
              <a:buNone/>
            </a:pPr>
            <a:r>
              <a:rPr lang="en-US" sz="2000" dirty="0"/>
              <a:t> I</a:t>
            </a:r>
            <a:r>
              <a:rPr lang="en-US" sz="1800" baseline="-25000" dirty="0"/>
              <a:t>io</a:t>
            </a:r>
            <a:r>
              <a:rPr lang="en-US" sz="2000" dirty="0"/>
              <a:t> = | I</a:t>
            </a:r>
            <a:r>
              <a:rPr lang="en-US" sz="2000" baseline="-25000" dirty="0"/>
              <a:t>B1</a:t>
            </a:r>
            <a:r>
              <a:rPr lang="en-US" sz="2000" dirty="0"/>
              <a:t> – I</a:t>
            </a:r>
            <a:r>
              <a:rPr lang="en-US" sz="2000" baseline="-25000" dirty="0"/>
              <a:t>B2</a:t>
            </a:r>
            <a:r>
              <a:rPr lang="en-US" sz="2000" dirty="0"/>
              <a:t> |</a:t>
            </a:r>
            <a:endParaRPr lang="en-US" sz="2000" dirty="0"/>
          </a:p>
          <a:p>
            <a:pPr marL="0" indent="0" algn="just">
              <a:buNone/>
            </a:pPr>
            <a:r>
              <a:rPr lang="en-US" dirty="0"/>
              <a:t>w</a:t>
            </a:r>
            <a:r>
              <a:rPr lang="en-US" sz="2000" dirty="0"/>
              <a:t>here I</a:t>
            </a:r>
            <a:r>
              <a:rPr lang="en-US" sz="2000" baseline="-25000" dirty="0"/>
              <a:t>B1</a:t>
            </a:r>
            <a:r>
              <a:rPr lang="en-US" sz="2000" dirty="0"/>
              <a:t> is the current into the non-inverting input and I</a:t>
            </a:r>
            <a:r>
              <a:rPr lang="en-US" sz="2000" baseline="-25000" dirty="0"/>
              <a:t>B2</a:t>
            </a:r>
            <a:r>
              <a:rPr lang="en-US" sz="2000" dirty="0"/>
              <a:t> is the current into the inverting input .</a:t>
            </a:r>
            <a:endParaRPr lang="en-US" sz="2000" dirty="0"/>
          </a:p>
          <a:p>
            <a:pPr marL="0" indent="0" algn="just">
              <a:buNone/>
            </a:pPr>
            <a:r>
              <a:rPr lang="en-US" dirty="0"/>
              <a:t>As the matching between two input terminals is improved, </a:t>
            </a:r>
            <a:endParaRPr lang="en-US" dirty="0"/>
          </a:p>
          <a:p>
            <a:pPr marL="0" indent="0" algn="just">
              <a:buNone/>
            </a:pPr>
            <a:r>
              <a:rPr lang="en-US" dirty="0"/>
              <a:t>the </a:t>
            </a:r>
            <a:r>
              <a:rPr lang="en-US" sz="2400" dirty="0"/>
              <a:t>I</a:t>
            </a:r>
            <a:r>
              <a:rPr lang="en-US" sz="2000" baseline="-25000" dirty="0"/>
              <a:t>io</a:t>
            </a:r>
            <a:r>
              <a:rPr lang="en-US" dirty="0"/>
              <a:t> value decreases further.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95352" y="95779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Input Bias Current</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mc:Choice xmlns:a14="http://schemas.microsoft.com/office/drawing/2010/main" Requires="a14">
          <p:sp>
            <p:nvSpPr>
              <p:cNvPr id="2" name="Content Placeholder 2"/>
              <p:cNvSpPr>
                <a:spLocks noGrp="1"/>
              </p:cNvSpPr>
              <p:nvPr>
                <p:ph idx="1"/>
              </p:nvPr>
            </p:nvSpPr>
            <p:spPr>
              <a:xfrm>
                <a:off x="1451579" y="2015732"/>
                <a:ext cx="9603275" cy="3450613"/>
              </a:xfrm>
            </p:spPr>
            <p:txBody>
              <a:bodyPr>
                <a:normAutofit/>
              </a:bodyPr>
              <a:lstStyle/>
              <a:p>
                <a:pPr marL="0" indent="0" algn="just">
                  <a:buNone/>
                </a:pPr>
                <a:r>
                  <a:rPr lang="en-US" sz="2000" dirty="0"/>
                  <a:t>Input Bias current </a:t>
                </a:r>
                <a14:m>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sub>
                    </m:sSub>
                  </m:oMath>
                </a14:m>
                <a:r>
                  <a:rPr lang="en-US" sz="1800" dirty="0"/>
                  <a:t> ,  </a:t>
                </a:r>
                <a:r>
                  <a:rPr lang="en-US" sz="2000" dirty="0"/>
                  <a:t>is the average of the currents that flow into the inverting and non-inverting input terminals of Op-Amp.</a:t>
                </a:r>
                <a:endParaRPr lang="en-US" sz="2000" dirty="0"/>
              </a:p>
              <a:p>
                <a:pPr marL="0" indent="0" algn="just">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sub>
                      </m:sSub>
                      <m:r>
                        <a:rPr lang="en-IN" sz="2000" b="0" i="1" smtClean="0">
                          <a:latin typeface="Cambria Math" panose="02040503050406030204" pitchFamily="18" charset="0"/>
                        </a:rPr>
                        <m:t>=</m:t>
                      </m:r>
                      <m:f>
                        <m:fPr>
                          <m:ctrlPr>
                            <a:rPr lang="en-IN" sz="2000" b="0" i="1" smtClean="0">
                              <a:latin typeface="Cambria Math" panose="02040503050406030204" pitchFamily="18" charset="0"/>
                            </a:rPr>
                          </m:ctrlPr>
                        </m:fPr>
                        <m:num>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2</m:t>
                              </m:r>
                            </m:sub>
                          </m:sSub>
                        </m:num>
                        <m:den>
                          <m:r>
                            <a:rPr lang="en-IN" sz="2000" b="0" i="1" smtClean="0">
                              <a:latin typeface="Cambria Math" panose="02040503050406030204" pitchFamily="18" charset="0"/>
                            </a:rPr>
                            <m:t>2</m:t>
                          </m:r>
                        </m:den>
                      </m:f>
                    </m:oMath>
                  </m:oMathPara>
                </a14:m>
                <a:endParaRPr lang="en-IN" dirty="0"/>
              </a:p>
              <a:p>
                <a:pPr marL="0" indent="0" algn="just">
                  <a:buNone/>
                </a:pPr>
                <a:r>
                  <a:rPr lang="en-IN" dirty="0"/>
                  <a:t>Where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𝐼</m:t>
                        </m:r>
                      </m:e>
                      <m:sub>
                        <m:r>
                          <a:rPr lang="en-IN" sz="2000" b="0" i="1" smtClean="0">
                            <a:latin typeface="Cambria Math" panose="02040503050406030204" pitchFamily="18" charset="0"/>
                          </a:rPr>
                          <m:t>𝐵</m:t>
                        </m:r>
                        <m:r>
                          <a:rPr lang="en-IN" sz="2000" b="0" i="1" smtClean="0">
                            <a:latin typeface="Cambria Math" panose="02040503050406030204" pitchFamily="18" charset="0"/>
                          </a:rPr>
                          <m:t>1</m:t>
                        </m:r>
                      </m:sub>
                    </m:sSub>
                  </m:oMath>
                </a14:m>
                <a:r>
                  <a:rPr lang="en-IN" dirty="0"/>
                  <a:t> and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𝐵</m:t>
                        </m:r>
                        <m:r>
                          <a:rPr lang="en-IN" b="0" i="1" smtClean="0">
                            <a:latin typeface="Cambria Math" panose="02040503050406030204" pitchFamily="18" charset="0"/>
                          </a:rPr>
                          <m:t>2</m:t>
                        </m:r>
                      </m:sub>
                    </m:sSub>
                  </m:oMath>
                </a14:m>
                <a:r>
                  <a:rPr lang="en-IN" dirty="0"/>
                  <a:t> are the base currents of the first differential amplifier stage.</a:t>
                </a:r>
                <a:endParaRPr lang="en-IN" dirty="0"/>
              </a:p>
              <a:p>
                <a:pPr marL="0" indent="0" algn="just">
                  <a:buNone/>
                </a:pPr>
                <a:endParaRPr lang="en-IN" dirty="0"/>
              </a:p>
            </p:txBody>
          </p:sp>
        </mc:Choice>
        <mc:Fallback>
          <p:sp>
            <p:nvSpPr>
              <p:cNvPr id="2" name="Content Placeholder 2"/>
              <p:cNvSpPr>
                <a:spLocks noRot="1" noChangeAspect="1" noMove="1" noResize="1" noEditPoints="1" noAdjustHandles="1" noChangeArrowheads="1" noChangeShapeType="1" noTextEdit="1"/>
              </p:cNvSpPr>
              <p:nvPr>
                <p:ph idx="1"/>
              </p:nvPr>
            </p:nvSpPr>
            <p:spPr>
              <a:xfrm>
                <a:off x="1451579" y="2015732"/>
                <a:ext cx="9603275" cy="3450613"/>
              </a:xfrm>
              <a:blipFill rotWithShape="1">
                <a:blip r:embed="rId1"/>
                <a:stretch>
                  <a:fillRect l="-6" t="-7" r="1" b="8"/>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16" name="Rounded Rectangle 17"/>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400" dirty="0"/>
              <a:t>Common Mode Rejection Ratio (CMRR)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mc:AlternateContent xmlns:mc="http://schemas.openxmlformats.org/markup-compatibility/2006">
        <mc:Choice xmlns:a14="http://schemas.microsoft.com/office/drawing/2010/main" Requires="a14">
          <p:sp>
            <p:nvSpPr>
              <p:cNvPr id="28" name="TextBox 27"/>
              <p:cNvSpPr txBox="1"/>
              <p:nvPr/>
            </p:nvSpPr>
            <p:spPr>
              <a:xfrm>
                <a:off x="1299549" y="1997747"/>
                <a:ext cx="9592899" cy="4186595"/>
              </a:xfrm>
              <a:prstGeom prst="rect">
                <a:avLst/>
              </a:prstGeom>
              <a:noFill/>
            </p:spPr>
            <p:txBody>
              <a:bodyPr wrap="square" rtlCol="0">
                <a:spAutoFit/>
              </a:bodyPr>
              <a:lstStyle/>
              <a:p>
                <a:pPr algn="just"/>
                <a:r>
                  <a:rPr lang="en-IN" dirty="0">
                    <a:solidFill>
                      <a:schemeClr val="tx1"/>
                    </a:solidFill>
                  </a:rPr>
                  <a:t>When the same voltage is applied to both input terminals, the voltage is called a common-mode voltage and the op-amp is said to be operating in the common-mode configuration.</a:t>
                </a:r>
                <a:endParaRPr lang="en-IN" dirty="0">
                  <a:solidFill>
                    <a:schemeClr val="tx1"/>
                  </a:solidFill>
                </a:endParaRPr>
              </a:p>
              <a:p>
                <a:r>
                  <a:rPr lang="en-IN" dirty="0">
                    <a:solidFill>
                      <a:schemeClr val="tx1"/>
                    </a:solidFill>
                  </a:rPr>
                  <a:t>The Common-mode rejection ratio (CMRR) is defined as the ratio of the differential voltage gain A</a:t>
                </a:r>
                <a:r>
                  <a:rPr lang="en-IN" baseline="-25000" dirty="0">
                    <a:solidFill>
                      <a:schemeClr val="tx1"/>
                    </a:solidFill>
                  </a:rPr>
                  <a:t>d</a:t>
                </a:r>
                <a:r>
                  <a:rPr lang="en-IN" dirty="0">
                    <a:solidFill>
                      <a:schemeClr val="tx1"/>
                    </a:solidFill>
                  </a:rPr>
                  <a:t> to the common-mode voltage gain A</a:t>
                </a:r>
                <a:r>
                  <a:rPr lang="en-IN" baseline="-25000" dirty="0">
                    <a:solidFill>
                      <a:schemeClr val="tx1"/>
                    </a:solidFill>
                  </a:rPr>
                  <a:t>cm</a:t>
                </a:r>
                <a:r>
                  <a:rPr lang="en-IN" dirty="0">
                    <a:solidFill>
                      <a:schemeClr val="tx1"/>
                    </a:solidFill>
                  </a:rPr>
                  <a:t>.</a:t>
                </a:r>
                <a:endParaRPr lang="en-IN" dirty="0">
                  <a:solidFill>
                    <a:schemeClr val="tx1"/>
                  </a:solidFill>
                </a:endParaRPr>
              </a:p>
              <a:p>
                <a:r>
                  <a:rPr lang="en-IN" dirty="0">
                    <a:solidFill>
                      <a:schemeClr val="tx1"/>
                    </a:solidFill>
                  </a:rPr>
                  <a:t>							CMRR= </a:t>
                </a:r>
                <a14:m>
                  <m:oMath xmlns:m="http://schemas.openxmlformats.org/officeDocument/2006/math">
                    <m:f>
                      <m:fPr>
                        <m:ctrlPr>
                          <a:rPr lang="en-IN" sz="2400" i="1" smtClean="0">
                            <a:solidFill>
                              <a:schemeClr val="tx1"/>
                            </a:solidFill>
                            <a:latin typeface="Cambria Math" panose="02040503050406030204" pitchFamily="18" charset="0"/>
                          </a:rPr>
                        </m:ctrlPr>
                      </m:fPr>
                      <m:num>
                        <m:sSub>
                          <m:sSubPr>
                            <m:ctrlPr>
                              <a:rPr lang="en-IN" sz="240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𝐴</m:t>
                            </m:r>
                          </m:e>
                          <m:sub>
                            <m:r>
                              <a:rPr lang="en-IN" sz="2400" b="0" i="1" smtClean="0">
                                <a:solidFill>
                                  <a:schemeClr val="tx1"/>
                                </a:solidFill>
                                <a:latin typeface="Cambria Math" panose="02040503050406030204" pitchFamily="18" charset="0"/>
                              </a:rPr>
                              <m:t>𝑑</m:t>
                            </m:r>
                          </m:sub>
                        </m:sSub>
                      </m:num>
                      <m:den>
                        <m:sSub>
                          <m:sSubPr>
                            <m:ctrlPr>
                              <a:rPr lang="en-IN" sz="2400" i="1" smtClean="0">
                                <a:solidFill>
                                  <a:schemeClr val="tx1"/>
                                </a:solidFill>
                                <a:latin typeface="Cambria Math" panose="02040503050406030204" pitchFamily="18" charset="0"/>
                              </a:rPr>
                            </m:ctrlPr>
                          </m:sSubPr>
                          <m:e>
                            <m:r>
                              <a:rPr lang="en-IN" sz="2400" b="0" i="1" smtClean="0">
                                <a:solidFill>
                                  <a:schemeClr val="tx1"/>
                                </a:solidFill>
                                <a:latin typeface="Cambria Math" panose="02040503050406030204" pitchFamily="18" charset="0"/>
                              </a:rPr>
                              <m:t>𝐴</m:t>
                            </m:r>
                          </m:e>
                          <m:sub>
                            <m:r>
                              <a:rPr lang="en-IN" sz="2400" b="0" i="1" smtClean="0">
                                <a:solidFill>
                                  <a:schemeClr val="tx1"/>
                                </a:solidFill>
                                <a:latin typeface="Cambria Math" panose="02040503050406030204" pitchFamily="18" charset="0"/>
                              </a:rPr>
                              <m:t>𝑐𝑚</m:t>
                            </m:r>
                          </m:sub>
                        </m:sSub>
                      </m:den>
                    </m:f>
                  </m:oMath>
                </a14:m>
                <a:endParaRPr lang="en-IN" dirty="0">
                  <a:solidFill>
                    <a:schemeClr val="tx1"/>
                  </a:solidFill>
                </a:endParaRPr>
              </a:p>
              <a:p>
                <a:r>
                  <a:rPr lang="en-IN" dirty="0">
                    <a:solidFill>
                      <a:schemeClr val="tx1"/>
                    </a:solidFill>
                  </a:rPr>
                  <a:t>The differential voltage gain A</a:t>
                </a:r>
                <a:r>
                  <a:rPr lang="en-IN" baseline="-25000" dirty="0">
                    <a:solidFill>
                      <a:schemeClr val="tx1"/>
                    </a:solidFill>
                  </a:rPr>
                  <a:t>d</a:t>
                </a:r>
                <a:r>
                  <a:rPr lang="en-IN" dirty="0">
                    <a:solidFill>
                      <a:schemeClr val="tx1"/>
                    </a:solidFill>
                  </a:rPr>
                  <a:t> is the same as the large signal voltage gain A which is specified on the data sheets.</a:t>
                </a:r>
                <a:endParaRPr lang="en-IN" dirty="0">
                  <a:solidFill>
                    <a:schemeClr val="tx1"/>
                  </a:solidFill>
                </a:endParaRPr>
              </a:p>
              <a:p>
                <a:r>
                  <a:rPr lang="en-IN" dirty="0">
                    <a:solidFill>
                      <a:schemeClr val="tx1"/>
                    </a:solidFill>
                  </a:rPr>
                  <a:t>The common mode voltage gain  is given by </a:t>
                </a:r>
                <a:endParaRPr lang="en-IN" dirty="0">
                  <a:solidFill>
                    <a:schemeClr val="tx1"/>
                  </a:solidFill>
                </a:endParaRPr>
              </a:p>
              <a:p>
                <a:r>
                  <a:rPr lang="en-IN" dirty="0">
                    <a:solidFill>
                      <a:schemeClr val="tx1"/>
                    </a:solidFill>
                  </a:rPr>
                  <a:t>							</a:t>
                </a:r>
                <a14:m>
                  <m:oMath xmlns:m="http://schemas.openxmlformats.org/officeDocument/2006/math">
                    <m:sSub>
                      <m:sSubPr>
                        <m:ctrlPr>
                          <a:rPr lang="en-IN"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𝐴</m:t>
                        </m:r>
                      </m:e>
                      <m:sub>
                        <m:r>
                          <a:rPr lang="en-IN" sz="2000" b="0" i="1" smtClean="0">
                            <a:solidFill>
                              <a:schemeClr val="tx1"/>
                            </a:solidFill>
                            <a:latin typeface="Cambria Math" panose="02040503050406030204" pitchFamily="18" charset="0"/>
                          </a:rPr>
                          <m:t>𝑐𝑚</m:t>
                        </m:r>
                      </m:sub>
                    </m:sSub>
                    <m:r>
                      <a:rPr lang="en-IN" sz="2000" b="0" i="1" smtClean="0">
                        <a:solidFill>
                          <a:schemeClr val="tx1"/>
                        </a:solidFill>
                        <a:latin typeface="Cambria Math" panose="02040503050406030204" pitchFamily="18" charset="0"/>
                      </a:rPr>
                      <m:t>=</m:t>
                    </m:r>
                    <m:f>
                      <m:fPr>
                        <m:ctrlPr>
                          <a:rPr lang="en-IN" sz="2000" b="0" i="1" smtClean="0">
                            <a:solidFill>
                              <a:schemeClr val="tx1"/>
                            </a:solidFill>
                            <a:latin typeface="Cambria Math" panose="02040503050406030204" pitchFamily="18" charset="0"/>
                          </a:rPr>
                        </m:ctrlPr>
                      </m:fPr>
                      <m:num>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𝑜𝑐𝑚</m:t>
                            </m:r>
                          </m:sub>
                        </m:sSub>
                      </m:num>
                      <m:den>
                        <m:sSub>
                          <m:sSubPr>
                            <m:ctrlPr>
                              <a:rPr lang="en-IN" sz="2000" b="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𝑐𝑚</m:t>
                            </m:r>
                          </m:sub>
                        </m:sSub>
                      </m:den>
                    </m:f>
                  </m:oMath>
                </a14:m>
                <a:endParaRPr lang="en-IN" dirty="0">
                  <a:solidFill>
                    <a:schemeClr val="tx1"/>
                  </a:solidFill>
                </a:endParaRPr>
              </a:p>
              <a:p>
                <a:r>
                  <a:rPr lang="en-IN" dirty="0">
                    <a:solidFill>
                      <a:schemeClr val="tx1"/>
                    </a:solidFill>
                  </a:rPr>
                  <a:t>CMRR is a large value and is usually expressed in Decibels (dB).</a:t>
                </a:r>
                <a:endParaRPr lang="en-IN" dirty="0">
                  <a:solidFill>
                    <a:schemeClr val="tx1"/>
                  </a:solidFill>
                </a:endParaRPr>
              </a:p>
              <a:p>
                <a:r>
                  <a:rPr lang="en-IN" dirty="0">
                    <a:solidFill>
                      <a:schemeClr val="tx1"/>
                    </a:solidFill>
                  </a:rPr>
                  <a:t>Higher the value of CMRR, the better is the matching between two input terminals and smaller is the common mode voltage.</a:t>
                </a:r>
                <a:endParaRPr lang="en-IN" dirty="0">
                  <a:solidFill>
                    <a:schemeClr val="tx1"/>
                  </a:solidFill>
                </a:endParaRPr>
              </a:p>
              <a:p>
                <a:endParaRPr lang="en-IN" dirty="0">
                  <a:solidFill>
                    <a:schemeClr val="tx1"/>
                  </a:solidFill>
                </a:endParaRPr>
              </a:p>
            </p:txBody>
          </p:sp>
        </mc:Choice>
        <mc:Fallback>
          <p:sp>
            <p:nvSpPr>
              <p:cNvPr id="28" name="TextBox 27"/>
              <p:cNvSpPr txBox="1">
                <a:spLocks noRot="1" noChangeAspect="1" noMove="1" noResize="1" noEditPoints="1" noAdjustHandles="1" noChangeArrowheads="1" noChangeShapeType="1" noTextEdit="1"/>
              </p:cNvSpPr>
              <p:nvPr/>
            </p:nvSpPr>
            <p:spPr>
              <a:xfrm>
                <a:off x="1299549" y="1997747"/>
                <a:ext cx="9592899" cy="4186595"/>
              </a:xfrm>
              <a:prstGeom prst="rect">
                <a:avLst/>
              </a:prstGeom>
              <a:blipFill rotWithShape="1">
                <a:blip r:embed="rId1"/>
                <a:stretch>
                  <a:fillRect l="-4" t="-1" r="3" b="2"/>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2995352" y="11017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Supply Voltage Rejection Ratio (SVRR)</a:t>
            </a:r>
            <a:endParaRPr lang="en-US" sz="24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51579" y="2015732"/>
                <a:ext cx="9990143" cy="3651330"/>
              </a:xfrm>
            </p:spPr>
            <p:txBody>
              <a:bodyPr>
                <a:normAutofit/>
              </a:bodyPr>
              <a:lstStyle/>
              <a:p>
                <a:pPr marL="0" indent="0" algn="just">
                  <a:buNone/>
                </a:pPr>
                <a:r>
                  <a:rPr lang="en-IN" sz="1800" dirty="0"/>
                  <a:t>The change in an Op-amp’s input offset voltage Vio, caused by variations in supply voltages is called the Supply Voltage Rejection ratio (SVRR).  It is also known as the power supply rejection ratio (PSRR) and the power supply sensitivity (PSS). The units are either microvolts per volt or in decibels. If the change in supply voltages is ∆V and the corresponding change in input offset voltage is ∆V</a:t>
                </a:r>
                <a:r>
                  <a:rPr lang="en-IN" sz="1800" baseline="-25000" dirty="0"/>
                  <a:t>io</a:t>
                </a:r>
                <a:r>
                  <a:rPr lang="en-IN" sz="1800" dirty="0"/>
                  <a:t>, SVRR is  given by</a:t>
                </a:r>
                <a:endParaRPr lang="en-IN" sz="1800" dirty="0"/>
              </a:p>
              <a:p>
                <a:pPr marL="0" indent="0">
                  <a:buNone/>
                </a:pPr>
                <a:r>
                  <a:rPr lang="en-IN" sz="1800" dirty="0"/>
                  <a:t>			SVRR = </a:t>
                </a:r>
                <a14:m>
                  <m:oMath xmlns:m="http://schemas.openxmlformats.org/officeDocument/2006/math">
                    <m:f>
                      <m:fPr>
                        <m:ctrlPr>
                          <a:rPr lang="en-IN" sz="1800" i="1" smtClean="0">
                            <a:latin typeface="Cambria Math" panose="02040503050406030204" pitchFamily="18" charset="0"/>
                          </a:rPr>
                        </m:ctrlPr>
                      </m:fPr>
                      <m:num>
                        <m:r>
                          <m:rPr>
                            <m:nor/>
                          </m:rPr>
                          <a:rPr lang="en-IN" sz="1800" dirty="0">
                            <a:latin typeface="Cambria Math" panose="02040503050406030204" pitchFamily="18" charset="0"/>
                          </a:rPr>
                          <m:t>∆</m:t>
                        </m:r>
                        <m:r>
                          <m:rPr>
                            <m:nor/>
                          </m:rPr>
                          <a:rPr lang="en-IN" sz="1800" dirty="0">
                            <a:latin typeface="Cambria Math" panose="02040503050406030204" pitchFamily="18" charset="0"/>
                          </a:rPr>
                          <m:t>Vio</m:t>
                        </m:r>
                      </m:num>
                      <m:den>
                        <m:r>
                          <m:rPr>
                            <m:nor/>
                          </m:rPr>
                          <a:rPr lang="en-IN" sz="1800" dirty="0">
                            <a:latin typeface="Cambria Math" panose="02040503050406030204" pitchFamily="18" charset="0"/>
                          </a:rPr>
                          <m:t>∆</m:t>
                        </m:r>
                        <m:r>
                          <m:rPr>
                            <m:nor/>
                          </m:rPr>
                          <a:rPr lang="en-IN" sz="1800" dirty="0">
                            <a:latin typeface="Cambria Math" panose="02040503050406030204" pitchFamily="18" charset="0"/>
                          </a:rPr>
                          <m:t>V</m:t>
                        </m:r>
                      </m:den>
                    </m:f>
                  </m:oMath>
                </a14:m>
                <a:endParaRPr lang="en-IN" sz="1800" dirty="0"/>
              </a:p>
              <a:p>
                <a:pPr marL="0" indent="0">
                  <a:buNone/>
                </a:pPr>
                <a:r>
                  <a:rPr lang="en-IN" sz="1800" dirty="0"/>
                  <a:t>The lower the value of SVRR in microvolts/volt, the better the op-amp performance.</a:t>
                </a:r>
                <a:endParaRPr lang="en-IN" sz="1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451579" y="2015732"/>
                <a:ext cx="9990143" cy="3651330"/>
              </a:xfrm>
              <a:blipFill rotWithShape="1">
                <a:blip r:embed="rId1"/>
                <a:stretch>
                  <a:fillRect l="-6" t="-7" r="3" b="9"/>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Large Signal Voltage Gain</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mc:AlternateContent xmlns:mc="http://schemas.openxmlformats.org/markup-compatibility/2006">
        <mc:Choice xmlns:a14="http://schemas.microsoft.com/office/drawing/2010/main" Requires="a14">
          <p:sp>
            <p:nvSpPr>
              <p:cNvPr id="18" name="TextBox 17"/>
              <p:cNvSpPr txBox="1"/>
              <p:nvPr/>
            </p:nvSpPr>
            <p:spPr>
              <a:xfrm>
                <a:off x="1436914" y="2234519"/>
                <a:ext cx="9647854" cy="2862835"/>
              </a:xfrm>
              <a:prstGeom prst="rect">
                <a:avLst/>
              </a:prstGeom>
              <a:noFill/>
            </p:spPr>
            <p:txBody>
              <a:bodyPr wrap="square" rtlCol="0">
                <a:spAutoFit/>
              </a:bodyPr>
              <a:lstStyle/>
              <a:p>
                <a:pPr algn="just">
                  <a:lnSpc>
                    <a:spcPct val="150000"/>
                  </a:lnSpc>
                </a:pPr>
                <a:r>
                  <a:rPr lang="en-GB" sz="2000" b="0" i="0" dirty="0">
                    <a:solidFill>
                      <a:schemeClr val="tx1"/>
                    </a:solidFill>
                    <a:effectLst/>
                  </a:rPr>
                  <a:t>The voltage gain of the amplifier is defined as</a:t>
                </a:r>
                <a:endParaRPr lang="en-GB" sz="2000" b="0" i="0" dirty="0">
                  <a:solidFill>
                    <a:schemeClr val="tx1"/>
                  </a:solidFill>
                  <a:effectLst/>
                </a:endParaRPr>
              </a:p>
              <a:p>
                <a:pPr algn="just">
                  <a:lnSpc>
                    <a:spcPct val="150000"/>
                  </a:lnSpc>
                </a:pPr>
                <a:r>
                  <a:rPr lang="en-GB" sz="2000" dirty="0">
                    <a:solidFill>
                      <a:schemeClr val="tx1"/>
                    </a:solidFill>
                  </a:rPr>
                  <a:t>			Voltage gain = </a:t>
                </a:r>
                <a14:m>
                  <m:oMath xmlns:m="http://schemas.openxmlformats.org/officeDocument/2006/math">
                    <m:f>
                      <m:fPr>
                        <m:ctrlPr>
                          <a:rPr lang="en-GB" sz="2000" i="1" smtClean="0">
                            <a:solidFill>
                              <a:schemeClr val="tx1"/>
                            </a:solidFill>
                            <a:latin typeface="Cambria Math" panose="02040503050406030204" pitchFamily="18" charset="0"/>
                          </a:rPr>
                        </m:ctrlPr>
                      </m:fPr>
                      <m:num>
                        <m:r>
                          <a:rPr lang="en-IN" sz="2000" b="0" i="1" smtClean="0">
                            <a:solidFill>
                              <a:schemeClr val="tx1"/>
                            </a:solidFill>
                            <a:latin typeface="Cambria Math" panose="02040503050406030204" pitchFamily="18" charset="0"/>
                          </a:rPr>
                          <m:t>𝑜𝑢𝑡𝑝𝑢𝑡</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𝑣𝑜𝑙𝑡𝑎𝑔𝑒</m:t>
                        </m:r>
                      </m:num>
                      <m:den>
                        <m:r>
                          <a:rPr lang="en-IN" sz="2000" b="0" i="1" smtClean="0">
                            <a:solidFill>
                              <a:schemeClr val="tx1"/>
                            </a:solidFill>
                            <a:latin typeface="Cambria Math" panose="02040503050406030204" pitchFamily="18" charset="0"/>
                          </a:rPr>
                          <m:t>𝑑𝑖𝑓𝑓𝑒𝑟𝑒𝑛𝑡𝑖𝑎𝑙</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𝑖𝑛𝑝𝑢𝑡</m:t>
                        </m:r>
                        <m:r>
                          <a:rPr lang="en-IN" sz="2000" b="0" i="1" smtClean="0">
                            <a:solidFill>
                              <a:schemeClr val="tx1"/>
                            </a:solidFill>
                            <a:latin typeface="Cambria Math" panose="02040503050406030204" pitchFamily="18" charset="0"/>
                          </a:rPr>
                          <m:t> </m:t>
                        </m:r>
                        <m:r>
                          <a:rPr lang="en-IN" sz="2000" b="0" i="1" smtClean="0">
                            <a:solidFill>
                              <a:schemeClr val="tx1"/>
                            </a:solidFill>
                            <a:latin typeface="Cambria Math" panose="02040503050406030204" pitchFamily="18" charset="0"/>
                          </a:rPr>
                          <m:t>𝑣𝑜𝑙𝑡𝑎𝑔𝑒</m:t>
                        </m:r>
                      </m:den>
                    </m:f>
                  </m:oMath>
                </a14:m>
                <a:endParaRPr lang="en-GB" sz="2000" b="0" i="0" dirty="0">
                  <a:solidFill>
                    <a:schemeClr val="tx1"/>
                  </a:solidFill>
                  <a:effectLst/>
                </a:endParaRPr>
              </a:p>
              <a:p>
                <a:pPr algn="just">
                  <a:lnSpc>
                    <a:spcPct val="150000"/>
                  </a:lnSpc>
                </a:pPr>
                <a:r>
                  <a:rPr lang="en-GB" sz="2000" dirty="0">
                    <a:solidFill>
                      <a:schemeClr val="tx1"/>
                    </a:solidFill>
                  </a:rPr>
                  <a:t>					or       A = </a:t>
                </a:r>
                <a14:m>
                  <m:oMath xmlns:m="http://schemas.openxmlformats.org/officeDocument/2006/math">
                    <m:f>
                      <m:fPr>
                        <m:ctrlPr>
                          <a:rPr lang="en-GB" sz="2000" i="1" smtClean="0">
                            <a:solidFill>
                              <a:schemeClr val="tx1"/>
                            </a:solidFill>
                            <a:latin typeface="Cambria Math" panose="02040503050406030204" pitchFamily="18" charset="0"/>
                          </a:rPr>
                        </m:ctrlPr>
                      </m:fPr>
                      <m:num>
                        <m:sSub>
                          <m:sSubPr>
                            <m:ctrlPr>
                              <a:rPr lang="en-GB"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0</m:t>
                            </m:r>
                          </m:sub>
                        </m:sSub>
                      </m:num>
                      <m:den>
                        <m:sSub>
                          <m:sSubPr>
                            <m:ctrlPr>
                              <a:rPr lang="en-GB" sz="2000" i="1" smtClean="0">
                                <a:solidFill>
                                  <a:schemeClr val="tx1"/>
                                </a:solidFill>
                                <a:latin typeface="Cambria Math" panose="02040503050406030204" pitchFamily="18" charset="0"/>
                              </a:rPr>
                            </m:ctrlPr>
                          </m:sSubPr>
                          <m:e>
                            <m:r>
                              <a:rPr lang="en-IN" sz="2000" b="0" i="1" smtClean="0">
                                <a:solidFill>
                                  <a:schemeClr val="tx1"/>
                                </a:solidFill>
                                <a:latin typeface="Cambria Math" panose="02040503050406030204" pitchFamily="18" charset="0"/>
                              </a:rPr>
                              <m:t>𝑉</m:t>
                            </m:r>
                          </m:e>
                          <m:sub>
                            <m:r>
                              <a:rPr lang="en-IN" sz="2000" b="0" i="1" smtClean="0">
                                <a:solidFill>
                                  <a:schemeClr val="tx1"/>
                                </a:solidFill>
                                <a:latin typeface="Cambria Math" panose="02040503050406030204" pitchFamily="18" charset="0"/>
                              </a:rPr>
                              <m:t>𝑖𝑑</m:t>
                            </m:r>
                          </m:sub>
                        </m:sSub>
                      </m:den>
                    </m:f>
                  </m:oMath>
                </a14:m>
                <a:endParaRPr lang="en-GB" sz="2000" b="0" i="0" dirty="0">
                  <a:solidFill>
                    <a:schemeClr val="tx1"/>
                  </a:solidFill>
                  <a:effectLst/>
                </a:endParaRPr>
              </a:p>
              <a:p>
                <a:pPr algn="just">
                  <a:lnSpc>
                    <a:spcPct val="150000"/>
                  </a:lnSpc>
                </a:pPr>
                <a:r>
                  <a:rPr lang="en-GB" sz="2000" dirty="0">
                    <a:solidFill>
                      <a:schemeClr val="tx1"/>
                    </a:solidFill>
                  </a:rPr>
                  <a:t>As the output signal amplitude is larger than the input signal, the voltage gain is usually known as large signal voltage gain.</a:t>
                </a:r>
                <a:endParaRPr lang="en-GB" sz="2000" b="0" i="0" dirty="0">
                  <a:solidFill>
                    <a:schemeClr val="tx1"/>
                  </a:solidFill>
                  <a:effectLst/>
                </a:endParaRPr>
              </a:p>
            </p:txBody>
          </p:sp>
        </mc:Choice>
        <mc:Fallback>
          <p:sp>
            <p:nvSpPr>
              <p:cNvPr id="18" name="TextBox 17"/>
              <p:cNvSpPr txBox="1">
                <a:spLocks noRot="1" noChangeAspect="1" noMove="1" noResize="1" noEditPoints="1" noAdjustHandles="1" noChangeArrowheads="1" noChangeShapeType="1" noTextEdit="1"/>
              </p:cNvSpPr>
              <p:nvPr/>
            </p:nvSpPr>
            <p:spPr>
              <a:xfrm>
                <a:off x="1436914" y="2234519"/>
                <a:ext cx="9647854" cy="2862835"/>
              </a:xfrm>
              <a:prstGeom prst="rect">
                <a:avLst/>
              </a:prstGeom>
              <a:blipFill rotWithShape="1">
                <a:blip r:embed="rId2"/>
                <a:stretch>
                  <a:fillRect l="-6" t="-21" r="2" b="7"/>
                </a:stretch>
              </a:blipFill>
            </p:spPr>
            <p:txBody>
              <a:bodyPr/>
              <a:lstStyle/>
              <a:p>
                <a:r>
                  <a:rPr lang="en-US"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 Characteristics</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mc:AlternateContent xmlns:mc="http://schemas.openxmlformats.org/markup-compatibility/2006">
        <mc:Choice xmlns:a14="http://schemas.microsoft.com/office/drawing/2010/main" Requires="a14">
          <p:sp>
            <p:nvSpPr>
              <p:cNvPr id="18" name="TextBox 17"/>
              <p:cNvSpPr txBox="1"/>
              <p:nvPr/>
            </p:nvSpPr>
            <p:spPr>
              <a:xfrm>
                <a:off x="1436914" y="2234519"/>
                <a:ext cx="9647854" cy="2353850"/>
              </a:xfrm>
              <a:prstGeom prst="rect">
                <a:avLst/>
              </a:prstGeom>
              <a:noFill/>
            </p:spPr>
            <p:txBody>
              <a:bodyPr wrap="square" rtlCol="0">
                <a:spAutoFit/>
              </a:bodyPr>
              <a:lstStyle/>
              <a:p>
                <a:pPr algn="just">
                  <a:lnSpc>
                    <a:spcPct val="150000"/>
                  </a:lnSpc>
                </a:pPr>
                <a:r>
                  <a:rPr lang="en-IN" sz="2000" b="0" i="0" dirty="0">
                    <a:solidFill>
                      <a:schemeClr val="tx1"/>
                    </a:solidFill>
                    <a:effectLst/>
                  </a:rPr>
                  <a:t>Slew Rate:</a:t>
                </a:r>
                <a:endParaRPr lang="en-IN" sz="2000" b="0" i="0" dirty="0">
                  <a:solidFill>
                    <a:schemeClr val="tx1"/>
                  </a:solidFill>
                  <a:effectLst/>
                </a:endParaRPr>
              </a:p>
              <a:p>
                <a:pPr algn="just">
                  <a:lnSpc>
                    <a:spcPct val="150000"/>
                  </a:lnSpc>
                </a:pPr>
                <a:r>
                  <a:rPr lang="en-IN" sz="2000" dirty="0"/>
                  <a:t>Slew Rate (SR) is defined as the maximum rate of change of output voltage per unit of time and is expressed in volts per microseconds.</a:t>
                </a:r>
                <a:endParaRPr lang="en-IN" sz="2000" dirty="0"/>
              </a:p>
              <a:p>
                <a:pPr algn="just">
                  <a:lnSpc>
                    <a:spcPct val="150000"/>
                  </a:lnSpc>
                </a:pPr>
                <a14:m>
                  <m:oMathPara xmlns:m="http://schemas.openxmlformats.org/officeDocument/2006/math">
                    <m:oMathParaPr>
                      <m:jc m:val="centerGroup"/>
                    </m:oMathParaPr>
                    <m:oMath xmlns:m="http://schemas.openxmlformats.org/officeDocument/2006/math">
                      <m:r>
                        <a:rPr lang="en-IN" sz="2000" b="0" i="1" smtClean="0">
                          <a:solidFill>
                            <a:schemeClr val="tx1"/>
                          </a:solidFill>
                          <a:effectLst/>
                          <a:latin typeface="Cambria Math" panose="02040503050406030204" pitchFamily="18" charset="0"/>
                        </a:rPr>
                        <m:t>𝑆𝑅</m:t>
                      </m:r>
                      <m:r>
                        <a:rPr lang="en-IN" sz="2000" b="0" i="1" smtClean="0">
                          <a:solidFill>
                            <a:schemeClr val="tx1"/>
                          </a:solidFill>
                          <a:effectLst/>
                          <a:latin typeface="Cambria Math" panose="02040503050406030204" pitchFamily="18" charset="0"/>
                        </a:rPr>
                        <m:t>=</m:t>
                      </m:r>
                      <m:f>
                        <m:fPr>
                          <m:ctrlPr>
                            <a:rPr lang="en-IN" sz="2000" b="0" i="1" smtClean="0">
                              <a:solidFill>
                                <a:schemeClr val="tx1"/>
                              </a:solidFill>
                              <a:effectLst/>
                              <a:latin typeface="Cambria Math" panose="02040503050406030204" pitchFamily="18" charset="0"/>
                            </a:rPr>
                          </m:ctrlPr>
                        </m:fPr>
                        <m:num>
                          <m:r>
                            <a:rPr lang="en-IN" sz="2000" b="0" i="1" smtClean="0">
                              <a:solidFill>
                                <a:schemeClr val="tx1"/>
                              </a:solidFill>
                              <a:effectLst/>
                              <a:latin typeface="Cambria Math" panose="02040503050406030204" pitchFamily="18" charset="0"/>
                            </a:rPr>
                            <m:t>𝑑</m:t>
                          </m:r>
                          <m:sSub>
                            <m:sSubPr>
                              <m:ctrlPr>
                                <a:rPr lang="en-IN" sz="2000" b="0" i="1" smtClean="0">
                                  <a:solidFill>
                                    <a:schemeClr val="tx1"/>
                                  </a:solidFill>
                                  <a:effectLst/>
                                  <a:latin typeface="Cambria Math" panose="02040503050406030204" pitchFamily="18" charset="0"/>
                                </a:rPr>
                              </m:ctrlPr>
                            </m:sSubPr>
                            <m:e>
                              <m:r>
                                <a:rPr lang="en-IN" sz="2000" b="0" i="1" smtClean="0">
                                  <a:solidFill>
                                    <a:schemeClr val="tx1"/>
                                  </a:solidFill>
                                  <a:effectLst/>
                                  <a:latin typeface="Cambria Math" panose="02040503050406030204" pitchFamily="18" charset="0"/>
                                </a:rPr>
                                <m:t>𝑉</m:t>
                              </m:r>
                            </m:e>
                            <m:sub>
                              <m:r>
                                <a:rPr lang="en-IN" sz="2000" b="0" i="1" smtClean="0">
                                  <a:solidFill>
                                    <a:schemeClr val="tx1"/>
                                  </a:solidFill>
                                  <a:effectLst/>
                                  <a:latin typeface="Cambria Math" panose="02040503050406030204" pitchFamily="18" charset="0"/>
                                </a:rPr>
                                <m:t>0</m:t>
                              </m:r>
                            </m:sub>
                          </m:sSub>
                        </m:num>
                        <m:den>
                          <m:r>
                            <a:rPr lang="en-IN" sz="2000" b="0" i="1" smtClean="0">
                              <a:solidFill>
                                <a:schemeClr val="tx1"/>
                              </a:solidFill>
                              <a:effectLst/>
                              <a:latin typeface="Cambria Math" panose="02040503050406030204" pitchFamily="18" charset="0"/>
                            </a:rPr>
                            <m:t>𝑑𝑡</m:t>
                          </m:r>
                        </m:den>
                      </m:f>
                    </m:oMath>
                  </m:oMathPara>
                </a14:m>
                <a:endParaRPr lang="en-GB" sz="2000" b="0" i="0" dirty="0">
                  <a:solidFill>
                    <a:schemeClr val="tx1"/>
                  </a:solidFill>
                  <a:effectLst/>
                </a:endParaRPr>
              </a:p>
            </p:txBody>
          </p:sp>
        </mc:Choice>
        <mc:Fallback>
          <p:sp>
            <p:nvSpPr>
              <p:cNvPr id="18" name="TextBox 17"/>
              <p:cNvSpPr txBox="1">
                <a:spLocks noRot="1" noChangeAspect="1" noMove="1" noResize="1" noEditPoints="1" noAdjustHandles="1" noChangeArrowheads="1" noChangeShapeType="1" noTextEdit="1"/>
              </p:cNvSpPr>
              <p:nvPr/>
            </p:nvSpPr>
            <p:spPr>
              <a:xfrm>
                <a:off x="1436914" y="2234519"/>
                <a:ext cx="9647854" cy="2353850"/>
              </a:xfrm>
              <a:prstGeom prst="rect">
                <a:avLst/>
              </a:prstGeom>
              <a:blipFill rotWithShape="1">
                <a:blip r:embed="rId2"/>
                <a:stretch>
                  <a:fillRect l="-6" t="-25" r="2" b="21"/>
                </a:stretch>
              </a:blipFill>
            </p:spPr>
            <p:txBody>
              <a:bodyPr/>
              <a:lstStyle/>
              <a:p>
                <a:r>
                  <a:rPr lang="en-US" altLang="en-US">
                    <a:noFill/>
                  </a:rPr>
                  <a:t> </a:t>
                </a:r>
              </a:p>
            </p:txBody>
          </p:sp>
        </mc:Fallback>
      </mc:AlternateContent>
      <p:cxnSp>
        <p:nvCxnSpPr>
          <p:cNvPr id="3" name="Straight Connector 2"/>
          <p:cNvCxnSpPr/>
          <p:nvPr/>
        </p:nvCxnSpPr>
        <p:spPr>
          <a:xfrm>
            <a:off x="6830291" y="3906982"/>
            <a:ext cx="0" cy="540327"/>
          </a:xfrm>
          <a:prstGeom prst="line">
            <a:avLst/>
          </a:prstGeom>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6830291" y="4177145"/>
            <a:ext cx="575799" cy="369332"/>
          </a:xfrm>
          <a:prstGeom prst="rect">
            <a:avLst/>
          </a:prstGeom>
          <a:noFill/>
        </p:spPr>
        <p:txBody>
          <a:bodyPr wrap="none" rtlCol="0">
            <a:spAutoFit/>
          </a:bodyPr>
          <a:lstStyle/>
          <a:p>
            <a:r>
              <a:rPr lang="en-IN" dirty="0"/>
              <a:t>max</a:t>
            </a:r>
            <a:endParaRPr lang="en-IN" dirty="0"/>
          </a:p>
        </p:txBody>
      </p:sp>
      <p:sp>
        <p:nvSpPr>
          <p:cNvPr id="8" name="TextBox 7"/>
          <p:cNvSpPr txBox="1"/>
          <p:nvPr/>
        </p:nvSpPr>
        <p:spPr>
          <a:xfrm>
            <a:off x="7406090" y="3992479"/>
            <a:ext cx="620683" cy="369332"/>
          </a:xfrm>
          <a:prstGeom prst="rect">
            <a:avLst/>
          </a:prstGeom>
          <a:noFill/>
        </p:spPr>
        <p:txBody>
          <a:bodyPr wrap="none" rtlCol="0">
            <a:spAutoFit/>
          </a:bodyPr>
          <a:lstStyle/>
          <a:p>
            <a:r>
              <a:rPr lang="en-IN" dirty="0"/>
              <a:t>V/µS</a:t>
            </a:r>
            <a:endParaRPr lang="en-IN" dirty="0"/>
          </a:p>
        </p:txBody>
      </p:sp>
      <p:sp>
        <p:nvSpPr>
          <p:cNvPr id="9" name="TextBox 8"/>
          <p:cNvSpPr txBox="1"/>
          <p:nvPr/>
        </p:nvSpPr>
        <p:spPr>
          <a:xfrm>
            <a:off x="1436913" y="4588369"/>
            <a:ext cx="10436429" cy="646331"/>
          </a:xfrm>
          <a:prstGeom prst="rect">
            <a:avLst/>
          </a:prstGeom>
          <a:noFill/>
        </p:spPr>
        <p:txBody>
          <a:bodyPr wrap="square" rtlCol="0">
            <a:spAutoFit/>
          </a:bodyPr>
          <a:lstStyle/>
          <a:p>
            <a:r>
              <a:rPr lang="en-IN" dirty="0"/>
              <a:t>Slew rate indicates how rapidly the output of an op-amp can change in response to changes in the input frequency.  The SR changes with a change in voltage gain and is normally specified at unity gain.</a:t>
            </a:r>
            <a:endParaRPr lang="en-IN"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Ideal Op-Amp</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3" name="TextBox 2"/>
          <p:cNvSpPr txBox="1"/>
          <p:nvPr/>
        </p:nvSpPr>
        <p:spPr>
          <a:xfrm>
            <a:off x="1676400" y="1945002"/>
            <a:ext cx="9296400" cy="409342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 ideal Op-Amp would exhibit the following characteristics</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 Infinite voltage gain A</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Infinite input resistance 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 </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 that almost any signal source can drive it and there is no loading of the preceding stage.</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 Zero output resistance 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so that the output can drive an infinite number of other devices.</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 Zero output voltage when input voltage is zero.</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 Infinite bandwidth so that any frequency signal from 0 to ∞ Hz can be amplified without attenuation.</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 Infinite common-mode rejection ratio so that the output common-mode noise voltage is zero.</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 Infinite slew rate so that output voltage changes occur simultaneously with input voltage changes.</a:t>
            </a:r>
            <a:endParaRPr kumimoji="0" 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Ideal Op-Amp</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2" name="Picture 3" descr="Ideal Voltage Transfer Curve of Op Amp"/>
          <p:cNvPicPr>
            <a:picLocks noChangeAspect="1" noChangeArrowheads="1"/>
          </p:cNvPicPr>
          <p:nvPr/>
        </p:nvPicPr>
        <p:blipFill rotWithShape="1">
          <a:blip r:embed="rId2"/>
          <a:srcRect b="11922"/>
          <a:stretch>
            <a:fillRect/>
          </a:stretch>
        </p:blipFill>
        <p:spPr bwMode="auto">
          <a:xfrm>
            <a:off x="645668" y="2527477"/>
            <a:ext cx="5429466" cy="3415811"/>
          </a:xfrm>
          <a:prstGeom prst="rect">
            <a:avLst/>
          </a:prstGeom>
          <a:noFill/>
        </p:spPr>
      </p:pic>
      <p:sp>
        <p:nvSpPr>
          <p:cNvPr id="5" name="TextBox 4"/>
          <p:cNvSpPr txBox="1"/>
          <p:nvPr/>
        </p:nvSpPr>
        <p:spPr>
          <a:xfrm>
            <a:off x="1856509" y="2100886"/>
            <a:ext cx="2702984" cy="369332"/>
          </a:xfrm>
          <a:prstGeom prst="rect">
            <a:avLst/>
          </a:prstGeom>
          <a:noFill/>
        </p:spPr>
        <p:txBody>
          <a:bodyPr wrap="none" rtlCol="0">
            <a:spAutoFit/>
          </a:bodyPr>
          <a:lstStyle/>
          <a:p>
            <a:r>
              <a:rPr lang="en-IN" dirty="0"/>
              <a:t>Ideal voltage transfer curve</a:t>
            </a:r>
            <a:endParaRPr lang="en-IN" dirty="0"/>
          </a:p>
        </p:txBody>
      </p:sp>
      <p:pic>
        <p:nvPicPr>
          <p:cNvPr id="1026" name="Picture 2" descr="Ideal Op A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9199" y="2839855"/>
            <a:ext cx="4769428" cy="27265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101638" y="2285552"/>
            <a:ext cx="1844416" cy="369332"/>
          </a:xfrm>
          <a:prstGeom prst="rect">
            <a:avLst/>
          </a:prstGeom>
          <a:noFill/>
        </p:spPr>
        <p:txBody>
          <a:bodyPr wrap="none" rtlCol="0">
            <a:spAutoFit/>
          </a:bodyPr>
          <a:lstStyle/>
          <a:p>
            <a:r>
              <a:rPr lang="en-IN" dirty="0"/>
              <a:t>Equivalent Circuit</a:t>
            </a:r>
            <a:endParaRPr lang="en-IN"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1990725" y="1046801"/>
            <a:ext cx="9203748"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Practical Op-Amp</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2" name="Picture 1" descr="Equivalent Circuit of Operational Amplifier"/>
          <p:cNvPicPr/>
          <p:nvPr/>
        </p:nvPicPr>
        <p:blipFill rotWithShape="1">
          <a:blip r:embed="rId2"/>
          <a:srcRect b="8471"/>
          <a:stretch>
            <a:fillRect/>
          </a:stretch>
        </p:blipFill>
        <p:spPr bwMode="auto">
          <a:xfrm>
            <a:off x="8104908" y="3228109"/>
            <a:ext cx="4087091" cy="2214563"/>
          </a:xfrm>
          <a:prstGeom prst="rect">
            <a:avLst/>
          </a:prstGeom>
          <a:noFill/>
          <a:ln w="12700">
            <a:solidFill>
              <a:schemeClr val="tx1"/>
            </a:solidFill>
            <a:miter lim="800000"/>
            <a:headEnd/>
            <a:tailEnd/>
          </a:ln>
        </p:spPr>
      </p:pic>
      <mc:AlternateContent xmlns:mc="http://schemas.openxmlformats.org/markup-compatibility/2006">
        <mc:Choice xmlns:a14="http://schemas.microsoft.com/office/drawing/2010/main" Requires="a14">
          <p:sp>
            <p:nvSpPr>
              <p:cNvPr id="3" name="Rectangle 2"/>
              <p:cNvSpPr>
                <a:spLocks noChangeArrowheads="1"/>
              </p:cNvSpPr>
              <p:nvPr/>
            </p:nvSpPr>
            <p:spPr bwMode="auto">
              <a:xfrm>
                <a:off x="817419" y="1930525"/>
                <a:ext cx="7287490" cy="273921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AV</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id</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 the Equivalent Thevenin voltage source</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a:t>
                </a:r>
                <a:r>
                  <a:rPr kumimoji="0" lang="en-US" sz="2000" b="0" i="0" u="none" strike="noStrike" cap="none" normalizeH="0" baseline="-2500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is the </a:t>
                </a:r>
                <a:r>
                  <a:rPr kumimoji="0" 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Thevenin</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Equivalent resistance looking back into the output terminal of Op-Amp.</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Arial" panose="020B0604020202020204" pitchFamily="34" charset="0"/>
                  </a:rPr>
                  <a:t>The basic operating principles of an Op-Amp can be analyzed with the help of the equivalent</a:t>
                </a:r>
                <a:r>
                  <a:rPr kumimoji="0" 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circuit </a:t>
                </a:r>
                <a:r>
                  <a:rPr kumimoji="0" 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latin typeface="Calibri" panose="020F0502020204030204" pitchFamily="34" charset="0"/>
                    <a:ea typeface="Calibri" panose="020F0502020204030204" pitchFamily="34" charset="0"/>
                    <a:cs typeface="Times New Roman" panose="02020603050405020304" pitchFamily="18" charset="0"/>
                  </a:rPr>
                  <a:t>The equation given below  is the basic Op-Amp equation , in which output offset voltage is assumed to be zero.</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sSub>
                        <m:sSubPr>
                          <m:ctrlPr>
                            <a:rPr kumimoji="0" lang="en-US"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0</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𝐴</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𝑖𝑑</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𝐴</m:t>
                      </m:r>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1</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sSub>
                        <m:sSubPr>
                          <m:ctrlP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ctrlPr>
                        </m:sSubPr>
                        <m:e>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𝑉</m:t>
                          </m:r>
                        </m:e>
                        <m: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2</m:t>
                          </m:r>
                        </m:sub>
                      </m:sSub>
                      <m:r>
                        <a:rPr kumimoji="0" lang="en-IN" sz="1600" b="0" i="1" u="none" strike="noStrike" cap="none" normalizeH="0" baseline="0" smtClean="0">
                          <a:ln>
                            <a:noFill/>
                          </a:ln>
                          <a:solidFill>
                            <a:schemeClr val="tx1"/>
                          </a:solidFill>
                          <a:effectLst/>
                          <a:latin typeface="Cambria Math" panose="02040503050406030204" pitchFamily="18" charset="0"/>
                          <a:cs typeface="Arial" panose="020B0604020202020204" pitchFamily="34" charset="0"/>
                        </a:rPr>
                        <m:t>)</m:t>
                      </m:r>
                    </m:oMath>
                  </m:oMathPara>
                </a14:m>
                <a:endPar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mc:Choice>
        <mc:Fallback>
          <p:sp>
            <p:nvSpPr>
              <p:cNvPr id="3" name="Rectangle 2"/>
              <p:cNvSpPr>
                <a:spLocks noRot="1" noChangeAspect="1" noMove="1" noResize="1" noEditPoints="1" noAdjustHandles="1" noChangeArrowheads="1" noChangeShapeType="1" noTextEdit="1"/>
              </p:cNvSpPr>
              <p:nvPr/>
            </p:nvSpPr>
            <p:spPr bwMode="auto">
              <a:xfrm>
                <a:off x="817419" y="1930525"/>
                <a:ext cx="7287490" cy="2739211"/>
              </a:xfrm>
              <a:prstGeom prst="rect">
                <a:avLst/>
              </a:prstGeom>
              <a:blipFill rotWithShape="1">
                <a:blip r:embed="rId3"/>
                <a:stretch>
                  <a:fillRect l="-2" t="-5" r="6" b="21"/>
                </a:stretch>
              </a:blipFill>
              <a:ln w="9525">
                <a:noFill/>
                <a:miter lim="800000"/>
              </a:ln>
              <a:effectLst/>
            </p:spPr>
            <p:txBody>
              <a:bodyPr/>
              <a:lstStyle/>
              <a:p>
                <a:r>
                  <a:rPr lang="en-US" altLang="en-US">
                    <a:noFill/>
                  </a:rPr>
                  <a:t> </a:t>
                </a:r>
              </a:p>
            </p:txBody>
          </p:sp>
        </mc:Fallback>
      </mc:AlternateContent>
      <p:sp>
        <p:nvSpPr>
          <p:cNvPr id="8" name="TextBox 7"/>
          <p:cNvSpPr txBox="1"/>
          <p:nvPr/>
        </p:nvSpPr>
        <p:spPr>
          <a:xfrm>
            <a:off x="995362" y="4522857"/>
            <a:ext cx="7287490" cy="120032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lang="en-US" dirty="0">
                <a:solidFill>
                  <a:srgbClr val="000000"/>
                </a:solidFill>
                <a:latin typeface="Calibri" panose="020F0502020204030204" pitchFamily="34" charset="0"/>
                <a:ea typeface="Times New Roman" panose="02020603050405020304" pitchFamily="18" charset="0"/>
                <a:cs typeface="Arial" panose="020B0604020202020204" pitchFamily="34" charset="0"/>
              </a:rPr>
              <a:t>w</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here </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A = large signal voltage gain , 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id</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differential input voltage</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1</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voltage at Inverting terminal with respect to ground.</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tab pos="457200" algn="l"/>
              </a:tabLst>
            </a:pP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V</a:t>
            </a:r>
            <a:r>
              <a:rPr kumimoji="0" lang="en-US" sz="1800" b="0" i="0" u="none" strike="noStrike" cap="none" normalizeH="0" baseline="-3000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2</a:t>
            </a:r>
            <a:r>
              <a:rPr kumimoji="0" lang="en-US" sz="18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Arial" panose="020B0604020202020204" pitchFamily="34" charset="0"/>
              </a:rPr>
              <a:t> = voltage at non-inverting terminal with respect to ground.</a:t>
            </a: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Rounded Rectangle 17"/>
          <p:cNvSpPr/>
          <p:nvPr/>
        </p:nvSpPr>
        <p:spPr>
          <a:xfrm>
            <a:off x="1990725" y="1046801"/>
            <a:ext cx="9203748"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Comparison of Ideal and Practical Op-Amp</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3" name="Picture 2" descr="Table 1.1 from . Characteristics and Parameters of Operational Amplifiers |  Semantic Scholar"/>
          <p:cNvPicPr>
            <a:picLocks noChangeAspect="1" noChangeArrowheads="1"/>
          </p:cNvPicPr>
          <p:nvPr/>
        </p:nvPicPr>
        <p:blipFill rotWithShape="1">
          <a:blip r:embed="rId2"/>
          <a:srcRect t="4301"/>
          <a:stretch>
            <a:fillRect/>
          </a:stretch>
        </p:blipFill>
        <p:spPr bwMode="auto">
          <a:xfrm>
            <a:off x="3713018" y="2112021"/>
            <a:ext cx="5153892" cy="3699178"/>
          </a:xfrm>
          <a:prstGeom prst="rect">
            <a:avLst/>
          </a:prstGeom>
          <a:noFill/>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CMRR for an Op-Amp should be</a:t>
            </a:r>
            <a:endParaRPr lang="en-US" dirty="0"/>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latin typeface="+mj-lt"/>
              </a:rPr>
              <a:t>As large as possible</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Close to Unity</a:t>
            </a:r>
            <a:endParaRPr lang="en-US" sz="1600" dirty="0">
              <a:solidFill>
                <a:schemeClr val="bg1"/>
              </a:solidFill>
              <a:latin typeface="+mj-lt"/>
            </a:endParaRPr>
          </a:p>
          <a:p>
            <a:pPr marL="342900" indent="-342900">
              <a:lnSpc>
                <a:spcPct val="150000"/>
              </a:lnSpc>
              <a:buAutoNum type="alphaLcParenBoth"/>
            </a:pPr>
            <a:r>
              <a:rPr lang="en-IN" sz="1600" dirty="0">
                <a:solidFill>
                  <a:schemeClr val="bg1"/>
                </a:solidFill>
                <a:latin typeface="+mj-lt"/>
              </a:rPr>
              <a:t>Zero</a:t>
            </a:r>
            <a:endParaRPr lang="en-US" sz="1600" dirty="0">
              <a:solidFill>
                <a:schemeClr val="bg1"/>
              </a:solidFill>
              <a:latin typeface="+mj-lt"/>
            </a:endParaRPr>
          </a:p>
          <a:p>
            <a:pPr marL="342900" indent="-342900">
              <a:lnSpc>
                <a:spcPct val="150000"/>
              </a:lnSpc>
              <a:buAutoNum type="alphaLcParenBoth"/>
            </a:pPr>
            <a:r>
              <a:rPr lang="en-GB" sz="1600" dirty="0">
                <a:solidFill>
                  <a:schemeClr val="bg1"/>
                </a:solidFill>
                <a:latin typeface="+mj-lt"/>
              </a:rPr>
              <a:t>As small as possible</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GB" dirty="0"/>
              <a:t>In an Op-Amp, the input impedance is _____ and the output impedance is ________.</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solidFill>
                  <a:schemeClr val="bg1"/>
                </a:solidFill>
              </a:rPr>
              <a:t>Low; Low</a:t>
            </a:r>
            <a:endParaRPr lang="en-US" dirty="0">
              <a:solidFill>
                <a:schemeClr val="bg1"/>
              </a:solidFill>
            </a:endParaRPr>
          </a:p>
          <a:p>
            <a:pPr marL="342900" indent="-342900">
              <a:lnSpc>
                <a:spcPct val="150000"/>
              </a:lnSpc>
              <a:buAutoNum type="alphaLcParenBoth"/>
            </a:pPr>
            <a:r>
              <a:rPr lang="en-US" dirty="0">
                <a:solidFill>
                  <a:schemeClr val="bg1"/>
                </a:solidFill>
              </a:rPr>
              <a:t>Low; High</a:t>
            </a:r>
            <a:endParaRPr lang="en-US" dirty="0">
              <a:solidFill>
                <a:schemeClr val="bg1"/>
              </a:solidFill>
            </a:endParaRPr>
          </a:p>
          <a:p>
            <a:pPr marL="342900" indent="-342900">
              <a:lnSpc>
                <a:spcPct val="150000"/>
              </a:lnSpc>
              <a:buAutoNum type="alphaLcParenBoth"/>
            </a:pPr>
            <a:r>
              <a:rPr lang="en-US" dirty="0">
                <a:solidFill>
                  <a:schemeClr val="bg1"/>
                </a:solidFill>
              </a:rPr>
              <a:t>High; Low</a:t>
            </a:r>
            <a:endParaRPr lang="en-US" dirty="0">
              <a:solidFill>
                <a:schemeClr val="bg1"/>
              </a:solidFill>
            </a:endParaRPr>
          </a:p>
          <a:p>
            <a:pPr marL="342900" indent="-342900">
              <a:lnSpc>
                <a:spcPct val="150000"/>
              </a:lnSpc>
              <a:buAutoNum type="alphaLcParenBoth"/>
            </a:pPr>
            <a:r>
              <a:rPr lang="en-US" dirty="0">
                <a:solidFill>
                  <a:schemeClr val="bg1"/>
                </a:solidFill>
              </a:rPr>
              <a:t>High; High</a:t>
            </a:r>
            <a:endParaRPr 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In order for an output to swing above and below a zero reference, the Op-Amp circuit requires</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4" y="1905217"/>
            <a:ext cx="50691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sz="1600" dirty="0">
                <a:solidFill>
                  <a:schemeClr val="bg1"/>
                </a:solidFill>
              </a:rPr>
              <a:t>A resistive feedback network</a:t>
            </a:r>
            <a:endParaRPr lang="en-US" sz="1600" dirty="0">
              <a:solidFill>
                <a:schemeClr val="bg1"/>
              </a:solidFill>
            </a:endParaRPr>
          </a:p>
          <a:p>
            <a:pPr marL="342900" indent="-342900">
              <a:lnSpc>
                <a:spcPct val="150000"/>
              </a:lnSpc>
              <a:buAutoNum type="alphaLcParenBoth"/>
            </a:pPr>
            <a:r>
              <a:rPr lang="en-GB" sz="1600" dirty="0">
                <a:solidFill>
                  <a:schemeClr val="bg1"/>
                </a:solidFill>
              </a:rPr>
              <a:t>+VCC and - VEE</a:t>
            </a:r>
            <a:endParaRPr lang="en-GB" sz="1600" dirty="0">
              <a:solidFill>
                <a:schemeClr val="bg1"/>
              </a:solidFill>
            </a:endParaRPr>
          </a:p>
          <a:p>
            <a:pPr marL="342900" indent="-342900">
              <a:lnSpc>
                <a:spcPct val="150000"/>
              </a:lnSpc>
              <a:buAutoNum type="alphaLcParenBoth"/>
            </a:pPr>
            <a:r>
              <a:rPr lang="en-US" sz="1600" dirty="0">
                <a:solidFill>
                  <a:schemeClr val="bg1"/>
                </a:solidFill>
              </a:rPr>
              <a:t>Zero Offset</a:t>
            </a:r>
            <a:endParaRPr lang="en-US" sz="1600" dirty="0">
              <a:solidFill>
                <a:schemeClr val="bg1"/>
              </a:solidFill>
            </a:endParaRPr>
          </a:p>
          <a:p>
            <a:pPr marL="342900" indent="-342900">
              <a:lnSpc>
                <a:spcPct val="150000"/>
              </a:lnSpc>
              <a:buAutoNum type="alphaLcParenBoth"/>
            </a:pPr>
            <a:r>
              <a:rPr lang="en-GB" sz="1600" dirty="0">
                <a:solidFill>
                  <a:schemeClr val="bg1"/>
                </a:solidFill>
              </a:rPr>
              <a:t>Wide bandwidth</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For an Ideal Op-Amp, which of the following is correct?</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66101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Infinite input impedance and infinite open loop gain</a:t>
            </a:r>
            <a:endParaRPr lang="en-US" dirty="0"/>
          </a:p>
          <a:p>
            <a:pPr marL="342900" indent="-342900">
              <a:lnSpc>
                <a:spcPct val="150000"/>
              </a:lnSpc>
              <a:buAutoNum type="alphaLcParenBoth"/>
            </a:pPr>
            <a:r>
              <a:rPr lang="en-US" dirty="0"/>
              <a:t>Zero input impedance and infinite open loop gain</a:t>
            </a:r>
            <a:endParaRPr lang="en-US" dirty="0"/>
          </a:p>
          <a:p>
            <a:pPr marL="342900" indent="-342900">
              <a:lnSpc>
                <a:spcPct val="150000"/>
              </a:lnSpc>
              <a:buAutoNum type="alphaLcParenBoth"/>
            </a:pPr>
            <a:r>
              <a:rPr lang="en-US" dirty="0">
                <a:solidFill>
                  <a:schemeClr val="bg1"/>
                </a:solidFill>
              </a:rPr>
              <a:t>Zero input impedance and zero open loop gain</a:t>
            </a:r>
            <a:endParaRPr lang="en-US" dirty="0">
              <a:solidFill>
                <a:schemeClr val="bg1"/>
              </a:solidFill>
            </a:endParaRPr>
          </a:p>
          <a:p>
            <a:pPr marL="342900" indent="-342900">
              <a:lnSpc>
                <a:spcPct val="150000"/>
              </a:lnSpc>
              <a:buAutoNum type="alphaLcParenBoth"/>
            </a:pPr>
            <a:r>
              <a:rPr lang="en-US" sz="1600" dirty="0">
                <a:solidFill>
                  <a:schemeClr val="bg1"/>
                </a:solidFill>
              </a:rPr>
              <a:t>Infinite input impedance and zero open loop gain</a:t>
            </a: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a</a:t>
            </a:r>
            <a:endParaRPr lang="en-IN" dirty="0"/>
          </a:p>
          <a:p>
            <a:pPr marL="457200" indent="-457200">
              <a:buFont typeface="+mj-lt"/>
              <a:buAutoNum type="arabicPeriod"/>
            </a:pPr>
            <a:r>
              <a:rPr lang="en-IN" dirty="0"/>
              <a:t>c</a:t>
            </a:r>
            <a:endParaRPr lang="en-IN" dirty="0"/>
          </a:p>
          <a:p>
            <a:pPr marL="457200" indent="-457200">
              <a:buFont typeface="+mj-lt"/>
              <a:buAutoNum type="arabicPeriod"/>
            </a:pPr>
            <a:r>
              <a:rPr lang="en-IN" dirty="0"/>
              <a:t>b</a:t>
            </a:r>
            <a:endParaRPr lang="en-IN" dirty="0"/>
          </a:p>
          <a:p>
            <a:pPr marL="457200" indent="-457200">
              <a:buFont typeface="+mj-lt"/>
              <a:buAutoNum type="arabicPeriod"/>
            </a:pPr>
            <a:r>
              <a:rPr lang="en-IN" dirty="0"/>
              <a:t>a</a:t>
            </a:r>
            <a:endParaRPr lang="en-IN" dirty="0"/>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380930" y="1967920"/>
            <a:ext cx="9694506" cy="3332900"/>
          </a:xfrm>
          <a:prstGeom prst="rect">
            <a:avLst/>
          </a:prstGeom>
          <a:noFill/>
        </p:spPr>
        <p:txBody>
          <a:bodyPr wrap="square" rtlCol="0">
            <a:spAutoFit/>
          </a:bodyPr>
          <a:lstStyle/>
          <a:p>
            <a:pPr marL="342900" indent="-342900" algn="just">
              <a:lnSpc>
                <a:spcPct val="200000"/>
              </a:lnSpc>
              <a:buFont typeface="+mj-lt"/>
              <a:buAutoNum type="arabicPeriod"/>
            </a:pPr>
            <a:r>
              <a:rPr lang="en-US" b="1" dirty="0"/>
              <a:t>List the parameters that should be considered for ac and dc applications.</a:t>
            </a:r>
            <a:endParaRPr lang="en-US" b="1" dirty="0"/>
          </a:p>
          <a:p>
            <a:pPr marL="342900" indent="-342900" algn="just">
              <a:lnSpc>
                <a:spcPct val="200000"/>
              </a:lnSpc>
              <a:buFont typeface="+mj-lt"/>
              <a:buAutoNum type="arabicPeriod"/>
            </a:pPr>
            <a:r>
              <a:rPr lang="en-US" b="1" dirty="0"/>
              <a:t>What are the characteristics of an ideal Op-Amp?</a:t>
            </a:r>
            <a:endParaRPr lang="en-US" b="1" dirty="0"/>
          </a:p>
          <a:p>
            <a:pPr marL="342900" indent="-342900" algn="just">
              <a:lnSpc>
                <a:spcPct val="200000"/>
              </a:lnSpc>
              <a:buFont typeface="+mj-lt"/>
              <a:buAutoNum type="arabicPeriod"/>
            </a:pPr>
            <a:r>
              <a:rPr lang="en-US" b="1" dirty="0"/>
              <a:t>For a given op-amp, CMRR = 10</a:t>
            </a:r>
            <a:r>
              <a:rPr lang="en-US" b="1" baseline="30000" dirty="0"/>
              <a:t>5</a:t>
            </a:r>
            <a:r>
              <a:rPr lang="en-US" b="1" dirty="0"/>
              <a:t> and differential gain Ad = 10</a:t>
            </a:r>
            <a:r>
              <a:rPr lang="en-US" b="1" baseline="30000" dirty="0"/>
              <a:t>5</a:t>
            </a:r>
            <a:r>
              <a:rPr lang="en-US" b="1" dirty="0"/>
              <a:t>. Determine the common-mode gain A</a:t>
            </a:r>
            <a:r>
              <a:rPr lang="en-US" b="1" baseline="-25000" dirty="0"/>
              <a:t>cm</a:t>
            </a:r>
            <a:r>
              <a:rPr lang="en-US" b="1" dirty="0"/>
              <a:t> of the op-amp.</a:t>
            </a:r>
            <a:endParaRPr lang="en-US" b="1" dirty="0"/>
          </a:p>
          <a:p>
            <a:pPr marL="342900" indent="-342900" algn="just">
              <a:lnSpc>
                <a:spcPct val="200000"/>
              </a:lnSpc>
              <a:buFont typeface="+mj-lt"/>
              <a:buAutoNum type="arabicPeriod"/>
            </a:pPr>
            <a:r>
              <a:rPr lang="en-IN" b="1" dirty="0"/>
              <a:t>The output voltage of a certain op-amp circuit changes by 20 Vin 4 µs. What is its slew rate?</a:t>
            </a:r>
            <a:endParaRPr lang="en-US" b="1"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308324"/>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endParaRPr lang="en-US" b="1" dirty="0"/>
          </a:p>
          <a:p>
            <a:pPr algn="l">
              <a:buFont typeface="+mj-lt"/>
              <a:buAutoNum type="arabicPeriod"/>
            </a:pPr>
            <a:r>
              <a:rPr lang="en-US" dirty="0"/>
              <a:t>1https://www.allaboutcircuits.com/textbook/semiconductors/chpt-8/op-amp-practical-considerations/</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AECD</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otalTime>0</TotalTime>
  <Words>7297</Words>
  <Application>WPS Presentation</Application>
  <PresentationFormat>Widescreen</PresentationFormat>
  <Paragraphs>199</Paragraphs>
  <Slides>20</Slides>
  <Notes>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20</vt:i4>
      </vt:variant>
    </vt:vector>
  </HeadingPairs>
  <TitlesOfParts>
    <vt:vector size="39" baseType="lpstr">
      <vt:lpstr>Arial</vt:lpstr>
      <vt:lpstr>SimSun</vt:lpstr>
      <vt:lpstr>Wingdings</vt:lpstr>
      <vt:lpstr>Arial</vt:lpstr>
      <vt:lpstr>Calibri</vt:lpstr>
      <vt:lpstr>Poppins</vt:lpstr>
      <vt:lpstr>Segoe Print</vt:lpstr>
      <vt:lpstr>BioRhyme ExtraBold</vt:lpstr>
      <vt:lpstr>Poppins</vt:lpstr>
      <vt:lpstr>Poppins</vt:lpstr>
      <vt:lpstr>Cambria</vt:lpstr>
      <vt:lpstr>Times New Roman</vt:lpstr>
      <vt:lpstr>Cambria Math</vt:lpstr>
      <vt:lpstr>Gill Sans MT</vt:lpstr>
      <vt:lpstr>Microsoft YaHei</vt:lpstr>
      <vt:lpstr>Arial Unicode MS</vt:lpstr>
      <vt:lpstr>Calibri</vt:lpstr>
      <vt:lpstr>Söhne</vt:lpstr>
      <vt:lpstr>Gallery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Subba Reddy Vasipalli</dc:creator>
  <cp:lastModifiedBy>Uday Kiran</cp:lastModifiedBy>
  <cp:revision>43</cp:revision>
  <dcterms:created xsi:type="dcterms:W3CDTF">2023-05-11T04:21:00Z</dcterms:created>
  <dcterms:modified xsi:type="dcterms:W3CDTF">2025-09-08T03:45:14Z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8B9783F51FD24CF7A7B2F7509EC48465_13</vt:lpwstr>
  </property>
  <property fmtid="{D5CDD505-2E9C-101B-9397-08002B2CF9AE}" pid="3" name="KSOProductBuildVer">
    <vt:lpwstr>1033-12.2.0.22222</vt:lpwstr>
  </property>
</Properties>
</file>