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5"/>
  </p:handoutMasterIdLst>
  <p:sldIdLst>
    <p:sldId id="346" r:id="rId3"/>
    <p:sldId id="332" r:id="rId5"/>
    <p:sldId id="355" r:id="rId6"/>
    <p:sldId id="258" r:id="rId7"/>
    <p:sldId id="655" r:id="rId8"/>
    <p:sldId id="658" r:id="rId9"/>
    <p:sldId id="661" r:id="rId10"/>
    <p:sldId id="664" r:id="rId11"/>
    <p:sldId id="688" r:id="rId12"/>
    <p:sldId id="691" r:id="rId13"/>
    <p:sldId id="694" r:id="rId14"/>
    <p:sldId id="697" r:id="rId15"/>
    <p:sldId id="700" r:id="rId16"/>
    <p:sldId id="369" r:id="rId17"/>
    <p:sldId id="632" r:id="rId18"/>
    <p:sldId id="370" r:id="rId19"/>
    <p:sldId id="371" r:id="rId20"/>
    <p:sldId id="372" r:id="rId21"/>
    <p:sldId id="373" r:id="rId22"/>
    <p:sldId id="358" r:id="rId23"/>
    <p:sldId id="376"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05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812" autoAdjust="0"/>
    <p:restoredTop sz="94660"/>
  </p:normalViewPr>
  <p:slideViewPr>
    <p:cSldViewPr snapToGrid="0">
      <p:cViewPr varScale="1">
        <p:scale>
          <a:sx n="96" d="100"/>
          <a:sy n="96" d="100"/>
        </p:scale>
        <p:origin x="184" y="3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handoutMaster" Target="handoutMasters/handoutMaster1.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fld>
            <a:endParaRPr lang="en-IN"/>
          </a:p>
        </p:txBody>
      </p:sp>
    </p:spTree>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fld>
            <a:endParaRPr lang="en-IN"/>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3.png"/><Relationship Id="rId14" Type="http://schemas.openxmlformats.org/officeDocument/2006/relationships/image" Target="../media/image2.png"/><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p:cNvPicPr>
            <a:picLocks noChangeAspect="1"/>
          </p:cNvPicPr>
          <p:nvPr userDrawn="1"/>
        </p:nvPicPr>
        <p:blipFill rotWithShape="1">
          <a:blip r:embed="rId14" cstate="print">
            <a:extLst>
              <a:ext uri="{28A0092B-C50C-407E-A947-70E740481C1C}">
                <a14:useLocalDpi xmlns:a14="http://schemas.microsoft.com/office/drawing/2010/main"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userDrawn="1"/>
        </p:nvPicPr>
        <p:blipFill rotWithShape="1">
          <a:blip r:embed="rId15" cstate="print">
            <a:extLst>
              <a:ext uri="{28A0092B-C50C-407E-A947-70E740481C1C}">
                <a14:useLocalDpi xmlns:a14="http://schemas.microsoft.com/office/drawing/2010/main"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microsoft.com/office/2007/relationships/hdphoto" Target="../media/image26.wdp"/><Relationship Id="rId2" Type="http://schemas.openxmlformats.org/officeDocument/2006/relationships/image" Target="../media/image25.png"/><Relationship Id="rId1"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16"/>
          <p:cNvPicPr preferRelativeResize="0"/>
          <p:nvPr/>
        </p:nvPicPr>
        <p:blipFill>
          <a:blip r:embed="rId1">
            <a:extLst>
              <a:ext uri="{28A0092B-C50C-407E-A947-70E740481C1C}">
                <a14:useLocalDpi xmlns:a14="http://schemas.microsoft.com/office/drawing/2010/main" val="0"/>
              </a:ext>
            </a:extLst>
          </a:blip>
          <a:stretch>
            <a:fillRect/>
          </a:stretch>
        </p:blipFill>
        <p:spPr>
          <a:xfrm>
            <a:off x="62392" y="167951"/>
            <a:ext cx="6170855" cy="6111678"/>
          </a:xfrm>
          <a:prstGeom prst="rect">
            <a:avLst/>
          </a:prstGeom>
          <a:noFill/>
          <a:ln>
            <a:noFill/>
          </a:ln>
        </p:spPr>
      </p:pic>
      <p:sp>
        <p:nvSpPr>
          <p:cNvPr id="476" name="Google Shape;476;p16"/>
          <p:cNvSpPr txBox="1"/>
          <p:nvPr/>
        </p:nvSpPr>
        <p:spPr>
          <a:xfrm>
            <a:off x="3410464" y="2820599"/>
            <a:ext cx="8767699" cy="1875155"/>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solidFill>
                  <a:srgbClr val="C00000"/>
                </a:solidFill>
                <a:cs typeface="Poppins" panose="00000500000000000000" pitchFamily="2" charset="0"/>
                <a:sym typeface="BioRhyme ExtraBold"/>
              </a:rPr>
              <a:t>   Analog electronic Circuit Design (24ec2104) </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3200" b="1" cap="all" dirty="0">
                <a:solidFill>
                  <a:srgbClr val="C00000"/>
                </a:solidFill>
                <a:cs typeface="Poppins" panose="00000500000000000000" pitchFamily="2" charset="0"/>
              </a:rPr>
              <a:t>Active Filters-1I</a:t>
            </a:r>
            <a:endParaRPr lang="en-US" sz="3200" b="1" cap="all" dirty="0">
              <a:solidFill>
                <a:srgbClr val="C00000"/>
              </a:solidFill>
              <a:cs typeface="Poppins" panose="00000500000000000000" pitchFamily="2" charset="0"/>
            </a:endParaRPr>
          </a:p>
        </p:txBody>
      </p:sp>
      <p:sp>
        <p:nvSpPr>
          <p:cNvPr id="19" name="Rectangle: Rounded Corners 18"/>
          <p:cNvSpPr/>
          <p:nvPr/>
        </p:nvSpPr>
        <p:spPr>
          <a:xfrm>
            <a:off x="6287807" y="1913706"/>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233250" y="1880470"/>
            <a:ext cx="4595447" cy="646290"/>
          </a:xfrm>
          <a:prstGeom prst="rect">
            <a:avLst/>
          </a:prstGeom>
          <a:noFill/>
          <a:ln>
            <a:noFill/>
          </a:ln>
          <a:effectLst/>
        </p:spPr>
        <p:txBody>
          <a:bodyPr spcFirstLastPara="1" wrap="square" lIns="91425" tIns="45700" rIns="91425" bIns="45700" anchor="t" anchorCtr="0">
            <a:spAutoFit/>
          </a:bodyPr>
          <a:lstStyle/>
          <a:p>
            <a:pPr algn="ctr"/>
            <a:r>
              <a:rPr lang="en-US" sz="3600" dirty="0">
                <a:solidFill>
                  <a:srgbClr val="C00000"/>
                </a:solidFill>
                <a:cs typeface="Poppins" pitchFamily="2" charset="77"/>
              </a:rPr>
              <a:t>Department of ECE</a:t>
            </a:r>
            <a:endParaRPr lang="en-US" sz="3600" dirty="0">
              <a:solidFill>
                <a:srgbClr val="C00000"/>
              </a:solidFill>
              <a:cs typeface="Poppins" pitchFamily="2" charset="77"/>
            </a:endParaRPr>
          </a:p>
        </p:txBody>
      </p:sp>
      <p:sp>
        <p:nvSpPr>
          <p:cNvPr id="33" name="Rectangle 32"/>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451579" y="804520"/>
            <a:ext cx="9603275" cy="690452"/>
          </a:xfrm>
        </p:spPr>
        <p:txBody>
          <a:bodyPr/>
          <a:lstStyle/>
          <a:p>
            <a:r>
              <a:rPr lang="en-US" dirty="0"/>
              <a:t>Session Content</a:t>
            </a:r>
            <a:endParaRPr lang="en-IN" dirty="0"/>
          </a:p>
        </p:txBody>
      </p:sp>
      <p:sp>
        <p:nvSpPr>
          <p:cNvPr id="4" name="Content Placeholder 3"/>
          <p:cNvSpPr>
            <a:spLocks noGrp="1"/>
          </p:cNvSpPr>
          <p:nvPr>
            <p:ph idx="1"/>
          </p:nvPr>
        </p:nvSpPr>
        <p:spPr>
          <a:xfrm>
            <a:off x="1451579" y="2015732"/>
            <a:ext cx="9603275" cy="3949639"/>
          </a:xfrm>
        </p:spPr>
        <p:txBody>
          <a:bodyPr>
            <a:normAutofit fontScale="40000" lnSpcReduction="20000"/>
          </a:bodyPr>
          <a:lstStyle/>
          <a:p>
            <a:r>
              <a:rPr lang="en-US" sz="4200" dirty="0"/>
              <a:t>Aim</a:t>
            </a:r>
            <a:r>
              <a:rPr lang="en-IN" sz="4200" dirty="0"/>
              <a:t> – Objectives – Outcomes</a:t>
            </a:r>
            <a:endParaRPr lang="en-IN" sz="4200" dirty="0"/>
          </a:p>
          <a:p>
            <a:r>
              <a:rPr lang="en-IN" sz="4200" dirty="0"/>
              <a:t>Introduction</a:t>
            </a:r>
            <a:endParaRPr lang="en-IN" sz="4200" dirty="0"/>
          </a:p>
          <a:p>
            <a:r>
              <a:rPr lang="en-IN" sz="4300" dirty="0"/>
              <a:t>Active High Pass Filter</a:t>
            </a:r>
            <a:endParaRPr lang="en-IN" sz="4300" dirty="0"/>
          </a:p>
          <a:p>
            <a:r>
              <a:rPr lang="en-IN" sz="4300" dirty="0"/>
              <a:t>First Order High Pass Filter</a:t>
            </a:r>
            <a:endParaRPr lang="en-IN" sz="4300" dirty="0"/>
          </a:p>
          <a:p>
            <a:r>
              <a:rPr lang="en-US" sz="4300" dirty="0"/>
              <a:t>F</a:t>
            </a:r>
            <a:r>
              <a:rPr lang="en-IN" sz="4300" dirty="0" err="1"/>
              <a:t>irst</a:t>
            </a:r>
            <a:r>
              <a:rPr lang="en-IN" sz="4300" dirty="0"/>
              <a:t> Order Low Pass Butterworth Filter</a:t>
            </a:r>
            <a:endParaRPr lang="en-IN" sz="4300" dirty="0"/>
          </a:p>
          <a:p>
            <a:r>
              <a:rPr lang="en-US" sz="4300" dirty="0"/>
              <a:t>Summary </a:t>
            </a:r>
            <a:endParaRPr lang="en-US" sz="4300" dirty="0"/>
          </a:p>
          <a:p>
            <a:r>
              <a:rPr lang="en-US" sz="4200" dirty="0"/>
              <a:t>Example Problems</a:t>
            </a:r>
            <a:endParaRPr lang="en-US" sz="4200" dirty="0"/>
          </a:p>
          <a:p>
            <a:r>
              <a:rPr lang="en-US" sz="4200" dirty="0"/>
              <a:t>Self  Assessment  Questions</a:t>
            </a:r>
            <a:endParaRPr lang="en-US" sz="4200" dirty="0"/>
          </a:p>
          <a:p>
            <a:r>
              <a:rPr lang="en-US" sz="4200" dirty="0"/>
              <a:t>Terminal Questions</a:t>
            </a:r>
            <a:endParaRPr lang="en-US" sz="4200" dirty="0"/>
          </a:p>
          <a:p>
            <a:r>
              <a:rPr lang="en-US" sz="4200" dirty="0"/>
              <a:t>References </a:t>
            </a:r>
            <a:endParaRPr lang="en-US" sz="4200" dirty="0"/>
          </a:p>
          <a:p>
            <a:endParaRPr lang="en-US" dirty="0"/>
          </a:p>
        </p:txBody>
      </p:sp>
      <p:sp>
        <p:nvSpPr>
          <p:cNvPr id="2" name="Slide Number Placeholder 1"/>
          <p:cNvSpPr>
            <a:spLocks noGrp="1"/>
          </p:cNvSpPr>
          <p:nvPr>
            <p:ph type="sldNum" sz="quarter" idx="12"/>
          </p:nvPr>
        </p:nvSpPr>
        <p:spPr/>
        <p:txBody>
          <a:bodyPr/>
          <a:lstStyle/>
          <a:p>
            <a:fld id="{CBABCCC1-BF11-4F37-963E-1BCD5B23FD72}" type="slidenum">
              <a:rPr lang="en-IN" smtClean="0"/>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4471371" y="84408"/>
            <a:ext cx="356004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AIM OF THE SESSION</a:t>
            </a:r>
            <a:endParaRPr lang="en-US" sz="2000" dirty="0"/>
          </a:p>
        </p:txBody>
      </p:sp>
      <p:sp>
        <p:nvSpPr>
          <p:cNvPr id="5" name="TextBox 4"/>
          <p:cNvSpPr txBox="1"/>
          <p:nvPr/>
        </p:nvSpPr>
        <p:spPr>
          <a:xfrm>
            <a:off x="885748" y="637745"/>
            <a:ext cx="10731286" cy="874470"/>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GB" dirty="0"/>
              <a:t>The aim of this session is to emphasize the significance of Operational Amplifier and to understand the basics of most important applications of Op-Amp such as, </a:t>
            </a:r>
            <a:r>
              <a:rPr lang="en-IN" dirty="0"/>
              <a:t>active filters</a:t>
            </a:r>
            <a:r>
              <a:rPr lang="en-US" sz="1600" dirty="0">
                <a:latin typeface="Poppins"/>
                <a:cs typeface="Poppins"/>
              </a:rPr>
              <a:t>.</a:t>
            </a:r>
            <a:endParaRPr lang="en-IN" dirty="0"/>
          </a:p>
        </p:txBody>
      </p:sp>
      <p:sp>
        <p:nvSpPr>
          <p:cNvPr id="7" name="Rounded Rectangle 17"/>
          <p:cNvSpPr/>
          <p:nvPr/>
        </p:nvSpPr>
        <p:spPr>
          <a:xfrm>
            <a:off x="4053596" y="1630041"/>
            <a:ext cx="4395589"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INSTRUCTIONAL OBJECTIVES</a:t>
            </a:r>
            <a:endParaRPr lang="en-US" sz="2000" dirty="0"/>
          </a:p>
        </p:txBody>
      </p:sp>
      <p:sp>
        <p:nvSpPr>
          <p:cNvPr id="9" name="TextBox 8"/>
          <p:cNvSpPr txBox="1"/>
          <p:nvPr/>
        </p:nvSpPr>
        <p:spPr>
          <a:xfrm>
            <a:off x="885749" y="2241406"/>
            <a:ext cx="10731286" cy="1354217"/>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endParaRPr lang="en-US" sz="1600" b="0" i="0" dirty="0">
              <a:effectLst/>
              <a:latin typeface="Poppins"/>
              <a:cs typeface="Poppins"/>
            </a:endParaRPr>
          </a:p>
          <a:p>
            <a:pPr marL="800100" lvl="1" indent="-342900">
              <a:buFont typeface="+mj-lt"/>
              <a:buAutoNum type="arabicPeriod"/>
            </a:pPr>
            <a:r>
              <a:rPr lang="en-GB" sz="1600" dirty="0"/>
              <a:t>Specify the importance/necessity of the active filters using Op-Amp.</a:t>
            </a:r>
            <a:endParaRPr lang="en-GB" sz="1600" dirty="0"/>
          </a:p>
          <a:p>
            <a:pPr marL="800100" lvl="1" indent="-342900">
              <a:buFont typeface="+mj-lt"/>
              <a:buAutoNum type="arabicPeriod"/>
            </a:pPr>
            <a:r>
              <a:rPr lang="en-GB" sz="1600" dirty="0"/>
              <a:t>Describe the function of block diagram of active filters.</a:t>
            </a:r>
            <a:endParaRPr lang="en-GB" sz="1600" dirty="0"/>
          </a:p>
          <a:p>
            <a:pPr marL="800100" lvl="1" indent="-342900">
              <a:buFont typeface="+mj-lt"/>
              <a:buAutoNum type="arabicPeriod"/>
            </a:pPr>
            <a:r>
              <a:rPr lang="en-GB" sz="1600" dirty="0"/>
              <a:t>Understand the schematic symbol of the active filters.</a:t>
            </a:r>
            <a:endParaRPr lang="en-GB" sz="1600" dirty="0"/>
          </a:p>
        </p:txBody>
      </p:sp>
      <p:pic>
        <p:nvPicPr>
          <p:cNvPr id="11" name="Graphic 10" descr="Bullseye outline"/>
          <p:cNvPicPr>
            <a:picLocks noChangeAspect="1"/>
          </p:cNvPicPr>
          <p:nvPr/>
        </p:nvPicPr>
        <p:blipFill>
          <a:blip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625326"/>
            <a:ext cx="914400" cy="914400"/>
          </a:xfrm>
          <a:prstGeom prst="rect">
            <a:avLst/>
          </a:prstGeom>
        </p:spPr>
      </p:pic>
      <p:pic>
        <p:nvPicPr>
          <p:cNvPr id="27" name="Graphic 26" descr="Presentation with checklist outline"/>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2445925"/>
            <a:ext cx="914400" cy="914400"/>
          </a:xfrm>
          <a:prstGeom prst="rect">
            <a:avLst/>
          </a:prstGeom>
        </p:spPr>
      </p:pic>
      <p:sp>
        <p:nvSpPr>
          <p:cNvPr id="29" name="Rounded Rectangle 17"/>
          <p:cNvSpPr/>
          <p:nvPr/>
        </p:nvSpPr>
        <p:spPr>
          <a:xfrm>
            <a:off x="4315974" y="3969959"/>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endParaRPr lang="en-US" sz="2400" dirty="0"/>
          </a:p>
        </p:txBody>
      </p:sp>
      <p:pic>
        <p:nvPicPr>
          <p:cNvPr id="31" name="Graphic 30" descr="Idea outline"/>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652" y="4846140"/>
            <a:ext cx="914400" cy="914400"/>
          </a:xfrm>
          <a:prstGeom prst="rect">
            <a:avLst/>
          </a:prstGeom>
        </p:spPr>
      </p:pic>
      <p:sp>
        <p:nvSpPr>
          <p:cNvPr id="37" name="TextBox 36"/>
          <p:cNvSpPr txBox="1"/>
          <p:nvPr/>
        </p:nvSpPr>
        <p:spPr>
          <a:xfrm>
            <a:off x="914400" y="4518510"/>
            <a:ext cx="10702634"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panose="020B0604020202020204"/>
                <a:cs typeface="Arial" panose="020B0604020202020204"/>
              </a:rPr>
              <a:t>At the end of this </a:t>
            </a:r>
            <a:r>
              <a:rPr lang="en-US" sz="1600" dirty="0">
                <a:latin typeface="Arial" panose="020B0604020202020204"/>
                <a:cs typeface="Arial" panose="020B0604020202020204"/>
              </a:rPr>
              <a:t>session</a:t>
            </a:r>
            <a:r>
              <a:rPr lang="en-US" sz="1600" b="0" i="0" dirty="0">
                <a:effectLst/>
                <a:latin typeface="Arial" panose="020B0604020202020204"/>
                <a:cs typeface="Arial" panose="020B0604020202020204"/>
              </a:rPr>
              <a:t>, you should be able to:</a:t>
            </a:r>
            <a:endParaRPr lang="en-US" sz="1600" b="0" i="0" dirty="0">
              <a:effectLst/>
              <a:latin typeface="Arial" panose="020B0604020202020204"/>
              <a:cs typeface="Arial" panose="020B0604020202020204"/>
            </a:endParaRPr>
          </a:p>
          <a:p>
            <a:pPr marL="800100" lvl="1" indent="-342900">
              <a:buFont typeface="+mj-lt"/>
              <a:buAutoNum type="arabicPeriod"/>
            </a:pPr>
            <a:r>
              <a:rPr lang="en-GB" sz="1600" dirty="0"/>
              <a:t>Explain the application of Op-Amp for active filters.</a:t>
            </a:r>
            <a:endParaRPr lang="en-GB" sz="1600" dirty="0"/>
          </a:p>
          <a:p>
            <a:pPr marL="800100" lvl="1" indent="-342900">
              <a:buFont typeface="+mj-lt"/>
              <a:buAutoNum type="arabicPeriod"/>
            </a:pPr>
            <a:r>
              <a:rPr lang="en-GB" sz="1600" dirty="0"/>
              <a:t>Summarize the functioning of active filters applications.</a:t>
            </a:r>
            <a:endParaRPr lang="en-GB" sz="1600" dirty="0"/>
          </a:p>
          <a:p>
            <a:pPr marL="800100" lvl="1" indent="-342900">
              <a:buFont typeface="+mj-lt"/>
              <a:buAutoNum type="arabicPeriod"/>
            </a:pPr>
            <a:r>
              <a:rPr lang="en-GB" sz="1600" dirty="0"/>
              <a:t>Identify the Pin configuration and importance of IC741 for active filters operation.</a:t>
            </a:r>
            <a:endParaRPr lang="en-GB"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p:cNvSpPr/>
          <p:nvPr/>
        </p:nvSpPr>
        <p:spPr>
          <a:xfrm>
            <a:off x="2862488" y="613964"/>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INTRODUCTION </a:t>
            </a:r>
            <a:endParaRPr lang="en-US" sz="2400" dirty="0"/>
          </a:p>
        </p:txBody>
      </p:sp>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3" name="TextBox 2"/>
          <p:cNvSpPr txBox="1"/>
          <p:nvPr/>
        </p:nvSpPr>
        <p:spPr>
          <a:xfrm>
            <a:off x="778476" y="1536174"/>
            <a:ext cx="10762735" cy="3785652"/>
          </a:xfrm>
          <a:prstGeom prst="rect">
            <a:avLst/>
          </a:prstGeom>
          <a:noFill/>
        </p:spPr>
        <p:txBody>
          <a:bodyPr wrap="square">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Active filters can provide amplification of the signal.</a:t>
            </a: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Unlike passive filters, active filters do not require inductors, which can be bulky and expensive.</a:t>
            </a: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Easier to adjust and fine-tune compared to passive filters.</a:t>
            </a: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Improved performance characteristics like higher input impedance and lower output impedance.</a:t>
            </a: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Used in equalizers, audio crossover networks, and noise reduction systems.</a:t>
            </a: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Employed in signal conditioning, modulation, and demodulation circuits.</a:t>
            </a: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Used in various measurement and data acquisition systems to filter out unwanted noise and signals.</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7" name="TextBox 6"/>
          <p:cNvSpPr txBox="1"/>
          <p:nvPr/>
        </p:nvSpPr>
        <p:spPr>
          <a:xfrm>
            <a:off x="1154096" y="958788"/>
            <a:ext cx="10369119" cy="70788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4000" dirty="0">
                <a:latin typeface="Cambria" panose="02040503050406030204" pitchFamily="18" charset="0"/>
                <a:ea typeface="Cambria" panose="02040503050406030204" pitchFamily="18" charset="0"/>
              </a:rPr>
              <a:t>Active High Pass Filter</a:t>
            </a:r>
            <a:endParaRPr lang="en-IN" sz="1400" dirty="0">
              <a:latin typeface="Cambria" panose="02040503050406030204" pitchFamily="18" charset="0"/>
              <a:ea typeface="Cambria" panose="02040503050406030204" pitchFamily="18" charset="0"/>
            </a:endParaRPr>
          </a:p>
        </p:txBody>
      </p:sp>
      <p:sp>
        <p:nvSpPr>
          <p:cNvPr id="6" name="Content Placeholder 2"/>
          <p:cNvSpPr>
            <a:spLocks noGrp="1"/>
          </p:cNvSpPr>
          <p:nvPr>
            <p:ph idx="1"/>
          </p:nvPr>
        </p:nvSpPr>
        <p:spPr>
          <a:xfrm>
            <a:off x="558651" y="2033931"/>
            <a:ext cx="6476631" cy="3518089"/>
          </a:xfrm>
        </p:spPr>
        <p:txBody>
          <a:bodyPr anchor="t">
            <a:noAutofit/>
          </a:bodyPr>
          <a:lstStyle/>
          <a:p>
            <a:pPr rtl="0"/>
            <a:r>
              <a:rPr lang="en-US" sz="1400">
                <a:effectLst/>
                <a:latin typeface="Cambria" panose="02040503050406030204" pitchFamily="18" charset="0"/>
                <a:ea typeface="Cambria" panose="02040503050406030204" pitchFamily="18" charset="0"/>
              </a:rPr>
              <a:t>An Active High Pass Filter can be created by combining a passive RC filter network with an operational amplifier to produce a high pass filter with amplification</a:t>
            </a:r>
            <a:endParaRPr lang="en-US" sz="1400">
              <a:latin typeface="Cambria" panose="02040503050406030204" pitchFamily="18" charset="0"/>
              <a:ea typeface="Cambria" panose="02040503050406030204" pitchFamily="18" charset="0"/>
            </a:endParaRPr>
          </a:p>
          <a:p>
            <a:pPr rtl="0"/>
            <a:r>
              <a:rPr lang="en-US" sz="1400">
                <a:effectLst/>
                <a:latin typeface="Cambria" panose="02040503050406030204" pitchFamily="18" charset="0"/>
                <a:ea typeface="Cambria" panose="02040503050406030204" pitchFamily="18" charset="0"/>
              </a:rPr>
              <a:t>The basic operation of an Active High Pass Filter (HPF) is the same as for its equivalent RC passive high pass filter circuit, except this time the circuit has an operational amplifier or included within its design providing amplification and gain control.</a:t>
            </a:r>
            <a:endParaRPr lang="en-US" sz="1400">
              <a:latin typeface="Cambria" panose="02040503050406030204" pitchFamily="18" charset="0"/>
              <a:ea typeface="Cambria" panose="02040503050406030204" pitchFamily="18" charset="0"/>
            </a:endParaRPr>
          </a:p>
          <a:p>
            <a:pPr rtl="0"/>
            <a:r>
              <a:rPr lang="en-US" sz="1400">
                <a:effectLst/>
                <a:latin typeface="Cambria" panose="02040503050406030204" pitchFamily="18" charset="0"/>
                <a:ea typeface="Cambria" panose="02040503050406030204" pitchFamily="18" charset="0"/>
              </a:rPr>
              <a:t>Like the previous active low pass filter circuit, the simplest form of an active high pass filter is to connect a standard inverting or non-inverting operational amplifier to the basic RC high pass passive filter circuit as shown.</a:t>
            </a:r>
            <a:endParaRPr lang="en-US" sz="1400">
              <a:latin typeface="Cambria" panose="02040503050406030204" pitchFamily="18" charset="0"/>
              <a:ea typeface="Cambria" panose="02040503050406030204" pitchFamily="18" charset="0"/>
            </a:endParaRPr>
          </a:p>
          <a:p>
            <a:pPr rtl="0"/>
            <a:endParaRPr lang="en-US" altLang="en-US" sz="1600">
              <a:latin typeface="Calibri" panose="020F0502020204030204" pitchFamily="34" charset="0"/>
              <a:cs typeface="Calibri" panose="020F0502020204030204" pitchFamily="34" charset="0"/>
            </a:endParaRPr>
          </a:p>
          <a:p>
            <a:pPr eaLnBrk="1" hangingPunct="1">
              <a:buFont typeface="Wingdings" panose="05000000000000000000" pitchFamily="2" charset="2"/>
              <a:buChar char="v"/>
            </a:pPr>
            <a:endParaRPr lang="en-US" altLang="en-US" sz="1600">
              <a:latin typeface="Calibri" panose="020F0502020204030204" pitchFamily="34" charset="0"/>
              <a:cs typeface="Calibri" panose="020F0502020204030204" pitchFamily="34" charset="0"/>
            </a:endParaRPr>
          </a:p>
          <a:p>
            <a:pPr marL="0" indent="0" eaLnBrk="1" hangingPunct="1">
              <a:buNone/>
            </a:pPr>
            <a:endParaRPr lang="en-US" altLang="en-US" sz="1600">
              <a:latin typeface="Calibri" panose="020F0502020204030204" pitchFamily="34" charset="0"/>
              <a:cs typeface="Calibri" panose="020F0502020204030204" pitchFamily="34" charset="0"/>
            </a:endParaRPr>
          </a:p>
          <a:p>
            <a:pPr marL="457200" lvl="1" indent="0">
              <a:buNone/>
            </a:pPr>
            <a:r>
              <a:rPr lang="en-US" altLang="en-US" sz="1600">
                <a:latin typeface="Calibri" panose="020F0502020204030204" pitchFamily="34" charset="0"/>
                <a:cs typeface="Calibri" panose="020F0502020204030204" pitchFamily="34" charset="0"/>
              </a:rPr>
              <a:t> </a:t>
            </a:r>
            <a:endParaRPr lang="en-IN" sz="1600">
              <a:latin typeface="Cambria" panose="02040503050406030204" pitchFamily="18" charset="0"/>
              <a:ea typeface="Cambria" panose="02040503050406030204" pitchFamily="18" charset="0"/>
            </a:endParaRPr>
          </a:p>
        </p:txBody>
      </p:sp>
      <p:pic>
        <p:nvPicPr>
          <p:cNvPr id="3" name="Picture 2"/>
          <p:cNvPicPr>
            <a:picLocks noChangeAspect="1"/>
          </p:cNvPicPr>
          <p:nvPr/>
        </p:nvPicPr>
        <p:blipFill>
          <a:blip r:embed="rId1"/>
          <a:stretch>
            <a:fillRect/>
          </a:stretch>
        </p:blipFill>
        <p:spPr>
          <a:xfrm>
            <a:off x="7035282" y="2435473"/>
            <a:ext cx="4467849" cy="271500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7" name="TextBox 6"/>
          <p:cNvSpPr txBox="1"/>
          <p:nvPr/>
        </p:nvSpPr>
        <p:spPr>
          <a:xfrm>
            <a:off x="1154096" y="958788"/>
            <a:ext cx="10369119" cy="70788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4000" dirty="0">
                <a:latin typeface="Cambria" panose="02040503050406030204" pitchFamily="18" charset="0"/>
                <a:ea typeface="Cambria" panose="02040503050406030204" pitchFamily="18" charset="0"/>
              </a:rPr>
              <a:t>First Order High Pass Filter</a:t>
            </a:r>
            <a:endParaRPr lang="en-IN" sz="1400" dirty="0">
              <a:latin typeface="Cambria" panose="02040503050406030204" pitchFamily="18" charset="0"/>
              <a:ea typeface="Cambria" panose="02040503050406030204" pitchFamily="18" charset="0"/>
            </a:endParaRPr>
          </a:p>
        </p:txBody>
      </p:sp>
      <p:sp>
        <p:nvSpPr>
          <p:cNvPr id="6" name="Content Placeholder 2"/>
          <p:cNvSpPr>
            <a:spLocks noGrp="1"/>
          </p:cNvSpPr>
          <p:nvPr>
            <p:ph idx="1"/>
          </p:nvPr>
        </p:nvSpPr>
        <p:spPr>
          <a:xfrm>
            <a:off x="558652" y="2033931"/>
            <a:ext cx="5353556" cy="3518089"/>
          </a:xfrm>
        </p:spPr>
        <p:txBody>
          <a:bodyPr anchor="t">
            <a:noAutofit/>
          </a:bodyPr>
          <a:lstStyle/>
          <a:p>
            <a:pPr rtl="0"/>
            <a:r>
              <a:rPr lang="en-US" sz="1400">
                <a:effectLst/>
                <a:latin typeface="Cambria" panose="02040503050406030204" pitchFamily="18" charset="0"/>
                <a:ea typeface="Cambria" panose="02040503050406030204" pitchFamily="18" charset="0"/>
              </a:rPr>
              <a:t>A first-order (single-pole) Active High Pass Filter attenuates low frequencies and passes high frequency signals. </a:t>
            </a:r>
            <a:endParaRPr lang="en-US" sz="1400">
              <a:effectLst/>
              <a:latin typeface="Cambria" panose="02040503050406030204" pitchFamily="18" charset="0"/>
              <a:ea typeface="Cambria" panose="02040503050406030204" pitchFamily="18" charset="0"/>
            </a:endParaRPr>
          </a:p>
          <a:p>
            <a:pPr rtl="0"/>
            <a:r>
              <a:rPr lang="en-US" sz="1400">
                <a:effectLst/>
                <a:latin typeface="Cambria" panose="02040503050406030204" pitchFamily="18" charset="0"/>
                <a:ea typeface="Cambria" panose="02040503050406030204" pitchFamily="18" charset="0"/>
              </a:rPr>
              <a:t>It consists simply of a passive filter section followed by a non-inverting operational amplifier. </a:t>
            </a:r>
            <a:endParaRPr lang="en-US" sz="1400">
              <a:effectLst/>
              <a:latin typeface="Cambria" panose="02040503050406030204" pitchFamily="18" charset="0"/>
              <a:ea typeface="Cambria" panose="02040503050406030204" pitchFamily="18" charset="0"/>
            </a:endParaRPr>
          </a:p>
          <a:p>
            <a:pPr rtl="0"/>
            <a:r>
              <a:rPr lang="en-US" sz="1400">
                <a:effectLst/>
                <a:latin typeface="Cambria" panose="02040503050406030204" pitchFamily="18" charset="0"/>
                <a:ea typeface="Cambria" panose="02040503050406030204" pitchFamily="18" charset="0"/>
              </a:rPr>
              <a:t>The frequency response of the circuit is the same as that of the passive filter, except that the amplitude of the signal is increased by the gain of the amplifier and for a non-inverting amplifier the value of the pass band voltage gain is given as 1 + R2/R1, the same as for the low pass filter circuit.</a:t>
            </a:r>
            <a:endParaRPr lang="en-US" altLang="en-US" sz="1400">
              <a:latin typeface="Cambria" panose="02040503050406030204" pitchFamily="18" charset="0"/>
              <a:ea typeface="Cambria" panose="02040503050406030204" pitchFamily="18" charset="0"/>
              <a:cs typeface="Calibri" panose="020F0502020204030204" pitchFamily="34" charset="0"/>
            </a:endParaRPr>
          </a:p>
          <a:p>
            <a:pPr eaLnBrk="1" hangingPunct="1">
              <a:buFont typeface="Wingdings" panose="05000000000000000000" pitchFamily="2" charset="2"/>
              <a:buChar char="v"/>
            </a:pPr>
            <a:endParaRPr lang="en-US" altLang="en-US" sz="1600">
              <a:latin typeface="Calibri" panose="020F0502020204030204" pitchFamily="34" charset="0"/>
              <a:cs typeface="Calibri" panose="020F0502020204030204" pitchFamily="34" charset="0"/>
            </a:endParaRPr>
          </a:p>
          <a:p>
            <a:pPr marL="0" indent="0" eaLnBrk="1" hangingPunct="1">
              <a:buNone/>
            </a:pPr>
            <a:endParaRPr lang="en-US" altLang="en-US" sz="1600">
              <a:latin typeface="Calibri" panose="020F0502020204030204" pitchFamily="34" charset="0"/>
              <a:cs typeface="Calibri" panose="020F0502020204030204" pitchFamily="34" charset="0"/>
            </a:endParaRPr>
          </a:p>
          <a:p>
            <a:pPr marL="457200" lvl="1" indent="0">
              <a:buNone/>
            </a:pPr>
            <a:r>
              <a:rPr lang="en-US" altLang="en-US" sz="1600">
                <a:latin typeface="Calibri" panose="020F0502020204030204" pitchFamily="34" charset="0"/>
                <a:cs typeface="Calibri" panose="020F0502020204030204" pitchFamily="34" charset="0"/>
              </a:rPr>
              <a:t> </a:t>
            </a:r>
            <a:endParaRPr lang="en-IN" sz="1600">
              <a:latin typeface="Cambria" panose="02040503050406030204" pitchFamily="18" charset="0"/>
              <a:ea typeface="Cambria" panose="02040503050406030204" pitchFamily="18" charset="0"/>
            </a:endParaRPr>
          </a:p>
        </p:txBody>
      </p:sp>
      <p:pic>
        <p:nvPicPr>
          <p:cNvPr id="9" name="Picture 8"/>
          <p:cNvPicPr>
            <a:picLocks noChangeAspect="1"/>
          </p:cNvPicPr>
          <p:nvPr/>
        </p:nvPicPr>
        <p:blipFill>
          <a:blip r:embed="rId1"/>
          <a:stretch>
            <a:fillRect/>
          </a:stretch>
        </p:blipFill>
        <p:spPr>
          <a:xfrm>
            <a:off x="5912207" y="2033931"/>
            <a:ext cx="5611008" cy="323895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7" name="TextBox 6"/>
          <p:cNvSpPr txBox="1"/>
          <p:nvPr/>
        </p:nvSpPr>
        <p:spPr>
          <a:xfrm>
            <a:off x="1154096" y="958788"/>
            <a:ext cx="10369119" cy="70788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4000">
                <a:latin typeface="Cambria" panose="02040503050406030204" pitchFamily="18" charset="0"/>
                <a:ea typeface="Cambria" panose="02040503050406030204" pitchFamily="18" charset="0"/>
              </a:rPr>
              <a:t>First Order High Pass Filter</a:t>
            </a:r>
            <a:endParaRPr lang="en-IN" sz="1400">
              <a:latin typeface="Cambria" panose="02040503050406030204" pitchFamily="18" charset="0"/>
              <a:ea typeface="Cambria" panose="02040503050406030204" pitchFamily="18" charset="0"/>
            </a:endParaRPr>
          </a:p>
        </p:txBody>
      </p:sp>
      <p:sp>
        <p:nvSpPr>
          <p:cNvPr id="6" name="Content Placeholder 2"/>
          <p:cNvSpPr>
            <a:spLocks noGrp="1"/>
          </p:cNvSpPr>
          <p:nvPr>
            <p:ph idx="1"/>
          </p:nvPr>
        </p:nvSpPr>
        <p:spPr>
          <a:xfrm>
            <a:off x="558651" y="2033931"/>
            <a:ext cx="10544777" cy="3518089"/>
          </a:xfrm>
        </p:spPr>
        <p:txBody>
          <a:bodyPr anchor="t">
            <a:noAutofit/>
          </a:bodyPr>
          <a:lstStyle/>
          <a:p>
            <a:pPr rtl="0"/>
            <a:r>
              <a:rPr lang="en-US" sz="1400">
                <a:effectLst/>
              </a:rPr>
              <a:t>This first-order high pass filter, consists simply of a passive filter followed by a non-inverting amplifier. The frequency response of the circuit is the same as that of the passive filter, except that the amplitude of the signal is increased by the gain of the amplifier.</a:t>
            </a:r>
            <a:endParaRPr lang="en-US" sz="1400"/>
          </a:p>
          <a:p>
            <a:pPr rtl="0"/>
            <a:r>
              <a:rPr lang="en-US" sz="1400">
                <a:effectLst/>
              </a:rPr>
              <a:t>For a non-inverting amplifier circuit, the magnitude of the voltage gain for the filter is given as a function of the feedback resistor ( R2 ) divided by its corresponding input resistor ( R1 ) value and is given as:</a:t>
            </a:r>
            <a:endParaRPr lang="en-US" sz="1400">
              <a:effectLst/>
            </a:endParaRPr>
          </a:p>
          <a:p>
            <a:pPr rtl="0"/>
            <a:endParaRPr lang="en-US" sz="1400"/>
          </a:p>
          <a:p>
            <a:pPr rtl="0"/>
            <a:endParaRPr lang="en-US" sz="1400">
              <a:effectLst/>
            </a:endParaRPr>
          </a:p>
          <a:p>
            <a:pPr rtl="0"/>
            <a:endParaRPr lang="en-US" sz="1400"/>
          </a:p>
          <a:p>
            <a:pPr rtl="0"/>
            <a:endParaRPr lang="en-US" sz="1400">
              <a:effectLst/>
            </a:endParaRPr>
          </a:p>
          <a:p>
            <a:pPr rtl="0"/>
            <a:endParaRPr lang="en-US" sz="1400">
              <a:effectLst/>
            </a:endParaRPr>
          </a:p>
          <a:p>
            <a:pPr rtl="0"/>
            <a:endParaRPr lang="en-US" sz="1400"/>
          </a:p>
          <a:p>
            <a:pPr eaLnBrk="1" hangingPunct="1">
              <a:buFont typeface="Wingdings" panose="05000000000000000000" pitchFamily="2" charset="2"/>
              <a:buChar char="v"/>
            </a:pPr>
            <a:endParaRPr lang="en-US" altLang="en-US" sz="1600">
              <a:latin typeface="Calibri" panose="020F0502020204030204" pitchFamily="34" charset="0"/>
              <a:cs typeface="Calibri" panose="020F0502020204030204" pitchFamily="34" charset="0"/>
            </a:endParaRPr>
          </a:p>
          <a:p>
            <a:pPr marL="0" indent="0" eaLnBrk="1" hangingPunct="1">
              <a:buNone/>
            </a:pPr>
            <a:endParaRPr lang="en-US" altLang="en-US" sz="1600">
              <a:latin typeface="Calibri" panose="020F0502020204030204" pitchFamily="34" charset="0"/>
              <a:cs typeface="Calibri" panose="020F0502020204030204" pitchFamily="34" charset="0"/>
            </a:endParaRPr>
          </a:p>
          <a:p>
            <a:pPr marL="457200" lvl="1" indent="0">
              <a:buNone/>
            </a:pPr>
            <a:r>
              <a:rPr lang="en-US" altLang="en-US" sz="1600">
                <a:latin typeface="Calibri" panose="020F0502020204030204" pitchFamily="34" charset="0"/>
                <a:cs typeface="Calibri" panose="020F0502020204030204" pitchFamily="34" charset="0"/>
              </a:rPr>
              <a:t> </a:t>
            </a:r>
            <a:endParaRPr lang="en-IN" sz="1600">
              <a:latin typeface="Cambria" panose="02040503050406030204" pitchFamily="18" charset="0"/>
              <a:ea typeface="Cambria" panose="02040503050406030204" pitchFamily="18" charset="0"/>
            </a:endParaRPr>
          </a:p>
        </p:txBody>
      </p:sp>
      <p:pic>
        <p:nvPicPr>
          <p:cNvPr id="3" name="Picture 2"/>
          <p:cNvPicPr>
            <a:picLocks noChangeAspect="1"/>
          </p:cNvPicPr>
          <p:nvPr/>
        </p:nvPicPr>
        <p:blipFill>
          <a:blip r:embed="rId1"/>
          <a:stretch>
            <a:fillRect/>
          </a:stretch>
        </p:blipFill>
        <p:spPr>
          <a:xfrm>
            <a:off x="3606714" y="3429000"/>
            <a:ext cx="3295951" cy="114090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6" name="Content Placeholder 2"/>
          <p:cNvSpPr>
            <a:spLocks noGrp="1"/>
          </p:cNvSpPr>
          <p:nvPr>
            <p:ph idx="1"/>
          </p:nvPr>
        </p:nvSpPr>
        <p:spPr>
          <a:xfrm>
            <a:off x="558651" y="2033931"/>
            <a:ext cx="10544777" cy="3518089"/>
          </a:xfrm>
        </p:spPr>
        <p:txBody>
          <a:bodyPr anchor="t">
            <a:noAutofit/>
          </a:bodyPr>
          <a:lstStyle/>
          <a:p>
            <a:pPr rtl="0"/>
            <a:r>
              <a:rPr lang="en-US" sz="1400">
                <a:effectLst/>
                <a:latin typeface="Cambria" panose="02040503050406030204" pitchFamily="18" charset="0"/>
                <a:ea typeface="Cambria" panose="02040503050406030204" pitchFamily="18" charset="0"/>
              </a:rPr>
              <a:t>The operation of a high pass active filter can be verified from the frequency gain equation above as:</a:t>
            </a:r>
            <a:endParaRPr lang="en-US" sz="1400">
              <a:effectLst/>
              <a:latin typeface="Cambria" panose="02040503050406030204" pitchFamily="18" charset="0"/>
              <a:ea typeface="Cambria" panose="02040503050406030204" pitchFamily="18" charset="0"/>
            </a:endParaRPr>
          </a:p>
          <a:p>
            <a:pPr rtl="0"/>
            <a:r>
              <a:rPr lang="en-US" sz="1400">
                <a:effectLst/>
                <a:latin typeface="Cambria" panose="02040503050406030204" pitchFamily="18" charset="0"/>
                <a:ea typeface="Cambria" panose="02040503050406030204" pitchFamily="18" charset="0"/>
              </a:rPr>
              <a:t>At very low frequencies, ƒ &lt; ƒc</a:t>
            </a:r>
            <a:endParaRPr lang="en-US" sz="1400">
              <a:effectLst/>
              <a:latin typeface="Cambria" panose="02040503050406030204" pitchFamily="18" charset="0"/>
              <a:ea typeface="Cambria" panose="02040503050406030204" pitchFamily="18" charset="0"/>
            </a:endParaRPr>
          </a:p>
          <a:p>
            <a:pPr marL="0" indent="0" rtl="0">
              <a:buNone/>
            </a:pPr>
            <a:endParaRPr lang="en-US" sz="1400">
              <a:latin typeface="Cambria" panose="02040503050406030204" pitchFamily="18" charset="0"/>
              <a:ea typeface="Cambria" panose="02040503050406030204" pitchFamily="18" charset="0"/>
            </a:endParaRPr>
          </a:p>
          <a:p>
            <a:pPr marL="0" indent="0" rtl="0">
              <a:buNone/>
            </a:pPr>
            <a:endParaRPr lang="en-US" sz="1400">
              <a:latin typeface="Cambria" panose="02040503050406030204" pitchFamily="18" charset="0"/>
              <a:ea typeface="Cambria" panose="02040503050406030204" pitchFamily="18" charset="0"/>
            </a:endParaRPr>
          </a:p>
          <a:p>
            <a:pPr rtl="0"/>
            <a:r>
              <a:rPr lang="en-US" sz="1400">
                <a:effectLst/>
                <a:latin typeface="Cambria" panose="02040503050406030204" pitchFamily="18" charset="0"/>
                <a:ea typeface="Cambria" panose="02040503050406030204" pitchFamily="18" charset="0"/>
              </a:rPr>
              <a:t>At the cut-off frequency, ƒ = ƒc </a:t>
            </a:r>
            <a:endParaRPr lang="en-US" sz="1400">
              <a:effectLst/>
              <a:latin typeface="Cambria" panose="02040503050406030204" pitchFamily="18" charset="0"/>
              <a:ea typeface="Cambria" panose="02040503050406030204" pitchFamily="18" charset="0"/>
            </a:endParaRPr>
          </a:p>
          <a:p>
            <a:pPr rtl="0"/>
            <a:endParaRPr lang="en-US" sz="1400">
              <a:latin typeface="Cambria" panose="02040503050406030204" pitchFamily="18" charset="0"/>
              <a:ea typeface="Cambria" panose="02040503050406030204" pitchFamily="18" charset="0"/>
            </a:endParaRPr>
          </a:p>
          <a:p>
            <a:pPr rtl="0"/>
            <a:endParaRPr lang="en-US" sz="1400">
              <a:latin typeface="Cambria" panose="02040503050406030204" pitchFamily="18" charset="0"/>
              <a:ea typeface="Cambria" panose="02040503050406030204" pitchFamily="18" charset="0"/>
            </a:endParaRPr>
          </a:p>
          <a:p>
            <a:pPr rtl="0"/>
            <a:r>
              <a:rPr lang="en-US" sz="1400">
                <a:effectLst/>
                <a:latin typeface="Cambria" panose="02040503050406030204" pitchFamily="18" charset="0"/>
                <a:ea typeface="Cambria" panose="02040503050406030204" pitchFamily="18" charset="0"/>
              </a:rPr>
              <a:t>At very high frequencies, ƒ &gt; ƒc</a:t>
            </a:r>
            <a:endParaRPr lang="en-US" sz="1400">
              <a:effectLst/>
              <a:latin typeface="Cambria" panose="02040503050406030204" pitchFamily="18" charset="0"/>
              <a:ea typeface="Cambria" panose="02040503050406030204" pitchFamily="18" charset="0"/>
            </a:endParaRPr>
          </a:p>
          <a:p>
            <a:pPr rtl="0"/>
            <a:endParaRPr lang="en-US" sz="1400">
              <a:latin typeface="Cambria" panose="02040503050406030204" pitchFamily="18" charset="0"/>
              <a:ea typeface="Cambria" panose="02040503050406030204" pitchFamily="18" charset="0"/>
            </a:endParaRPr>
          </a:p>
          <a:p>
            <a:pPr rtl="0"/>
            <a:endParaRPr lang="en-US" sz="1400"/>
          </a:p>
          <a:p>
            <a:pPr rtl="0"/>
            <a:endParaRPr lang="en-US" sz="1400">
              <a:effectLst/>
            </a:endParaRPr>
          </a:p>
          <a:p>
            <a:pPr rtl="0"/>
            <a:endParaRPr lang="en-US" sz="1400"/>
          </a:p>
          <a:p>
            <a:pPr rtl="0"/>
            <a:endParaRPr lang="en-US" sz="1400">
              <a:effectLst/>
            </a:endParaRPr>
          </a:p>
          <a:p>
            <a:pPr rtl="0"/>
            <a:endParaRPr lang="en-US" sz="1400">
              <a:effectLst/>
            </a:endParaRPr>
          </a:p>
          <a:p>
            <a:pPr rtl="0"/>
            <a:endParaRPr lang="en-US" sz="1400"/>
          </a:p>
          <a:p>
            <a:pPr eaLnBrk="1" hangingPunct="1">
              <a:buFont typeface="Wingdings" panose="05000000000000000000" pitchFamily="2" charset="2"/>
              <a:buChar char="v"/>
            </a:pPr>
            <a:endParaRPr lang="en-US" altLang="en-US" sz="1600">
              <a:latin typeface="Calibri" panose="020F0502020204030204" pitchFamily="34" charset="0"/>
              <a:cs typeface="Calibri" panose="020F0502020204030204" pitchFamily="34" charset="0"/>
            </a:endParaRPr>
          </a:p>
          <a:p>
            <a:pPr marL="0" indent="0" eaLnBrk="1" hangingPunct="1">
              <a:buNone/>
            </a:pPr>
            <a:endParaRPr lang="en-US" altLang="en-US" sz="1600">
              <a:latin typeface="Calibri" panose="020F0502020204030204" pitchFamily="34" charset="0"/>
              <a:cs typeface="Calibri" panose="020F0502020204030204" pitchFamily="34" charset="0"/>
            </a:endParaRPr>
          </a:p>
          <a:p>
            <a:pPr marL="457200" lvl="1" indent="0">
              <a:buNone/>
            </a:pPr>
            <a:r>
              <a:rPr lang="en-US" altLang="en-US" sz="1600">
                <a:latin typeface="Calibri" panose="020F0502020204030204" pitchFamily="34" charset="0"/>
                <a:cs typeface="Calibri" panose="020F0502020204030204" pitchFamily="34" charset="0"/>
              </a:rPr>
              <a:t> </a:t>
            </a:r>
            <a:endParaRPr lang="en-IN" sz="1600">
              <a:latin typeface="Cambria" panose="02040503050406030204" pitchFamily="18" charset="0"/>
              <a:ea typeface="Cambria" panose="02040503050406030204" pitchFamily="18" charset="0"/>
            </a:endParaRPr>
          </a:p>
        </p:txBody>
      </p:sp>
      <p:pic>
        <p:nvPicPr>
          <p:cNvPr id="5" name="Picture 4"/>
          <p:cNvPicPr>
            <a:picLocks noChangeAspect="1"/>
          </p:cNvPicPr>
          <p:nvPr/>
        </p:nvPicPr>
        <p:blipFill>
          <a:blip r:embed="rId1"/>
          <a:stretch>
            <a:fillRect/>
          </a:stretch>
        </p:blipFill>
        <p:spPr>
          <a:xfrm>
            <a:off x="3306541" y="2704825"/>
            <a:ext cx="1324160" cy="619211"/>
          </a:xfrm>
          <a:prstGeom prst="rect">
            <a:avLst/>
          </a:prstGeom>
        </p:spPr>
      </p:pic>
      <p:pic>
        <p:nvPicPr>
          <p:cNvPr id="9" name="Picture 8"/>
          <p:cNvPicPr>
            <a:picLocks noChangeAspect="1"/>
          </p:cNvPicPr>
          <p:nvPr/>
        </p:nvPicPr>
        <p:blipFill>
          <a:blip r:embed="rId2"/>
          <a:stretch>
            <a:fillRect/>
          </a:stretch>
        </p:blipFill>
        <p:spPr>
          <a:xfrm>
            <a:off x="3306541" y="3920755"/>
            <a:ext cx="2522762" cy="687235"/>
          </a:xfrm>
          <a:prstGeom prst="rect">
            <a:avLst/>
          </a:prstGeom>
        </p:spPr>
      </p:pic>
      <p:pic>
        <p:nvPicPr>
          <p:cNvPr id="11" name="Picture 10"/>
          <p:cNvPicPr>
            <a:picLocks noChangeAspect="1"/>
          </p:cNvPicPr>
          <p:nvPr/>
        </p:nvPicPr>
        <p:blipFill>
          <a:blip r:embed="rId3"/>
          <a:stretch>
            <a:fillRect/>
          </a:stretch>
        </p:blipFill>
        <p:spPr>
          <a:xfrm>
            <a:off x="3306541" y="5012822"/>
            <a:ext cx="1343212" cy="76210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7" name="TextBox 6"/>
          <p:cNvSpPr txBox="1"/>
          <p:nvPr/>
        </p:nvSpPr>
        <p:spPr>
          <a:xfrm>
            <a:off x="1316949" y="1107228"/>
            <a:ext cx="10369119" cy="70788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4000" dirty="0">
                <a:latin typeface="Cambria" panose="02040503050406030204" pitchFamily="18" charset="0"/>
                <a:ea typeface="Cambria" panose="02040503050406030204" pitchFamily="18" charset="0"/>
              </a:rPr>
              <a:t>F</a:t>
            </a:r>
            <a:r>
              <a:rPr lang="en-IN" sz="4000" dirty="0" err="1">
                <a:latin typeface="Cambria" panose="02040503050406030204" pitchFamily="18" charset="0"/>
                <a:ea typeface="Cambria" panose="02040503050406030204" pitchFamily="18" charset="0"/>
              </a:rPr>
              <a:t>irst</a:t>
            </a:r>
            <a:r>
              <a:rPr lang="en-IN" sz="4000" dirty="0">
                <a:latin typeface="Cambria" panose="02040503050406030204" pitchFamily="18" charset="0"/>
                <a:ea typeface="Cambria" panose="02040503050406030204" pitchFamily="18" charset="0"/>
              </a:rPr>
              <a:t> Order Low Pass Butterworth Filter</a:t>
            </a:r>
            <a:endParaRPr lang="en-IN" sz="1400" dirty="0">
              <a:latin typeface="Cambria" panose="02040503050406030204" pitchFamily="18" charset="0"/>
              <a:ea typeface="Cambria" panose="02040503050406030204" pitchFamily="18" charset="0"/>
            </a:endParaRPr>
          </a:p>
        </p:txBody>
      </p:sp>
      <p:sp>
        <p:nvSpPr>
          <p:cNvPr id="6" name="Content Placeholder 2"/>
          <p:cNvSpPr>
            <a:spLocks noGrp="1"/>
          </p:cNvSpPr>
          <p:nvPr>
            <p:ph idx="1"/>
          </p:nvPr>
        </p:nvSpPr>
        <p:spPr>
          <a:xfrm>
            <a:off x="316146" y="1929188"/>
            <a:ext cx="6952401" cy="4247877"/>
          </a:xfrm>
        </p:spPr>
        <p:txBody>
          <a:bodyPr anchor="t">
            <a:noAutofit/>
          </a:bodyPr>
          <a:lstStyle/>
          <a:p>
            <a:pPr eaLnBrk="1" hangingPunct="1">
              <a:lnSpc>
                <a:spcPct val="200000"/>
              </a:lnSpc>
              <a:buFont typeface="Wingdings" panose="05000000000000000000" pitchFamily="2" charset="2"/>
              <a:buChar char="v"/>
            </a:pPr>
            <a:r>
              <a:rPr lang="en-US" altLang="en-US" sz="1600">
                <a:latin typeface="Cambria" panose="02040503050406030204" pitchFamily="18" charset="0"/>
                <a:ea typeface="Cambria" panose="02040503050406030204" pitchFamily="18" charset="0"/>
                <a:cs typeface="Calibri" panose="020F0502020204030204" pitchFamily="34" charset="0"/>
              </a:rPr>
              <a:t>The figure shows the circuit model of the first-order low pass Butter worth filter</a:t>
            </a:r>
            <a:endParaRPr lang="en-US" altLang="en-US" sz="1600">
              <a:latin typeface="Cambria" panose="02040503050406030204" pitchFamily="18" charset="0"/>
              <a:ea typeface="Cambria" panose="02040503050406030204" pitchFamily="18" charset="0"/>
              <a:cs typeface="Calibri" panose="020F0502020204030204" pitchFamily="34" charset="0"/>
            </a:endParaRPr>
          </a:p>
          <a:p>
            <a:pPr eaLnBrk="1" hangingPunct="1">
              <a:lnSpc>
                <a:spcPct val="200000"/>
              </a:lnSpc>
              <a:buFont typeface="Wingdings" panose="05000000000000000000" pitchFamily="2" charset="2"/>
              <a:buChar char="v"/>
            </a:pPr>
            <a:r>
              <a:rPr lang="en-US" altLang="en-US" sz="1600">
                <a:latin typeface="Cambria" panose="02040503050406030204" pitchFamily="18" charset="0"/>
                <a:ea typeface="Cambria" panose="02040503050406030204" pitchFamily="18" charset="0"/>
                <a:cs typeface="Calibri" panose="020F0502020204030204" pitchFamily="34" charset="0"/>
              </a:rPr>
              <a:t>In the circuit we have:</a:t>
            </a:r>
            <a:endParaRPr lang="en-US" altLang="en-US" sz="1600">
              <a:latin typeface="Cambria" panose="02040503050406030204" pitchFamily="18" charset="0"/>
              <a:ea typeface="Cambria" panose="02040503050406030204" pitchFamily="18" charset="0"/>
              <a:cs typeface="Calibri" panose="020F0502020204030204" pitchFamily="34" charset="0"/>
            </a:endParaRPr>
          </a:p>
          <a:p>
            <a:pPr lvl="1">
              <a:lnSpc>
                <a:spcPct val="200000"/>
              </a:lnSpc>
            </a:pPr>
            <a:r>
              <a:rPr lang="en-US" sz="1200">
                <a:effectLst/>
                <a:latin typeface="Cambria" panose="02040503050406030204" pitchFamily="18" charset="0"/>
                <a:ea typeface="Cambria" panose="02040503050406030204" pitchFamily="18" charset="0"/>
              </a:rPr>
              <a:t>Voltage ‘Vin’ as an input voltage signal which is analog in nature.</a:t>
            </a:r>
            <a:endParaRPr lang="en-US" sz="1200">
              <a:latin typeface="Cambria" panose="02040503050406030204" pitchFamily="18" charset="0"/>
              <a:ea typeface="Cambria" panose="02040503050406030204" pitchFamily="18" charset="0"/>
            </a:endParaRPr>
          </a:p>
          <a:p>
            <a:pPr lvl="1">
              <a:lnSpc>
                <a:spcPct val="200000"/>
              </a:lnSpc>
            </a:pPr>
            <a:r>
              <a:rPr lang="en-US" sz="1200">
                <a:effectLst/>
                <a:latin typeface="Cambria" panose="02040503050406030204" pitchFamily="18" charset="0"/>
                <a:ea typeface="Cambria" panose="02040503050406030204" pitchFamily="18" charset="0"/>
              </a:rPr>
              <a:t>Voltage ‘Vo’ is the output voltage of the operational amplifier.</a:t>
            </a:r>
            <a:endParaRPr lang="en-US" sz="1200">
              <a:latin typeface="Cambria" panose="02040503050406030204" pitchFamily="18" charset="0"/>
              <a:ea typeface="Cambria" panose="02040503050406030204" pitchFamily="18" charset="0"/>
            </a:endParaRPr>
          </a:p>
          <a:p>
            <a:pPr lvl="1">
              <a:lnSpc>
                <a:spcPct val="200000"/>
              </a:lnSpc>
            </a:pPr>
            <a:r>
              <a:rPr lang="en-US" sz="1200">
                <a:effectLst/>
                <a:latin typeface="Cambria" panose="02040503050406030204" pitchFamily="18" charset="0"/>
                <a:ea typeface="Cambria" panose="02040503050406030204" pitchFamily="18" charset="0"/>
              </a:rPr>
              <a:t>Resistors ‘RF’ and ‘R1’ are the negative feedback resistors of the operational amplifier.</a:t>
            </a:r>
            <a:endParaRPr lang="en-US" sz="1200">
              <a:latin typeface="Cambria" panose="02040503050406030204" pitchFamily="18" charset="0"/>
              <a:ea typeface="Cambria" panose="02040503050406030204" pitchFamily="18" charset="0"/>
            </a:endParaRPr>
          </a:p>
          <a:p>
            <a:pPr lvl="1">
              <a:lnSpc>
                <a:spcPct val="200000"/>
              </a:lnSpc>
            </a:pPr>
            <a:r>
              <a:rPr lang="en-US" sz="1200">
                <a:effectLst/>
                <a:latin typeface="Cambria" panose="02040503050406030204" pitchFamily="18" charset="0"/>
                <a:ea typeface="Cambria" panose="02040503050406030204" pitchFamily="18" charset="0"/>
              </a:rPr>
              <a:t>There is a single R-C network (marked in the red square) present in the circuit hence the filter is a first-order low pass filter </a:t>
            </a:r>
            <a:endParaRPr lang="en-US" sz="1200">
              <a:latin typeface="Cambria" panose="02040503050406030204" pitchFamily="18" charset="0"/>
              <a:ea typeface="Cambria" panose="02040503050406030204" pitchFamily="18" charset="0"/>
            </a:endParaRPr>
          </a:p>
          <a:p>
            <a:pPr lvl="1">
              <a:lnSpc>
                <a:spcPct val="200000"/>
              </a:lnSpc>
            </a:pPr>
            <a:r>
              <a:rPr lang="en-US" sz="1200">
                <a:effectLst/>
                <a:latin typeface="Cambria" panose="02040503050406030204" pitchFamily="18" charset="0"/>
                <a:ea typeface="Cambria" panose="02040503050406030204" pitchFamily="18" charset="0"/>
              </a:rPr>
              <a:t>‘RL’ is the load resistance connected at the op-amp output.</a:t>
            </a:r>
            <a:endParaRPr lang="en-US" sz="1200">
              <a:latin typeface="Cambria" panose="02040503050406030204" pitchFamily="18" charset="0"/>
              <a:ea typeface="Cambria" panose="02040503050406030204" pitchFamily="18" charset="0"/>
            </a:endParaRPr>
          </a:p>
          <a:p>
            <a:pPr marL="0" indent="0">
              <a:buNone/>
            </a:pPr>
            <a:endParaRPr lang="en-US" altLang="en-US" sz="1600">
              <a:latin typeface="Cambria" panose="02040503050406030204" pitchFamily="18" charset="0"/>
              <a:ea typeface="Cambria" panose="02040503050406030204" pitchFamily="18" charset="0"/>
              <a:cs typeface="Calibri" panose="020F0502020204030204" pitchFamily="34" charset="0"/>
            </a:endParaRPr>
          </a:p>
          <a:p>
            <a:pPr eaLnBrk="1" hangingPunct="1">
              <a:buFont typeface="Wingdings" panose="05000000000000000000" pitchFamily="2" charset="2"/>
              <a:buChar char="v"/>
            </a:pPr>
            <a:endParaRPr lang="en-US" altLang="en-US" sz="1600">
              <a:latin typeface="Cambria" panose="02040503050406030204" pitchFamily="18" charset="0"/>
              <a:ea typeface="Cambria" panose="02040503050406030204" pitchFamily="18" charset="0"/>
              <a:cs typeface="Calibri" panose="020F0502020204030204" pitchFamily="34" charset="0"/>
            </a:endParaRPr>
          </a:p>
          <a:p>
            <a:pPr eaLnBrk="1" hangingPunct="1">
              <a:buFont typeface="Wingdings" panose="05000000000000000000" pitchFamily="2" charset="2"/>
              <a:buChar char="v"/>
            </a:pPr>
            <a:endParaRPr lang="en-US" altLang="en-US" sz="1600">
              <a:latin typeface="Cambria" panose="02040503050406030204" pitchFamily="18" charset="0"/>
              <a:ea typeface="Cambria" panose="02040503050406030204" pitchFamily="18" charset="0"/>
              <a:cs typeface="Calibri" panose="020F0502020204030204" pitchFamily="34" charset="0"/>
            </a:endParaRPr>
          </a:p>
          <a:p>
            <a:pPr eaLnBrk="1" hangingPunct="1">
              <a:buFont typeface="Wingdings" panose="05000000000000000000" pitchFamily="2" charset="2"/>
              <a:buChar char="v"/>
            </a:pPr>
            <a:endParaRPr lang="en-US" altLang="en-US" sz="1600">
              <a:latin typeface="Cambria" panose="02040503050406030204" pitchFamily="18" charset="0"/>
              <a:ea typeface="Cambria" panose="02040503050406030204" pitchFamily="18" charset="0"/>
              <a:cs typeface="Calibri" panose="020F0502020204030204" pitchFamily="34" charset="0"/>
            </a:endParaRPr>
          </a:p>
          <a:p>
            <a:pPr marL="0" indent="0" eaLnBrk="1" hangingPunct="1">
              <a:buNone/>
            </a:pPr>
            <a:endParaRPr lang="en-US" altLang="en-US" sz="1600">
              <a:latin typeface="Cambria" panose="02040503050406030204" pitchFamily="18" charset="0"/>
              <a:ea typeface="Cambria" panose="02040503050406030204" pitchFamily="18" charset="0"/>
              <a:cs typeface="Calibri" panose="020F0502020204030204" pitchFamily="34" charset="0"/>
            </a:endParaRPr>
          </a:p>
          <a:p>
            <a:pPr marL="457200" lvl="1" indent="0">
              <a:buNone/>
            </a:pPr>
            <a:r>
              <a:rPr lang="en-US" altLang="en-US" sz="1600">
                <a:latin typeface="Cambria" panose="02040503050406030204" pitchFamily="18" charset="0"/>
                <a:ea typeface="Cambria" panose="02040503050406030204" pitchFamily="18" charset="0"/>
                <a:cs typeface="Calibri" panose="020F0502020204030204" pitchFamily="34" charset="0"/>
              </a:rPr>
              <a:t> </a:t>
            </a:r>
            <a:endParaRPr lang="en-IN" sz="1600">
              <a:latin typeface="Cambria" panose="02040503050406030204" pitchFamily="18" charset="0"/>
              <a:ea typeface="Cambria" panose="02040503050406030204" pitchFamily="18" charset="0"/>
            </a:endParaRPr>
          </a:p>
        </p:txBody>
      </p:sp>
      <p:pic>
        <p:nvPicPr>
          <p:cNvPr id="3" name="Picture 2"/>
          <p:cNvPicPr>
            <a:picLocks noChangeAspect="1"/>
          </p:cNvPicPr>
          <p:nvPr/>
        </p:nvPicPr>
        <p:blipFill>
          <a:blip r:embed="rId1"/>
          <a:stretch>
            <a:fillRect/>
          </a:stretch>
        </p:blipFill>
        <p:spPr>
          <a:xfrm>
            <a:off x="7268547" y="2425959"/>
            <a:ext cx="4516016" cy="319200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7" name="TextBox 6"/>
          <p:cNvSpPr txBox="1"/>
          <p:nvPr/>
        </p:nvSpPr>
        <p:spPr>
          <a:xfrm>
            <a:off x="1316949" y="1107228"/>
            <a:ext cx="10369119" cy="70788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4000">
                <a:latin typeface="Cambria" panose="02040503050406030204" pitchFamily="18" charset="0"/>
                <a:ea typeface="Cambria" panose="02040503050406030204" pitchFamily="18" charset="0"/>
              </a:rPr>
              <a:t>F</a:t>
            </a:r>
            <a:r>
              <a:rPr lang="en-IN" sz="4000" err="1">
                <a:latin typeface="Cambria" panose="02040503050406030204" pitchFamily="18" charset="0"/>
                <a:ea typeface="Cambria" panose="02040503050406030204" pitchFamily="18" charset="0"/>
              </a:rPr>
              <a:t>irst Order Low Pass Butterworth Filter</a:t>
            </a:r>
            <a:endParaRPr lang="en-IN" sz="1400">
              <a:latin typeface="Cambria" panose="02040503050406030204" pitchFamily="18" charset="0"/>
              <a:ea typeface="Cambria" panose="02040503050406030204" pitchFamily="18" charset="0"/>
            </a:endParaRPr>
          </a:p>
        </p:txBody>
      </p:sp>
      <p:sp>
        <p:nvSpPr>
          <p:cNvPr id="6" name="Content Placeholder 2"/>
          <p:cNvSpPr>
            <a:spLocks noGrp="1"/>
          </p:cNvSpPr>
          <p:nvPr>
            <p:ph idx="1"/>
          </p:nvPr>
        </p:nvSpPr>
        <p:spPr>
          <a:xfrm>
            <a:off x="764016" y="1929188"/>
            <a:ext cx="10369119" cy="4247877"/>
          </a:xfrm>
        </p:spPr>
        <p:txBody>
          <a:bodyPr anchor="t">
            <a:noAutofit/>
          </a:bodyPr>
          <a:lstStyle/>
          <a:p>
            <a:pPr rtl="0"/>
            <a:r>
              <a:rPr lang="en-US" sz="1400">
                <a:effectLst/>
                <a:latin typeface="Cambria" panose="02040503050406030204" pitchFamily="18" charset="0"/>
                <a:ea typeface="Cambria" panose="02040503050406030204" pitchFamily="18" charset="0"/>
                <a:cs typeface="Calibri" panose="020F0502020204030204" pitchFamily="34" charset="0"/>
              </a:rPr>
              <a:t>If we use the voltage divider rule at point ‘V1’then we can get the voltage across the capacitor as,</a:t>
            </a:r>
            <a:endParaRPr lang="en-US" sz="1400">
              <a:latin typeface="Cambria" panose="02040503050406030204" pitchFamily="18" charset="0"/>
              <a:ea typeface="Cambria" panose="02040503050406030204" pitchFamily="18" charset="0"/>
              <a:cs typeface="Calibri" panose="020F0502020204030204" pitchFamily="34" charset="0"/>
            </a:endParaRPr>
          </a:p>
          <a:p>
            <a:pPr rtl="0"/>
            <a:r>
              <a:rPr lang="en-US" sz="1400">
                <a:effectLst/>
                <a:latin typeface="Cambria" panose="02040503050406030204" pitchFamily="18" charset="0"/>
                <a:ea typeface="Cambria" panose="02040503050406030204" pitchFamily="18" charset="0"/>
                <a:cs typeface="Calibri" panose="020F0502020204030204" pitchFamily="34" charset="0"/>
              </a:rPr>
              <a:t>V1 = [ -jXc / (R-jXc) ] Vin Here –jXc = 1/2ᴫfc</a:t>
            </a:r>
            <a:endParaRPr lang="en-US" sz="1400">
              <a:latin typeface="Cambria" panose="02040503050406030204" pitchFamily="18" charset="0"/>
              <a:ea typeface="Cambria" panose="02040503050406030204" pitchFamily="18" charset="0"/>
              <a:cs typeface="Calibri" panose="020F0502020204030204" pitchFamily="34" charset="0"/>
            </a:endParaRPr>
          </a:p>
          <a:p>
            <a:pPr rtl="0"/>
            <a:r>
              <a:rPr lang="en-US" sz="1400">
                <a:effectLst/>
                <a:latin typeface="Cambria" panose="02040503050406030204" pitchFamily="18" charset="0"/>
                <a:ea typeface="Cambria" panose="02040503050406030204" pitchFamily="18" charset="0"/>
                <a:cs typeface="Calibri" panose="020F0502020204030204" pitchFamily="34" charset="0"/>
              </a:rPr>
              <a:t>After substitution this equation we will have something like below</a:t>
            </a:r>
            <a:endParaRPr lang="en-US" sz="1400">
              <a:latin typeface="Cambria" panose="02040503050406030204" pitchFamily="18" charset="0"/>
              <a:ea typeface="Cambria" panose="02040503050406030204" pitchFamily="18" charset="0"/>
              <a:cs typeface="Calibri" panose="020F0502020204030204" pitchFamily="34" charset="0"/>
            </a:endParaRPr>
          </a:p>
          <a:p>
            <a:pPr rtl="0"/>
            <a:r>
              <a:rPr lang="en-US" sz="1400">
                <a:effectLst/>
                <a:latin typeface="Cambria" panose="02040503050406030204" pitchFamily="18" charset="0"/>
                <a:ea typeface="Cambria" panose="02040503050406030204" pitchFamily="18" charset="0"/>
                <a:cs typeface="Calibri" panose="020F0502020204030204" pitchFamily="34" charset="0"/>
              </a:rPr>
              <a:t>V1 = Vin / (1+j2ᴫfRC)</a:t>
            </a:r>
            <a:endParaRPr lang="en-US" sz="1400">
              <a:latin typeface="Cambria" panose="02040503050406030204" pitchFamily="18" charset="0"/>
              <a:ea typeface="Cambria" panose="02040503050406030204" pitchFamily="18" charset="0"/>
              <a:cs typeface="Calibri" panose="020F0502020204030204" pitchFamily="34" charset="0"/>
            </a:endParaRPr>
          </a:p>
          <a:p>
            <a:pPr rtl="0"/>
            <a:r>
              <a:rPr lang="en-US" sz="1400">
                <a:effectLst/>
                <a:latin typeface="Cambria" panose="02040503050406030204" pitchFamily="18" charset="0"/>
                <a:ea typeface="Cambria" panose="02040503050406030204" pitchFamily="18" charset="0"/>
                <a:cs typeface="Calibri" panose="020F0502020204030204" pitchFamily="34" charset="0"/>
              </a:rPr>
              <a:t>Now the op-amp here used in negative feedback configuration and for such a case the output voltage equation is given as,</a:t>
            </a:r>
            <a:endParaRPr lang="en-US" sz="1400">
              <a:latin typeface="Cambria" panose="02040503050406030204" pitchFamily="18" charset="0"/>
              <a:ea typeface="Cambria" panose="02040503050406030204" pitchFamily="18" charset="0"/>
              <a:cs typeface="Calibri" panose="020F0502020204030204" pitchFamily="34" charset="0"/>
            </a:endParaRPr>
          </a:p>
          <a:p>
            <a:pPr rtl="0"/>
            <a:r>
              <a:rPr lang="en-US" sz="1400">
                <a:effectLst/>
                <a:latin typeface="Cambria" panose="02040503050406030204" pitchFamily="18" charset="0"/>
                <a:ea typeface="Cambria" panose="02040503050406030204" pitchFamily="18" charset="0"/>
                <a:cs typeface="Calibri" panose="020F0502020204030204" pitchFamily="34" charset="0"/>
              </a:rPr>
              <a:t>V0 = ( 1 + RF / R1 ) V1 . </a:t>
            </a:r>
            <a:endParaRPr lang="en-US" sz="1400">
              <a:effectLst/>
              <a:latin typeface="Cambria" panose="02040503050406030204" pitchFamily="18" charset="0"/>
              <a:ea typeface="Cambria" panose="02040503050406030204" pitchFamily="18" charset="0"/>
              <a:cs typeface="Calibri" panose="020F0502020204030204" pitchFamily="34" charset="0"/>
            </a:endParaRPr>
          </a:p>
          <a:p>
            <a:pPr rtl="0"/>
            <a:r>
              <a:rPr lang="en-US" sz="1400">
                <a:effectLst/>
                <a:latin typeface="Cambria" panose="02040503050406030204" pitchFamily="18" charset="0"/>
                <a:ea typeface="Cambria" panose="02040503050406030204" pitchFamily="18" charset="0"/>
                <a:cs typeface="Calibri" panose="020F0502020204030204" pitchFamily="34" charset="0"/>
              </a:rPr>
              <a:t>If we submit V1 equation into Vo we will have,</a:t>
            </a:r>
            <a:endParaRPr lang="en-US" sz="1400">
              <a:latin typeface="Cambria" panose="02040503050406030204" pitchFamily="18" charset="0"/>
              <a:ea typeface="Cambria" panose="02040503050406030204" pitchFamily="18" charset="0"/>
              <a:cs typeface="Calibri" panose="020F0502020204030204" pitchFamily="34" charset="0"/>
            </a:endParaRPr>
          </a:p>
          <a:p>
            <a:pPr rtl="0"/>
            <a:r>
              <a:rPr lang="en-US" sz="1400">
                <a:effectLst/>
                <a:latin typeface="Cambria" panose="02040503050406030204" pitchFamily="18" charset="0"/>
                <a:ea typeface="Cambria" panose="02040503050406030204" pitchFamily="18" charset="0"/>
                <a:cs typeface="Calibri" panose="020F0502020204030204" pitchFamily="34" charset="0"/>
              </a:rPr>
              <a:t>V0 = (1 + RF / R1) [Vin / (1 + j2ᴫfRC) ]</a:t>
            </a:r>
            <a:endParaRPr lang="en-US" sz="1400">
              <a:latin typeface="Cambria" panose="02040503050406030204" pitchFamily="18" charset="0"/>
              <a:ea typeface="Cambria" panose="02040503050406030204" pitchFamily="18" charset="0"/>
              <a:cs typeface="Calibri" panose="020F0502020204030204" pitchFamily="34" charset="0"/>
            </a:endParaRPr>
          </a:p>
          <a:p>
            <a:pPr rtl="0"/>
            <a:r>
              <a:rPr lang="en-US" sz="1400">
                <a:effectLst/>
                <a:latin typeface="Cambria" panose="02040503050406030204" pitchFamily="18" charset="0"/>
                <a:ea typeface="Cambria" panose="02040503050406030204" pitchFamily="18" charset="0"/>
                <a:cs typeface="Calibri" panose="020F0502020204030204" pitchFamily="34" charset="0"/>
              </a:rPr>
              <a:t>After rewriting this equation we can have,</a:t>
            </a:r>
            <a:endParaRPr lang="en-US" sz="1400">
              <a:latin typeface="Cambria" panose="02040503050406030204" pitchFamily="18" charset="0"/>
              <a:ea typeface="Cambria" panose="02040503050406030204" pitchFamily="18" charset="0"/>
              <a:cs typeface="Calibri" panose="020F0502020204030204" pitchFamily="34" charset="0"/>
            </a:endParaRPr>
          </a:p>
          <a:p>
            <a:r>
              <a:rPr lang="en-US" sz="1400">
                <a:effectLst/>
                <a:latin typeface="Cambria" panose="02040503050406030204" pitchFamily="18" charset="0"/>
                <a:ea typeface="Cambria" panose="02040503050406030204" pitchFamily="18" charset="0"/>
                <a:cs typeface="Calibri" panose="020F0502020204030204" pitchFamily="34" charset="0"/>
              </a:rPr>
              <a:t>V</a:t>
            </a:r>
            <a:r>
              <a:rPr lang="en-US" sz="1400" baseline="-25000">
                <a:effectLst/>
                <a:latin typeface="Cambria" panose="02040503050406030204" pitchFamily="18" charset="0"/>
                <a:ea typeface="Cambria" panose="02040503050406030204" pitchFamily="18" charset="0"/>
                <a:cs typeface="Calibri" panose="020F0502020204030204" pitchFamily="34" charset="0"/>
              </a:rPr>
              <a:t>o</a:t>
            </a:r>
            <a:r>
              <a:rPr lang="en-US" sz="1400">
                <a:effectLst/>
                <a:latin typeface="Cambria" panose="02040503050406030204" pitchFamily="18" charset="0"/>
                <a:ea typeface="Cambria" panose="02040503050406030204" pitchFamily="18" charset="0"/>
                <a:cs typeface="Calibri" panose="020F0502020204030204" pitchFamily="34" charset="0"/>
              </a:rPr>
              <a:t>/V</a:t>
            </a:r>
            <a:r>
              <a:rPr lang="en-US" sz="1400" baseline="-25000">
                <a:effectLst/>
                <a:latin typeface="Cambria" panose="02040503050406030204" pitchFamily="18" charset="0"/>
                <a:ea typeface="Cambria" panose="02040503050406030204" pitchFamily="18" charset="0"/>
                <a:cs typeface="Calibri" panose="020F0502020204030204" pitchFamily="34" charset="0"/>
              </a:rPr>
              <a:t>in</a:t>
            </a:r>
            <a:r>
              <a:rPr lang="en-US" sz="1400">
                <a:effectLst/>
                <a:latin typeface="Cambria" panose="02040503050406030204" pitchFamily="18" charset="0"/>
                <a:ea typeface="Cambria" panose="02040503050406030204" pitchFamily="18" charset="0"/>
                <a:cs typeface="Calibri" panose="020F0502020204030204" pitchFamily="34" charset="0"/>
              </a:rPr>
              <a:t>= AF / ( 1 + j(f/fL) )</a:t>
            </a:r>
            <a:endParaRPr lang="en-US" sz="1400">
              <a:latin typeface="Cambria" panose="02040503050406030204" pitchFamily="18" charset="0"/>
              <a:ea typeface="Cambria" panose="02040503050406030204" pitchFamily="18" charset="0"/>
              <a:cs typeface="Calibri" panose="020F0502020204030204" pitchFamily="34" charset="0"/>
            </a:endParaRPr>
          </a:p>
          <a:p>
            <a:pPr rtl="0"/>
            <a:endParaRPr lang="en-US" sz="1400">
              <a:latin typeface="Cambria" panose="02040503050406030204" pitchFamily="18" charset="0"/>
              <a:ea typeface="Cambria" panose="02040503050406030204" pitchFamily="18" charset="0"/>
            </a:endParaRPr>
          </a:p>
          <a:p>
            <a:pPr eaLnBrk="1" hangingPunct="1">
              <a:buFont typeface="Wingdings" panose="05000000000000000000" pitchFamily="2" charset="2"/>
              <a:buChar char="v"/>
            </a:pPr>
            <a:endParaRPr lang="en-US" altLang="en-US" sz="1600">
              <a:latin typeface="Cambria" panose="02040503050406030204" pitchFamily="18" charset="0"/>
              <a:ea typeface="Cambria" panose="02040503050406030204" pitchFamily="18" charset="0"/>
              <a:cs typeface="Calibri" panose="020F0502020204030204" pitchFamily="34" charset="0"/>
            </a:endParaRPr>
          </a:p>
          <a:p>
            <a:pPr eaLnBrk="1" hangingPunct="1">
              <a:buFont typeface="Wingdings" panose="05000000000000000000" pitchFamily="2" charset="2"/>
              <a:buChar char="v"/>
            </a:pPr>
            <a:endParaRPr lang="en-US" altLang="en-US" sz="1600">
              <a:latin typeface="Cambria" panose="02040503050406030204" pitchFamily="18" charset="0"/>
              <a:ea typeface="Cambria" panose="02040503050406030204" pitchFamily="18" charset="0"/>
              <a:cs typeface="Calibri" panose="020F0502020204030204" pitchFamily="34" charset="0"/>
            </a:endParaRPr>
          </a:p>
          <a:p>
            <a:pPr eaLnBrk="1" hangingPunct="1">
              <a:buFont typeface="Wingdings" panose="05000000000000000000" pitchFamily="2" charset="2"/>
              <a:buChar char="v"/>
            </a:pPr>
            <a:endParaRPr lang="en-US" altLang="en-US" sz="1600">
              <a:latin typeface="Cambria" panose="02040503050406030204" pitchFamily="18" charset="0"/>
              <a:ea typeface="Cambria" panose="02040503050406030204" pitchFamily="18" charset="0"/>
              <a:cs typeface="Calibri" panose="020F0502020204030204" pitchFamily="34" charset="0"/>
            </a:endParaRPr>
          </a:p>
          <a:p>
            <a:pPr marL="0" indent="0" eaLnBrk="1" hangingPunct="1">
              <a:buNone/>
            </a:pPr>
            <a:endParaRPr lang="en-US" altLang="en-US" sz="1600">
              <a:latin typeface="Cambria" panose="02040503050406030204" pitchFamily="18" charset="0"/>
              <a:ea typeface="Cambria" panose="02040503050406030204" pitchFamily="18" charset="0"/>
              <a:cs typeface="Calibri" panose="020F0502020204030204" pitchFamily="34" charset="0"/>
            </a:endParaRPr>
          </a:p>
          <a:p>
            <a:pPr marL="457200" lvl="1" indent="0">
              <a:buNone/>
            </a:pPr>
            <a:r>
              <a:rPr lang="en-US" altLang="en-US" sz="1600">
                <a:latin typeface="Cambria" panose="02040503050406030204" pitchFamily="18" charset="0"/>
                <a:ea typeface="Cambria" panose="02040503050406030204" pitchFamily="18" charset="0"/>
                <a:cs typeface="Calibri" panose="020F0502020204030204" pitchFamily="34" charset="0"/>
              </a:rPr>
              <a:t> </a:t>
            </a:r>
            <a:endParaRPr lang="en-IN" sz="1600">
              <a:latin typeface="Cambria" panose="02040503050406030204" pitchFamily="18" charset="0"/>
              <a:ea typeface="Cambria"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7" name="TextBox 6"/>
          <p:cNvSpPr txBox="1"/>
          <p:nvPr/>
        </p:nvSpPr>
        <p:spPr>
          <a:xfrm>
            <a:off x="1316949" y="1107228"/>
            <a:ext cx="10369119" cy="70788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4000">
                <a:latin typeface="Cambria" panose="02040503050406030204" pitchFamily="18" charset="0"/>
                <a:ea typeface="Cambria" panose="02040503050406030204" pitchFamily="18" charset="0"/>
              </a:rPr>
              <a:t>F</a:t>
            </a:r>
            <a:r>
              <a:rPr lang="en-IN" sz="4000" err="1">
                <a:latin typeface="Cambria" panose="02040503050406030204" pitchFamily="18" charset="0"/>
                <a:ea typeface="Cambria" panose="02040503050406030204" pitchFamily="18" charset="0"/>
              </a:rPr>
              <a:t>irst Order Low Pass Butterworth Filter</a:t>
            </a:r>
            <a:endParaRPr lang="en-IN" sz="1400">
              <a:latin typeface="Cambria" panose="02040503050406030204" pitchFamily="18" charset="0"/>
              <a:ea typeface="Cambria" panose="02040503050406030204" pitchFamily="18" charset="0"/>
            </a:endParaRPr>
          </a:p>
        </p:txBody>
      </p:sp>
      <p:sp>
        <p:nvSpPr>
          <p:cNvPr id="6" name="Content Placeholder 2"/>
          <p:cNvSpPr>
            <a:spLocks noGrp="1"/>
          </p:cNvSpPr>
          <p:nvPr>
            <p:ph idx="1"/>
          </p:nvPr>
        </p:nvSpPr>
        <p:spPr>
          <a:xfrm>
            <a:off x="764016" y="1929188"/>
            <a:ext cx="10369119" cy="4247877"/>
          </a:xfrm>
        </p:spPr>
        <p:txBody>
          <a:bodyPr anchor="t">
            <a:noAutofit/>
          </a:bodyPr>
          <a:lstStyle/>
          <a:p>
            <a:r>
              <a:rPr lang="en-US" sz="1400">
                <a:effectLst/>
                <a:latin typeface="Cambria" panose="02040503050406030204" pitchFamily="18" charset="0"/>
                <a:ea typeface="Cambria" panose="02040503050406030204" pitchFamily="18" charset="0"/>
              </a:rPr>
              <a:t>We have, </a:t>
            </a:r>
            <a:r>
              <a:rPr lang="en-US" sz="1400">
                <a:effectLst/>
                <a:latin typeface="Cambria" panose="02040503050406030204" pitchFamily="18" charset="0"/>
                <a:ea typeface="Cambria" panose="02040503050406030204" pitchFamily="18" charset="0"/>
                <a:cs typeface="Times New Roman" panose="02020603050405020304" pitchFamily="18" charset="0"/>
              </a:rPr>
              <a:t>V</a:t>
            </a:r>
            <a:r>
              <a:rPr lang="en-US" sz="1400" baseline="-25000">
                <a:effectLst/>
                <a:latin typeface="Cambria" panose="02040503050406030204" pitchFamily="18" charset="0"/>
                <a:ea typeface="Cambria" panose="02040503050406030204" pitchFamily="18" charset="0"/>
                <a:cs typeface="Times New Roman" panose="02020603050405020304" pitchFamily="18" charset="0"/>
              </a:rPr>
              <a:t>o</a:t>
            </a:r>
            <a:r>
              <a:rPr lang="en-US" sz="1400">
                <a:effectLst/>
                <a:latin typeface="Cambria" panose="02040503050406030204" pitchFamily="18" charset="0"/>
                <a:ea typeface="Cambria" panose="02040503050406030204" pitchFamily="18" charset="0"/>
                <a:cs typeface="Times New Roman" panose="02020603050405020304" pitchFamily="18" charset="0"/>
              </a:rPr>
              <a:t>/V</a:t>
            </a:r>
            <a:r>
              <a:rPr lang="en-US" sz="1400" baseline="-25000">
                <a:effectLst/>
                <a:latin typeface="Cambria" panose="02040503050406030204" pitchFamily="18" charset="0"/>
                <a:ea typeface="Cambria" panose="02040503050406030204" pitchFamily="18" charset="0"/>
                <a:cs typeface="Times New Roman" panose="02020603050405020304" pitchFamily="18" charset="0"/>
              </a:rPr>
              <a:t>in</a:t>
            </a:r>
            <a:r>
              <a:rPr lang="en-US" sz="1400">
                <a:effectLst/>
                <a:latin typeface="Cambria" panose="02040503050406030204" pitchFamily="18" charset="0"/>
                <a:ea typeface="Cambria" panose="02040503050406030204" pitchFamily="18" charset="0"/>
              </a:rPr>
              <a:t> = AF / ( 1 + j(f/fL) )</a:t>
            </a:r>
            <a:endParaRPr lang="en-US" sz="1400">
              <a:latin typeface="Cambria" panose="02040503050406030204" pitchFamily="18" charset="0"/>
              <a:ea typeface="Cambria" panose="02040503050406030204" pitchFamily="18" charset="0"/>
            </a:endParaRPr>
          </a:p>
          <a:p>
            <a:pPr rtl="0"/>
            <a:r>
              <a:rPr lang="en-US" sz="1400">
                <a:effectLst/>
                <a:latin typeface="Cambria" panose="02040503050406030204" pitchFamily="18" charset="0"/>
                <a:ea typeface="Cambria" panose="02040503050406030204" pitchFamily="18" charset="0"/>
              </a:rPr>
              <a:t>In this equation,</a:t>
            </a:r>
            <a:endParaRPr lang="en-US" sz="1400">
              <a:latin typeface="Cambria" panose="02040503050406030204" pitchFamily="18" charset="0"/>
              <a:ea typeface="Cambria" panose="02040503050406030204" pitchFamily="18" charset="0"/>
            </a:endParaRPr>
          </a:p>
          <a:p>
            <a:r>
              <a:rPr lang="en-US" sz="1400">
                <a:effectLst/>
                <a:latin typeface="Cambria" panose="02040503050406030204" pitchFamily="18" charset="0"/>
                <a:ea typeface="Cambria" panose="02040503050406030204" pitchFamily="18" charset="0"/>
                <a:cs typeface="Times New Roman" panose="02020603050405020304" pitchFamily="18" charset="0"/>
              </a:rPr>
              <a:t>V</a:t>
            </a:r>
            <a:r>
              <a:rPr lang="en-US" sz="1400" baseline="-25000">
                <a:effectLst/>
                <a:latin typeface="Cambria" panose="02040503050406030204" pitchFamily="18" charset="0"/>
                <a:ea typeface="Cambria" panose="02040503050406030204" pitchFamily="18" charset="0"/>
                <a:cs typeface="Times New Roman" panose="02020603050405020304" pitchFamily="18" charset="0"/>
              </a:rPr>
              <a:t>o</a:t>
            </a:r>
            <a:r>
              <a:rPr lang="en-US" sz="1400">
                <a:effectLst/>
                <a:latin typeface="Cambria" panose="02040503050406030204" pitchFamily="18" charset="0"/>
                <a:ea typeface="Cambria" panose="02040503050406030204" pitchFamily="18" charset="0"/>
                <a:cs typeface="Times New Roman" panose="02020603050405020304" pitchFamily="18" charset="0"/>
              </a:rPr>
              <a:t>/V</a:t>
            </a:r>
            <a:r>
              <a:rPr lang="en-US" sz="1400" baseline="-25000">
                <a:effectLst/>
                <a:latin typeface="Cambria" panose="02040503050406030204" pitchFamily="18" charset="0"/>
                <a:ea typeface="Cambria" panose="02040503050406030204" pitchFamily="18" charset="0"/>
                <a:cs typeface="Times New Roman" panose="02020603050405020304" pitchFamily="18" charset="0"/>
              </a:rPr>
              <a:t>in</a:t>
            </a:r>
            <a:r>
              <a:rPr lang="en-US" sz="1400">
                <a:effectLst/>
                <a:latin typeface="Cambria" panose="02040503050406030204" pitchFamily="18" charset="0"/>
                <a:ea typeface="Cambria" panose="02040503050406030204" pitchFamily="18" charset="0"/>
              </a:rPr>
              <a:t> = gain of the filter as a function of frequency</a:t>
            </a:r>
            <a:endParaRPr lang="en-US" sz="1400">
              <a:latin typeface="Cambria" panose="02040503050406030204" pitchFamily="18" charset="0"/>
              <a:ea typeface="Cambria" panose="02040503050406030204" pitchFamily="18" charset="0"/>
            </a:endParaRPr>
          </a:p>
          <a:p>
            <a:pPr rtl="0"/>
            <a:r>
              <a:rPr lang="en-US" sz="1400">
                <a:effectLst/>
                <a:latin typeface="Cambria" panose="02040503050406030204" pitchFamily="18" charset="0"/>
                <a:ea typeface="Cambria" panose="02040503050406030204" pitchFamily="18" charset="0"/>
              </a:rPr>
              <a:t> = (1+RF / R1) = passband gain of the filter</a:t>
            </a:r>
            <a:endParaRPr lang="en-US" sz="1400">
              <a:latin typeface="Cambria" panose="02040503050406030204" pitchFamily="18" charset="0"/>
              <a:ea typeface="Cambria" panose="02040503050406030204" pitchFamily="18" charset="0"/>
            </a:endParaRPr>
          </a:p>
          <a:p>
            <a:pPr rtl="0"/>
            <a:r>
              <a:rPr lang="en-US" sz="1400">
                <a:effectLst/>
                <a:latin typeface="Cambria" panose="02040503050406030204" pitchFamily="18" charset="0"/>
                <a:ea typeface="Cambria" panose="02040503050406030204" pitchFamily="18" charset="0"/>
              </a:rPr>
              <a:t>f = frequency of the input signal</a:t>
            </a:r>
            <a:endParaRPr lang="en-US" sz="1400">
              <a:latin typeface="Cambria" panose="02040503050406030204" pitchFamily="18" charset="0"/>
              <a:ea typeface="Cambria" panose="02040503050406030204" pitchFamily="18" charset="0"/>
            </a:endParaRPr>
          </a:p>
          <a:p>
            <a:pPr rtl="0"/>
            <a:r>
              <a:rPr lang="en-US" sz="1400" err="1">
                <a:effectLst/>
                <a:latin typeface="Cambria" panose="02040503050406030204" pitchFamily="18" charset="0"/>
                <a:ea typeface="Cambria" panose="02040503050406030204" pitchFamily="18" charset="0"/>
              </a:rPr>
              <a:t>f</a:t>
            </a:r>
            <a:r>
              <a:rPr lang="en-US" sz="1400" baseline="-25000" err="1">
                <a:effectLst/>
                <a:latin typeface="Cambria" panose="02040503050406030204" pitchFamily="18" charset="0"/>
                <a:ea typeface="Cambria" panose="02040503050406030204" pitchFamily="18" charset="0"/>
              </a:rPr>
              <a:t>L</a:t>
            </a:r>
            <a:r>
              <a:rPr lang="en-US" sz="1400">
                <a:effectLst/>
                <a:latin typeface="Cambria" panose="02040503050406030204" pitchFamily="18" charset="0"/>
                <a:ea typeface="Cambria" panose="02040503050406030204" pitchFamily="18" charset="0"/>
              </a:rPr>
              <a:t> = 1 / 2ᴫRC = cutoff frequency of the filter.</a:t>
            </a:r>
            <a:endParaRPr lang="en-US" sz="1400">
              <a:effectLst/>
              <a:latin typeface="Cambria" panose="02040503050406030204" pitchFamily="18" charset="0"/>
              <a:ea typeface="Cambria" panose="02040503050406030204" pitchFamily="18" charset="0"/>
            </a:endParaRPr>
          </a:p>
          <a:p>
            <a:pPr rtl="0"/>
            <a:r>
              <a:rPr lang="en-US" sz="1400">
                <a:effectLst/>
                <a:latin typeface="Cambria" panose="02040503050406030204" pitchFamily="18" charset="0"/>
                <a:ea typeface="Cambria" panose="02040503050406030204" pitchFamily="18" charset="0"/>
              </a:rPr>
              <a:t>We can use this equation to choose appropriate resistor and capacitor values to select the cutoff frequency of the circuit.</a:t>
            </a:r>
            <a:endParaRPr lang="en-US" sz="1400">
              <a:latin typeface="Cambria" panose="02040503050406030204" pitchFamily="18" charset="0"/>
              <a:ea typeface="Cambria" panose="02040503050406030204" pitchFamily="18" charset="0"/>
            </a:endParaRPr>
          </a:p>
          <a:p>
            <a:pPr rtl="0"/>
            <a:r>
              <a:rPr lang="en-US" sz="1400">
                <a:effectLst/>
                <a:latin typeface="Cambria" panose="02040503050406030204" pitchFamily="18" charset="0"/>
                <a:ea typeface="Cambria" panose="02040503050406030204" pitchFamily="18" charset="0"/>
              </a:rPr>
              <a:t>If we convert the above equation into a polar form we will have,</a:t>
            </a:r>
            <a:endParaRPr lang="en-US" sz="1400">
              <a:effectLst/>
              <a:latin typeface="Cambria" panose="02040503050406030204" pitchFamily="18" charset="0"/>
              <a:ea typeface="Cambria" panose="02040503050406030204" pitchFamily="18" charset="0"/>
            </a:endParaRPr>
          </a:p>
          <a:p>
            <a:pPr rtl="0"/>
            <a:endParaRPr lang="en-US" sz="1400">
              <a:latin typeface="Cambria" panose="02040503050406030204" pitchFamily="18" charset="0"/>
              <a:ea typeface="Cambria" panose="02040503050406030204" pitchFamily="18" charset="0"/>
            </a:endParaRPr>
          </a:p>
          <a:p>
            <a:pPr rtl="0"/>
            <a:endParaRPr lang="en-US" sz="1400">
              <a:latin typeface="Cambria" panose="02040503050406030204" pitchFamily="18" charset="0"/>
              <a:ea typeface="Cambria" panose="02040503050406030204" pitchFamily="18" charset="0"/>
            </a:endParaRPr>
          </a:p>
          <a:p>
            <a:pPr eaLnBrk="1" hangingPunct="1">
              <a:buFont typeface="Wingdings" panose="05000000000000000000" pitchFamily="2" charset="2"/>
              <a:buChar char="v"/>
            </a:pPr>
            <a:endParaRPr lang="en-US" altLang="en-US" sz="1400">
              <a:latin typeface="Cambria" panose="02040503050406030204" pitchFamily="18" charset="0"/>
              <a:ea typeface="Cambria" panose="02040503050406030204" pitchFamily="18" charset="0"/>
              <a:cs typeface="Calibri" panose="020F0502020204030204" pitchFamily="34" charset="0"/>
            </a:endParaRPr>
          </a:p>
          <a:p>
            <a:pPr eaLnBrk="1" hangingPunct="1">
              <a:buFont typeface="Wingdings" panose="05000000000000000000" pitchFamily="2" charset="2"/>
              <a:buChar char="v"/>
            </a:pPr>
            <a:endParaRPr lang="en-US" altLang="en-US" sz="1400">
              <a:latin typeface="Cambria" panose="02040503050406030204" pitchFamily="18" charset="0"/>
              <a:ea typeface="Cambria" panose="02040503050406030204" pitchFamily="18" charset="0"/>
              <a:cs typeface="Calibri" panose="020F0502020204030204" pitchFamily="34" charset="0"/>
            </a:endParaRPr>
          </a:p>
          <a:p>
            <a:pPr eaLnBrk="1" hangingPunct="1">
              <a:buFont typeface="Wingdings" panose="05000000000000000000" pitchFamily="2" charset="2"/>
              <a:buChar char="v"/>
            </a:pPr>
            <a:endParaRPr lang="en-US" altLang="en-US" sz="1400">
              <a:latin typeface="Cambria" panose="02040503050406030204" pitchFamily="18" charset="0"/>
              <a:ea typeface="Cambria" panose="02040503050406030204" pitchFamily="18" charset="0"/>
              <a:cs typeface="Calibri" panose="020F0502020204030204" pitchFamily="34" charset="0"/>
            </a:endParaRPr>
          </a:p>
          <a:p>
            <a:pPr marL="0" indent="0" eaLnBrk="1" hangingPunct="1">
              <a:buNone/>
            </a:pPr>
            <a:endParaRPr lang="en-US" altLang="en-US" sz="1400">
              <a:latin typeface="Cambria" panose="02040503050406030204" pitchFamily="18" charset="0"/>
              <a:ea typeface="Cambria" panose="02040503050406030204" pitchFamily="18" charset="0"/>
              <a:cs typeface="Calibri" panose="020F0502020204030204" pitchFamily="34" charset="0"/>
            </a:endParaRPr>
          </a:p>
          <a:p>
            <a:pPr marL="457200" lvl="1" indent="0">
              <a:buNone/>
            </a:pPr>
            <a:r>
              <a:rPr lang="en-US" altLang="en-US" sz="1400">
                <a:latin typeface="Cambria" panose="02040503050406030204" pitchFamily="18" charset="0"/>
                <a:ea typeface="Cambria" panose="02040503050406030204" pitchFamily="18" charset="0"/>
                <a:cs typeface="Calibri" panose="020F0502020204030204" pitchFamily="34" charset="0"/>
              </a:rPr>
              <a:t> </a:t>
            </a:r>
            <a:endParaRPr lang="en-IN" sz="1400">
              <a:latin typeface="Cambria" panose="02040503050406030204" pitchFamily="18" charset="0"/>
              <a:ea typeface="Cambria" panose="02040503050406030204" pitchFamily="18" charset="0"/>
            </a:endParaRPr>
          </a:p>
        </p:txBody>
      </p:sp>
      <p:pic>
        <p:nvPicPr>
          <p:cNvPr id="3" name="Picture 2"/>
          <p:cNvPicPr>
            <a:picLocks noChangeAspect="1"/>
          </p:cNvPicPr>
          <p:nvPr/>
        </p:nvPicPr>
        <p:blipFill>
          <a:blip r:embed="rId1"/>
          <a:stretch>
            <a:fillRect/>
          </a:stretch>
        </p:blipFill>
        <p:spPr>
          <a:xfrm>
            <a:off x="6162496" y="4596895"/>
            <a:ext cx="3177448" cy="96771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6" name="Content Placeholder 2"/>
          <p:cNvSpPr>
            <a:spLocks noGrp="1"/>
          </p:cNvSpPr>
          <p:nvPr>
            <p:ph idx="1"/>
          </p:nvPr>
        </p:nvSpPr>
        <p:spPr>
          <a:xfrm>
            <a:off x="764017" y="1929188"/>
            <a:ext cx="5664776" cy="4247877"/>
          </a:xfrm>
        </p:spPr>
        <p:txBody>
          <a:bodyPr anchor="t">
            <a:noAutofit/>
          </a:bodyPr>
          <a:lstStyle/>
          <a:p>
            <a:r>
              <a:rPr lang="en-US" sz="1400">
                <a:latin typeface="Cambria" panose="02040503050406030204" pitchFamily="18" charset="0"/>
                <a:ea typeface="Cambria" panose="02040503050406030204" pitchFamily="18" charset="0"/>
              </a:rPr>
              <a:t>Case 1: f&lt;&lt;fL. So let us consider input frequency is very less than the cutoff frequency of the filter then,</a:t>
            </a:r>
            <a:endParaRPr lang="en-US" sz="1400">
              <a:latin typeface="Cambria" panose="02040503050406030204" pitchFamily="18" charset="0"/>
              <a:ea typeface="Cambria" panose="02040503050406030204" pitchFamily="18" charset="0"/>
            </a:endParaRPr>
          </a:p>
          <a:p>
            <a:pPr marL="0" indent="0">
              <a:buNone/>
            </a:pPr>
            <a:endParaRPr lang="en-US" sz="1400">
              <a:latin typeface="Cambria" panose="02040503050406030204" pitchFamily="18" charset="0"/>
              <a:ea typeface="Cambria" panose="02040503050406030204" pitchFamily="18" charset="0"/>
            </a:endParaRPr>
          </a:p>
          <a:p>
            <a:pPr marL="0" indent="0">
              <a:buNone/>
            </a:pPr>
            <a:endParaRPr lang="en-US" sz="1400">
              <a:effectLst/>
              <a:latin typeface="Cambria" panose="02040503050406030204" pitchFamily="18" charset="0"/>
              <a:ea typeface="Cambria" panose="02040503050406030204" pitchFamily="18" charset="0"/>
            </a:endParaRPr>
          </a:p>
          <a:p>
            <a:r>
              <a:rPr lang="en-US" sz="1400">
                <a:effectLst/>
                <a:latin typeface="Cambria" panose="02040503050406030204" pitchFamily="18" charset="0"/>
                <a:ea typeface="Cambria" panose="02040503050406030204" pitchFamily="18" charset="0"/>
              </a:rPr>
              <a:t>Case 2: f = fL. If the input frequency is equal to the cutoff frequency of the filter then,</a:t>
            </a:r>
            <a:endParaRPr lang="en-US" sz="1400">
              <a:effectLst/>
              <a:latin typeface="Cambria" panose="02040503050406030204" pitchFamily="18" charset="0"/>
              <a:ea typeface="Cambria" panose="02040503050406030204" pitchFamily="18" charset="0"/>
            </a:endParaRPr>
          </a:p>
          <a:p>
            <a:endParaRPr lang="en-US" sz="1400">
              <a:latin typeface="Cambria" panose="02040503050406030204" pitchFamily="18" charset="0"/>
              <a:ea typeface="Cambria" panose="02040503050406030204" pitchFamily="18" charset="0"/>
            </a:endParaRPr>
          </a:p>
          <a:p>
            <a:endParaRPr lang="en-US" sz="1400">
              <a:latin typeface="Cambria" panose="02040503050406030204" pitchFamily="18" charset="0"/>
              <a:ea typeface="Cambria" panose="02040503050406030204" pitchFamily="18" charset="0"/>
            </a:endParaRPr>
          </a:p>
          <a:p>
            <a:r>
              <a:rPr lang="en-US" sz="1400">
                <a:effectLst/>
                <a:latin typeface="Cambria" panose="02040503050406030204" pitchFamily="18" charset="0"/>
                <a:ea typeface="Cambria" panose="02040503050406030204" pitchFamily="18" charset="0"/>
              </a:rPr>
              <a:t>Case3: f &gt;fL. If the input frequency is higher than the cutoff frequency of the filter then,</a:t>
            </a:r>
            <a:endParaRPr lang="en-US" sz="1400">
              <a:latin typeface="Cambria" panose="02040503050406030204" pitchFamily="18" charset="0"/>
              <a:ea typeface="Cambria" panose="02040503050406030204" pitchFamily="18" charset="0"/>
            </a:endParaRPr>
          </a:p>
          <a:p>
            <a:pPr rtl="0"/>
            <a:endParaRPr lang="en-US" sz="1400">
              <a:latin typeface="Cambria" panose="02040503050406030204" pitchFamily="18" charset="0"/>
              <a:ea typeface="Cambria" panose="02040503050406030204" pitchFamily="18" charset="0"/>
            </a:endParaRPr>
          </a:p>
          <a:p>
            <a:pPr eaLnBrk="1" hangingPunct="1">
              <a:buFont typeface="Wingdings" panose="05000000000000000000" pitchFamily="2" charset="2"/>
              <a:buChar char="v"/>
            </a:pPr>
            <a:endParaRPr lang="en-US" altLang="en-US" sz="1400">
              <a:latin typeface="Cambria" panose="02040503050406030204" pitchFamily="18" charset="0"/>
              <a:ea typeface="Cambria" panose="02040503050406030204" pitchFamily="18" charset="0"/>
              <a:cs typeface="Calibri" panose="020F0502020204030204" pitchFamily="34" charset="0"/>
            </a:endParaRPr>
          </a:p>
          <a:p>
            <a:pPr eaLnBrk="1" hangingPunct="1">
              <a:buFont typeface="Wingdings" panose="05000000000000000000" pitchFamily="2" charset="2"/>
              <a:buChar char="v"/>
            </a:pPr>
            <a:endParaRPr lang="en-US" altLang="en-US" sz="1400">
              <a:latin typeface="Cambria" panose="02040503050406030204" pitchFamily="18" charset="0"/>
              <a:ea typeface="Cambria" panose="02040503050406030204" pitchFamily="18" charset="0"/>
              <a:cs typeface="Calibri" panose="020F0502020204030204" pitchFamily="34" charset="0"/>
            </a:endParaRPr>
          </a:p>
          <a:p>
            <a:pPr eaLnBrk="1" hangingPunct="1">
              <a:buFont typeface="Wingdings" panose="05000000000000000000" pitchFamily="2" charset="2"/>
              <a:buChar char="v"/>
            </a:pPr>
            <a:endParaRPr lang="en-US" altLang="en-US" sz="1400">
              <a:latin typeface="Cambria" panose="02040503050406030204" pitchFamily="18" charset="0"/>
              <a:ea typeface="Cambria" panose="02040503050406030204" pitchFamily="18" charset="0"/>
              <a:cs typeface="Calibri" panose="020F0502020204030204" pitchFamily="34" charset="0"/>
            </a:endParaRPr>
          </a:p>
          <a:p>
            <a:pPr marL="0" indent="0" eaLnBrk="1" hangingPunct="1">
              <a:buNone/>
            </a:pPr>
            <a:endParaRPr lang="en-US" altLang="en-US" sz="1400">
              <a:latin typeface="Cambria" panose="02040503050406030204" pitchFamily="18" charset="0"/>
              <a:ea typeface="Cambria" panose="02040503050406030204" pitchFamily="18" charset="0"/>
              <a:cs typeface="Calibri" panose="020F0502020204030204" pitchFamily="34" charset="0"/>
            </a:endParaRPr>
          </a:p>
          <a:p>
            <a:pPr marL="457200" lvl="1" indent="0">
              <a:buNone/>
            </a:pPr>
            <a:r>
              <a:rPr lang="en-US" altLang="en-US" sz="1400">
                <a:latin typeface="Cambria" panose="02040503050406030204" pitchFamily="18" charset="0"/>
                <a:ea typeface="Cambria" panose="02040503050406030204" pitchFamily="18" charset="0"/>
                <a:cs typeface="Calibri" panose="020F0502020204030204" pitchFamily="34" charset="0"/>
              </a:rPr>
              <a:t> </a:t>
            </a:r>
            <a:endParaRPr lang="en-IN" sz="1400">
              <a:latin typeface="Cambria" panose="02040503050406030204" pitchFamily="18" charset="0"/>
              <a:ea typeface="Cambria" panose="02040503050406030204" pitchFamily="18" charset="0"/>
            </a:endParaRPr>
          </a:p>
        </p:txBody>
      </p:sp>
      <p:pic>
        <p:nvPicPr>
          <p:cNvPr id="5" name="Picture 4"/>
          <p:cNvPicPr>
            <a:picLocks noChangeAspect="1"/>
          </p:cNvPicPr>
          <p:nvPr/>
        </p:nvPicPr>
        <p:blipFill>
          <a:blip r:embed="rId1"/>
          <a:stretch>
            <a:fillRect/>
          </a:stretch>
        </p:blipFill>
        <p:spPr>
          <a:xfrm>
            <a:off x="6501508" y="2036130"/>
            <a:ext cx="3734321" cy="957545"/>
          </a:xfrm>
          <a:prstGeom prst="rect">
            <a:avLst/>
          </a:prstGeom>
        </p:spPr>
      </p:pic>
      <p:pic>
        <p:nvPicPr>
          <p:cNvPr id="9" name="Picture 8"/>
          <p:cNvPicPr>
            <a:picLocks noChangeAspect="1"/>
          </p:cNvPicPr>
          <p:nvPr/>
        </p:nvPicPr>
        <p:blipFill>
          <a:blip r:embed="rId2"/>
          <a:stretch>
            <a:fillRect/>
          </a:stretch>
        </p:blipFill>
        <p:spPr>
          <a:xfrm>
            <a:off x="6501508" y="3369207"/>
            <a:ext cx="3734321" cy="876422"/>
          </a:xfrm>
          <a:prstGeom prst="rect">
            <a:avLst/>
          </a:prstGeom>
        </p:spPr>
      </p:pic>
      <p:pic>
        <p:nvPicPr>
          <p:cNvPr id="11" name="Picture 10"/>
          <p:cNvPicPr>
            <a:picLocks noChangeAspect="1"/>
          </p:cNvPicPr>
          <p:nvPr/>
        </p:nvPicPr>
        <p:blipFill>
          <a:blip r:embed="rId3"/>
          <a:stretch>
            <a:fillRect/>
          </a:stretch>
        </p:blipFill>
        <p:spPr>
          <a:xfrm>
            <a:off x="6501508" y="4585065"/>
            <a:ext cx="2150608" cy="71562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6" name="Content Placeholder 2"/>
          <p:cNvSpPr>
            <a:spLocks noGrp="1"/>
          </p:cNvSpPr>
          <p:nvPr>
            <p:ph idx="1"/>
          </p:nvPr>
        </p:nvSpPr>
        <p:spPr>
          <a:xfrm>
            <a:off x="764017" y="1929188"/>
            <a:ext cx="5331984" cy="4247877"/>
          </a:xfrm>
        </p:spPr>
        <p:txBody>
          <a:bodyPr anchor="t">
            <a:noAutofit/>
          </a:bodyPr>
          <a:lstStyle/>
          <a:p>
            <a:pPr rtl="0"/>
            <a:r>
              <a:rPr lang="en-US" sz="1400">
                <a:latin typeface="Cambria" panose="02040503050406030204" pitchFamily="18" charset="0"/>
                <a:ea typeface="Cambria" panose="02040503050406030204" pitchFamily="18" charset="0"/>
              </a:rPr>
              <a:t>The frequency response of the above circuit:</a:t>
            </a:r>
            <a:endParaRPr lang="en-US" sz="1400">
              <a:latin typeface="Cambria" panose="02040503050406030204" pitchFamily="18" charset="0"/>
              <a:ea typeface="Cambria" panose="02040503050406030204" pitchFamily="18" charset="0"/>
            </a:endParaRPr>
          </a:p>
          <a:p>
            <a:pPr rtl="0"/>
            <a:r>
              <a:rPr lang="en-US" sz="1400">
                <a:latin typeface="Cambria" panose="02040503050406030204" pitchFamily="18" charset="0"/>
                <a:ea typeface="Cambria" panose="02040503050406030204" pitchFamily="18" charset="0"/>
              </a:rPr>
              <a:t>The gain of the filter will be the same as op-amp gain until the input signal frequency is less than the cutoff frequency. </a:t>
            </a:r>
            <a:endParaRPr lang="en-US" sz="1400">
              <a:latin typeface="Cambria" panose="02040503050406030204" pitchFamily="18" charset="0"/>
              <a:ea typeface="Cambria" panose="02040503050406030204" pitchFamily="18" charset="0"/>
            </a:endParaRPr>
          </a:p>
          <a:p>
            <a:pPr rtl="0"/>
            <a:r>
              <a:rPr lang="en-US" sz="1400">
                <a:effectLst/>
                <a:latin typeface="Cambria" panose="02040503050406030204" pitchFamily="18" charset="0"/>
                <a:ea typeface="Cambria" panose="02040503050406030204" pitchFamily="18" charset="0"/>
              </a:rPr>
              <a:t>But once the input signal frequency reaches cutoff frequency the gain marginally decreases as seen in case two. </a:t>
            </a:r>
            <a:endParaRPr lang="en-US" sz="1400">
              <a:effectLst/>
              <a:latin typeface="Cambria" panose="02040503050406030204" pitchFamily="18" charset="0"/>
              <a:ea typeface="Cambria" panose="02040503050406030204" pitchFamily="18" charset="0"/>
            </a:endParaRPr>
          </a:p>
          <a:p>
            <a:pPr rtl="0"/>
            <a:r>
              <a:rPr lang="en-US" sz="1400">
                <a:effectLst/>
                <a:latin typeface="Cambria" panose="02040503050406030204" pitchFamily="18" charset="0"/>
                <a:ea typeface="Cambria" panose="02040503050406030204" pitchFamily="18" charset="0"/>
              </a:rPr>
              <a:t>And as the input signal frequency increases even further the gain gradually decreases until it reaches zero. </a:t>
            </a:r>
            <a:endParaRPr lang="en-US" sz="1400">
              <a:effectLst/>
              <a:latin typeface="Cambria" panose="02040503050406030204" pitchFamily="18" charset="0"/>
              <a:ea typeface="Cambria" panose="02040503050406030204" pitchFamily="18" charset="0"/>
            </a:endParaRPr>
          </a:p>
          <a:p>
            <a:pPr rtl="0"/>
            <a:r>
              <a:rPr lang="en-US" sz="1400">
                <a:effectLst/>
                <a:latin typeface="Cambria" panose="02040503050406030204" pitchFamily="18" charset="0"/>
                <a:ea typeface="Cambria" panose="02040503050406030204" pitchFamily="18" charset="0"/>
              </a:rPr>
              <a:t>So the low pass Butterworth filter allows the input signal to appear at the output until the frequency of the input signal is lower than the cutoff frequency.</a:t>
            </a:r>
            <a:endParaRPr lang="en-US" sz="1400">
              <a:latin typeface="Cambria" panose="02040503050406030204" pitchFamily="18" charset="0"/>
              <a:ea typeface="Cambria" panose="02040503050406030204" pitchFamily="18" charset="0"/>
            </a:endParaRPr>
          </a:p>
          <a:p>
            <a:pPr eaLnBrk="1" hangingPunct="1">
              <a:buFont typeface="Wingdings" panose="05000000000000000000" pitchFamily="2" charset="2"/>
              <a:buChar char="v"/>
            </a:pPr>
            <a:endParaRPr lang="en-US" altLang="en-US" sz="1400">
              <a:latin typeface="Cambria" panose="02040503050406030204" pitchFamily="18" charset="0"/>
              <a:ea typeface="Cambria" panose="02040503050406030204" pitchFamily="18" charset="0"/>
              <a:cs typeface="Calibri" panose="020F0502020204030204" pitchFamily="34" charset="0"/>
            </a:endParaRPr>
          </a:p>
          <a:p>
            <a:pPr eaLnBrk="1" hangingPunct="1">
              <a:buFont typeface="Wingdings" panose="05000000000000000000" pitchFamily="2" charset="2"/>
              <a:buChar char="v"/>
            </a:pPr>
            <a:endParaRPr lang="en-US" altLang="en-US" sz="1400">
              <a:latin typeface="Cambria" panose="02040503050406030204" pitchFamily="18" charset="0"/>
              <a:ea typeface="Cambria" panose="02040503050406030204" pitchFamily="18" charset="0"/>
              <a:cs typeface="Calibri" panose="020F0502020204030204" pitchFamily="34" charset="0"/>
            </a:endParaRPr>
          </a:p>
          <a:p>
            <a:pPr eaLnBrk="1" hangingPunct="1">
              <a:buFont typeface="Wingdings" panose="05000000000000000000" pitchFamily="2" charset="2"/>
              <a:buChar char="v"/>
            </a:pPr>
            <a:endParaRPr lang="en-US" altLang="en-US" sz="1400">
              <a:latin typeface="Cambria" panose="02040503050406030204" pitchFamily="18" charset="0"/>
              <a:ea typeface="Cambria" panose="02040503050406030204" pitchFamily="18" charset="0"/>
              <a:cs typeface="Calibri" panose="020F0502020204030204" pitchFamily="34" charset="0"/>
            </a:endParaRPr>
          </a:p>
          <a:p>
            <a:pPr marL="0" indent="0" eaLnBrk="1" hangingPunct="1">
              <a:buNone/>
            </a:pPr>
            <a:endParaRPr lang="en-US" altLang="en-US" sz="1400">
              <a:latin typeface="Cambria" panose="02040503050406030204" pitchFamily="18" charset="0"/>
              <a:ea typeface="Cambria" panose="02040503050406030204" pitchFamily="18" charset="0"/>
              <a:cs typeface="Calibri" panose="020F0502020204030204" pitchFamily="34" charset="0"/>
            </a:endParaRPr>
          </a:p>
          <a:p>
            <a:pPr marL="457200" lvl="1" indent="0">
              <a:buNone/>
            </a:pPr>
            <a:r>
              <a:rPr lang="en-US" altLang="en-US" sz="1400">
                <a:latin typeface="Cambria" panose="02040503050406030204" pitchFamily="18" charset="0"/>
                <a:ea typeface="Cambria" panose="02040503050406030204" pitchFamily="18" charset="0"/>
                <a:cs typeface="Calibri" panose="020F0502020204030204" pitchFamily="34" charset="0"/>
              </a:rPr>
              <a:t> </a:t>
            </a:r>
            <a:endParaRPr lang="en-IN" sz="1400">
              <a:latin typeface="Cambria" panose="02040503050406030204" pitchFamily="18" charset="0"/>
              <a:ea typeface="Cambria" panose="02040503050406030204" pitchFamily="18" charset="0"/>
            </a:endParaRPr>
          </a:p>
        </p:txBody>
      </p:sp>
      <p:pic>
        <p:nvPicPr>
          <p:cNvPr id="3" name="Picture 2"/>
          <p:cNvPicPr>
            <a:picLocks noChangeAspect="1"/>
          </p:cNvPicPr>
          <p:nvPr/>
        </p:nvPicPr>
        <p:blipFill>
          <a:blip r:embed="rId1"/>
          <a:stretch>
            <a:fillRect/>
          </a:stretch>
        </p:blipFill>
        <p:spPr>
          <a:xfrm>
            <a:off x="6096000" y="2411681"/>
            <a:ext cx="5580061" cy="308537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919046" y="971970"/>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endParaRPr lang="en-US" sz="2400" dirty="0"/>
          </a:p>
        </p:txBody>
      </p:sp>
      <p:pic>
        <p:nvPicPr>
          <p:cNvPr id="17"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18" name="TextBox 17"/>
          <p:cNvSpPr txBox="1"/>
          <p:nvPr/>
        </p:nvSpPr>
        <p:spPr>
          <a:xfrm>
            <a:off x="1412200" y="1913244"/>
            <a:ext cx="9647854" cy="4203074"/>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IN" dirty="0"/>
              <a:t>Active filters offer precise frequency selectivity by allowing specific bands of frequencies to pass while attenuating others.</a:t>
            </a:r>
            <a:endParaRPr lang="en-IN" dirty="0"/>
          </a:p>
          <a:p>
            <a:pPr marL="285750" indent="-285750" algn="just">
              <a:lnSpc>
                <a:spcPct val="150000"/>
              </a:lnSpc>
              <a:buFont typeface="Arial" panose="020B0604020202020204" pitchFamily="34" charset="0"/>
              <a:buChar char="•"/>
            </a:pPr>
            <a:r>
              <a:rPr lang="en-IN" dirty="0"/>
              <a:t>Active high pass filters pass high-frequency components, while active low pass filters pass low-frequency components.</a:t>
            </a:r>
            <a:endParaRPr lang="en-IN" dirty="0"/>
          </a:p>
          <a:p>
            <a:pPr marL="285750" indent="-285750" algn="just">
              <a:lnSpc>
                <a:spcPct val="150000"/>
              </a:lnSpc>
              <a:buFont typeface="Arial" panose="020B0604020202020204" pitchFamily="34" charset="0"/>
              <a:buChar char="•"/>
            </a:pPr>
            <a:r>
              <a:rPr lang="en-IN" dirty="0"/>
              <a:t>Active band pass filters allow a specific band of frequencies to pass through, while active band stop filters reject a particular band of frequencies. </a:t>
            </a:r>
            <a:endParaRPr lang="en-IN" dirty="0"/>
          </a:p>
          <a:p>
            <a:pPr marL="285750" indent="-285750" algn="just">
              <a:lnSpc>
                <a:spcPct val="150000"/>
              </a:lnSpc>
              <a:buFont typeface="Arial" panose="020B0604020202020204" pitchFamily="34" charset="0"/>
              <a:buChar char="•"/>
            </a:pPr>
            <a:r>
              <a:rPr lang="en-IN" dirty="0"/>
              <a:t>Active filters find extensive use in various electronic systems requiring frequency-selective signal processing.</a:t>
            </a:r>
            <a:endParaRPr lang="en-IN" dirty="0"/>
          </a:p>
          <a:p>
            <a:pPr marL="285750" indent="-285750" algn="just">
              <a:lnSpc>
                <a:spcPct val="150000"/>
              </a:lnSpc>
              <a:buFont typeface="Arial" panose="020B0604020202020204" pitchFamily="34" charset="0"/>
              <a:buChar char="•"/>
            </a:pPr>
            <a:r>
              <a:rPr lang="en-IN" dirty="0"/>
              <a:t>Common applications include audio equalization, signal conditioning, noise cancellation, interference rejection, and notch filtering.</a:t>
            </a:r>
            <a:endParaRPr lang="en-GB" b="0" i="0" dirty="0">
              <a:solidFill>
                <a:srgbClr val="374151"/>
              </a:solidFill>
              <a:effectLst/>
              <a:latin typeface="Söhn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circuit&#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868464" y="357656"/>
            <a:ext cx="5232400" cy="3606800"/>
          </a:xfrm>
          <a:prstGeom prst="rect">
            <a:avLst/>
          </a:prstGeom>
        </p:spPr>
      </p:pic>
      <p:sp>
        <p:nvSpPr>
          <p:cNvPr id="23" name="Rounded Rectangle 17"/>
          <p:cNvSpPr/>
          <p:nvPr/>
        </p:nvSpPr>
        <p:spPr>
          <a:xfrm>
            <a:off x="2707336" y="265376"/>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Example Problem</a:t>
            </a:r>
            <a:endParaRPr lang="en-US" sz="2400" dirty="0"/>
          </a:p>
        </p:txBody>
      </p:sp>
      <p:sp>
        <p:nvSpPr>
          <p:cNvPr id="2" name="Slide Number Placeholder 1"/>
          <p:cNvSpPr>
            <a:spLocks noGrp="1"/>
          </p:cNvSpPr>
          <p:nvPr>
            <p:ph type="sldNum" sz="quarter" idx="12"/>
          </p:nvPr>
        </p:nvSpPr>
        <p:spPr/>
        <p:txBody>
          <a:bodyPr/>
          <a:lstStyle/>
          <a:p>
            <a:fld id="{CBABCCC1-BF11-4F37-963E-1BCD5B23FD72}" type="slidenum">
              <a:rPr lang="en-IN" smtClean="0"/>
            </a:fld>
            <a:endParaRPr lang="en-IN"/>
          </a:p>
        </p:txBody>
      </p:sp>
      <p:sp>
        <p:nvSpPr>
          <p:cNvPr id="4" name="TextBox 3"/>
          <p:cNvSpPr txBox="1"/>
          <p:nvPr/>
        </p:nvSpPr>
        <p:spPr>
          <a:xfrm>
            <a:off x="294410" y="1035585"/>
            <a:ext cx="5788891" cy="646331"/>
          </a:xfrm>
          <a:prstGeom prst="rect">
            <a:avLst/>
          </a:prstGeom>
          <a:noFill/>
        </p:spPr>
        <p:txBody>
          <a:bodyPr wrap="square">
            <a:spAutoFit/>
          </a:bodyPr>
          <a:lstStyle/>
          <a:p>
            <a:r>
              <a:rPr lang="en-IN" sz="1800" dirty="0">
                <a:effectLst/>
                <a:latin typeface="Times"/>
              </a:rPr>
              <a:t>Determine the </a:t>
            </a:r>
            <a:r>
              <a:rPr lang="en-IN" sz="1800" dirty="0" err="1">
                <a:effectLst/>
                <a:latin typeface="Times"/>
              </a:rPr>
              <a:t>center</a:t>
            </a:r>
            <a:r>
              <a:rPr lang="en-IN" sz="1800" dirty="0">
                <a:effectLst/>
                <a:latin typeface="Times"/>
              </a:rPr>
              <a:t> frequency, maximum gain, and bandwidth for the filter,</a:t>
            </a:r>
            <a:endParaRPr lang="en-IN" dirty="0"/>
          </a:p>
        </p:txBody>
      </p:sp>
      <p:sp>
        <p:nvSpPr>
          <p:cNvPr id="5" name="TextBox 4"/>
          <p:cNvSpPr txBox="1"/>
          <p:nvPr/>
        </p:nvSpPr>
        <p:spPr>
          <a:xfrm>
            <a:off x="294410" y="666253"/>
            <a:ext cx="1312718" cy="369332"/>
          </a:xfrm>
          <a:prstGeom prst="rect">
            <a:avLst/>
          </a:prstGeom>
          <a:noFill/>
        </p:spPr>
        <p:txBody>
          <a:bodyPr wrap="square">
            <a:spAutoFit/>
          </a:bodyPr>
          <a:lstStyle/>
          <a:p>
            <a:r>
              <a:rPr lang="en-IN" sz="1800" b="1" dirty="0">
                <a:effectLst/>
                <a:latin typeface="Times"/>
              </a:rPr>
              <a:t>Problem: </a:t>
            </a:r>
            <a:endParaRPr lang="en-IN" b="1" dirty="0"/>
          </a:p>
        </p:txBody>
      </p:sp>
      <p:sp>
        <p:nvSpPr>
          <p:cNvPr id="10" name="TextBox 9"/>
          <p:cNvSpPr txBox="1"/>
          <p:nvPr/>
        </p:nvSpPr>
        <p:spPr>
          <a:xfrm>
            <a:off x="294409" y="2319165"/>
            <a:ext cx="1312718" cy="369332"/>
          </a:xfrm>
          <a:prstGeom prst="rect">
            <a:avLst/>
          </a:prstGeom>
          <a:noFill/>
        </p:spPr>
        <p:txBody>
          <a:bodyPr wrap="square">
            <a:spAutoFit/>
          </a:bodyPr>
          <a:lstStyle/>
          <a:p>
            <a:r>
              <a:rPr lang="en-IN" sz="1800" b="1" dirty="0">
                <a:effectLst/>
                <a:latin typeface="Times"/>
              </a:rPr>
              <a:t>Solution: </a:t>
            </a:r>
            <a:endParaRPr lang="en-IN" b="1" dirty="0"/>
          </a:p>
        </p:txBody>
      </p:sp>
      <p:pic>
        <p:nvPicPr>
          <p:cNvPr id="11" name="Picture 10" descr="A math equations and formulas&#10;&#10;Description automatically generated with medium confidence"/>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94409" y="2688497"/>
            <a:ext cx="7633069" cy="249310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endParaRPr lang="en-US" sz="2400" dirty="0"/>
          </a:p>
        </p:txBody>
      </p:sp>
      <p:sp>
        <p:nvSpPr>
          <p:cNvPr id="7" name="Google Shape;502;p17"/>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IN" b="0" i="0" u="none" strike="noStrike" dirty="0">
                <a:solidFill>
                  <a:srgbClr val="000000"/>
                </a:solidFill>
                <a:effectLst/>
                <a:latin typeface="-webkit-standard"/>
              </a:rPr>
              <a:t>What is the primary function of an active band stop filter?</a:t>
            </a:r>
            <a:endParaRPr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1" name="Rounded Rectangle 17"/>
          <p:cNvSpPr/>
          <p:nvPr/>
        </p:nvSpPr>
        <p:spPr>
          <a:xfrm>
            <a:off x="1026828" y="1977905"/>
            <a:ext cx="4249507"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IN" sz="1600" dirty="0"/>
              <a:t>A. Pass a specific band of frequencies</a:t>
            </a:r>
            <a:endParaRPr lang="en-IN" sz="1600" dirty="0"/>
          </a:p>
          <a:p>
            <a:pPr marL="342900" indent="-342900">
              <a:lnSpc>
                <a:spcPct val="150000"/>
              </a:lnSpc>
              <a:buAutoNum type="alphaLcParenBoth"/>
            </a:pPr>
            <a:r>
              <a:rPr lang="en-IN" sz="1600" dirty="0"/>
              <a:t>Reject a specific band of frequencies</a:t>
            </a:r>
            <a:endParaRPr lang="en-IN" sz="1600" dirty="0"/>
          </a:p>
          <a:p>
            <a:pPr marL="342900" indent="-342900">
              <a:lnSpc>
                <a:spcPct val="150000"/>
              </a:lnSpc>
              <a:buAutoNum type="alphaLcParenBoth"/>
            </a:pPr>
            <a:r>
              <a:rPr lang="en-IN" sz="1600" dirty="0"/>
              <a:t>Amplify all frequencies equally</a:t>
            </a:r>
            <a:endParaRPr lang="en-IN" sz="1600" dirty="0"/>
          </a:p>
          <a:p>
            <a:pPr marL="342900" indent="-342900">
              <a:lnSpc>
                <a:spcPct val="150000"/>
              </a:lnSpc>
              <a:buAutoNum type="alphaLcParenBoth"/>
            </a:pPr>
            <a:r>
              <a:rPr lang="en-IN" sz="1600" dirty="0"/>
              <a:t>Attenuate all frequencies equally</a:t>
            </a:r>
            <a:endParaRPr lang="en-US" sz="1600" dirty="0">
              <a:solidFill>
                <a:schemeClr val="bg1"/>
              </a:solidFill>
              <a:latin typeface="+mj-lt"/>
            </a:endParaRPr>
          </a:p>
        </p:txBody>
      </p:sp>
      <p:sp>
        <p:nvSpPr>
          <p:cNvPr id="13" name="Google Shape;502;p17"/>
          <p:cNvSpPr/>
          <p:nvPr/>
        </p:nvSpPr>
        <p:spPr>
          <a:xfrm>
            <a:off x="1026828" y="37475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IN" dirty="0"/>
              <a:t>In an active high pass filter, where is the non-inverting terminal of the op-amp typically connected?</a:t>
            </a:r>
            <a:endParaRPr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4" name="Rounded Rectangle 17"/>
          <p:cNvSpPr/>
          <p:nvPr/>
        </p:nvSpPr>
        <p:spPr>
          <a:xfrm>
            <a:off x="1009895" y="4486010"/>
            <a:ext cx="6845632"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IN" dirty="0"/>
              <a:t>Input signal source</a:t>
            </a:r>
            <a:endParaRPr lang="en-IN" dirty="0"/>
          </a:p>
          <a:p>
            <a:pPr marL="342900" indent="-342900">
              <a:lnSpc>
                <a:spcPct val="150000"/>
              </a:lnSpc>
              <a:buAutoNum type="alphaLcParenBoth"/>
            </a:pPr>
            <a:r>
              <a:rPr lang="en-IN" dirty="0"/>
              <a:t>Output of a passive high pass filter</a:t>
            </a:r>
            <a:endParaRPr lang="en-IN" dirty="0"/>
          </a:p>
          <a:p>
            <a:pPr marL="342900" indent="-342900">
              <a:lnSpc>
                <a:spcPct val="150000"/>
              </a:lnSpc>
              <a:buAutoNum type="alphaLcParenBoth"/>
            </a:pPr>
            <a:r>
              <a:rPr lang="en-IN" dirty="0"/>
              <a:t>Ground</a:t>
            </a:r>
            <a:endParaRPr lang="en-IN" dirty="0"/>
          </a:p>
          <a:p>
            <a:pPr marL="342900" indent="-342900">
              <a:lnSpc>
                <a:spcPct val="150000"/>
              </a:lnSpc>
              <a:buAutoNum type="alphaLcParenBoth"/>
            </a:pPr>
            <a:r>
              <a:rPr lang="en-IN" dirty="0"/>
              <a:t>Output of a passive low pass filter</a:t>
            </a:r>
            <a:endParaRPr lang="en-US" sz="1600" dirty="0"/>
          </a:p>
        </p:txBody>
      </p:sp>
      <p:pic>
        <p:nvPicPr>
          <p:cNvPr id="8"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3" grpId="0" animBg="1"/>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endParaRPr lang="en-US" sz="2400" dirty="0"/>
          </a:p>
        </p:txBody>
      </p:sp>
      <p:sp>
        <p:nvSpPr>
          <p:cNvPr id="7" name="Google Shape;502;p17"/>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GB" dirty="0"/>
              <a:t>3.	</a:t>
            </a:r>
            <a:r>
              <a:rPr lang="en-IN" dirty="0"/>
              <a:t>What parameter can be adjusted to control the gain of an active filter?</a:t>
            </a:r>
            <a:endParaRPr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1" name="Rounded Rectangle 17"/>
          <p:cNvSpPr/>
          <p:nvPr/>
        </p:nvSpPr>
        <p:spPr>
          <a:xfrm>
            <a:off x="1442464" y="1905217"/>
            <a:ext cx="5069172"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IN" sz="1600" dirty="0">
                <a:solidFill>
                  <a:schemeClr val="bg1"/>
                </a:solidFill>
              </a:rPr>
              <a:t>Capacitance</a:t>
            </a:r>
            <a:endParaRPr lang="en-IN" sz="1600" dirty="0">
              <a:solidFill>
                <a:schemeClr val="bg1"/>
              </a:solidFill>
            </a:endParaRPr>
          </a:p>
          <a:p>
            <a:pPr marL="342900" indent="-342900">
              <a:lnSpc>
                <a:spcPct val="150000"/>
              </a:lnSpc>
              <a:buAutoNum type="alphaLcParenBoth"/>
            </a:pPr>
            <a:r>
              <a:rPr lang="en-IN" sz="1600" dirty="0">
                <a:solidFill>
                  <a:schemeClr val="bg1"/>
                </a:solidFill>
              </a:rPr>
              <a:t>Resistance</a:t>
            </a:r>
            <a:endParaRPr lang="en-IN" sz="1600" dirty="0">
              <a:solidFill>
                <a:schemeClr val="bg1"/>
              </a:solidFill>
            </a:endParaRPr>
          </a:p>
          <a:p>
            <a:pPr marL="342900" indent="-342900">
              <a:lnSpc>
                <a:spcPct val="150000"/>
              </a:lnSpc>
              <a:buAutoNum type="alphaLcParenBoth"/>
            </a:pPr>
            <a:r>
              <a:rPr lang="en-IN" sz="1600" dirty="0">
                <a:solidFill>
                  <a:schemeClr val="bg1"/>
                </a:solidFill>
              </a:rPr>
              <a:t>Inductance</a:t>
            </a:r>
            <a:endParaRPr lang="en-IN" sz="1600" dirty="0">
              <a:solidFill>
                <a:schemeClr val="bg1"/>
              </a:solidFill>
            </a:endParaRPr>
          </a:p>
          <a:p>
            <a:pPr marL="342900" indent="-342900">
              <a:lnSpc>
                <a:spcPct val="150000"/>
              </a:lnSpc>
              <a:buAutoNum type="alphaLcParenBoth"/>
            </a:pPr>
            <a:r>
              <a:rPr lang="en-IN" sz="1600" dirty="0">
                <a:solidFill>
                  <a:schemeClr val="bg1"/>
                </a:solidFill>
              </a:rPr>
              <a:t>Frequency</a:t>
            </a:r>
            <a:endParaRPr lang="en-US" sz="1600" dirty="0">
              <a:solidFill>
                <a:schemeClr val="bg1"/>
              </a:solidFill>
            </a:endParaRPr>
          </a:p>
        </p:txBody>
      </p:sp>
      <p:sp>
        <p:nvSpPr>
          <p:cNvPr id="13" name="Google Shape;502;p17"/>
          <p:cNvSpPr/>
          <p:nvPr/>
        </p:nvSpPr>
        <p:spPr>
          <a:xfrm>
            <a:off x="1009895" y="371852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GB" dirty="0"/>
              <a:t>4.	</a:t>
            </a:r>
            <a:r>
              <a:rPr lang="en-IN" dirty="0"/>
              <a:t>What is the primary advantage of active filters in noise cancellation and interference rejection applications?</a:t>
            </a:r>
            <a:endParaRPr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4" name="Rounded Rectangle 17"/>
          <p:cNvSpPr/>
          <p:nvPr/>
        </p:nvSpPr>
        <p:spPr>
          <a:xfrm>
            <a:off x="1162295" y="4530587"/>
            <a:ext cx="5349341"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a:t>Automotive engineering</a:t>
            </a:r>
            <a:endParaRPr lang="en-US" dirty="0"/>
          </a:p>
          <a:p>
            <a:pPr marL="342900" indent="-342900">
              <a:lnSpc>
                <a:spcPct val="150000"/>
              </a:lnSpc>
              <a:buAutoNum type="alphaLcParenBoth"/>
            </a:pPr>
            <a:r>
              <a:rPr lang="en-US" dirty="0"/>
              <a:t>Telecommunications</a:t>
            </a:r>
            <a:endParaRPr lang="en-US" dirty="0"/>
          </a:p>
          <a:p>
            <a:pPr marL="342900" indent="-342900">
              <a:lnSpc>
                <a:spcPct val="150000"/>
              </a:lnSpc>
              <a:buAutoNum type="alphaLcParenBoth"/>
            </a:pPr>
            <a:r>
              <a:rPr lang="en-US" dirty="0"/>
              <a:t>Environmental science</a:t>
            </a:r>
            <a:endParaRPr lang="en-US" dirty="0"/>
          </a:p>
          <a:p>
            <a:pPr marL="342900" indent="-342900">
              <a:lnSpc>
                <a:spcPct val="150000"/>
              </a:lnSpc>
              <a:buAutoNum type="alphaLcParenBoth"/>
            </a:pPr>
            <a:r>
              <a:rPr lang="en-US" dirty="0"/>
              <a:t>Medical instrumentation</a:t>
            </a:r>
            <a:endParaRPr lang="en-US" sz="1600" dirty="0">
              <a:solidFill>
                <a:schemeClr val="bg1"/>
              </a:solidFill>
            </a:endParaRPr>
          </a:p>
        </p:txBody>
      </p:sp>
      <p:pic>
        <p:nvPicPr>
          <p:cNvPr id="8"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457200" indent="-457200">
              <a:buFont typeface="+mj-lt"/>
              <a:buAutoNum type="arabicPeriod"/>
            </a:pPr>
            <a:r>
              <a:rPr lang="en-IN" dirty="0"/>
              <a:t>b</a:t>
            </a:r>
            <a:endParaRPr lang="en-IN" dirty="0"/>
          </a:p>
          <a:p>
            <a:pPr marL="457200" indent="-457200">
              <a:buFont typeface="+mj-lt"/>
              <a:buAutoNum type="arabicPeriod"/>
            </a:pPr>
            <a:r>
              <a:rPr lang="en-IN" dirty="0"/>
              <a:t>b</a:t>
            </a:r>
            <a:endParaRPr lang="en-IN" dirty="0"/>
          </a:p>
          <a:p>
            <a:pPr marL="457200" indent="-457200">
              <a:buFont typeface="+mj-lt"/>
              <a:buAutoNum type="arabicPeriod"/>
            </a:pPr>
            <a:r>
              <a:rPr lang="en-IN" dirty="0"/>
              <a:t>b</a:t>
            </a:r>
            <a:endParaRPr lang="en-IN" dirty="0"/>
          </a:p>
          <a:p>
            <a:pPr marL="457200" indent="-457200">
              <a:buFont typeface="+mj-lt"/>
              <a:buAutoNum type="arabicPeriod"/>
            </a:pPr>
            <a:r>
              <a:rPr lang="en-IN" dirty="0"/>
              <a:t>b</a:t>
            </a:r>
            <a:endParaRPr lang="en-IN" dirty="0"/>
          </a:p>
          <a:p>
            <a:pPr marL="0" indent="0">
              <a:buNone/>
            </a:pPr>
            <a:endParaRPr lang="en-IN" dirty="0"/>
          </a:p>
          <a:p>
            <a:pPr marL="457200" indent="-457200">
              <a:buFont typeface="+mj-lt"/>
              <a:buAutoNum type="arabicPeriod"/>
            </a:pP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5" name="Rounded Rectangle 17"/>
          <p:cNvSpPr/>
          <p:nvPr/>
        </p:nvSpPr>
        <p:spPr>
          <a:xfrm>
            <a:off x="3390635" y="1185508"/>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ANSWERS</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1167618"/>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endParaRPr lang="en-US" sz="2400" dirty="0"/>
          </a:p>
        </p:txBody>
      </p:sp>
      <p:sp>
        <p:nvSpPr>
          <p:cNvPr id="9" name="TextBox 8"/>
          <p:cNvSpPr txBox="1"/>
          <p:nvPr/>
        </p:nvSpPr>
        <p:spPr>
          <a:xfrm>
            <a:off x="1380930" y="1967920"/>
            <a:ext cx="9694506" cy="2783454"/>
          </a:xfrm>
          <a:prstGeom prst="rect">
            <a:avLst/>
          </a:prstGeom>
          <a:noFill/>
        </p:spPr>
        <p:txBody>
          <a:bodyPr wrap="square" rtlCol="0">
            <a:spAutoFit/>
          </a:bodyPr>
          <a:lstStyle/>
          <a:p>
            <a:pPr marL="342900" indent="-342900" algn="just">
              <a:lnSpc>
                <a:spcPct val="200000"/>
              </a:lnSpc>
              <a:buFont typeface="+mj-lt"/>
              <a:buAutoNum type="arabicPeriod"/>
            </a:pPr>
            <a:r>
              <a:rPr lang="en-IN" b="0" i="0" u="none" strike="noStrike" dirty="0">
                <a:solidFill>
                  <a:srgbClr val="000000"/>
                </a:solidFill>
                <a:effectLst/>
                <a:latin typeface="-webkit-standard"/>
              </a:rPr>
              <a:t>Define an active filter and explain how it differs from a passive filter. </a:t>
            </a:r>
            <a:endParaRPr lang="en-IN" dirty="0">
              <a:solidFill>
                <a:srgbClr val="000000"/>
              </a:solidFill>
              <a:latin typeface="-webkit-standard"/>
            </a:endParaRPr>
          </a:p>
          <a:p>
            <a:pPr marL="342900" indent="-342900" algn="just">
              <a:lnSpc>
                <a:spcPct val="200000"/>
              </a:lnSpc>
              <a:buFont typeface="+mj-lt"/>
              <a:buAutoNum type="arabicPeriod"/>
            </a:pPr>
            <a:r>
              <a:rPr lang="en-IN" b="0" i="0" u="none" strike="noStrike" dirty="0">
                <a:solidFill>
                  <a:srgbClr val="000000"/>
                </a:solidFill>
                <a:effectLst/>
                <a:latin typeface="-webkit-standard"/>
              </a:rPr>
              <a:t>Discuss the principle of frequency selectivity in active filters and how it is achieved. </a:t>
            </a:r>
            <a:endParaRPr lang="en-IN" dirty="0">
              <a:solidFill>
                <a:srgbClr val="000000"/>
              </a:solidFill>
              <a:latin typeface="-webkit-standard"/>
            </a:endParaRPr>
          </a:p>
          <a:p>
            <a:pPr marL="342900" indent="-342900" algn="just">
              <a:lnSpc>
                <a:spcPct val="200000"/>
              </a:lnSpc>
              <a:buFont typeface="+mj-lt"/>
              <a:buAutoNum type="arabicPeriod"/>
            </a:pPr>
            <a:r>
              <a:rPr lang="en-IN" b="0" i="0" u="none" strike="noStrike" dirty="0">
                <a:solidFill>
                  <a:srgbClr val="000000"/>
                </a:solidFill>
                <a:effectLst/>
                <a:latin typeface="-webkit-standard"/>
              </a:rPr>
              <a:t>Compare and contrast the operation of active high pass, low pass, band pass, and band stop filters.</a:t>
            </a:r>
            <a:endParaRPr lang="en-IN" b="0" i="0" u="none" strike="noStrike" dirty="0">
              <a:solidFill>
                <a:srgbClr val="000000"/>
              </a:solidFill>
              <a:effectLst/>
              <a:latin typeface="-webkit-standard"/>
            </a:endParaRPr>
          </a:p>
          <a:p>
            <a:pPr marL="342900" indent="-342900" algn="just">
              <a:lnSpc>
                <a:spcPct val="200000"/>
              </a:lnSpc>
              <a:buFont typeface="+mj-lt"/>
              <a:buAutoNum type="arabicPeriod"/>
            </a:pPr>
            <a:r>
              <a:rPr lang="en-IN" b="0" i="0" u="none" strike="noStrike" dirty="0">
                <a:solidFill>
                  <a:srgbClr val="000000"/>
                </a:solidFill>
                <a:effectLst/>
                <a:latin typeface="-webkit-standard"/>
              </a:rPr>
              <a:t>Explain the role of operational amplifiers (op-amps) in active filter circuits. </a:t>
            </a:r>
            <a:endParaRPr lang="en-IN" dirty="0">
              <a:solidFill>
                <a:srgbClr val="000000"/>
              </a:solidFill>
              <a:latin typeface="-webkit-standard"/>
            </a:endParaRPr>
          </a:p>
          <a:p>
            <a:pPr marL="342900" indent="-342900" algn="just">
              <a:lnSpc>
                <a:spcPct val="200000"/>
              </a:lnSpc>
              <a:buFont typeface="+mj-lt"/>
              <a:buAutoNum type="arabicPeriod"/>
            </a:pPr>
            <a:r>
              <a:rPr lang="en-IN" b="0" i="0" u="none" strike="noStrike" dirty="0">
                <a:solidFill>
                  <a:srgbClr val="000000"/>
                </a:solidFill>
                <a:effectLst/>
                <a:latin typeface="-webkit-standard"/>
              </a:rPr>
              <a:t>Describe the design considerations for selecting component values in an active filter circuit.</a:t>
            </a:r>
            <a:endParaRPr lang="en-US" b="1" dirty="0"/>
          </a:p>
        </p:txBody>
      </p:sp>
      <p:pic>
        <p:nvPicPr>
          <p:cNvPr id="10"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124128" y="1172223"/>
            <a:ext cx="794374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1534940" y="2100679"/>
            <a:ext cx="9608234" cy="2031325"/>
          </a:xfrm>
          <a:prstGeom prst="rect">
            <a:avLst/>
          </a:prstGeom>
          <a:noFill/>
        </p:spPr>
        <p:txBody>
          <a:bodyPr wrap="square" rtlCol="0">
            <a:spAutoFit/>
          </a:bodyPr>
          <a:lstStyle/>
          <a:p>
            <a:pPr>
              <a:lnSpc>
                <a:spcPct val="150000"/>
              </a:lnSpc>
            </a:pPr>
            <a:r>
              <a:rPr lang="en-US" b="1" dirty="0"/>
              <a:t>Reference Books:</a:t>
            </a:r>
            <a:endParaRPr lang="en-US" dirty="0"/>
          </a:p>
          <a:p>
            <a:pPr>
              <a:lnSpc>
                <a:spcPct val="150000"/>
              </a:lnSpc>
            </a:pPr>
            <a:r>
              <a:rPr lang="en-US" dirty="0"/>
              <a:t>1. Op-Amps and Linear Integrated Circuit; 4th Ed., </a:t>
            </a:r>
            <a:r>
              <a:rPr lang="en-GB" dirty="0" err="1"/>
              <a:t>Gayakwad</a:t>
            </a:r>
            <a:r>
              <a:rPr lang="en-GB" dirty="0"/>
              <a:t>, Ramakant A.</a:t>
            </a:r>
            <a:endParaRPr lang="en-US" dirty="0"/>
          </a:p>
          <a:p>
            <a:pPr>
              <a:lnSpc>
                <a:spcPct val="150000"/>
              </a:lnSpc>
            </a:pPr>
            <a:endParaRPr lang="en-US" dirty="0"/>
          </a:p>
          <a:p>
            <a:pPr>
              <a:lnSpc>
                <a:spcPct val="150000"/>
              </a:lnSpc>
            </a:pPr>
            <a:r>
              <a:rPr lang="en-US" b="1" dirty="0"/>
              <a:t>Sites and Web links:</a:t>
            </a:r>
            <a:endParaRPr lang="en-US" b="1" dirty="0"/>
          </a:p>
          <a:p>
            <a:pPr algn="l">
              <a:buFont typeface="+mj-lt"/>
              <a:buAutoNum type="arabicPeriod"/>
            </a:pPr>
            <a:r>
              <a:rPr lang="en-US" dirty="0"/>
              <a:t>1. </a:t>
            </a:r>
            <a:r>
              <a:rPr lang="en-IN" b="0" i="0" dirty="0">
                <a:solidFill>
                  <a:srgbClr val="374151"/>
                </a:solidFill>
                <a:effectLst/>
                <a:latin typeface="Söhne"/>
              </a:rPr>
              <a:t>https://electronicsforyou.in/introduction-to-op-amp</a:t>
            </a:r>
            <a:endParaRPr lang="en-IN" b="0" i="0" dirty="0">
              <a:solidFill>
                <a:srgbClr val="374151"/>
              </a:solidFill>
              <a:effectLst/>
              <a:latin typeface="Söhne"/>
            </a:endParaRPr>
          </a:p>
        </p:txBody>
      </p:sp>
      <p:pic>
        <p:nvPicPr>
          <p:cNvPr id="5"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247960" y="2332796"/>
            <a:ext cx="7920111" cy="2883877"/>
            <a:chOff x="2247960" y="2332796"/>
            <a:chExt cx="7920111" cy="2883877"/>
          </a:xfrm>
        </p:grpSpPr>
        <p:sp>
          <p:nvSpPr>
            <p:cNvPr id="4" name="Rounded Rectangle 3"/>
            <p:cNvSpPr/>
            <p:nvPr/>
          </p:nvSpPr>
          <p:spPr>
            <a:xfrm>
              <a:off x="2247960" y="233279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endParaRPr lang="en-US" sz="2400" b="1"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ANALOG ELECTRONIC CIRCUIT DESIGN</a:t>
              </a: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1"/>
            <a:srcRect/>
            <a:stretch>
              <a:fillRect/>
            </a:stretch>
          </p:blipFill>
          <p:spPr bwMode="auto">
            <a:xfrm>
              <a:off x="5131980" y="3092166"/>
              <a:ext cx="3235570" cy="1083212"/>
            </a:xfrm>
            <a:prstGeom prst="rect">
              <a:avLst/>
            </a:prstGeom>
            <a:noFill/>
          </p:spPr>
        </p:pic>
      </p:grpSp>
      <p:sp>
        <p:nvSpPr>
          <p:cNvPr id="3" name="Slide Number Placeholder 2"/>
          <p:cNvSpPr>
            <a:spLocks noGrp="1"/>
          </p:cNvSpPr>
          <p:nvPr>
            <p:ph type="sldNum" sz="quarter" idx="12"/>
          </p:nvPr>
        </p:nvSpPr>
        <p:spPr/>
        <p:txBody>
          <a:bodyPr/>
          <a:lstStyle/>
          <a:p>
            <a:fld id="{CBABCCC1-BF11-4F37-963E-1BCD5B23FD72}" type="slidenum">
              <a:rPr lang="en-IN" smtClean="0"/>
            </a:fld>
            <a:endParaRPr lang="en-IN"/>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CoE PPT Template</Template>
  <TotalTime>0</TotalTime>
  <Words>8165</Words>
  <Application>WPS Presentation</Application>
  <PresentationFormat>Widescreen</PresentationFormat>
  <Paragraphs>290</Paragraphs>
  <Slides>21</Slides>
  <Notes>3</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21</vt:i4>
      </vt:variant>
    </vt:vector>
  </HeadingPairs>
  <TitlesOfParts>
    <vt:vector size="41" baseType="lpstr">
      <vt:lpstr>Arial</vt:lpstr>
      <vt:lpstr>SimSun</vt:lpstr>
      <vt:lpstr>Wingdings</vt:lpstr>
      <vt:lpstr>Arial</vt:lpstr>
      <vt:lpstr>Calibri</vt:lpstr>
      <vt:lpstr>Poppins</vt:lpstr>
      <vt:lpstr>Segoe Print</vt:lpstr>
      <vt:lpstr>BioRhyme ExtraBold</vt:lpstr>
      <vt:lpstr>Poppins</vt:lpstr>
      <vt:lpstr>Poppins</vt:lpstr>
      <vt:lpstr>Times New Roman</vt:lpstr>
      <vt:lpstr>Cambria</vt:lpstr>
      <vt:lpstr>Calibri</vt:lpstr>
      <vt:lpstr>Gill Sans MT</vt:lpstr>
      <vt:lpstr>Microsoft YaHei</vt:lpstr>
      <vt:lpstr>Arial Unicode MS</vt:lpstr>
      <vt:lpstr>Söhne</vt:lpstr>
      <vt:lpstr>Times</vt:lpstr>
      <vt:lpstr>-webkit-standard</vt:lpstr>
      <vt:lpstr>Gallery</vt:lpstr>
      <vt:lpstr>PowerPoint 演示文稿</vt:lpstr>
      <vt:lpstr>Session Content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MEMS</dc:title>
  <dc:creator>வெ. விவேகானந்தன்</dc:creator>
  <cp:lastModifiedBy>Uday Kiran</cp:lastModifiedBy>
  <cp:revision>355</cp:revision>
  <dcterms:created xsi:type="dcterms:W3CDTF">2023-05-02T05:06:00Z</dcterms:created>
  <dcterms:modified xsi:type="dcterms:W3CDTF">2025-09-08T03:44:41Z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7657317E6C3849E5931DB878EDD983B2_13</vt:lpwstr>
  </property>
  <property fmtid="{D5CDD505-2E9C-101B-9397-08002B2CF9AE}" pid="3" name="KSOProductBuildVer">
    <vt:lpwstr>1033-12.2.0.22222</vt:lpwstr>
  </property>
</Properties>
</file>