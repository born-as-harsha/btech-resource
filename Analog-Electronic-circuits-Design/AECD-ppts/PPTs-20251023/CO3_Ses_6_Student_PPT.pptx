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71" r:id="rId2"/>
    <p:sldId id="332" r:id="rId3"/>
    <p:sldId id="300" r:id="rId4"/>
    <p:sldId id="430" r:id="rId5"/>
    <p:sldId id="433" r:id="rId6"/>
    <p:sldId id="321" r:id="rId7"/>
    <p:sldId id="322" r:id="rId8"/>
    <p:sldId id="323" r:id="rId9"/>
    <p:sldId id="472" r:id="rId10"/>
    <p:sldId id="475" r:id="rId11"/>
    <p:sldId id="324" r:id="rId12"/>
    <p:sldId id="481" r:id="rId13"/>
    <p:sldId id="488" r:id="rId14"/>
    <p:sldId id="287" r:id="rId15"/>
    <p:sldId id="482" r:id="rId16"/>
    <p:sldId id="483" r:id="rId17"/>
    <p:sldId id="484" r:id="rId18"/>
    <p:sldId id="485" r:id="rId19"/>
    <p:sldId id="486" r:id="rId20"/>
    <p:sldId id="487" r:id="rId21"/>
    <p:sldId id="301" r:id="rId22"/>
    <p:sldId id="311" r:id="rId23"/>
    <p:sldId id="315" r:id="rId24"/>
    <p:sldId id="302" r:id="rId25"/>
    <p:sldId id="303" r:id="rId26"/>
    <p:sldId id="30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9" autoAdjust="0"/>
    <p:restoredTop sz="94660"/>
  </p:normalViewPr>
  <p:slideViewPr>
    <p:cSldViewPr snapToGrid="0">
      <p:cViewPr varScale="1">
        <p:scale>
          <a:sx n="66" d="100"/>
          <a:sy n="66" d="100"/>
        </p:scale>
        <p:origin x="9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microsoft.com/office/2007/relationships/hdphoto" Target="../media/hdphoto3.wdp"/><Relationship Id="rId4" Type="http://schemas.openxmlformats.org/officeDocument/2006/relationships/image" Target="../media/image20.png"/><Relationship Id="rId9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microsoft.com/office/2007/relationships/hdphoto" Target="../media/hdphoto8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B_aMPIIKRI" TargetMode="External"/><Relationship Id="rId2" Type="http://schemas.openxmlformats.org/officeDocument/2006/relationships/hyperlink" Target="https://electronicsforyou.in/introduction-to-op-am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3410464" y="2820599"/>
            <a:ext cx="8767699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  Analog electronic Circuit Design (24ec2104) 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Linear Applications-1 (adder, subtractor, </a:t>
            </a:r>
            <a:br>
              <a:rPr lang="en-US" sz="32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</a:br>
            <a:r>
              <a:rPr lang="en-US" sz="32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integrator, differentiator)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90452"/>
          </a:xfrm>
        </p:spPr>
        <p:txBody>
          <a:bodyPr/>
          <a:lstStyle/>
          <a:p>
            <a:r>
              <a:rPr lang="en-US" dirty="0"/>
              <a:t>Session Content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1578" y="1918236"/>
            <a:ext cx="9603275" cy="3949639"/>
          </a:xfrm>
        </p:spPr>
        <p:txBody>
          <a:bodyPr>
            <a:normAutofit fontScale="55000" lnSpcReduction="20000"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Adder</a:t>
            </a:r>
            <a:endParaRPr lang="en-IN" sz="4400" dirty="0"/>
          </a:p>
          <a:p>
            <a:r>
              <a:rPr lang="en-IN" sz="4400" dirty="0"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IN" sz="4400" dirty="0">
                <a:effectLst/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ubtractor</a:t>
            </a:r>
            <a:r>
              <a:rPr lang="en-IN" sz="4400" dirty="0">
                <a:effectLst/>
                <a:latin typeface="Cambria" panose="02040503050406030204" pitchFamily="18" charset="0"/>
              </a:rPr>
              <a:t> </a:t>
            </a:r>
            <a:endParaRPr lang="en-IN" sz="4400" dirty="0">
              <a:latin typeface="Cambria" panose="02040503050406030204" pitchFamily="18" charset="0"/>
            </a:endParaRPr>
          </a:p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Integrator Amplifier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IN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pplications</a:t>
            </a:r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 of Integrators</a:t>
            </a:r>
          </a:p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Differentiator Amplifier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IN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pplications</a:t>
            </a:r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 of Differentiators</a:t>
            </a:r>
          </a:p>
          <a:p>
            <a:r>
              <a:rPr lang="en-US" sz="4200" dirty="0"/>
              <a:t>Summary </a:t>
            </a:r>
          </a:p>
          <a:p>
            <a:r>
              <a:rPr lang="en-US" sz="4200" dirty="0"/>
              <a:t>Example Problems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748" y="637745"/>
            <a:ext cx="10731286" cy="87447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The aim of this session is to emphasise the importance of Operational Amplifier and to understand the fundamental principles of linear applications of Op-Amp, including adder, subtractor, integrator, and differentiator.</a:t>
            </a:r>
          </a:p>
        </p:txBody>
      </p:sp>
      <p:sp>
        <p:nvSpPr>
          <p:cNvPr id="7" name="Rounded Rectangle 17"/>
          <p:cNvSpPr/>
          <p:nvPr/>
        </p:nvSpPr>
        <p:spPr>
          <a:xfrm>
            <a:off x="4053596" y="1630041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749" y="2241406"/>
            <a:ext cx="10731286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Specify the importance/necessity of the Operational Amplifier (Op-Amp) Applications.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Describe the function of each block of the Op-Amp applications.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Understand the schematic symbol of the different mathematical functions.</a:t>
            </a: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315974" y="396995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4400" y="4518510"/>
            <a:ext cx="10702634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Explain the application of Op-Amp for various applications.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Summarize the functioning of different applications and use.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Identify the Pin configuration and importance of IC741 for various application.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933724"/>
            <a:ext cx="9603275" cy="823778"/>
          </a:xfrm>
        </p:spPr>
        <p:txBody>
          <a:bodyPr>
            <a:normAutofit/>
          </a:bodyPr>
          <a:lstStyle/>
          <a:p>
            <a:r>
              <a:rPr lang="en-US" sz="4000" cap="none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lang="en-GB" sz="4000" cap="none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371" y="2043263"/>
            <a:ext cx="10800853" cy="1819692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Op-amps (amplifiers/buffers in general) are drawn as a triangle in a circuit schematic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There are two inputs - inverting and non-inverting, one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and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power connections (note no explicit ground).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ideal Op-amp consists infinite voltage gain, infinite input impedance, zero output impedance ,infinitely fast(infinite bandwidth).</a:t>
            </a:r>
            <a:endParaRPr lang="en-US" sz="1800" dirty="0"/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v"/>
              <a:defRPr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12" name="Date Placeholder 3"/>
          <p:cNvSpPr>
            <a:spLocks noGrp="1"/>
          </p:cNvSpPr>
          <p:nvPr>
            <p:ph type="dt" sz="quarter" idx="10"/>
          </p:nvPr>
        </p:nvSpPr>
        <p:spPr>
          <a:xfrm>
            <a:off x="685800" y="65532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31" name="Text Box 38"/>
          <p:cNvSpPr txBox="1">
            <a:spLocks noChangeArrowheads="1"/>
          </p:cNvSpPr>
          <p:nvPr/>
        </p:nvSpPr>
        <p:spPr bwMode="auto">
          <a:xfrm>
            <a:off x="7069701" y="3578700"/>
            <a:ext cx="20018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37931725" indent="-37474525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4572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9144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1371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18288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r>
              <a:rPr lang="en-US" altLang="en-US" sz="1800">
                <a:solidFill>
                  <a:schemeClr val="hlink"/>
                </a:solidFill>
              </a:rPr>
              <a:t>divot on pin-1 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AD2810-1C2E-AAB4-4319-BCC9FE9FEBAB}"/>
              </a:ext>
            </a:extLst>
          </p:cNvPr>
          <p:cNvGrpSpPr/>
          <p:nvPr/>
        </p:nvGrpSpPr>
        <p:grpSpPr>
          <a:xfrm>
            <a:off x="1241342" y="3886368"/>
            <a:ext cx="7830197" cy="1986575"/>
            <a:chOff x="1241342" y="3886368"/>
            <a:chExt cx="7830197" cy="1986575"/>
          </a:xfrm>
        </p:grpSpPr>
        <p:sp>
          <p:nvSpPr>
            <p:cNvPr id="38" name="Text Box 48"/>
            <p:cNvSpPr txBox="1">
              <a:spLocks noChangeArrowheads="1"/>
            </p:cNvSpPr>
            <p:nvPr/>
          </p:nvSpPr>
          <p:spPr bwMode="auto">
            <a:xfrm>
              <a:off x="3971069" y="3946543"/>
              <a:ext cx="3698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37931725" indent="-37474525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defTabSz="4572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4572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9144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13716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1828800" algn="l" defTabSz="4572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r>
                <a:rPr lang="en-US" altLang="en-US" sz="1400" dirty="0"/>
                <a:t>V</a:t>
              </a:r>
              <a:r>
                <a:rPr lang="en-US" altLang="en-US" sz="1400" baseline="30000" dirty="0"/>
                <a:t>+</a:t>
              </a:r>
              <a:endParaRPr lang="en-US" altLang="en-US" sz="14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3D10F41-03F1-6211-C62E-CBC6C5FE7200}"/>
                </a:ext>
              </a:extLst>
            </p:cNvPr>
            <p:cNvGrpSpPr/>
            <p:nvPr/>
          </p:nvGrpSpPr>
          <p:grpSpPr>
            <a:xfrm>
              <a:off x="1241342" y="3886368"/>
              <a:ext cx="7830197" cy="1986575"/>
              <a:chOff x="72964" y="3722075"/>
              <a:chExt cx="7830197" cy="1986575"/>
            </a:xfrm>
          </p:grpSpPr>
          <p:grpSp>
            <p:nvGrpSpPr>
              <p:cNvPr id="17" name="Group 10"/>
              <p:cNvGrpSpPr/>
              <p:nvPr/>
            </p:nvGrpSpPr>
            <p:grpSpPr>
              <a:xfrm>
                <a:off x="1669488" y="4059650"/>
                <a:ext cx="2286000" cy="1219200"/>
                <a:chOff x="1728" y="2204"/>
                <a:chExt cx="1440" cy="768"/>
              </a:xfrm>
            </p:grpSpPr>
            <p:sp>
              <p:nvSpPr>
                <p:cNvPr id="18" name="AutoShape 4"/>
                <p:cNvSpPr>
                  <a:spLocks noChangeArrowheads="1"/>
                </p:cNvSpPr>
                <p:nvPr/>
              </p:nvSpPr>
              <p:spPr bwMode="auto">
                <a:xfrm rot="5400000">
                  <a:off x="2038" y="2228"/>
                  <a:ext cx="768" cy="7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1pPr>
                  <a:lvl2pPr marL="37931725" indent="-37474525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2pPr>
                  <a:lvl3pPr marL="9144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3pPr>
                  <a:lvl4pPr marL="13716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4pPr>
                  <a:lvl5pPr marL="18288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5pPr>
                  <a:lvl6pPr marL="4572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6pPr>
                  <a:lvl7pPr marL="9144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7pPr>
                  <a:lvl8pPr marL="13716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8pPr>
                  <a:lvl9pPr marL="18288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064" y="2294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1pPr>
                  <a:lvl2pPr marL="37931725" indent="-37474525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2pPr>
                  <a:lvl3pPr marL="9144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3pPr>
                  <a:lvl4pPr marL="13716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4pPr>
                  <a:lvl5pPr marL="18288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5pPr>
                  <a:lvl6pPr marL="4572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6pPr>
                  <a:lvl7pPr marL="9144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7pPr>
                  <a:lvl8pPr marL="13716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8pPr>
                  <a:lvl9pPr marL="18288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9pPr>
                </a:lstStyle>
                <a:p>
                  <a:r>
                    <a:rPr lang="en-US" altLang="en-US" sz="2000">
                      <a:sym typeface="Symbol" panose="05050102010706020507" pitchFamily="18" charset="2"/>
                    </a:rPr>
                    <a:t></a:t>
                  </a:r>
                  <a:endParaRPr lang="en-US" altLang="en-US" sz="2000"/>
                </a:p>
              </p:txBody>
            </p:sp>
            <p:sp>
              <p:nvSpPr>
                <p:cNvPr id="20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064" y="2592"/>
                  <a:ext cx="20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1pPr>
                  <a:lvl2pPr marL="37931725" indent="-37474525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2pPr>
                  <a:lvl3pPr marL="9144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3pPr>
                  <a:lvl4pPr marL="13716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4pPr>
                  <a:lvl5pPr marL="18288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5pPr>
                  <a:lvl6pPr marL="4572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6pPr>
                  <a:lvl7pPr marL="9144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7pPr>
                  <a:lvl8pPr marL="13716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8pPr>
                  <a:lvl9pPr marL="18288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9pPr>
                </a:lstStyle>
                <a:p>
                  <a:r>
                    <a:rPr lang="en-US" altLang="en-US" sz="2000">
                      <a:sym typeface="Symbol" panose="05050102010706020507" pitchFamily="18" charset="2"/>
                    </a:rPr>
                    <a:t>+</a:t>
                  </a:r>
                  <a:endParaRPr lang="en-US" altLang="en-US" sz="2000"/>
                </a:p>
              </p:txBody>
            </p:sp>
            <p:sp>
              <p:nvSpPr>
                <p:cNvPr id="21" name="Line 7"/>
                <p:cNvSpPr>
                  <a:spLocks noChangeShapeType="1"/>
                </p:cNvSpPr>
                <p:nvPr/>
              </p:nvSpPr>
              <p:spPr bwMode="auto">
                <a:xfrm flipH="1">
                  <a:off x="1728" y="273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2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728" y="2448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23" name="Line 9"/>
                <p:cNvSpPr>
                  <a:spLocks noChangeShapeType="1"/>
                </p:cNvSpPr>
                <p:nvPr/>
              </p:nvSpPr>
              <p:spPr bwMode="auto">
                <a:xfrm>
                  <a:off x="2784" y="2592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</p:grpSp>
          <p:sp>
            <p:nvSpPr>
              <p:cNvPr id="24" name="Line 11"/>
              <p:cNvSpPr>
                <a:spLocks noChangeShapeType="1"/>
              </p:cNvSpPr>
              <p:nvPr/>
            </p:nvSpPr>
            <p:spPr bwMode="auto">
              <a:xfrm flipH="1" flipV="1">
                <a:off x="2855681" y="3874475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25" name="Line 12"/>
              <p:cNvSpPr>
                <a:spLocks noChangeShapeType="1"/>
              </p:cNvSpPr>
              <p:nvPr/>
            </p:nvSpPr>
            <p:spPr bwMode="auto">
              <a:xfrm flipH="1" flipV="1">
                <a:off x="2835274" y="497405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27" name="Text Box 26"/>
              <p:cNvSpPr txBox="1">
                <a:spLocks noChangeArrowheads="1"/>
              </p:cNvSpPr>
              <p:nvPr/>
            </p:nvSpPr>
            <p:spPr bwMode="auto">
              <a:xfrm>
                <a:off x="1764497" y="4960641"/>
                <a:ext cx="2825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r>
                  <a:rPr lang="en-US" altLang="en-US" sz="1400"/>
                  <a:t>3</a:t>
                </a:r>
              </a:p>
            </p:txBody>
          </p:sp>
          <p:sp>
            <p:nvSpPr>
              <p:cNvPr id="28" name="Text Box 27"/>
              <p:cNvSpPr txBox="1">
                <a:spLocks noChangeArrowheads="1"/>
              </p:cNvSpPr>
              <p:nvPr/>
            </p:nvSpPr>
            <p:spPr bwMode="auto">
              <a:xfrm>
                <a:off x="2890004" y="4992588"/>
                <a:ext cx="2825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r>
                  <a:rPr lang="en-US" altLang="en-US" sz="1400"/>
                  <a:t>4</a:t>
                </a:r>
              </a:p>
            </p:txBody>
          </p:sp>
          <p:sp>
            <p:nvSpPr>
              <p:cNvPr id="29" name="Text Box 28"/>
              <p:cNvSpPr txBox="1">
                <a:spLocks noChangeArrowheads="1"/>
              </p:cNvSpPr>
              <p:nvPr/>
            </p:nvSpPr>
            <p:spPr bwMode="auto">
              <a:xfrm>
                <a:off x="2852506" y="4066000"/>
                <a:ext cx="2825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r>
                  <a:rPr lang="en-US" altLang="en-US" sz="1400"/>
                  <a:t>7</a:t>
                </a:r>
              </a:p>
            </p:txBody>
          </p:sp>
          <p:sp>
            <p:nvSpPr>
              <p:cNvPr id="30" name="Text Box 29"/>
              <p:cNvSpPr txBox="1">
                <a:spLocks noChangeArrowheads="1"/>
              </p:cNvSpPr>
              <p:nvPr/>
            </p:nvSpPr>
            <p:spPr bwMode="auto">
              <a:xfrm>
                <a:off x="3365897" y="4370800"/>
                <a:ext cx="2825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r>
                  <a:rPr lang="en-US" altLang="en-US" sz="1400"/>
                  <a:t>6</a:t>
                </a:r>
              </a:p>
            </p:txBody>
          </p:sp>
          <p:grpSp>
            <p:nvGrpSpPr>
              <p:cNvPr id="32" name="Group 45"/>
              <p:cNvGrpSpPr/>
              <p:nvPr/>
            </p:nvGrpSpPr>
            <p:grpSpPr>
              <a:xfrm>
                <a:off x="5426661" y="3892550"/>
                <a:ext cx="2476500" cy="1816100"/>
                <a:chOff x="3696" y="2112"/>
                <a:chExt cx="1560" cy="1144"/>
              </a:xfrm>
            </p:grpSpPr>
            <p:pic>
              <p:nvPicPr>
                <p:cNvPr id="33" name="Picture 40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3696" y="2112"/>
                  <a:ext cx="1560" cy="1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4" name="Freeform 41"/>
                <p:cNvSpPr/>
                <p:nvPr/>
              </p:nvSpPr>
              <p:spPr bwMode="auto">
                <a:xfrm>
                  <a:off x="4537" y="2568"/>
                  <a:ext cx="288" cy="75"/>
                </a:xfrm>
                <a:custGeom>
                  <a:avLst/>
                  <a:gdLst>
                    <a:gd name="T0" fmla="*/ 0 w 288"/>
                    <a:gd name="T1" fmla="*/ 75 h 96"/>
                    <a:gd name="T2" fmla="*/ 0 w 288"/>
                    <a:gd name="T3" fmla="*/ 0 h 96"/>
                    <a:gd name="T4" fmla="*/ 288 w 288"/>
                    <a:gd name="T5" fmla="*/ 0 h 9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96"/>
                    <a:gd name="T11" fmla="*/ 288 w 288"/>
                    <a:gd name="T12" fmla="*/ 96 h 9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96">
                      <a:moveTo>
                        <a:pt x="0" y="96"/>
                      </a:moveTo>
                      <a:lnTo>
                        <a:pt x="0" y="0"/>
                      </a:lnTo>
                      <a:lnTo>
                        <a:pt x="288" y="0"/>
                      </a:lnTo>
                    </a:path>
                  </a:pathLst>
                </a:custGeom>
                <a:noFill/>
                <a:ln w="222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1pPr>
                  <a:lvl2pPr marL="37931725" indent="-37474525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2pPr>
                  <a:lvl3pPr marL="9144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3pPr>
                  <a:lvl4pPr marL="13716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4pPr>
                  <a:lvl5pPr marL="18288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5pPr>
                  <a:lvl6pPr marL="4572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6pPr>
                  <a:lvl7pPr marL="9144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7pPr>
                  <a:lvl8pPr marL="13716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8pPr>
                  <a:lvl9pPr marL="18288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5" name="Freeform 43"/>
                <p:cNvSpPr/>
                <p:nvPr/>
              </p:nvSpPr>
              <p:spPr bwMode="auto">
                <a:xfrm>
                  <a:off x="4176" y="2758"/>
                  <a:ext cx="363" cy="340"/>
                </a:xfrm>
                <a:custGeom>
                  <a:avLst/>
                  <a:gdLst>
                    <a:gd name="T0" fmla="*/ 363 w 384"/>
                    <a:gd name="T1" fmla="*/ 0 h 384"/>
                    <a:gd name="T2" fmla="*/ 363 w 384"/>
                    <a:gd name="T3" fmla="*/ 340 h 384"/>
                    <a:gd name="T4" fmla="*/ 0 w 384"/>
                    <a:gd name="T5" fmla="*/ 340 h 384"/>
                    <a:gd name="T6" fmla="*/ 0 60000 65536"/>
                    <a:gd name="T7" fmla="*/ 0 60000 65536"/>
                    <a:gd name="T8" fmla="*/ 0 60000 65536"/>
                    <a:gd name="T9" fmla="*/ 0 w 384"/>
                    <a:gd name="T10" fmla="*/ 0 h 384"/>
                    <a:gd name="T11" fmla="*/ 384 w 384"/>
                    <a:gd name="T12" fmla="*/ 384 h 38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4" h="384">
                      <a:moveTo>
                        <a:pt x="384" y="0"/>
                      </a:moveTo>
                      <a:lnTo>
                        <a:pt x="384" y="384"/>
                      </a:lnTo>
                      <a:lnTo>
                        <a:pt x="0" y="384"/>
                      </a:lnTo>
                    </a:path>
                  </a:pathLst>
                </a:custGeom>
                <a:noFill/>
                <a:ln w="222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1pPr>
                  <a:lvl2pPr marL="37931725" indent="-37474525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2pPr>
                  <a:lvl3pPr marL="9144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3pPr>
                  <a:lvl4pPr marL="13716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4pPr>
                  <a:lvl5pPr marL="1828800" algn="l" defTabSz="457200" rtl="0" eaLnBrk="1" latinLnBrk="0" hangingPunct="1"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5pPr>
                  <a:lvl6pPr marL="4572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6pPr>
                  <a:lvl7pPr marL="9144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7pPr>
                  <a:lvl8pPr marL="13716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8pPr>
                  <a:lvl9pPr marL="1828800" algn="l" defTabSz="4572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6" name="Text Box 46"/>
              <p:cNvSpPr txBox="1">
                <a:spLocks noChangeArrowheads="1"/>
              </p:cNvSpPr>
              <p:nvPr/>
            </p:nvSpPr>
            <p:spPr bwMode="auto">
              <a:xfrm>
                <a:off x="455765" y="4303081"/>
                <a:ext cx="1290638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pPr algn="r"/>
                <a:r>
                  <a:rPr lang="en-US" altLang="en-US" sz="1400">
                    <a:solidFill>
                      <a:schemeClr val="hlink"/>
                    </a:solidFill>
                  </a:rPr>
                  <a:t>inverting input</a:t>
                </a:r>
              </a:p>
            </p:txBody>
          </p:sp>
          <p:sp>
            <p:nvSpPr>
              <p:cNvPr id="37" name="Text Box 47"/>
              <p:cNvSpPr txBox="1">
                <a:spLocks noChangeArrowheads="1"/>
              </p:cNvSpPr>
              <p:nvPr/>
            </p:nvSpPr>
            <p:spPr bwMode="auto">
              <a:xfrm>
                <a:off x="72964" y="4765675"/>
                <a:ext cx="1646238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pPr algn="r"/>
                <a:r>
                  <a:rPr lang="en-US" altLang="en-US" sz="1400">
                    <a:solidFill>
                      <a:schemeClr val="accent2"/>
                    </a:solidFill>
                  </a:rPr>
                  <a:t>non-inverting input</a:t>
                </a:r>
                <a:endParaRPr lang="en-US" altLang="en-US" sz="1400"/>
              </a:p>
            </p:txBody>
          </p:sp>
          <p:sp>
            <p:nvSpPr>
              <p:cNvPr id="39" name="Text Box 49"/>
              <p:cNvSpPr txBox="1">
                <a:spLocks noChangeArrowheads="1"/>
              </p:cNvSpPr>
              <p:nvPr/>
            </p:nvSpPr>
            <p:spPr bwMode="auto">
              <a:xfrm>
                <a:off x="2798189" y="5276338"/>
                <a:ext cx="36512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r>
                  <a:rPr lang="en-US" altLang="en-US" sz="1400" dirty="0"/>
                  <a:t>V</a:t>
                </a:r>
                <a:r>
                  <a:rPr lang="en-US" altLang="en-US" sz="1400" baseline="30000" dirty="0">
                    <a:sym typeface="Symbol" panose="05050102010706020507" pitchFamily="18" charset="2"/>
                  </a:rPr>
                  <a:t></a:t>
                </a:r>
                <a:endParaRPr lang="en-US" altLang="en-US" sz="1400" dirty="0"/>
              </a:p>
            </p:txBody>
          </p:sp>
          <p:sp>
            <p:nvSpPr>
              <p:cNvPr id="40" name="Text Box 50"/>
              <p:cNvSpPr txBox="1">
                <a:spLocks noChangeArrowheads="1"/>
              </p:cNvSpPr>
              <p:nvPr/>
            </p:nvSpPr>
            <p:spPr bwMode="auto">
              <a:xfrm>
                <a:off x="4022725" y="5029200"/>
                <a:ext cx="677863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r>
                  <a:rPr lang="en-US" altLang="en-US" sz="1400">
                    <a:solidFill>
                      <a:srgbClr val="000000"/>
                    </a:solidFill>
                  </a:rPr>
                  <a:t>output</a:t>
                </a:r>
                <a:endParaRPr lang="en-US" altLang="en-US" sz="1400"/>
              </a:p>
            </p:txBody>
          </p:sp>
          <p:sp>
            <p:nvSpPr>
              <p:cNvPr id="41" name="Line 51"/>
              <p:cNvSpPr>
                <a:spLocks noChangeShapeType="1"/>
              </p:cNvSpPr>
              <p:nvPr/>
            </p:nvSpPr>
            <p:spPr bwMode="auto">
              <a:xfrm flipH="1">
                <a:off x="6719911" y="3722075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72" name="Text Box 25"/>
              <p:cNvSpPr txBox="1">
                <a:spLocks noChangeArrowheads="1"/>
              </p:cNvSpPr>
              <p:nvPr/>
            </p:nvSpPr>
            <p:spPr bwMode="auto">
              <a:xfrm>
                <a:off x="1774263" y="4155860"/>
                <a:ext cx="2825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1pPr>
                <a:lvl2pPr marL="37931725" indent="-37474525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2pPr>
                <a:lvl3pPr marL="9144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3pPr>
                <a:lvl4pPr marL="13716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4pPr>
                <a:lvl5pPr marL="1828800" algn="l" defTabSz="4572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5pPr>
                <a:lvl6pPr marL="4572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6pPr>
                <a:lvl7pPr marL="9144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7pPr>
                <a:lvl8pPr marL="13716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8pPr>
                <a:lvl9pPr marL="1828800" algn="l" defTabSz="4572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defRPr>
                </a:lvl9pPr>
              </a:lstStyle>
              <a:p>
                <a:r>
                  <a:rPr lang="en-US" altLang="en-US" sz="1400"/>
                  <a:t>2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978691"/>
            <a:ext cx="9603275" cy="617881"/>
          </a:xfrm>
        </p:spPr>
        <p:txBody>
          <a:bodyPr/>
          <a:lstStyle/>
          <a:p>
            <a:r>
              <a:rPr lang="en-US" dirty="0"/>
              <a:t>Linear Applications of op-amp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92230"/>
            <a:ext cx="9603275" cy="3787079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Summing Amplifier: An op-amp circuit that can combine multiple input signals into a single output signal that is the weighted sum of the inputs.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Subtractor: An op-amp circuit that is specifically designed to subtract one input voltage from another.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Differential Amplifier: An op-amp circuit that amplifies the difference between two input signals while rejecting any signals that are common to both inputs.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40528" y="958788"/>
            <a:ext cx="1036911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492928" y="1111188"/>
            <a:ext cx="1036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Adder</a:t>
            </a:r>
            <a:endParaRPr lang="en-IN" sz="4000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92144" y="2023502"/>
            <a:ext cx="7772400" cy="39942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Now neg. terminal held at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 current through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(to left, into ground)</a:t>
            </a:r>
          </a:p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This current cannot come from Op-Amp input</a:t>
            </a: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 comes through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(delivered from Op-Amp output)</a:t>
            </a: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voltage drop across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(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so that output is higher than neg. input terminal by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(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2000" i="1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out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=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in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+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(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(1 +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thus gain is (1 +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), and is positive</a:t>
            </a:r>
          </a:p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Current is sourced from op-amp output in this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D5C9B5D-D991-8BD3-F49C-E09CB3B75D2E}"/>
              </a:ext>
            </a:extLst>
          </p:cNvPr>
          <p:cNvGrpSpPr/>
          <p:nvPr/>
        </p:nvGrpSpPr>
        <p:grpSpPr>
          <a:xfrm>
            <a:off x="7279176" y="2303815"/>
            <a:ext cx="4912824" cy="2250370"/>
            <a:chOff x="7279176" y="2663958"/>
            <a:chExt cx="4912824" cy="225037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F881EAF-C386-363E-74BD-EA5C102C9222}"/>
                </a:ext>
              </a:extLst>
            </p:cNvPr>
            <p:cNvGrpSpPr/>
            <p:nvPr/>
          </p:nvGrpSpPr>
          <p:grpSpPr>
            <a:xfrm>
              <a:off x="7279176" y="2663958"/>
              <a:ext cx="4912824" cy="2250370"/>
              <a:chOff x="6664610" y="2520950"/>
              <a:chExt cx="4912824" cy="2250370"/>
            </a:xfrm>
          </p:grpSpPr>
          <p:grpSp>
            <p:nvGrpSpPr>
              <p:cNvPr id="13" name="Group 4"/>
              <p:cNvGrpSpPr/>
              <p:nvPr/>
            </p:nvGrpSpPr>
            <p:grpSpPr bwMode="auto">
              <a:xfrm>
                <a:off x="8781399" y="3399720"/>
                <a:ext cx="2286000" cy="1219200"/>
                <a:chOff x="2064" y="868"/>
                <a:chExt cx="1440" cy="768"/>
              </a:xfrm>
            </p:grpSpPr>
            <p:sp>
              <p:nvSpPr>
                <p:cNvPr id="14" name="AutoShape 5"/>
                <p:cNvSpPr>
                  <a:spLocks noChangeArrowheads="1"/>
                </p:cNvSpPr>
                <p:nvPr/>
              </p:nvSpPr>
              <p:spPr bwMode="auto">
                <a:xfrm rot="5400000">
                  <a:off x="2378" y="892"/>
                  <a:ext cx="768" cy="7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5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400" y="954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</a:t>
                  </a:r>
                  <a:endParaRPr lang="en-US" altLang="en-US" sz="2000"/>
                </a:p>
              </p:txBody>
            </p:sp>
            <p:sp>
              <p:nvSpPr>
                <p:cNvPr id="1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400" y="1252"/>
                  <a:ext cx="20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en-US" sz="20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+</a:t>
                  </a:r>
                  <a:endParaRPr lang="en-US" altLang="en-US" sz="2000"/>
                </a:p>
              </p:txBody>
            </p:sp>
            <p:sp>
              <p:nvSpPr>
                <p:cNvPr id="17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2064" y="139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8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064" y="1108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9" name="Line 10"/>
                <p:cNvSpPr>
                  <a:spLocks noChangeShapeType="1"/>
                </p:cNvSpPr>
                <p:nvPr/>
              </p:nvSpPr>
              <p:spPr bwMode="auto">
                <a:xfrm>
                  <a:off x="3120" y="1252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21" name="Freeform 12"/>
              <p:cNvSpPr/>
              <p:nvPr/>
            </p:nvSpPr>
            <p:spPr bwMode="auto">
              <a:xfrm>
                <a:off x="9466914" y="2943368"/>
                <a:ext cx="762000" cy="304800"/>
              </a:xfrm>
              <a:custGeom>
                <a:avLst/>
                <a:gdLst>
                  <a:gd name="T0" fmla="*/ 762000 w 480"/>
                  <a:gd name="T1" fmla="*/ 152400 h 192"/>
                  <a:gd name="T2" fmla="*/ 609600 w 480"/>
                  <a:gd name="T3" fmla="*/ 152400 h 192"/>
                  <a:gd name="T4" fmla="*/ 533400 w 480"/>
                  <a:gd name="T5" fmla="*/ 0 h 192"/>
                  <a:gd name="T6" fmla="*/ 457200 w 480"/>
                  <a:gd name="T7" fmla="*/ 304800 h 192"/>
                  <a:gd name="T8" fmla="*/ 381000 w 480"/>
                  <a:gd name="T9" fmla="*/ 0 h 192"/>
                  <a:gd name="T10" fmla="*/ 304800 w 480"/>
                  <a:gd name="T11" fmla="*/ 304800 h 192"/>
                  <a:gd name="T12" fmla="*/ 228600 w 480"/>
                  <a:gd name="T13" fmla="*/ 0 h 192"/>
                  <a:gd name="T14" fmla="*/ 152400 w 480"/>
                  <a:gd name="T15" fmla="*/ 304800 h 192"/>
                  <a:gd name="T16" fmla="*/ 76200 w 480"/>
                  <a:gd name="T17" fmla="*/ 152400 h 192"/>
                  <a:gd name="T18" fmla="*/ 0 w 480"/>
                  <a:gd name="T19" fmla="*/ 152400 h 1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80"/>
                  <a:gd name="T31" fmla="*/ 0 h 192"/>
                  <a:gd name="T32" fmla="*/ 480 w 480"/>
                  <a:gd name="T33" fmla="*/ 192 h 1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80" h="192">
                    <a:moveTo>
                      <a:pt x="480" y="96"/>
                    </a:moveTo>
                    <a:lnTo>
                      <a:pt x="384" y="96"/>
                    </a:lnTo>
                    <a:lnTo>
                      <a:pt x="336" y="0"/>
                    </a:lnTo>
                    <a:lnTo>
                      <a:pt x="288" y="192"/>
                    </a:lnTo>
                    <a:lnTo>
                      <a:pt x="240" y="0"/>
                    </a:lnTo>
                    <a:lnTo>
                      <a:pt x="192" y="192"/>
                    </a:lnTo>
                    <a:lnTo>
                      <a:pt x="144" y="0"/>
                    </a:lnTo>
                    <a:lnTo>
                      <a:pt x="96" y="192"/>
                    </a:lnTo>
                    <a:lnTo>
                      <a:pt x="48" y="96"/>
                    </a:lnTo>
                    <a:lnTo>
                      <a:pt x="0" y="9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" name="Freeform 13"/>
              <p:cNvSpPr/>
              <p:nvPr/>
            </p:nvSpPr>
            <p:spPr bwMode="auto">
              <a:xfrm>
                <a:off x="9019524" y="3095768"/>
                <a:ext cx="457200" cy="685800"/>
              </a:xfrm>
              <a:custGeom>
                <a:avLst/>
                <a:gdLst>
                  <a:gd name="T0" fmla="*/ 0 w 288"/>
                  <a:gd name="T1" fmla="*/ 685800 h 432"/>
                  <a:gd name="T2" fmla="*/ 0 w 288"/>
                  <a:gd name="T3" fmla="*/ 0 h 432"/>
                  <a:gd name="T4" fmla="*/ 457200 w 288"/>
                  <a:gd name="T5" fmla="*/ 0 h 432"/>
                  <a:gd name="T6" fmla="*/ 0 60000 65536"/>
                  <a:gd name="T7" fmla="*/ 0 60000 65536"/>
                  <a:gd name="T8" fmla="*/ 0 60000 65536"/>
                  <a:gd name="T9" fmla="*/ 0 w 288"/>
                  <a:gd name="T10" fmla="*/ 0 h 432"/>
                  <a:gd name="T11" fmla="*/ 288 w 288"/>
                  <a:gd name="T12" fmla="*/ 432 h 4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8" h="432">
                    <a:moveTo>
                      <a:pt x="0" y="432"/>
                    </a:moveTo>
                    <a:lnTo>
                      <a:pt x="0" y="0"/>
                    </a:lnTo>
                    <a:lnTo>
                      <a:pt x="288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" name="Freeform 14"/>
              <p:cNvSpPr/>
              <p:nvPr/>
            </p:nvSpPr>
            <p:spPr bwMode="auto">
              <a:xfrm>
                <a:off x="10219104" y="3095767"/>
                <a:ext cx="457200" cy="913547"/>
              </a:xfrm>
              <a:custGeom>
                <a:avLst/>
                <a:gdLst>
                  <a:gd name="T0" fmla="*/ 0 w 288"/>
                  <a:gd name="T1" fmla="*/ 0 h 576"/>
                  <a:gd name="T2" fmla="*/ 457200 w 288"/>
                  <a:gd name="T3" fmla="*/ 0 h 576"/>
                  <a:gd name="T4" fmla="*/ 457200 w 288"/>
                  <a:gd name="T5" fmla="*/ 914400 h 576"/>
                  <a:gd name="T6" fmla="*/ 0 60000 65536"/>
                  <a:gd name="T7" fmla="*/ 0 60000 65536"/>
                  <a:gd name="T8" fmla="*/ 0 60000 65536"/>
                  <a:gd name="T9" fmla="*/ 0 w 288"/>
                  <a:gd name="T10" fmla="*/ 0 h 576"/>
                  <a:gd name="T11" fmla="*/ 288 w 288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8" h="576">
                    <a:moveTo>
                      <a:pt x="0" y="0"/>
                    </a:moveTo>
                    <a:lnTo>
                      <a:pt x="288" y="0"/>
                    </a:lnTo>
                    <a:lnTo>
                      <a:pt x="288" y="57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6" name="Group 17"/>
              <p:cNvGrpSpPr/>
              <p:nvPr/>
            </p:nvGrpSpPr>
            <p:grpSpPr bwMode="auto">
              <a:xfrm>
                <a:off x="8628999" y="4542720"/>
                <a:ext cx="304800" cy="228600"/>
                <a:chOff x="2928" y="3600"/>
                <a:chExt cx="192" cy="144"/>
              </a:xfrm>
            </p:grpSpPr>
            <p:sp>
              <p:nvSpPr>
                <p:cNvPr id="27" name="Line 18"/>
                <p:cNvSpPr>
                  <a:spLocks noChangeShapeType="1"/>
                </p:cNvSpPr>
                <p:nvPr/>
              </p:nvSpPr>
              <p:spPr bwMode="auto">
                <a:xfrm>
                  <a:off x="3024" y="3600"/>
                  <a:ext cx="0" cy="4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8" name="Line 19"/>
                <p:cNvSpPr>
                  <a:spLocks noChangeShapeType="1"/>
                </p:cNvSpPr>
                <p:nvPr/>
              </p:nvSpPr>
              <p:spPr bwMode="auto">
                <a:xfrm>
                  <a:off x="2928" y="364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29" name="Line 20"/>
                <p:cNvSpPr>
                  <a:spLocks noChangeShapeType="1"/>
                </p:cNvSpPr>
                <p:nvPr/>
              </p:nvSpPr>
              <p:spPr bwMode="auto">
                <a:xfrm>
                  <a:off x="2976" y="369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30" name="Line 21"/>
                <p:cNvSpPr>
                  <a:spLocks noChangeShapeType="1"/>
                </p:cNvSpPr>
                <p:nvPr/>
              </p:nvSpPr>
              <p:spPr bwMode="auto">
                <a:xfrm>
                  <a:off x="3000" y="3744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31" name="Line 22"/>
              <p:cNvSpPr>
                <a:spLocks noChangeShapeType="1"/>
              </p:cNvSpPr>
              <p:nvPr/>
            </p:nvSpPr>
            <p:spPr bwMode="auto">
              <a:xfrm flipV="1">
                <a:off x="8781399" y="4237920"/>
                <a:ext cx="0" cy="3048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3" name="Text Box 24"/>
              <p:cNvSpPr txBox="1">
                <a:spLocks noChangeArrowheads="1"/>
              </p:cNvSpPr>
              <p:nvPr/>
            </p:nvSpPr>
            <p:spPr bwMode="auto">
              <a:xfrm>
                <a:off x="11063084" y="3871207"/>
                <a:ext cx="5143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dirty="0" err="1">
                    <a:solidFill>
                      <a:srgbClr val="000000"/>
                    </a:solidFill>
                  </a:rPr>
                  <a:t>V</a:t>
                </a:r>
                <a:r>
                  <a:rPr lang="en-US" altLang="en-US" sz="1600" baseline="-25000" dirty="0" err="1">
                    <a:solidFill>
                      <a:srgbClr val="000000"/>
                    </a:solidFill>
                  </a:rPr>
                  <a:t>out</a:t>
                </a:r>
                <a:endParaRPr lang="en-US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Text Box 25"/>
              <p:cNvSpPr txBox="1">
                <a:spLocks noChangeArrowheads="1"/>
              </p:cNvSpPr>
              <p:nvPr/>
            </p:nvSpPr>
            <p:spPr bwMode="auto">
              <a:xfrm>
                <a:off x="7765036" y="2520950"/>
                <a:ext cx="407988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dirty="0">
                    <a:solidFill>
                      <a:srgbClr val="000000"/>
                    </a:solidFill>
                  </a:rPr>
                  <a:t>R</a:t>
                </a:r>
                <a:r>
                  <a:rPr lang="en-US" altLang="en-US" sz="1600" baseline="-25000" dirty="0">
                    <a:solidFill>
                      <a:srgbClr val="000000"/>
                    </a:solidFill>
                  </a:rPr>
                  <a:t>1</a:t>
                </a:r>
                <a:endParaRPr lang="en-US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Text Box 26"/>
              <p:cNvSpPr txBox="1">
                <a:spLocks noChangeArrowheads="1"/>
              </p:cNvSpPr>
              <p:nvPr/>
            </p:nvSpPr>
            <p:spPr bwMode="auto">
              <a:xfrm>
                <a:off x="9685480" y="2585971"/>
                <a:ext cx="41549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dirty="0">
                    <a:solidFill>
                      <a:srgbClr val="000000"/>
                    </a:solidFill>
                  </a:rPr>
                  <a:t>R</a:t>
                </a:r>
                <a:r>
                  <a:rPr lang="en-US" altLang="en-US" sz="1600" baseline="-25000" dirty="0">
                    <a:solidFill>
                      <a:srgbClr val="000000"/>
                    </a:solidFill>
                  </a:rPr>
                  <a:t>F</a:t>
                </a:r>
              </a:p>
            </p:txBody>
          </p:sp>
          <p:sp>
            <p:nvSpPr>
              <p:cNvPr id="36" name="Line 27"/>
              <p:cNvSpPr>
                <a:spLocks noChangeShapeType="1"/>
              </p:cNvSpPr>
              <p:nvPr/>
            </p:nvSpPr>
            <p:spPr bwMode="auto">
              <a:xfrm flipH="1">
                <a:off x="8298402" y="3288979"/>
                <a:ext cx="1524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9" name="Freeform 11"/>
              <p:cNvSpPr/>
              <p:nvPr/>
            </p:nvSpPr>
            <p:spPr bwMode="auto">
              <a:xfrm>
                <a:off x="7167789" y="3153228"/>
                <a:ext cx="1150032" cy="275519"/>
              </a:xfrm>
              <a:custGeom>
                <a:avLst/>
                <a:gdLst>
                  <a:gd name="T0" fmla="*/ 762000 w 480"/>
                  <a:gd name="T1" fmla="*/ 152400 h 192"/>
                  <a:gd name="T2" fmla="*/ 609600 w 480"/>
                  <a:gd name="T3" fmla="*/ 152400 h 192"/>
                  <a:gd name="T4" fmla="*/ 533400 w 480"/>
                  <a:gd name="T5" fmla="*/ 0 h 192"/>
                  <a:gd name="T6" fmla="*/ 457200 w 480"/>
                  <a:gd name="T7" fmla="*/ 304800 h 192"/>
                  <a:gd name="T8" fmla="*/ 381000 w 480"/>
                  <a:gd name="T9" fmla="*/ 0 h 192"/>
                  <a:gd name="T10" fmla="*/ 304800 w 480"/>
                  <a:gd name="T11" fmla="*/ 304800 h 192"/>
                  <a:gd name="T12" fmla="*/ 228600 w 480"/>
                  <a:gd name="T13" fmla="*/ 0 h 192"/>
                  <a:gd name="T14" fmla="*/ 152400 w 480"/>
                  <a:gd name="T15" fmla="*/ 304800 h 192"/>
                  <a:gd name="T16" fmla="*/ 76200 w 480"/>
                  <a:gd name="T17" fmla="*/ 152400 h 192"/>
                  <a:gd name="T18" fmla="*/ 0 w 480"/>
                  <a:gd name="T19" fmla="*/ 152400 h 1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80"/>
                  <a:gd name="T31" fmla="*/ 0 h 192"/>
                  <a:gd name="T32" fmla="*/ 480 w 480"/>
                  <a:gd name="T33" fmla="*/ 192 h 1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80" h="192">
                    <a:moveTo>
                      <a:pt x="480" y="96"/>
                    </a:moveTo>
                    <a:lnTo>
                      <a:pt x="384" y="96"/>
                    </a:lnTo>
                    <a:lnTo>
                      <a:pt x="336" y="0"/>
                    </a:lnTo>
                    <a:lnTo>
                      <a:pt x="288" y="192"/>
                    </a:lnTo>
                    <a:lnTo>
                      <a:pt x="240" y="0"/>
                    </a:lnTo>
                    <a:lnTo>
                      <a:pt x="192" y="192"/>
                    </a:lnTo>
                    <a:lnTo>
                      <a:pt x="144" y="0"/>
                    </a:lnTo>
                    <a:lnTo>
                      <a:pt x="96" y="192"/>
                    </a:lnTo>
                    <a:lnTo>
                      <a:pt x="48" y="96"/>
                    </a:lnTo>
                    <a:lnTo>
                      <a:pt x="0" y="9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" name="Text Box 23"/>
              <p:cNvSpPr txBox="1">
                <a:spLocks noChangeArrowheads="1"/>
              </p:cNvSpPr>
              <p:nvPr/>
            </p:nvSpPr>
            <p:spPr bwMode="auto">
              <a:xfrm>
                <a:off x="6664610" y="3049113"/>
                <a:ext cx="3968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US" sz="1600" baseline="-25000" dirty="0">
                    <a:solidFill>
                      <a:srgbClr val="000000"/>
                    </a:solidFill>
                  </a:rPr>
                  <a:t>1</a:t>
                </a:r>
                <a:endParaRPr lang="en-US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7182303" y="4055357"/>
                <a:ext cx="1275616" cy="304788"/>
              </a:xfrm>
              <a:custGeom>
                <a:avLst/>
                <a:gdLst>
                  <a:gd name="T0" fmla="*/ 762000 w 480"/>
                  <a:gd name="T1" fmla="*/ 152400 h 192"/>
                  <a:gd name="T2" fmla="*/ 609600 w 480"/>
                  <a:gd name="T3" fmla="*/ 152400 h 192"/>
                  <a:gd name="T4" fmla="*/ 533400 w 480"/>
                  <a:gd name="T5" fmla="*/ 0 h 192"/>
                  <a:gd name="T6" fmla="*/ 457200 w 480"/>
                  <a:gd name="T7" fmla="*/ 304800 h 192"/>
                  <a:gd name="T8" fmla="*/ 381000 w 480"/>
                  <a:gd name="T9" fmla="*/ 0 h 192"/>
                  <a:gd name="T10" fmla="*/ 304800 w 480"/>
                  <a:gd name="T11" fmla="*/ 304800 h 192"/>
                  <a:gd name="T12" fmla="*/ 228600 w 480"/>
                  <a:gd name="T13" fmla="*/ 0 h 192"/>
                  <a:gd name="T14" fmla="*/ 152400 w 480"/>
                  <a:gd name="T15" fmla="*/ 304800 h 192"/>
                  <a:gd name="T16" fmla="*/ 76200 w 480"/>
                  <a:gd name="T17" fmla="*/ 152400 h 192"/>
                  <a:gd name="T18" fmla="*/ 0 w 480"/>
                  <a:gd name="T19" fmla="*/ 152400 h 1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80"/>
                  <a:gd name="T31" fmla="*/ 0 h 192"/>
                  <a:gd name="T32" fmla="*/ 480 w 480"/>
                  <a:gd name="T33" fmla="*/ 192 h 1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80" h="192">
                    <a:moveTo>
                      <a:pt x="480" y="96"/>
                    </a:moveTo>
                    <a:lnTo>
                      <a:pt x="384" y="96"/>
                    </a:lnTo>
                    <a:lnTo>
                      <a:pt x="336" y="0"/>
                    </a:lnTo>
                    <a:lnTo>
                      <a:pt x="288" y="192"/>
                    </a:lnTo>
                    <a:lnTo>
                      <a:pt x="240" y="0"/>
                    </a:lnTo>
                    <a:lnTo>
                      <a:pt x="192" y="192"/>
                    </a:lnTo>
                    <a:lnTo>
                      <a:pt x="144" y="0"/>
                    </a:lnTo>
                    <a:lnTo>
                      <a:pt x="96" y="192"/>
                    </a:lnTo>
                    <a:lnTo>
                      <a:pt x="48" y="96"/>
                    </a:lnTo>
                    <a:lnTo>
                      <a:pt x="0" y="9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4" name="Text Box 28"/>
              <p:cNvSpPr txBox="1">
                <a:spLocks noChangeArrowheads="1"/>
              </p:cNvSpPr>
              <p:nvPr/>
            </p:nvSpPr>
            <p:spPr bwMode="auto">
              <a:xfrm>
                <a:off x="6754021" y="3950186"/>
                <a:ext cx="3968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en-US" sz="1600" baseline="-25000" dirty="0">
                    <a:solidFill>
                      <a:srgbClr val="000000"/>
                    </a:solidFill>
                  </a:rPr>
                  <a:t>2</a:t>
                </a:r>
                <a:endParaRPr lang="en-US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Text Box 29"/>
              <p:cNvSpPr txBox="1">
                <a:spLocks noChangeArrowheads="1"/>
              </p:cNvSpPr>
              <p:nvPr/>
            </p:nvSpPr>
            <p:spPr bwMode="auto">
              <a:xfrm>
                <a:off x="7803641" y="3717352"/>
                <a:ext cx="407988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 dirty="0">
                    <a:solidFill>
                      <a:srgbClr val="000000"/>
                    </a:solidFill>
                  </a:rPr>
                  <a:t>R</a:t>
                </a:r>
                <a:r>
                  <a:rPr lang="en-US" altLang="en-US" sz="1600" baseline="-25000" dirty="0">
                    <a:solidFill>
                      <a:srgbClr val="000000"/>
                    </a:solidFill>
                  </a:rPr>
                  <a:t>2</a:t>
                </a:r>
                <a:endParaRPr lang="en-US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Line 30"/>
              <p:cNvSpPr>
                <a:spLocks noChangeShapeType="1"/>
              </p:cNvSpPr>
              <p:nvPr/>
            </p:nvSpPr>
            <p:spPr bwMode="auto">
              <a:xfrm>
                <a:off x="8450802" y="3293357"/>
                <a:ext cx="0" cy="914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7" name="Line 31"/>
              <p:cNvSpPr>
                <a:spLocks noChangeShapeType="1"/>
              </p:cNvSpPr>
              <p:nvPr/>
            </p:nvSpPr>
            <p:spPr bwMode="auto">
              <a:xfrm flipH="1">
                <a:off x="8458200" y="3780720"/>
                <a:ext cx="3810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C53390F-A4D1-A651-4CCC-C15A985FD0F4}"/>
                </a:ext>
              </a:extLst>
            </p:cNvPr>
            <p:cNvSpPr>
              <a:spLocks/>
            </p:cNvSpPr>
            <p:nvPr/>
          </p:nvSpPr>
          <p:spPr>
            <a:xfrm>
              <a:off x="7703013" y="3382365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D6C1C1-A1BE-F236-F615-A0851AF9017F}"/>
                </a:ext>
              </a:extLst>
            </p:cNvPr>
            <p:cNvSpPr>
              <a:spLocks/>
            </p:cNvSpPr>
            <p:nvPr/>
          </p:nvSpPr>
          <p:spPr>
            <a:xfrm>
              <a:off x="7727166" y="4294041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40528" y="958788"/>
            <a:ext cx="1036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IN" sz="4000" dirty="0">
                <a:effectLst/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ubtractor</a:t>
            </a:r>
            <a:r>
              <a:rPr lang="en-IN" sz="4000" dirty="0">
                <a:effectLst/>
                <a:latin typeface="Cambria" panose="02040503050406030204" pitchFamily="18" charset="0"/>
              </a:rPr>
              <a:t> </a:t>
            </a:r>
            <a:endParaRPr lang="en-IN" sz="4000" dirty="0">
              <a:latin typeface="Cambria" panose="02040503050406030204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720959" y="2057400"/>
            <a:ext cx="7772400" cy="2743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The non-inverting input is a simple voltage divider:</a:t>
            </a:r>
          </a:p>
          <a:p>
            <a:pPr lvl="1"/>
            <a:r>
              <a:rPr lang="en-US" alt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So 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= (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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 </a:t>
            </a:r>
            <a:r>
              <a:rPr lang="en-US" altLang="en-US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node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)/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cs typeface="Calibri" panose="020F0502020204030204" pitchFamily="3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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f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=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30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(1 +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)) 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30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so </a:t>
            </a:r>
            <a:r>
              <a:rPr lang="en-US" altLang="en-US" sz="2000" i="1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out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= 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)(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30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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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30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therefore we difference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30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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and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aseline="30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4"/>
          <p:cNvGrpSpPr/>
          <p:nvPr/>
        </p:nvGrpSpPr>
        <p:grpSpPr bwMode="auto">
          <a:xfrm>
            <a:off x="8610616" y="3352800"/>
            <a:ext cx="2286000" cy="1219200"/>
            <a:chOff x="2064" y="868"/>
            <a:chExt cx="1440" cy="768"/>
          </a:xfrm>
        </p:grpSpPr>
        <p:sp>
          <p:nvSpPr>
            <p:cNvPr id="13" name="AutoShape 5"/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/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9" name="Freeform 11"/>
          <p:cNvSpPr/>
          <p:nvPr/>
        </p:nvSpPr>
        <p:spPr bwMode="auto">
          <a:xfrm>
            <a:off x="7867666" y="3581400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0" name="Freeform 12"/>
          <p:cNvSpPr/>
          <p:nvPr/>
        </p:nvSpPr>
        <p:spPr bwMode="auto">
          <a:xfrm>
            <a:off x="9220200" y="2898559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" name="Freeform 13"/>
          <p:cNvSpPr/>
          <p:nvPr/>
        </p:nvSpPr>
        <p:spPr bwMode="auto">
          <a:xfrm>
            <a:off x="8763000" y="3048001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2" name="Freeform 14"/>
          <p:cNvSpPr/>
          <p:nvPr/>
        </p:nvSpPr>
        <p:spPr bwMode="auto">
          <a:xfrm>
            <a:off x="9982200" y="3032125"/>
            <a:ext cx="457200" cy="914400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3" name="Oval 15"/>
          <p:cNvSpPr>
            <a:spLocks noChangeArrowheads="1"/>
          </p:cNvSpPr>
          <p:nvPr/>
        </p:nvSpPr>
        <p:spPr bwMode="auto">
          <a:xfrm>
            <a:off x="3417888" y="1822450"/>
            <a:ext cx="19050" cy="19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5" name="Group 17"/>
          <p:cNvGrpSpPr/>
          <p:nvPr/>
        </p:nvGrpSpPr>
        <p:grpSpPr bwMode="auto">
          <a:xfrm>
            <a:off x="8637820" y="5239644"/>
            <a:ext cx="304800" cy="228600"/>
            <a:chOff x="2928" y="3600"/>
            <a:chExt cx="192" cy="144"/>
          </a:xfrm>
        </p:grpSpPr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dirty="0"/>
            </a:p>
          </p:txBody>
        </p:sp>
        <p:sp>
          <p:nvSpPr>
            <p:cNvPr id="29" name="Line 21"/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" name="Line 22"/>
          <p:cNvSpPr>
            <a:spLocks noChangeShapeType="1"/>
          </p:cNvSpPr>
          <p:nvPr/>
        </p:nvSpPr>
        <p:spPr bwMode="auto">
          <a:xfrm flipV="1">
            <a:off x="8790220" y="4206875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7467616" y="3581400"/>
            <a:ext cx="396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V</a:t>
            </a:r>
            <a:r>
              <a:rPr lang="en-US" altLang="en-US" sz="1600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10844228" y="3774843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 err="1">
                <a:solidFill>
                  <a:srgbClr val="000000"/>
                </a:solidFill>
              </a:rPr>
              <a:t>V</a:t>
            </a:r>
            <a:r>
              <a:rPr lang="en-US" altLang="en-US" sz="1600" baseline="-25000" dirty="0" err="1">
                <a:solidFill>
                  <a:srgbClr val="000000"/>
                </a:solidFill>
              </a:rPr>
              <a:t>out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8074818" y="320675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R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1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34" name="Text Box 26"/>
          <p:cNvSpPr txBox="1">
            <a:spLocks noChangeArrowheads="1"/>
          </p:cNvSpPr>
          <p:nvPr/>
        </p:nvSpPr>
        <p:spPr bwMode="auto">
          <a:xfrm>
            <a:off x="9397206" y="2523909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R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2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35" name="Freeform 27"/>
          <p:cNvSpPr/>
          <p:nvPr/>
        </p:nvSpPr>
        <p:spPr bwMode="auto">
          <a:xfrm rot="5400000">
            <a:off x="8409220" y="4706244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7" name="Freeform 29"/>
          <p:cNvSpPr/>
          <p:nvPr/>
        </p:nvSpPr>
        <p:spPr bwMode="auto">
          <a:xfrm>
            <a:off x="7885121" y="4038600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7483483" y="4083049"/>
            <a:ext cx="401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V</a:t>
            </a:r>
            <a:r>
              <a:rPr lang="en-US" altLang="en-US" sz="1600" baseline="30000" dirty="0">
                <a:solidFill>
                  <a:srgbClr val="000000"/>
                </a:solidFill>
              </a:rPr>
              <a:t>+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8083783" y="444326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R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1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40" name="Text Box 33"/>
          <p:cNvSpPr txBox="1">
            <a:spLocks noChangeArrowheads="1"/>
          </p:cNvSpPr>
          <p:nvPr/>
        </p:nvSpPr>
        <p:spPr bwMode="auto">
          <a:xfrm>
            <a:off x="8989219" y="4654932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R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2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40528" y="958788"/>
            <a:ext cx="1036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Integrator Amplifier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166111" y="2172979"/>
            <a:ext cx="7772400" cy="30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6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= V</a:t>
            </a:r>
            <a:r>
              <a:rPr lang="en-US" altLang="en-US" sz="16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/R, so </a:t>
            </a:r>
            <a:r>
              <a:rPr lang="en-US" altLang="en-US" sz="16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C·dV</a:t>
            </a:r>
            <a:r>
              <a:rPr lang="en-US" altLang="en-US" sz="16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cap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/dt = V</a:t>
            </a:r>
            <a:r>
              <a:rPr lang="en-US" altLang="en-US" sz="16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/R</a:t>
            </a:r>
          </a:p>
          <a:p>
            <a:pPr lvl="1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and since left side of capacitor is at virtual ground: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16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dV</a:t>
            </a:r>
            <a:r>
              <a:rPr lang="en-US" altLang="en-US" sz="1600" baseline="-250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out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/dt = V</a:t>
            </a:r>
            <a:r>
              <a:rPr lang="en-US" altLang="en-US" sz="16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in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/RC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so</a:t>
            </a:r>
          </a:p>
          <a:p>
            <a:pPr lvl="1"/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and therefore we have an integrator (low pass) </a:t>
            </a:r>
          </a:p>
        </p:txBody>
      </p:sp>
      <p:grpSp>
        <p:nvGrpSpPr>
          <p:cNvPr id="12" name="Group 4"/>
          <p:cNvGrpSpPr/>
          <p:nvPr/>
        </p:nvGrpSpPr>
        <p:grpSpPr bwMode="auto">
          <a:xfrm>
            <a:off x="8239217" y="3163579"/>
            <a:ext cx="2286000" cy="1219200"/>
            <a:chOff x="2064" y="868"/>
            <a:chExt cx="1440" cy="768"/>
          </a:xfrm>
        </p:grpSpPr>
        <p:sp>
          <p:nvSpPr>
            <p:cNvPr id="13" name="AutoShape 5"/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/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9" name="Freeform 11"/>
          <p:cNvSpPr/>
          <p:nvPr/>
        </p:nvSpPr>
        <p:spPr bwMode="auto">
          <a:xfrm>
            <a:off x="7524565" y="3392179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0" name="Freeform 12"/>
          <p:cNvSpPr/>
          <p:nvPr/>
        </p:nvSpPr>
        <p:spPr bwMode="auto">
          <a:xfrm>
            <a:off x="8471346" y="2858779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" name="Freeform 13"/>
          <p:cNvSpPr/>
          <p:nvPr/>
        </p:nvSpPr>
        <p:spPr bwMode="auto">
          <a:xfrm>
            <a:off x="9432216" y="2859627"/>
            <a:ext cx="457200" cy="914400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4" name="Group 16"/>
          <p:cNvGrpSpPr/>
          <p:nvPr/>
        </p:nvGrpSpPr>
        <p:grpSpPr bwMode="auto">
          <a:xfrm>
            <a:off x="8086817" y="4303396"/>
            <a:ext cx="304800" cy="228600"/>
            <a:chOff x="2928" y="3600"/>
            <a:chExt cx="192" cy="144"/>
          </a:xfrm>
        </p:grpSpPr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9" name="Line 21"/>
          <p:cNvSpPr>
            <a:spLocks noChangeShapeType="1"/>
          </p:cNvSpPr>
          <p:nvPr/>
        </p:nvSpPr>
        <p:spPr bwMode="auto">
          <a:xfrm flipV="1">
            <a:off x="8239217" y="4001779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7238954" y="3376304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V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in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10525217" y="3604904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 err="1">
                <a:solidFill>
                  <a:srgbClr val="000000"/>
                </a:solidFill>
              </a:rPr>
              <a:t>V</a:t>
            </a:r>
            <a:r>
              <a:rPr lang="en-US" altLang="en-US" sz="1600" baseline="-25000" dirty="0" err="1">
                <a:solidFill>
                  <a:srgbClr val="000000"/>
                </a:solidFill>
              </a:rPr>
              <a:t>out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7686382" y="3055629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9017092" y="2368982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C</a:t>
            </a:r>
          </a:p>
        </p:txBody>
      </p:sp>
      <p:grpSp>
        <p:nvGrpSpPr>
          <p:cNvPr id="34" name="Group 26"/>
          <p:cNvGrpSpPr/>
          <p:nvPr/>
        </p:nvGrpSpPr>
        <p:grpSpPr bwMode="auto">
          <a:xfrm>
            <a:off x="8791112" y="2706379"/>
            <a:ext cx="762000" cy="304800"/>
            <a:chOff x="720" y="1488"/>
            <a:chExt cx="480" cy="192"/>
          </a:xfrm>
        </p:grpSpPr>
        <p:sp>
          <p:nvSpPr>
            <p:cNvPr id="35" name="Line 27"/>
            <p:cNvSpPr>
              <a:spLocks noChangeShapeType="1"/>
            </p:cNvSpPr>
            <p:nvPr/>
          </p:nvSpPr>
          <p:spPr bwMode="auto">
            <a:xfrm>
              <a:off x="912" y="1488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1008" y="1488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 flipH="1">
              <a:off x="720" y="15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" name="Line 30"/>
            <p:cNvSpPr>
              <a:spLocks noChangeShapeType="1"/>
            </p:cNvSpPr>
            <p:nvPr/>
          </p:nvSpPr>
          <p:spPr bwMode="auto">
            <a:xfrm flipH="1">
              <a:off x="1008" y="15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pic>
        <p:nvPicPr>
          <p:cNvPr id="39" name="Picture 31" descr="image-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419600"/>
            <a:ext cx="21748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40528" y="958788"/>
            <a:ext cx="1036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Practical Integrator Amplifier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166111" y="2172979"/>
            <a:ext cx="7772400" cy="30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The gain of an integrator at low frequency can be limited to avoid saturation by introducing a feedback resistance(Rf) in shunt with feedback capacitance(Cf).</a:t>
            </a:r>
          </a:p>
          <a:p>
            <a:pPr>
              <a:lnSpc>
                <a:spcPct val="200000"/>
              </a:lnSpc>
            </a:pP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The resistor Rf limits the low frequency gain to – Rf/R</a:t>
            </a: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9017092" y="2368982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37931725" indent="-37474525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4572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9144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1371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18288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16949" y="1102819"/>
            <a:ext cx="103691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IN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pplications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 of Integrators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166111" y="2172979"/>
            <a:ext cx="7772400" cy="30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4007" y="2172979"/>
            <a:ext cx="9511882" cy="326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Signal Integration in Analog Computation: Integrators can perform mathematical integration of input signals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Waveform Generation:  Integrators convert square waves into triangular waves.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Analog Filters: Integrators act as low-pass filters by allowing low-frequency signals to pass while attenuating high-frequency signals.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Phase Locked Loop Circuits: Integrators are used to generate a voltage proportional to the phase difference between input and reference signals.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78384" y="958788"/>
            <a:ext cx="10759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Differentiator Amplifier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702792" y="2170020"/>
            <a:ext cx="7772400" cy="30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For a capacitor, </a:t>
            </a:r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CV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, so </a:t>
            </a:r>
            <a:r>
              <a:rPr lang="en-US" altLang="en-US" sz="24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400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cap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4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dQ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4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C·dV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endParaRPr lang="en-US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Thus </a:t>
            </a:r>
            <a:r>
              <a:rPr lang="en-US" alt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4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4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cap</a:t>
            </a:r>
            <a:r>
              <a:rPr lang="en-US" alt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RC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lang="en-US" altLang="en-US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dV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alt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So we have a differentiator, or high-pass filter</a:t>
            </a:r>
          </a:p>
          <a:p>
            <a:pPr lvl="1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signal is </a:t>
            </a:r>
            <a:r>
              <a:rPr lang="en-US" alt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sin</a:t>
            </a:r>
            <a:r>
              <a:rPr lang="en-US" altLang="en-US" sz="24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t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400" i="1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out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= </a:t>
            </a:r>
            <a:r>
              <a:rPr lang="en-US" altLang="en-US" sz="24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4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RC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cos</a:t>
            </a:r>
            <a:r>
              <a:rPr lang="en-US" altLang="en-US" sz="24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t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the </a:t>
            </a:r>
            <a:r>
              <a:rPr lang="en-US" altLang="en-US" sz="2400" i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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-dependence means higher frequencies </a:t>
            </a:r>
          </a:p>
          <a:p>
            <a:pPr marL="457200" lvl="1" indent="0"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amplified more</a:t>
            </a:r>
          </a:p>
        </p:txBody>
      </p:sp>
      <p:grpSp>
        <p:nvGrpSpPr>
          <p:cNvPr id="13" name="Group 4"/>
          <p:cNvGrpSpPr/>
          <p:nvPr/>
        </p:nvGrpSpPr>
        <p:grpSpPr bwMode="auto">
          <a:xfrm>
            <a:off x="8185951" y="3160620"/>
            <a:ext cx="2286000" cy="1219200"/>
            <a:chOff x="2064" y="868"/>
            <a:chExt cx="1440" cy="768"/>
          </a:xfrm>
        </p:grpSpPr>
        <p:sp>
          <p:nvSpPr>
            <p:cNvPr id="14" name="AutoShape 5"/>
            <p:cNvSpPr>
              <a:spLocks noChangeArrowheads="1"/>
            </p:cNvSpPr>
            <p:nvPr/>
          </p:nvSpPr>
          <p:spPr bwMode="auto">
            <a:xfrm rot="5400000">
              <a:off x="2378" y="892"/>
              <a:ext cx="768" cy="7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2400" y="954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</a:t>
              </a:r>
              <a:endParaRPr lang="en-US" altLang="en-US" sz="2000"/>
            </a:p>
          </p:txBody>
        </p:sp>
        <p:sp>
          <p:nvSpPr>
            <p:cNvPr id="16" name="Text Box 7"/>
            <p:cNvSpPr txBox="1">
              <a:spLocks noChangeArrowheads="1"/>
            </p:cNvSpPr>
            <p:nvPr/>
          </p:nvSpPr>
          <p:spPr bwMode="auto">
            <a:xfrm>
              <a:off x="2400" y="1252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sym typeface="Symbol" panose="05050102010706020507" pitchFamily="18" charset="2"/>
                </a:rPr>
                <a:t>+</a:t>
              </a:r>
              <a:endParaRPr lang="en-US" altLang="en-US" sz="2000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 flipH="1">
              <a:off x="2064" y="139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auto">
            <a:xfrm flipH="1">
              <a:off x="2064" y="11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3120" y="12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0" name="Freeform 12"/>
          <p:cNvSpPr/>
          <p:nvPr/>
        </p:nvSpPr>
        <p:spPr bwMode="auto">
          <a:xfrm>
            <a:off x="8880798" y="2726554"/>
            <a:ext cx="762000" cy="304800"/>
          </a:xfrm>
          <a:custGeom>
            <a:avLst/>
            <a:gdLst>
              <a:gd name="T0" fmla="*/ 762000 w 480"/>
              <a:gd name="T1" fmla="*/ 152400 h 192"/>
              <a:gd name="T2" fmla="*/ 609600 w 480"/>
              <a:gd name="T3" fmla="*/ 152400 h 192"/>
              <a:gd name="T4" fmla="*/ 533400 w 480"/>
              <a:gd name="T5" fmla="*/ 0 h 192"/>
              <a:gd name="T6" fmla="*/ 457200 w 480"/>
              <a:gd name="T7" fmla="*/ 304800 h 192"/>
              <a:gd name="T8" fmla="*/ 381000 w 480"/>
              <a:gd name="T9" fmla="*/ 0 h 192"/>
              <a:gd name="T10" fmla="*/ 304800 w 480"/>
              <a:gd name="T11" fmla="*/ 304800 h 192"/>
              <a:gd name="T12" fmla="*/ 228600 w 480"/>
              <a:gd name="T13" fmla="*/ 0 h 192"/>
              <a:gd name="T14" fmla="*/ 152400 w 480"/>
              <a:gd name="T15" fmla="*/ 304800 h 192"/>
              <a:gd name="T16" fmla="*/ 76200 w 480"/>
              <a:gd name="T17" fmla="*/ 152400 h 192"/>
              <a:gd name="T18" fmla="*/ 0 w 480"/>
              <a:gd name="T19" fmla="*/ 152400 h 1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80"/>
              <a:gd name="T31" fmla="*/ 0 h 192"/>
              <a:gd name="T32" fmla="*/ 480 w 480"/>
              <a:gd name="T33" fmla="*/ 192 h 1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80" h="192">
                <a:moveTo>
                  <a:pt x="480" y="96"/>
                </a:moveTo>
                <a:lnTo>
                  <a:pt x="384" y="96"/>
                </a:lnTo>
                <a:lnTo>
                  <a:pt x="336" y="0"/>
                </a:lnTo>
                <a:lnTo>
                  <a:pt x="288" y="192"/>
                </a:lnTo>
                <a:lnTo>
                  <a:pt x="240" y="0"/>
                </a:lnTo>
                <a:lnTo>
                  <a:pt x="192" y="192"/>
                </a:lnTo>
                <a:lnTo>
                  <a:pt x="144" y="0"/>
                </a:lnTo>
                <a:lnTo>
                  <a:pt x="96" y="192"/>
                </a:lnTo>
                <a:lnTo>
                  <a:pt x="48" y="96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" name="Freeform 13"/>
          <p:cNvSpPr/>
          <p:nvPr/>
        </p:nvSpPr>
        <p:spPr bwMode="auto">
          <a:xfrm>
            <a:off x="8453283" y="2875710"/>
            <a:ext cx="457200" cy="685800"/>
          </a:xfrm>
          <a:custGeom>
            <a:avLst/>
            <a:gdLst>
              <a:gd name="T0" fmla="*/ 0 w 288"/>
              <a:gd name="T1" fmla="*/ 685800 h 432"/>
              <a:gd name="T2" fmla="*/ 0 w 288"/>
              <a:gd name="T3" fmla="*/ 0 h 432"/>
              <a:gd name="T4" fmla="*/ 457200 w 288"/>
              <a:gd name="T5" fmla="*/ 0 h 432"/>
              <a:gd name="T6" fmla="*/ 0 60000 65536"/>
              <a:gd name="T7" fmla="*/ 0 60000 65536"/>
              <a:gd name="T8" fmla="*/ 0 60000 65536"/>
              <a:gd name="T9" fmla="*/ 0 w 288"/>
              <a:gd name="T10" fmla="*/ 0 h 432"/>
              <a:gd name="T11" fmla="*/ 288 w 288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432">
                <a:moveTo>
                  <a:pt x="0" y="432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2" name="Freeform 14"/>
          <p:cNvSpPr/>
          <p:nvPr/>
        </p:nvSpPr>
        <p:spPr bwMode="auto">
          <a:xfrm>
            <a:off x="9610385" y="2883215"/>
            <a:ext cx="457200" cy="887003"/>
          </a:xfrm>
          <a:custGeom>
            <a:avLst/>
            <a:gdLst>
              <a:gd name="T0" fmla="*/ 0 w 288"/>
              <a:gd name="T1" fmla="*/ 0 h 576"/>
              <a:gd name="T2" fmla="*/ 457200 w 288"/>
              <a:gd name="T3" fmla="*/ 0 h 576"/>
              <a:gd name="T4" fmla="*/ 457200 w 288"/>
              <a:gd name="T5" fmla="*/ 914400 h 576"/>
              <a:gd name="T6" fmla="*/ 0 60000 65536"/>
              <a:gd name="T7" fmla="*/ 0 60000 65536"/>
              <a:gd name="T8" fmla="*/ 0 60000 65536"/>
              <a:gd name="T9" fmla="*/ 0 w 288"/>
              <a:gd name="T10" fmla="*/ 0 h 576"/>
              <a:gd name="T11" fmla="*/ 288 w 288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76">
                <a:moveTo>
                  <a:pt x="0" y="0"/>
                </a:moveTo>
                <a:lnTo>
                  <a:pt x="288" y="0"/>
                </a:lnTo>
                <a:lnTo>
                  <a:pt x="288" y="576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5" name="Group 17"/>
          <p:cNvGrpSpPr/>
          <p:nvPr/>
        </p:nvGrpSpPr>
        <p:grpSpPr bwMode="auto">
          <a:xfrm>
            <a:off x="8046105" y="4285411"/>
            <a:ext cx="304800" cy="228600"/>
            <a:chOff x="2928" y="3600"/>
            <a:chExt cx="192" cy="144"/>
          </a:xfrm>
        </p:grpSpPr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3024" y="3600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>
              <a:off x="2928" y="3648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>
              <a:off x="2976" y="3696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" name="Line 21"/>
            <p:cNvSpPr>
              <a:spLocks noChangeShapeType="1"/>
            </p:cNvSpPr>
            <p:nvPr/>
          </p:nvSpPr>
          <p:spPr bwMode="auto">
            <a:xfrm>
              <a:off x="3000" y="3744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" name="Line 22"/>
          <p:cNvSpPr>
            <a:spLocks noChangeShapeType="1"/>
          </p:cNvSpPr>
          <p:nvPr/>
        </p:nvSpPr>
        <p:spPr bwMode="auto">
          <a:xfrm flipV="1">
            <a:off x="8195546" y="399882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7138342" y="3362525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V</a:t>
            </a:r>
            <a:r>
              <a:rPr lang="en-US" altLang="en-US" sz="1600" baseline="-25000" dirty="0">
                <a:solidFill>
                  <a:srgbClr val="000000"/>
                </a:solidFill>
              </a:rPr>
              <a:t>in</a:t>
            </a:r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10424772" y="3601943"/>
            <a:ext cx="514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</a:rPr>
              <a:t>V</a:t>
            </a:r>
            <a:r>
              <a:rPr lang="en-US" altLang="en-US" sz="1600" baseline="-25000">
                <a:solidFill>
                  <a:srgbClr val="000000"/>
                </a:solidFill>
              </a:rPr>
              <a:t>out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7674391" y="3009931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34" name="Text Box 26"/>
          <p:cNvSpPr txBox="1">
            <a:spLocks noChangeArrowheads="1"/>
          </p:cNvSpPr>
          <p:nvPr/>
        </p:nvSpPr>
        <p:spPr bwMode="auto">
          <a:xfrm>
            <a:off x="9051139" y="2321742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</a:rPr>
              <a:t>R</a:t>
            </a:r>
          </a:p>
        </p:txBody>
      </p:sp>
      <p:grpSp>
        <p:nvGrpSpPr>
          <p:cNvPr id="35" name="Group 32"/>
          <p:cNvGrpSpPr/>
          <p:nvPr/>
        </p:nvGrpSpPr>
        <p:grpSpPr bwMode="auto">
          <a:xfrm>
            <a:off x="7433546" y="3389220"/>
            <a:ext cx="762000" cy="304800"/>
            <a:chOff x="720" y="1488"/>
            <a:chExt cx="480" cy="192"/>
          </a:xfrm>
        </p:grpSpPr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912" y="1488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>
              <a:off x="1008" y="1488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" name="Line 30"/>
            <p:cNvSpPr>
              <a:spLocks noChangeShapeType="1"/>
            </p:cNvSpPr>
            <p:nvPr/>
          </p:nvSpPr>
          <p:spPr bwMode="auto">
            <a:xfrm flipH="1">
              <a:off x="720" y="15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" name="Line 31"/>
            <p:cNvSpPr>
              <a:spLocks noChangeShapeType="1"/>
            </p:cNvSpPr>
            <p:nvPr/>
          </p:nvSpPr>
          <p:spPr bwMode="auto">
            <a:xfrm flipH="1">
              <a:off x="1008" y="158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16949" y="1102819"/>
            <a:ext cx="103691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IN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pplications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 of Differentiators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166111" y="2172979"/>
            <a:ext cx="7772400" cy="30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4007" y="2013967"/>
            <a:ext cx="9511882" cy="3730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Edge Detection in Signal Processing: Differentiators can detect the edges or transitions in digital signals.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Frequency Modulation (FM) Demodulation: Differentiators can convert frequency variations into amplitude variations.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Waveform Generation: Differentiators can convert square waves into spike or pulse waveforms.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High-Pass Filter: Differentiators act as high-pass filters by allowing high-frequency signals to pass while attenuating low-frequency signals.</a:t>
            </a:r>
            <a:endParaRPr lang="en-US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6CA19-E2EC-EDE8-BD96-AFE86FACF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33BCF36-61C2-A2C3-7239-8EF0E604E1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1380777"/>
                  </p:ext>
                </p:extLst>
              </p:nvPr>
            </p:nvGraphicFramePr>
            <p:xfrm>
              <a:off x="1524000" y="1174384"/>
              <a:ext cx="9376230" cy="4625344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875246">
                      <a:extLst>
                        <a:ext uri="{9D8B030D-6E8A-4147-A177-3AD203B41FA5}">
                          <a16:colId xmlns:a16="http://schemas.microsoft.com/office/drawing/2014/main" val="3515122977"/>
                        </a:ext>
                      </a:extLst>
                    </a:gridCol>
                    <a:gridCol w="1875246">
                      <a:extLst>
                        <a:ext uri="{9D8B030D-6E8A-4147-A177-3AD203B41FA5}">
                          <a16:colId xmlns:a16="http://schemas.microsoft.com/office/drawing/2014/main" val="2303103524"/>
                        </a:ext>
                      </a:extLst>
                    </a:gridCol>
                    <a:gridCol w="1875246">
                      <a:extLst>
                        <a:ext uri="{9D8B030D-6E8A-4147-A177-3AD203B41FA5}">
                          <a16:colId xmlns:a16="http://schemas.microsoft.com/office/drawing/2014/main" val="2661937354"/>
                        </a:ext>
                      </a:extLst>
                    </a:gridCol>
                    <a:gridCol w="1875246">
                      <a:extLst>
                        <a:ext uri="{9D8B030D-6E8A-4147-A177-3AD203B41FA5}">
                          <a16:colId xmlns:a16="http://schemas.microsoft.com/office/drawing/2014/main" val="3555791970"/>
                        </a:ext>
                      </a:extLst>
                    </a:gridCol>
                    <a:gridCol w="1875246">
                      <a:extLst>
                        <a:ext uri="{9D8B030D-6E8A-4147-A177-3AD203B41FA5}">
                          <a16:colId xmlns:a16="http://schemas.microsoft.com/office/drawing/2014/main" val="59696122"/>
                        </a:ext>
                      </a:extLst>
                    </a:gridCol>
                  </a:tblGrid>
                  <a:tr h="6668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Feature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Ideal Integrator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Practical Integrator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Ideal Differentiator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 dirty="0"/>
                            <a:t>Practical Differentiator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1332136606"/>
                      </a:ext>
                    </a:extLst>
                  </a:tr>
                  <a:tr h="6668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Input element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Resistor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Resistor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Capacitor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Capacitor + series resistor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2204927356"/>
                      </a:ext>
                    </a:extLst>
                  </a:tr>
                  <a:tr h="9527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Feedback element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Capacitor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Capacitor + parallel resistor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Resistor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Resistor (+ parallel capacitor sometimes)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1973744034"/>
                      </a:ext>
                    </a:extLst>
                  </a:tr>
                  <a:tr h="69639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Output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600"/>
                                  <m:t>−</m:t>
                                </m:r>
                                <m:f>
                                  <m:fPr>
                                    <m:ctrlPr>
                                      <a:rPr lang="ar-AE" sz="1600"/>
                                    </m:ctrlPr>
                                  </m:fPr>
                                  <m:num>
                                    <m:r>
                                      <a:rPr lang="ar-AE" sz="1600"/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sz="1600"/>
                                      <m:t>𝑅𝐶</m:t>
                                    </m:r>
                                  </m:den>
                                </m:f>
                                <m:nary>
                                  <m:naryPr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 sz="1600"/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ar-AE" sz="1600"/>
                                        </m:ctrlPr>
                                      </m:sSubPr>
                                      <m:e>
                                        <m:r>
                                          <a:rPr lang="ar-AE" sz="1600"/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ar-AE" sz="1600"/>
                                          <m:t>𝑖𝑛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ar-AE" sz="1600"/>
                                  <m:t>𝑑𝑡</m:t>
                                </m:r>
                              </m:oMath>
                            </m:oMathPara>
                          </a14:m>
                          <a:endParaRPr lang="ar-AE" sz="1600"/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Same, but stable at DC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600"/>
                                  <m:t>−</m:t>
                                </m:r>
                                <m:r>
                                  <a:rPr lang="ar-AE" sz="1600"/>
                                  <m:t>𝑅𝐶</m:t>
                                </m:r>
                                <m:f>
                                  <m:fPr>
                                    <m:ctrlPr>
                                      <a:rPr lang="ar-AE" sz="1600"/>
                                    </m:ctrlPr>
                                  </m:fPr>
                                  <m:num>
                                    <m:r>
                                      <a:rPr lang="ar-AE" sz="1600"/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ar-AE" sz="1600"/>
                                        </m:ctrlPr>
                                      </m:sSubPr>
                                      <m:e>
                                        <m:r>
                                          <a:rPr lang="ar-AE" sz="1600"/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ar-AE" sz="1600"/>
                                          <m:t>𝑖𝑛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ar-AE" sz="1600"/>
                                      <m:t>𝑑𝑡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600" dirty="0"/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Same, but limited gain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1588098435"/>
                      </a:ext>
                    </a:extLst>
                  </a:tr>
                  <a:tr h="9756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Frequency response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Gain ↓ as </a:t>
                          </a:r>
                          <a14:m>
                            <m:oMath xmlns:m="http://schemas.openxmlformats.org/officeDocument/2006/math">
                              <m:r>
                                <a:rPr lang="en-US" sz="1600"/>
                                <m:t>1</m:t>
                              </m:r>
                              <m:r>
                                <a:rPr lang="en-US" sz="1600"/>
                                <m:t>/</m:t>
                              </m:r>
                              <m:r>
                                <a:rPr lang="en-US" sz="1600"/>
                                <m:t>𝑓</m:t>
                              </m:r>
                            </m:oMath>
                          </a14:m>
                          <a:endParaRPr lang="en-US" sz="1600"/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Low cutoff frequency due to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/>
                                  </m:ctrlPr>
                                </m:sSubPr>
                                <m:e>
                                  <m:r>
                                    <a:rPr lang="ar-AE" sz="1600"/>
                                    <m:t>𝑅</m:t>
                                  </m:r>
                                </m:e>
                                <m:sub>
                                  <m:r>
                                    <a:rPr lang="ar-AE" sz="1600"/>
                                    <m:t>𝑓</m:t>
                                  </m:r>
                                </m:sub>
                              </m:sSub>
                            </m:oMath>
                          </a14:m>
                          <a:endParaRPr lang="ar-AE" sz="1600"/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Gain ↑ as </a:t>
                          </a:r>
                          <a14:m>
                            <m:oMath xmlns:m="http://schemas.openxmlformats.org/officeDocument/2006/math">
                              <m:r>
                                <a:rPr lang="en-US" sz="1600"/>
                                <m:t>𝑓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High-frequency cutoff due to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/>
                                  </m:ctrlPr>
                                </m:sSubPr>
                                <m:e>
                                  <m:r>
                                    <a:rPr lang="ar-AE" sz="1600"/>
                                    <m:t>𝑅</m:t>
                                  </m:r>
                                </m:e>
                                <m:sub>
                                  <m:r>
                                    <a:rPr lang="ar-AE" sz="1600"/>
                                    <m:t>𝑖𝑛</m:t>
                                  </m:r>
                                </m:sub>
                              </m:sSub>
                            </m:oMath>
                          </a14:m>
                          <a:endParaRPr lang="ar-AE" sz="1600" dirty="0"/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3219667245"/>
                      </a:ext>
                    </a:extLst>
                  </a:tr>
                  <a:tr h="6668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 dirty="0"/>
                            <a:t>Stability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Drifts, saturates at DC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Stable at DC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Very noisy, unstable at HF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Stable, noise-limited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30815212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33BCF36-61C2-A2C3-7239-8EF0E604E1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1380777"/>
                  </p:ext>
                </p:extLst>
              </p:nvPr>
            </p:nvGraphicFramePr>
            <p:xfrm>
              <a:off x="1524000" y="1174384"/>
              <a:ext cx="9376230" cy="4625344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875246">
                      <a:extLst>
                        <a:ext uri="{9D8B030D-6E8A-4147-A177-3AD203B41FA5}">
                          <a16:colId xmlns:a16="http://schemas.microsoft.com/office/drawing/2014/main" val="3515122977"/>
                        </a:ext>
                      </a:extLst>
                    </a:gridCol>
                    <a:gridCol w="1875246">
                      <a:extLst>
                        <a:ext uri="{9D8B030D-6E8A-4147-A177-3AD203B41FA5}">
                          <a16:colId xmlns:a16="http://schemas.microsoft.com/office/drawing/2014/main" val="2303103524"/>
                        </a:ext>
                      </a:extLst>
                    </a:gridCol>
                    <a:gridCol w="1875246">
                      <a:extLst>
                        <a:ext uri="{9D8B030D-6E8A-4147-A177-3AD203B41FA5}">
                          <a16:colId xmlns:a16="http://schemas.microsoft.com/office/drawing/2014/main" val="2661937354"/>
                        </a:ext>
                      </a:extLst>
                    </a:gridCol>
                    <a:gridCol w="1875246">
                      <a:extLst>
                        <a:ext uri="{9D8B030D-6E8A-4147-A177-3AD203B41FA5}">
                          <a16:colId xmlns:a16="http://schemas.microsoft.com/office/drawing/2014/main" val="3555791970"/>
                        </a:ext>
                      </a:extLst>
                    </a:gridCol>
                    <a:gridCol w="1875246">
                      <a:extLst>
                        <a:ext uri="{9D8B030D-6E8A-4147-A177-3AD203B41FA5}">
                          <a16:colId xmlns:a16="http://schemas.microsoft.com/office/drawing/2014/main" val="59696122"/>
                        </a:ext>
                      </a:extLst>
                    </a:gridCol>
                  </a:tblGrid>
                  <a:tr h="6668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Feature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Ideal Integrator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Practical Integrator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Ideal Differentiator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 dirty="0"/>
                            <a:t>Practical Differentiator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1332136606"/>
                      </a:ext>
                    </a:extLst>
                  </a:tr>
                  <a:tr h="6668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Input element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Resistor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Resistor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Capacitor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Capacitor + series resistor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2204927356"/>
                      </a:ext>
                    </a:extLst>
                  </a:tr>
                  <a:tr h="9527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Feedback element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Capacitor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Capacitor + parallel resistor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Resistor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Resistor (+ parallel capacitor sometimes)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1973744034"/>
                      </a:ext>
                    </a:extLst>
                  </a:tr>
                  <a:tr h="69639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Output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1050" marR="71050" marT="35525" marB="35525" anchor="ctr">
                        <a:blipFill>
                          <a:blip r:embed="rId2"/>
                          <a:stretch>
                            <a:fillRect l="-100649" t="-330702" r="-300325" b="-2412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Same, but stable at DC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1050" marR="71050" marT="35525" marB="35525" anchor="ctr">
                        <a:blipFill>
                          <a:blip r:embed="rId2"/>
                          <a:stretch>
                            <a:fillRect l="-300325" t="-330702" r="-100649" b="-2412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Same, but limited gain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1588098435"/>
                      </a:ext>
                    </a:extLst>
                  </a:tr>
                  <a:tr h="9756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/>
                            <a:t>Frequency response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1050" marR="71050" marT="35525" marB="35525" anchor="ctr">
                        <a:blipFill>
                          <a:blip r:embed="rId2"/>
                          <a:stretch>
                            <a:fillRect l="-100649" t="-306875" r="-300325" b="-7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1050" marR="71050" marT="35525" marB="35525" anchor="ctr">
                        <a:blipFill>
                          <a:blip r:embed="rId2"/>
                          <a:stretch>
                            <a:fillRect l="-201303" t="-306875" r="-201303" b="-7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1050" marR="71050" marT="35525" marB="35525" anchor="ctr">
                        <a:blipFill>
                          <a:blip r:embed="rId2"/>
                          <a:stretch>
                            <a:fillRect l="-300325" t="-306875" r="-100649" b="-7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1050" marR="71050" marT="35525" marB="35525" anchor="ctr">
                        <a:blipFill>
                          <a:blip r:embed="rId2"/>
                          <a:stretch>
                            <a:fillRect l="-400325" t="-306875" r="-649" b="-7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9667245"/>
                      </a:ext>
                    </a:extLst>
                  </a:tr>
                  <a:tr h="6668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 dirty="0"/>
                            <a:t>Stability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Drifts, saturates at DC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Stable at DC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Very noisy, unstable at HF</a:t>
                          </a:r>
                        </a:p>
                      </a:txBody>
                      <a:tcPr marL="71050" marR="71050" marT="35525" marB="3552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Stable, noise-limited</a:t>
                          </a:r>
                        </a:p>
                      </a:txBody>
                      <a:tcPr marL="71050" marR="71050" marT="35525" marB="35525" anchor="ctr"/>
                    </a:tc>
                    <a:extLst>
                      <a:ext uri="{0D108BD9-81ED-4DB2-BD59-A6C34878D82A}">
                        <a16:rowId xmlns:a16="http://schemas.microsoft.com/office/drawing/2014/main" val="30815212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55538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919046" y="971970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407773" y="1925601"/>
            <a:ext cx="10948086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aim of this session is to emphasize the importance of Operational Amplifiers (Op-Amps) and to understand the fundamental principles of linear applications of Op-Amps. The key applications discussed include:</a:t>
            </a:r>
          </a:p>
          <a:p>
            <a:pPr marL="492125" algn="just">
              <a:lnSpc>
                <a:spcPct val="150000"/>
              </a:lnSpc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- Adder: An Op-Amp circuit that sums multiple input signals.</a:t>
            </a:r>
          </a:p>
          <a:p>
            <a:pPr marL="492125" algn="just">
              <a:lnSpc>
                <a:spcPct val="150000"/>
              </a:lnSpc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- Subtractor: An Op-Amp circuit that subtracts one input signal from another.</a:t>
            </a:r>
          </a:p>
          <a:p>
            <a:pPr marL="492125" algn="just">
              <a:lnSpc>
                <a:spcPct val="150000"/>
              </a:lnSpc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- Integrator: An Op-Amp circuit that performs mathematical integration of the input signal, producing an output that is proportional to the integral of the input signal.</a:t>
            </a:r>
          </a:p>
          <a:p>
            <a:pPr marL="492125" algn="just">
              <a:lnSpc>
                <a:spcPct val="150000"/>
              </a:lnSpc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- Differentiator: An Op-Amp circuit that performs mathematical differentiation of the input signal, producing an output that is proportional to the rate of change of the input signal.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session aims to provide a comprehensive understanding of how these linear applications of Op-Amps function and their significance in various electronic circuits.</a:t>
            </a:r>
            <a:endParaRPr lang="en-GB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2707336" y="26537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 - 1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pic>
        <p:nvPicPr>
          <p:cNvPr id="4" name="Picture 3" descr="A diagram of a circuit&#10;&#10;Description automatically generated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"/>
          <a:stretch>
            <a:fillRect/>
          </a:stretch>
        </p:blipFill>
        <p:spPr>
          <a:xfrm>
            <a:off x="5257800" y="852351"/>
            <a:ext cx="6856710" cy="3132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5177" y="1047449"/>
            <a:ext cx="3944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Problem: </a:t>
            </a:r>
            <a:r>
              <a:rPr lang="en-IN" sz="1800" dirty="0">
                <a:effectLst/>
                <a:latin typeface="Times"/>
              </a:rPr>
              <a:t>Determine the output voltage. 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87" y="4258662"/>
            <a:ext cx="7772400" cy="576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5177" y="4392014"/>
            <a:ext cx="1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Solution:</a:t>
            </a:r>
            <a:r>
              <a:rPr lang="en-IN" sz="1800" dirty="0">
                <a:effectLst/>
                <a:latin typeface="Times"/>
              </a:rPr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2707336" y="26537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 - II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95177" y="1047449"/>
            <a:ext cx="51377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Problem: </a:t>
            </a:r>
            <a:r>
              <a:rPr lang="en-IN" sz="1800" dirty="0">
                <a:effectLst/>
                <a:latin typeface="Times"/>
              </a:rPr>
              <a:t>Determine the output voltage for the summing amplifier.</a:t>
            </a:r>
            <a:endParaRPr lang="en-IN" dirty="0"/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95177" y="4392014"/>
            <a:ext cx="1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Solution:</a:t>
            </a:r>
            <a:r>
              <a:rPr lang="en-IN" sz="1800" dirty="0">
                <a:effectLst/>
                <a:latin typeface="Times"/>
              </a:rPr>
              <a:t> </a:t>
            </a:r>
            <a:endParaRPr lang="en-IN" dirty="0"/>
          </a:p>
        </p:txBody>
      </p:sp>
      <p:pic>
        <p:nvPicPr>
          <p:cNvPr id="5" name="Picture 4" descr="A diagram of a circui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002" y="774407"/>
            <a:ext cx="6823609" cy="3333454"/>
          </a:xfrm>
          <a:prstGeom prst="rect">
            <a:avLst/>
          </a:prstGeom>
        </p:spPr>
      </p:pic>
      <p:pic>
        <p:nvPicPr>
          <p:cNvPr id="8" name="Picture 7" descr="A math equations on a white background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87" y="4107861"/>
            <a:ext cx="7772400" cy="11642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ircui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00" y="1046195"/>
            <a:ext cx="5539053" cy="4821027"/>
          </a:xfrm>
          <a:prstGeom prst="rect">
            <a:avLst/>
          </a:prstGeom>
        </p:spPr>
      </p:pic>
      <p:sp>
        <p:nvSpPr>
          <p:cNvPr id="23" name="Rounded Rectangle 17"/>
          <p:cNvSpPr/>
          <p:nvPr/>
        </p:nvSpPr>
        <p:spPr>
          <a:xfrm>
            <a:off x="2707336" y="26537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 - III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08982" y="676864"/>
            <a:ext cx="1251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Problem: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08982" y="2437884"/>
            <a:ext cx="1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Solution:</a:t>
            </a:r>
            <a:r>
              <a:rPr lang="en-IN" sz="1800" dirty="0">
                <a:effectLst/>
                <a:latin typeface="Times"/>
              </a:rPr>
              <a:t> </a:t>
            </a:r>
            <a:endParaRPr lang="en-IN" dirty="0"/>
          </a:p>
        </p:txBody>
      </p:sp>
      <p:pic>
        <p:nvPicPr>
          <p:cNvPr id="9" name="Picture 8" descr="A white paper with black text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82" y="1046196"/>
            <a:ext cx="7772400" cy="1405420"/>
          </a:xfrm>
          <a:prstGeom prst="rect">
            <a:avLst/>
          </a:prstGeom>
        </p:spPr>
      </p:pic>
      <p:pic>
        <p:nvPicPr>
          <p:cNvPr id="12" name="Picture 11" descr="A close-up of a sign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4" y="2788347"/>
            <a:ext cx="6428536" cy="1132350"/>
          </a:xfrm>
          <a:prstGeom prst="rect">
            <a:avLst/>
          </a:prstGeom>
        </p:spPr>
      </p:pic>
      <p:pic>
        <p:nvPicPr>
          <p:cNvPr id="14" name="Picture 13" descr="A math equations on a white background&#10;&#10;Description automatically generated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82" y="3915486"/>
            <a:ext cx="6238160" cy="1196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2707336" y="26537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 - III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640782" y="1371084"/>
            <a:ext cx="1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Solution:</a:t>
            </a:r>
            <a:r>
              <a:rPr lang="en-IN" sz="1800" dirty="0">
                <a:effectLst/>
                <a:latin typeface="Times"/>
              </a:rPr>
              <a:t> </a:t>
            </a:r>
            <a:endParaRPr lang="en-IN" dirty="0"/>
          </a:p>
        </p:txBody>
      </p:sp>
      <p:pic>
        <p:nvPicPr>
          <p:cNvPr id="5" name="Picture 4" descr="A text on a piece of paper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111" y="2188286"/>
            <a:ext cx="7772400" cy="20071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ircui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051" y="723358"/>
            <a:ext cx="7772400" cy="2992191"/>
          </a:xfrm>
          <a:prstGeom prst="rect">
            <a:avLst/>
          </a:prstGeom>
        </p:spPr>
      </p:pic>
      <p:sp>
        <p:nvSpPr>
          <p:cNvPr id="23" name="Rounded Rectangle 17"/>
          <p:cNvSpPr/>
          <p:nvPr/>
        </p:nvSpPr>
        <p:spPr>
          <a:xfrm>
            <a:off x="2707336" y="26537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 - IV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08982" y="769852"/>
            <a:ext cx="6982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Problem: </a:t>
            </a:r>
            <a:r>
              <a:rPr lang="en-IN" sz="1800" dirty="0">
                <a:effectLst/>
                <a:latin typeface="Times"/>
              </a:rPr>
              <a:t>Determine the output voltage of the ideal op-amp differentiator in Figure for the triangular-wave input shown.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982" y="3530883"/>
            <a:ext cx="1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Solution:</a:t>
            </a:r>
            <a:r>
              <a:rPr lang="en-IN" sz="1800" dirty="0">
                <a:effectLst/>
                <a:latin typeface="Times"/>
              </a:rPr>
              <a:t> </a:t>
            </a:r>
            <a:endParaRPr lang="en-IN" dirty="0"/>
          </a:p>
        </p:txBody>
      </p:sp>
      <p:pic>
        <p:nvPicPr>
          <p:cNvPr id="8" name="Picture 7" descr="A black text on a white background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82" y="3991773"/>
            <a:ext cx="7772400" cy="15910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2707336" y="26537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 - IV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08982" y="700358"/>
            <a:ext cx="1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"/>
              </a:rPr>
              <a:t>Solution:</a:t>
            </a:r>
            <a:r>
              <a:rPr lang="en-IN" sz="1800" dirty="0">
                <a:effectLst/>
                <a:latin typeface="Times"/>
              </a:rPr>
              <a:t> </a:t>
            </a:r>
            <a:endParaRPr lang="en-IN" dirty="0"/>
          </a:p>
        </p:txBody>
      </p:sp>
      <p:pic>
        <p:nvPicPr>
          <p:cNvPr id="4" name="Picture 3" descr="A math equations and formulas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82" y="1120490"/>
            <a:ext cx="7068118" cy="2593623"/>
          </a:xfrm>
          <a:prstGeom prst="rect">
            <a:avLst/>
          </a:prstGeom>
        </p:spPr>
      </p:pic>
      <p:pic>
        <p:nvPicPr>
          <p:cNvPr id="9" name="Picture 8" descr="A diagram of a hous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1120490"/>
            <a:ext cx="49149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dirty="0"/>
              <a:t>What is the primary function of an Operational Amplifier (Op-Amp)?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To amplify voltage signals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To store energy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 To convert AC to DC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 To act as a power supply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26828" y="37475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GB" dirty="0"/>
              <a:t>In an Op-Amp Adder circuit, the output voltage is: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009895" y="4486010"/>
            <a:ext cx="6845632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>
                <a:solidFill>
                  <a:schemeClr val="bg1"/>
                </a:solidFill>
              </a:rPr>
              <a:t>The difference of input voltages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>
                <a:solidFill>
                  <a:schemeClr val="bg1"/>
                </a:solidFill>
              </a:rPr>
              <a:t>The sum of input voltages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>
                <a:solidFill>
                  <a:schemeClr val="bg1"/>
                </a:solidFill>
              </a:rPr>
              <a:t>The product of input voltages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>
                <a:solidFill>
                  <a:schemeClr val="bg1"/>
                </a:solidFill>
              </a:rPr>
              <a:t>The quotient of input voltages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/>
              <a:t>3.	The output of a Differentiator circuit is proportional to: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442464" y="1905217"/>
            <a:ext cx="5069172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</a:rPr>
              <a:t>The sum of the input signal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</a:rPr>
              <a:t>The integral of the input signal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</a:rPr>
              <a:t>The rate of change of the input signal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</a:rPr>
              <a:t>The difference between two input signals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09895" y="371852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/>
              <a:t>4.	Which component is typically used in the feedback loop of an Op-Amp Integrator circuit?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162295" y="4530587"/>
            <a:ext cx="5349341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Resistor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Capacitor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Inductor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Diode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b</a:t>
            </a: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ANSWERS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930" y="1967920"/>
            <a:ext cx="9694506" cy="336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Explain how an adder circuit operational amplifier works.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Explain Op-Amp integrator circuit setup and operation.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What are the main circuit configuration and output differences between an Op-Amp subtractor and an adder?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How does an operational amplifier-based differentiator circuit work? What does the input signal change rate mean here?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Explain how capacitors and resistors affect integrator and differentiator Op-Amp feedback loops. How do they effect circuit output and performance?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Op-Amps and Linear Integrated Circuit; 4th Ed., </a:t>
            </a:r>
            <a:r>
              <a:rPr lang="en-GB" dirty="0" err="1"/>
              <a:t>Gayakwad</a:t>
            </a:r>
            <a:r>
              <a:rPr lang="en-GB" dirty="0"/>
              <a:t>, Ramakant A.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374151"/>
                </a:solidFill>
                <a:effectLst/>
                <a:latin typeface="Söhne"/>
                <a:hlinkClick r:id="rId2"/>
              </a:rPr>
              <a:t>https://electronicsforyou.in/introduction-to-op-amp</a:t>
            </a:r>
            <a:endParaRPr lang="en-IN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IN" b="0" i="0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https://www.youtube.com/watch?v=7B_aMPIIKRI</a:t>
            </a:r>
            <a:endParaRPr lang="en-IN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endParaRPr lang="en-IN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/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ANALOG ELECTRONIC CIRCUIT DESIGN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825</TotalTime>
  <Words>1467</Words>
  <Application>Microsoft Office PowerPoint</Application>
  <PresentationFormat>Widescreen</PresentationFormat>
  <Paragraphs>248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BioRhyme ExtraBold</vt:lpstr>
      <vt:lpstr>Calibri</vt:lpstr>
      <vt:lpstr>Cambria</vt:lpstr>
      <vt:lpstr>Gill Sans MT</vt:lpstr>
      <vt:lpstr>Poppins</vt:lpstr>
      <vt:lpstr>Söhne</vt:lpstr>
      <vt:lpstr>Symbol</vt:lpstr>
      <vt:lpstr>Times</vt:lpstr>
      <vt:lpstr>Wingdings</vt:lpstr>
      <vt:lpstr>Gallery</vt:lpstr>
      <vt:lpstr>PowerPoint Presentation</vt:lpstr>
      <vt:lpstr>Session Content</vt:lpstr>
      <vt:lpstr>PowerPoint Presentation</vt:lpstr>
      <vt:lpstr>Introduction</vt:lpstr>
      <vt:lpstr>Linear Applications of op-amp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MEMS</dc:title>
  <dc:creator>வெ. விவேகானந்தன்</dc:creator>
  <cp:lastModifiedBy>syam sundar pillalamarri</cp:lastModifiedBy>
  <cp:revision>407</cp:revision>
  <dcterms:created xsi:type="dcterms:W3CDTF">2023-05-02T05:06:00Z</dcterms:created>
  <dcterms:modified xsi:type="dcterms:W3CDTF">2025-09-15T14:06:33Z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90E4A2187AED4A278F149CDD2AD430C2_13</vt:lpwstr>
  </property>
  <property fmtid="{D5CDD505-2E9C-101B-9397-08002B2CF9AE}" pid="3" name="KSOProductBuildVer">
    <vt:lpwstr>1033-12.2.0.22222</vt:lpwstr>
  </property>
</Properties>
</file>