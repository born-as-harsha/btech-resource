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8"/>
  </p:handoutMasterIdLst>
  <p:sldIdLst>
    <p:sldId id="271" r:id="rId3"/>
    <p:sldId id="300" r:id="rId5"/>
    <p:sldId id="288" r:id="rId6"/>
    <p:sldId id="258" r:id="rId7"/>
    <p:sldId id="316" r:id="rId8"/>
    <p:sldId id="314" r:id="rId9"/>
    <p:sldId id="313" r:id="rId10"/>
    <p:sldId id="310" r:id="rId11"/>
    <p:sldId id="301" r:id="rId12"/>
    <p:sldId id="311" r:id="rId13"/>
    <p:sldId id="315" r:id="rId14"/>
    <p:sldId id="302" r:id="rId15"/>
    <p:sldId id="30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fld>
            <a:endParaRPr lang="en-IN"/>
          </a:p>
        </p:txBody>
      </p:sp>
    </p:spTree>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fld>
            <a:endParaRPr lang="en-IN"/>
          </a:p>
        </p:txBody>
      </p:sp>
    </p:spTree>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14">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14">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0.emf"/></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em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1">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4229226" y="2820599"/>
            <a:ext cx="7948938" cy="236728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Analog electronic Circuit Design</a:t>
            </a:r>
            <a:endParaRPr lang="en-US" sz="3200" b="1" cap="all" dirty="0">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cs typeface="Poppins" panose="00000500000000000000" pitchFamily="2" charset="0"/>
                <a:sym typeface="BioRhyme ExtraBold"/>
              </a:rPr>
              <a:t>24ec2104</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3200" b="1" cap="all" dirty="0">
                <a:solidFill>
                  <a:srgbClr val="C00000"/>
                </a:solidFill>
                <a:effectLst/>
                <a:cs typeface="Poppins" panose="00000500000000000000" pitchFamily="2" charset="0"/>
              </a:rPr>
              <a:t>Open loop Configurations</a:t>
            </a:r>
            <a:endParaRPr lang="en-US" sz="3200" b="1" dirty="0">
              <a:solidFill>
                <a:srgbClr val="C00000"/>
              </a:solidFill>
              <a:effectLst/>
              <a:cs typeface="Poppins" panose="00000500000000000000" pitchFamily="2" charset="0"/>
            </a:endParaRPr>
          </a:p>
        </p:txBody>
      </p:sp>
      <p:sp>
        <p:nvSpPr>
          <p:cNvPr id="19" name="Rectangle: Rounded Corners 18"/>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ECE</a:t>
            </a:r>
            <a:endParaRPr lang="en-US" sz="3600" dirty="0">
              <a:solidFill>
                <a:srgbClr val="C00000"/>
              </a:solidFill>
              <a:cs typeface="Poppins" pitchFamily="2" charset="77"/>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AIM OF THE SESSION</a:t>
            </a:r>
            <a:endParaRPr lang="en-US" sz="2000" dirty="0"/>
          </a:p>
        </p:txBody>
      </p:sp>
      <p:sp>
        <p:nvSpPr>
          <p:cNvPr id="5" name="TextBox 4"/>
          <p:cNvSpPr txBox="1"/>
          <p:nvPr/>
        </p:nvSpPr>
        <p:spPr>
          <a:xfrm>
            <a:off x="885748" y="637745"/>
            <a:ext cx="10731286" cy="466410"/>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GB" dirty="0"/>
              <a:t>This session aims to discuss the open loop configurations of the op-amp.</a:t>
            </a:r>
            <a:endParaRPr lang="en-US" sz="1600" b="0" i="0" dirty="0">
              <a:effectLst/>
              <a:latin typeface="Poppins"/>
              <a:cs typeface="Poppins"/>
            </a:endParaRPr>
          </a:p>
        </p:txBody>
      </p:sp>
      <p:sp>
        <p:nvSpPr>
          <p:cNvPr id="7" name="Rounded Rectangle 17"/>
          <p:cNvSpPr/>
          <p:nvPr/>
        </p:nvSpPr>
        <p:spPr>
          <a:xfrm>
            <a:off x="4053596" y="1630041"/>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INSTRUCTIONAL OBJECTIVES</a:t>
            </a:r>
            <a:endParaRPr lang="en-US" sz="2000" dirty="0"/>
          </a:p>
        </p:txBody>
      </p:sp>
      <p:sp>
        <p:nvSpPr>
          <p:cNvPr id="9" name="TextBox 8"/>
          <p:cNvSpPr txBox="1"/>
          <p:nvPr/>
        </p:nvSpPr>
        <p:spPr>
          <a:xfrm>
            <a:off x="885749" y="2241406"/>
            <a:ext cx="10731286"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endParaRPr lang="en-US" sz="1600" b="0" i="0" dirty="0">
              <a:effectLst/>
              <a:latin typeface="Poppins"/>
              <a:cs typeface="Poppins"/>
            </a:endParaRPr>
          </a:p>
          <a:p>
            <a:pPr marL="800100" lvl="1" indent="-342900">
              <a:buFont typeface="+mj-lt"/>
              <a:buAutoNum type="arabicPeriod"/>
            </a:pPr>
            <a:r>
              <a:rPr lang="en-GB" sz="1600" dirty="0"/>
              <a:t>Understand the working of op-amp in open loop mode.</a:t>
            </a:r>
            <a:endParaRPr lang="en-GB" sz="1600" dirty="0"/>
          </a:p>
          <a:p>
            <a:pPr marL="800100" lvl="1" indent="-342900">
              <a:buFont typeface="+mj-lt"/>
              <a:buAutoNum type="arabicPeriod"/>
            </a:pPr>
            <a:r>
              <a:rPr lang="en-GB" sz="1600" dirty="0"/>
              <a:t>Discuss the working of op-amp in Differential mode .</a:t>
            </a:r>
            <a:endParaRPr lang="en-GB" sz="1600" dirty="0"/>
          </a:p>
          <a:p>
            <a:pPr marL="800100" lvl="1" indent="-342900">
              <a:buFont typeface="+mj-lt"/>
              <a:buAutoNum type="arabicPeriod"/>
            </a:pPr>
            <a:r>
              <a:rPr lang="en-GB" sz="1600" dirty="0"/>
              <a:t>Discuss the significance of inverting and non-inverting amplifier.</a:t>
            </a:r>
            <a:endParaRPr lang="en-GB" sz="1600" dirty="0"/>
          </a:p>
        </p:txBody>
      </p:sp>
      <p:pic>
        <p:nvPicPr>
          <p:cNvPr id="11" name="Graphic 10" descr="Bullseye outline"/>
          <p:cNvPicPr>
            <a:picLocks noChangeAspect="1"/>
          </p:cNvPicPr>
          <p:nvPr/>
        </p:nvPicPr>
        <p:blipFill>
          <a:blip r:embed="rId1"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0" y="2445925"/>
            <a:ext cx="914400" cy="914400"/>
          </a:xfrm>
          <a:prstGeom prst="rect">
            <a:avLst/>
          </a:prstGeom>
        </p:spPr>
      </p:pic>
      <p:sp>
        <p:nvSpPr>
          <p:cNvPr id="29" name="Rounded Rectangle 17"/>
          <p:cNvSpPr/>
          <p:nvPr/>
        </p:nvSpPr>
        <p:spPr>
          <a:xfrm>
            <a:off x="4315974" y="3969959"/>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endParaRPr lang="en-US" sz="2400" dirty="0"/>
          </a:p>
        </p:txBody>
      </p:sp>
      <p:pic>
        <p:nvPicPr>
          <p:cNvPr id="31" name="Graphic 30" descr="Idea outline"/>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652" y="4846140"/>
            <a:ext cx="914400" cy="914400"/>
          </a:xfrm>
          <a:prstGeom prst="rect">
            <a:avLst/>
          </a:prstGeom>
        </p:spPr>
      </p:pic>
      <p:sp>
        <p:nvSpPr>
          <p:cNvPr id="37" name="TextBox 36"/>
          <p:cNvSpPr txBox="1"/>
          <p:nvPr/>
        </p:nvSpPr>
        <p:spPr>
          <a:xfrm>
            <a:off x="914400" y="4518510"/>
            <a:ext cx="10702634"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endParaRPr lang="en-US" sz="1600" b="0" i="0" dirty="0">
              <a:effectLst/>
              <a:latin typeface="Arial" panose="020B0604020202020204"/>
              <a:cs typeface="Arial" panose="020B0604020202020204"/>
            </a:endParaRPr>
          </a:p>
          <a:p>
            <a:pPr marL="800100" lvl="1" indent="-342900">
              <a:buFont typeface="+mj-lt"/>
              <a:buAutoNum type="arabicPeriod"/>
            </a:pPr>
            <a:r>
              <a:rPr lang="en-GB" sz="1600" dirty="0"/>
              <a:t>Understand the working of op-amp in open loop configuration.</a:t>
            </a:r>
            <a:endParaRPr lang="en-GB" sz="1600" dirty="0"/>
          </a:p>
          <a:p>
            <a:pPr marL="800100" lvl="1" indent="-342900">
              <a:buFont typeface="+mj-lt"/>
              <a:buAutoNum type="arabicPeriod"/>
            </a:pPr>
            <a:r>
              <a:rPr lang="en-GB" sz="1600" dirty="0"/>
              <a:t>Differentiate between inverting and non-inverting amplifier modes.</a:t>
            </a:r>
            <a:endParaRPr lang="en-GB"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152440" y="895789"/>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Open Loop Configurations</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7" name="TextBox 6"/>
          <p:cNvSpPr txBox="1"/>
          <p:nvPr/>
        </p:nvSpPr>
        <p:spPr>
          <a:xfrm>
            <a:off x="1269423" y="1956092"/>
            <a:ext cx="9653154" cy="3783023"/>
          </a:xfrm>
          <a:prstGeom prst="rect">
            <a:avLst/>
          </a:prstGeom>
          <a:noFill/>
        </p:spPr>
        <p:txBody>
          <a:bodyPr wrap="square">
            <a:spAutoFit/>
          </a:bodyPr>
          <a:lstStyle/>
          <a:p>
            <a:pPr>
              <a:lnSpc>
                <a:spcPct val="150000"/>
              </a:lnSpc>
            </a:pPr>
            <a:r>
              <a:rPr lang="en-US" sz="1800" dirty="0"/>
              <a:t>In the case of amplifiers, the term open loop indicates that there is no connection, either direct or via another network, exists between the output and input terminals.  When connected in an open-loop configuration, the Op-Amp simply functions as a high-gain amplifier. </a:t>
            </a:r>
            <a:endParaRPr lang="en-US" sz="1800" dirty="0"/>
          </a:p>
          <a:p>
            <a:pPr>
              <a:lnSpc>
                <a:spcPct val="150000"/>
              </a:lnSpc>
            </a:pPr>
            <a:r>
              <a:rPr lang="en-US" sz="1800" dirty="0"/>
              <a:t>There are three open-loop Op-Amp configurations. </a:t>
            </a:r>
            <a:endParaRPr lang="en-US" sz="1800" dirty="0"/>
          </a:p>
          <a:p>
            <a:pPr>
              <a:lnSpc>
                <a:spcPct val="150000"/>
              </a:lnSpc>
            </a:pPr>
            <a:r>
              <a:rPr lang="en-US" sz="1800" dirty="0"/>
              <a:t>       1. Differential Amplifier</a:t>
            </a:r>
            <a:endParaRPr lang="en-US" sz="1800" dirty="0"/>
          </a:p>
          <a:p>
            <a:pPr>
              <a:lnSpc>
                <a:spcPct val="150000"/>
              </a:lnSpc>
            </a:pPr>
            <a:r>
              <a:rPr lang="en-US" sz="1800" dirty="0"/>
              <a:t>       2. Inverting Amplifier</a:t>
            </a:r>
            <a:endParaRPr lang="en-US" sz="1800" dirty="0"/>
          </a:p>
          <a:p>
            <a:pPr>
              <a:lnSpc>
                <a:spcPct val="150000"/>
              </a:lnSpc>
            </a:pPr>
            <a:r>
              <a:rPr lang="en-US" sz="1800" dirty="0"/>
              <a:t>       3. Non-Inverting Amplifier</a:t>
            </a:r>
            <a:endParaRPr lang="en-US" sz="1800" dirty="0"/>
          </a:p>
          <a:p>
            <a:pPr>
              <a:lnSpc>
                <a:spcPct val="150000"/>
              </a:lnSpc>
            </a:pPr>
            <a:r>
              <a:rPr lang="en-US" sz="1800" dirty="0"/>
              <a:t>These configurations are classed according to the inputs used and the terminal to which the input is applied when a single input is used.</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2862488" y="85780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Differential Amplifier</a:t>
            </a:r>
            <a:endParaRPr lang="en-US" sz="2400" dirty="0"/>
          </a:p>
        </p:txBody>
      </p:sp>
      <p:sp>
        <p:nvSpPr>
          <p:cNvPr id="8" name="TextBox 7"/>
          <p:cNvSpPr txBox="1"/>
          <p:nvPr/>
        </p:nvSpPr>
        <p:spPr>
          <a:xfrm>
            <a:off x="267059" y="1858688"/>
            <a:ext cx="7409438" cy="4198522"/>
          </a:xfrm>
          <a:prstGeom prst="rect">
            <a:avLst/>
          </a:prstGeom>
          <a:noFill/>
        </p:spPr>
        <p:txBody>
          <a:bodyPr wrap="square">
            <a:spAutoFit/>
          </a:bodyPr>
          <a:lstStyle/>
          <a:p>
            <a:pPr>
              <a:lnSpc>
                <a:spcPct val="150000"/>
              </a:lnSpc>
            </a:pPr>
            <a:r>
              <a:rPr lang="en-US" dirty="0"/>
              <a:t>Input signals V</a:t>
            </a:r>
            <a:r>
              <a:rPr lang="en-US" baseline="-25000" dirty="0"/>
              <a:t>in1</a:t>
            </a:r>
            <a:r>
              <a:rPr lang="en-US" dirty="0"/>
              <a:t> and V</a:t>
            </a:r>
            <a:r>
              <a:rPr lang="en-US" baseline="-25000" dirty="0"/>
              <a:t>in2</a:t>
            </a:r>
            <a:r>
              <a:rPr lang="en-US" dirty="0"/>
              <a:t> are applied to the positive and negative input terminals .  Since the Op-Amp amplifies the difference between the two input signals , this configuration is called the Differential Amplifier.</a:t>
            </a:r>
            <a:endParaRPr lang="en-US" dirty="0"/>
          </a:p>
          <a:p>
            <a:pPr>
              <a:lnSpc>
                <a:spcPct val="150000"/>
              </a:lnSpc>
            </a:pPr>
            <a:r>
              <a:rPr lang="en-US" dirty="0"/>
              <a:t>The Op-Amp is a versatile device because it amplifies both ac and dc input signals . This means that V</a:t>
            </a:r>
            <a:r>
              <a:rPr lang="en-US" baseline="-25000" dirty="0"/>
              <a:t>in1</a:t>
            </a:r>
            <a:r>
              <a:rPr lang="en-US" dirty="0"/>
              <a:t> and V</a:t>
            </a:r>
            <a:r>
              <a:rPr lang="en-US" baseline="-25000" dirty="0"/>
              <a:t>in2</a:t>
            </a:r>
            <a:r>
              <a:rPr lang="en-US" dirty="0"/>
              <a:t> could be either ac or dc voltages . The source resistances R</a:t>
            </a:r>
            <a:r>
              <a:rPr lang="en-US" baseline="-25000" dirty="0"/>
              <a:t>in1</a:t>
            </a:r>
            <a:r>
              <a:rPr lang="en-US" dirty="0"/>
              <a:t> and R</a:t>
            </a:r>
            <a:r>
              <a:rPr lang="en-US" baseline="-25000" dirty="0"/>
              <a:t>in2</a:t>
            </a:r>
            <a:r>
              <a:rPr lang="en-US" dirty="0"/>
              <a:t> are normally negligible compared to the input resistance R</a:t>
            </a:r>
            <a:r>
              <a:rPr lang="en-US" baseline="-25000" dirty="0"/>
              <a:t>i</a:t>
            </a:r>
            <a:r>
              <a:rPr lang="en-US" dirty="0"/>
              <a:t> . Therefore the voltage drops across these resistors can be assumed to be zero , which then implies that V</a:t>
            </a:r>
            <a:r>
              <a:rPr lang="en-US" baseline="-25000" dirty="0"/>
              <a:t>1</a:t>
            </a:r>
            <a:r>
              <a:rPr lang="en-US" dirty="0"/>
              <a:t>=V</a:t>
            </a:r>
            <a:r>
              <a:rPr lang="en-US" baseline="-25000" dirty="0"/>
              <a:t>in1</a:t>
            </a:r>
            <a:r>
              <a:rPr lang="en-US" dirty="0"/>
              <a:t> and V</a:t>
            </a:r>
            <a:r>
              <a:rPr lang="en-US" baseline="-25000" dirty="0"/>
              <a:t>2</a:t>
            </a:r>
            <a:r>
              <a:rPr lang="en-US" dirty="0"/>
              <a:t>=V</a:t>
            </a:r>
            <a:r>
              <a:rPr lang="en-US" baseline="-25000" dirty="0"/>
              <a:t>in2</a:t>
            </a:r>
            <a:r>
              <a:rPr lang="en-US" dirty="0"/>
              <a:t> . </a:t>
            </a:r>
            <a:endParaRPr lang="en-US" dirty="0"/>
          </a:p>
          <a:p>
            <a:pPr>
              <a:lnSpc>
                <a:spcPct val="150000"/>
              </a:lnSpc>
            </a:pPr>
            <a:r>
              <a:rPr lang="en-US" dirty="0"/>
              <a:t>Hence                               V</a:t>
            </a:r>
            <a:r>
              <a:rPr lang="en-US" baseline="-25000" dirty="0"/>
              <a:t>o</a:t>
            </a:r>
            <a:r>
              <a:rPr lang="en-US" dirty="0"/>
              <a:t>=A(V</a:t>
            </a:r>
            <a:r>
              <a:rPr lang="en-US" baseline="-25000" dirty="0"/>
              <a:t>in1</a:t>
            </a:r>
            <a:r>
              <a:rPr lang="en-US" dirty="0"/>
              <a:t>-V</a:t>
            </a:r>
            <a:r>
              <a:rPr lang="en-US" baseline="-25000" dirty="0"/>
              <a:t>in2</a:t>
            </a:r>
            <a:r>
              <a:rPr lang="en-US" dirty="0"/>
              <a:t>)</a:t>
            </a:r>
            <a:endParaRPr lang="en-US" dirty="0"/>
          </a:p>
          <a:p>
            <a:pPr>
              <a:lnSpc>
                <a:spcPct val="150000"/>
              </a:lnSpc>
            </a:pPr>
            <a:r>
              <a:rPr lang="en-US" dirty="0"/>
              <a:t>Gain A is commonly referred to as open-loop gain, in such configurations.</a:t>
            </a:r>
            <a:endParaRPr lang="en-US" dirty="0"/>
          </a:p>
        </p:txBody>
      </p:sp>
      <p:pic>
        <p:nvPicPr>
          <p:cNvPr id="10" name="Picture 9"/>
          <p:cNvPicPr>
            <a:picLocks noChangeAspect="1"/>
          </p:cNvPicPr>
          <p:nvPr/>
        </p:nvPicPr>
        <p:blipFill>
          <a:blip r:embed="rId1"/>
          <a:stretch>
            <a:fillRect/>
          </a:stretch>
        </p:blipFill>
        <p:spPr>
          <a:xfrm>
            <a:off x="7676497" y="2677595"/>
            <a:ext cx="4515504" cy="26540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033469" y="884861"/>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Inverting Amplifier</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7" name="Content Placeholder 2"/>
          <p:cNvSpPr>
            <a:spLocks noGrp="1"/>
          </p:cNvSpPr>
          <p:nvPr>
            <p:ph idx="1"/>
          </p:nvPr>
        </p:nvSpPr>
        <p:spPr>
          <a:xfrm>
            <a:off x="1382308" y="2051093"/>
            <a:ext cx="6625620" cy="3450613"/>
          </a:xfrm>
        </p:spPr>
        <p:txBody>
          <a:bodyPr>
            <a:normAutofit/>
          </a:bodyPr>
          <a:lstStyle/>
          <a:p>
            <a:pPr algn="just"/>
            <a:r>
              <a:rPr lang="en-US" sz="2000" dirty="0"/>
              <a:t>In the Inverting Amplifier only one input is applied and that is to the inverting input terminal.  The Non-Inverting input terminal is grounded. So V</a:t>
            </a:r>
            <a:r>
              <a:rPr lang="en-US" sz="2000" baseline="-25000" dirty="0"/>
              <a:t>1</a:t>
            </a:r>
            <a:r>
              <a:rPr lang="en-US" sz="2000" dirty="0"/>
              <a:t>=0 V and V</a:t>
            </a:r>
            <a:r>
              <a:rPr lang="en-US" sz="2000" baseline="-25000" dirty="0"/>
              <a:t>2</a:t>
            </a:r>
            <a:r>
              <a:rPr lang="en-US" sz="2000" dirty="0"/>
              <a:t>=V</a:t>
            </a:r>
            <a:r>
              <a:rPr lang="en-US" sz="2000" baseline="-25000" dirty="0"/>
              <a:t>in</a:t>
            </a:r>
            <a:r>
              <a:rPr lang="en-US" sz="2000" dirty="0"/>
              <a:t>.</a:t>
            </a:r>
            <a:endParaRPr lang="en-US" sz="2000" dirty="0"/>
          </a:p>
          <a:p>
            <a:pPr marL="0" indent="0">
              <a:buNone/>
            </a:pPr>
            <a:r>
              <a:rPr lang="en-US" sz="2000" dirty="0"/>
              <a:t>                              V</a:t>
            </a:r>
            <a:r>
              <a:rPr lang="en-US" sz="2000" baseline="-25000" dirty="0"/>
              <a:t>o</a:t>
            </a:r>
            <a:r>
              <a:rPr lang="en-US" sz="2000" dirty="0"/>
              <a:t>=-AV</a:t>
            </a:r>
            <a:r>
              <a:rPr lang="en-US" sz="2000" baseline="-25000" dirty="0"/>
              <a:t>in</a:t>
            </a:r>
            <a:endParaRPr lang="en-US" sz="2000" baseline="-25000" dirty="0"/>
          </a:p>
          <a:p>
            <a:r>
              <a:rPr lang="en-US" sz="2000" dirty="0"/>
              <a:t>The negative sign indicates that the output voltage is out of phase for the input by 180 degrees or is of opposite polarity.  In the Inverting Amplifier,  the input signal is amplified by gain A and is also inverted at the output. </a:t>
            </a:r>
            <a:endParaRPr lang="en-US" sz="2000" dirty="0"/>
          </a:p>
        </p:txBody>
      </p:sp>
      <p:pic>
        <p:nvPicPr>
          <p:cNvPr id="3" name="Picture 2"/>
          <p:cNvPicPr>
            <a:picLocks noChangeAspect="1"/>
          </p:cNvPicPr>
          <p:nvPr/>
        </p:nvPicPr>
        <p:blipFill>
          <a:blip r:embed="rId1"/>
          <a:stretch>
            <a:fillRect/>
          </a:stretch>
        </p:blipFill>
        <p:spPr>
          <a:xfrm>
            <a:off x="8007928" y="2454326"/>
            <a:ext cx="4171525" cy="304738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995352" y="95779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Non-Inverting Amplifier</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 name="Content Placeholder 2"/>
          <p:cNvSpPr>
            <a:spLocks noGrp="1"/>
          </p:cNvSpPr>
          <p:nvPr>
            <p:ph idx="1"/>
          </p:nvPr>
        </p:nvSpPr>
        <p:spPr>
          <a:xfrm>
            <a:off x="1451579" y="2015732"/>
            <a:ext cx="6016021" cy="3450613"/>
          </a:xfrm>
        </p:spPr>
        <p:txBody>
          <a:bodyPr>
            <a:normAutofit/>
          </a:bodyPr>
          <a:lstStyle/>
          <a:p>
            <a:r>
              <a:rPr lang="en-US" sz="2000" dirty="0"/>
              <a:t>In this configuration the input is applied to the </a:t>
            </a:r>
            <a:r>
              <a:rPr lang="en-US" dirty="0"/>
              <a:t>n</a:t>
            </a:r>
            <a:r>
              <a:rPr lang="en-US" sz="2000" dirty="0"/>
              <a:t>on-inverting input terminal and the inverting terminal is connected to the ground.  So that V</a:t>
            </a:r>
            <a:r>
              <a:rPr lang="en-US" sz="2000" baseline="-25000" dirty="0"/>
              <a:t>1</a:t>
            </a:r>
            <a:r>
              <a:rPr lang="en-US" sz="2000" dirty="0"/>
              <a:t>=V</a:t>
            </a:r>
            <a:r>
              <a:rPr lang="en-US" sz="2000" baseline="-25000" dirty="0"/>
              <a:t>in</a:t>
            </a:r>
            <a:r>
              <a:rPr lang="en-US" sz="2000" dirty="0"/>
              <a:t> and V</a:t>
            </a:r>
            <a:r>
              <a:rPr lang="en-US" sz="2000" baseline="-25000" dirty="0"/>
              <a:t>2</a:t>
            </a:r>
            <a:r>
              <a:rPr lang="en-US" sz="2000" dirty="0"/>
              <a:t>=0V</a:t>
            </a:r>
            <a:endParaRPr lang="en-US" sz="2000" dirty="0"/>
          </a:p>
          <a:p>
            <a:pPr marL="0" indent="0">
              <a:buNone/>
            </a:pPr>
            <a:r>
              <a:rPr lang="en-US" sz="2000" dirty="0"/>
              <a:t>                                    Vo=AV</a:t>
            </a:r>
            <a:r>
              <a:rPr lang="en-US" sz="2000" baseline="-25000" dirty="0"/>
              <a:t>in</a:t>
            </a:r>
            <a:endParaRPr lang="en-US" sz="2000" baseline="-25000" dirty="0"/>
          </a:p>
          <a:p>
            <a:r>
              <a:rPr lang="en-US" sz="2000" dirty="0"/>
              <a:t>This means that the output voltage is larger than the input voltage by gain A and is in phase with the input signal.</a:t>
            </a:r>
            <a:endParaRPr lang="en-US" sz="2000" dirty="0"/>
          </a:p>
          <a:p>
            <a:pPr marL="0" indent="0" algn="just">
              <a:buNone/>
            </a:pPr>
            <a:endParaRPr lang="en-IN" dirty="0"/>
          </a:p>
        </p:txBody>
      </p:sp>
      <p:pic>
        <p:nvPicPr>
          <p:cNvPr id="5" name="Picture 4"/>
          <p:cNvPicPr>
            <a:picLocks noChangeAspect="1"/>
          </p:cNvPicPr>
          <p:nvPr/>
        </p:nvPicPr>
        <p:blipFill>
          <a:blip r:embed="rId1"/>
          <a:stretch>
            <a:fillRect/>
          </a:stretch>
        </p:blipFill>
        <p:spPr>
          <a:xfrm>
            <a:off x="7467600" y="2604885"/>
            <a:ext cx="4702232" cy="274296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16" name="Rounded Rectangle 17"/>
          <p:cNvSpPr/>
          <p:nvPr/>
        </p:nvSpPr>
        <p:spPr>
          <a:xfrm>
            <a:off x="3152441" y="113876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2400" dirty="0"/>
              <a:t>Limitations of Open-Loop Configuration</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3" name="TextBox 2"/>
          <p:cNvSpPr txBox="1"/>
          <p:nvPr/>
        </p:nvSpPr>
        <p:spPr>
          <a:xfrm>
            <a:off x="1468582" y="2108721"/>
            <a:ext cx="9601200" cy="253652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t>Clipping occurs when the output attempts to exceed the saturation levels of op-amp.</a:t>
            </a:r>
            <a:endParaRPr lang="en-US" dirty="0"/>
          </a:p>
          <a:p>
            <a:pPr marL="285750" indent="-285750" algn="just">
              <a:lnSpc>
                <a:spcPct val="150000"/>
              </a:lnSpc>
              <a:buFont typeface="Arial" panose="020B0604020202020204" pitchFamily="34" charset="0"/>
              <a:buChar char="•"/>
            </a:pPr>
            <a:r>
              <a:rPr lang="en-US" dirty="0"/>
              <a:t>Open-loop gain is not a constant and varies with temperature and power supply.</a:t>
            </a:r>
            <a:endParaRPr lang="en-US" dirty="0"/>
          </a:p>
          <a:p>
            <a:pPr marL="285750" indent="-285750" algn="just">
              <a:lnSpc>
                <a:spcPct val="150000"/>
              </a:lnSpc>
              <a:buFont typeface="Arial" panose="020B0604020202020204" pitchFamily="34" charset="0"/>
              <a:buChar char="•"/>
            </a:pPr>
            <a:r>
              <a:rPr lang="en-US" dirty="0"/>
              <a:t>Bandwidth (band of frequencies for which gain remains constant) of open-loop op-amp is negligibly small.</a:t>
            </a:r>
            <a:endParaRPr lang="en-US" dirty="0"/>
          </a:p>
          <a:p>
            <a:pPr algn="just">
              <a:lnSpc>
                <a:spcPct val="150000"/>
              </a:lnSpc>
            </a:pPr>
            <a:r>
              <a:rPr lang="en-US" dirty="0"/>
              <a:t>Hence, open-loop configuration is not suitable for linear applications.</a:t>
            </a:r>
            <a:endParaRPr lang="en-US" dirty="0"/>
          </a:p>
          <a:p>
            <a:pPr algn="just">
              <a:lnSpc>
                <a:spcPct val="150000"/>
              </a:lnSpc>
            </a:pPr>
            <a:r>
              <a:rPr lang="en-US" dirty="0"/>
              <a:t>Op-Amps with negative feedback are used in linear applications.</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6"/>
                                        </p:tgtEl>
                                      </p:cBhvr>
                                    </p:animEffect>
                                    <p:animScale>
                                      <p:cBhvr>
                                        <p:cTn id="7" dur="250" autoRev="1"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ounded Rectangle 17"/>
          <p:cNvSpPr/>
          <p:nvPr/>
        </p:nvSpPr>
        <p:spPr>
          <a:xfrm>
            <a:off x="2995352" y="1101780"/>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a:t>
            </a:r>
            <a:endParaRPr lang="en-US" sz="2400"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493144" y="2001874"/>
                <a:ext cx="6528638" cy="4010995"/>
              </a:xfrm>
            </p:spPr>
            <p:txBody>
              <a:bodyPr>
                <a:normAutofit fontScale="85000" lnSpcReduction="10000"/>
              </a:bodyPr>
              <a:lstStyle/>
              <a:p>
                <a:pPr marL="0" indent="0" algn="just">
                  <a:buNone/>
                </a:pPr>
                <a:r>
                  <a:rPr lang="en-IN" sz="1800" dirty="0"/>
                  <a:t>Determine the output voltage in each of the following cases for the open-loop differential amplifier. </a:t>
                </a:r>
                <a:endParaRPr lang="en-IN" sz="1800" dirty="0"/>
              </a:p>
              <a:p>
                <a:pPr marL="0" indent="0" algn="just">
                  <a:buNone/>
                </a:pPr>
                <a:r>
                  <a:rPr lang="en-IN" sz="1800" dirty="0"/>
                  <a:t>a) V</a:t>
                </a:r>
                <a:r>
                  <a:rPr lang="en-IN" sz="1800" baseline="-25000" dirty="0"/>
                  <a:t>in1</a:t>
                </a:r>
                <a:r>
                  <a:rPr lang="en-IN" sz="1800" dirty="0"/>
                  <a:t>=5 µV dc, V</a:t>
                </a:r>
                <a:r>
                  <a:rPr lang="en-IN" sz="1800" baseline="-25000" dirty="0"/>
                  <a:t>in2</a:t>
                </a:r>
                <a:r>
                  <a:rPr lang="en-IN" sz="1800" dirty="0"/>
                  <a:t> = -7 µV dc</a:t>
                </a:r>
                <a:endParaRPr lang="en-IN" sz="1800" dirty="0"/>
              </a:p>
              <a:p>
                <a:pPr marL="0" indent="0" algn="just">
                  <a:buNone/>
                </a:pPr>
                <a:r>
                  <a:rPr lang="en-IN" sz="1800" dirty="0"/>
                  <a:t>b) V</a:t>
                </a:r>
                <a:r>
                  <a:rPr lang="en-IN" sz="1800" baseline="-25000" dirty="0"/>
                  <a:t>in1</a:t>
                </a:r>
                <a:r>
                  <a:rPr lang="en-IN" sz="1800" dirty="0"/>
                  <a:t> = 10mV rms, V</a:t>
                </a:r>
                <a:r>
                  <a:rPr lang="en-IN" sz="1800" baseline="-25000" dirty="0"/>
                  <a:t>in2</a:t>
                </a:r>
                <a:r>
                  <a:rPr lang="en-IN" sz="1800" dirty="0"/>
                  <a:t> = 20mV rms</a:t>
                </a:r>
                <a:endParaRPr lang="en-IN" sz="1800" dirty="0"/>
              </a:p>
              <a:p>
                <a:pPr marL="0" indent="0" algn="just">
                  <a:buNone/>
                </a:pPr>
                <a:r>
                  <a:rPr lang="en-IN" sz="1800" dirty="0"/>
                  <a:t>Given specifications are A = 200000, R</a:t>
                </a:r>
                <a:r>
                  <a:rPr lang="en-IN" sz="1800" baseline="-25000" dirty="0"/>
                  <a:t>i</a:t>
                </a:r>
                <a:r>
                  <a:rPr lang="en-IN" sz="1800" dirty="0"/>
                  <a:t>= 2M</a:t>
                </a:r>
                <a:r>
                  <a:rPr lang="el-GR" sz="1800" dirty="0"/>
                  <a:t>Ω</a:t>
                </a:r>
                <a:r>
                  <a:rPr lang="en-US" sz="1800" dirty="0"/>
                  <a:t>, </a:t>
                </a:r>
                <a:r>
                  <a:rPr lang="en-IN" sz="1800" dirty="0"/>
                  <a:t> R</a:t>
                </a:r>
                <a:r>
                  <a:rPr lang="en-IN" sz="1800" baseline="-25000" dirty="0"/>
                  <a:t>o</a:t>
                </a:r>
                <a:r>
                  <a:rPr lang="en-IN" sz="1800" dirty="0"/>
                  <a:t> = 75 </a:t>
                </a:r>
                <a:r>
                  <a:rPr lang="el-GR" sz="1800" dirty="0"/>
                  <a:t>Ω</a:t>
                </a:r>
                <a:r>
                  <a:rPr lang="en-IN" sz="1800" dirty="0"/>
                  <a:t>, +</a:t>
                </a:r>
                <a:r>
                  <a:rPr lang="en-IN" sz="1800" dirty="0" err="1"/>
                  <a:t>Vcc</a:t>
                </a:r>
                <a:r>
                  <a:rPr lang="en-IN" sz="1800" dirty="0"/>
                  <a:t>=15V,    -VEE= -15 V, and output voltage swing = ±14V.</a:t>
                </a:r>
                <a:endParaRPr lang="en-IN" sz="1800" dirty="0"/>
              </a:p>
              <a:p>
                <a:pPr marL="0" indent="0" algn="just">
                  <a:buNone/>
                </a:pPr>
                <a:r>
                  <a:rPr lang="en-IN" sz="1800" dirty="0"/>
                  <a:t>Sol: </a:t>
                </a:r>
                <a:endParaRPr lang="en-IN" sz="1800" dirty="0"/>
              </a:p>
              <a:p>
                <a:pPr marL="342900" indent="-342900" algn="just">
                  <a:buAutoNum type="alphaLcParenR"/>
                </a:pPr>
                <a:r>
                  <a:rPr lang="en-IN" sz="1800" dirty="0"/>
                  <a:t>V</a:t>
                </a:r>
                <a:r>
                  <a:rPr lang="en-IN" sz="1800" baseline="-25000" dirty="0"/>
                  <a:t>o</a:t>
                </a:r>
                <a:r>
                  <a:rPr lang="en-IN" sz="1800" dirty="0"/>
                  <a:t> =A(V</a:t>
                </a:r>
                <a:r>
                  <a:rPr lang="en-IN" sz="1800" baseline="-25000" dirty="0"/>
                  <a:t>in1</a:t>
                </a:r>
                <a:r>
                  <a:rPr lang="en-IN" sz="1800" dirty="0"/>
                  <a:t> – V</a:t>
                </a:r>
                <a:r>
                  <a:rPr lang="en-IN" sz="1800" baseline="-25000" dirty="0"/>
                  <a:t>in2</a:t>
                </a:r>
                <a:r>
                  <a:rPr lang="en-IN" sz="1800" dirty="0"/>
                  <a:t>) = 200000(5 x 10</a:t>
                </a:r>
                <a:r>
                  <a:rPr lang="en-IN" sz="1800" baseline="30000" dirty="0"/>
                  <a:t>-6</a:t>
                </a:r>
                <a:r>
                  <a:rPr lang="en-IN" sz="1800" dirty="0"/>
                  <a:t> +7 x 10</a:t>
                </a:r>
                <a:r>
                  <a:rPr lang="en-IN" sz="1800" baseline="30000" dirty="0"/>
                  <a:t>-6</a:t>
                </a:r>
                <a:r>
                  <a:rPr lang="en-IN" sz="1800" dirty="0"/>
                  <a:t>) =2.4 V dc</a:t>
                </a:r>
                <a:endParaRPr lang="en-IN" sz="1800" dirty="0"/>
              </a:p>
              <a:p>
                <a:pPr marL="342900" indent="-342900" algn="just">
                  <a:buAutoNum type="alphaLcParenR"/>
                </a:pPr>
                <a:r>
                  <a:rPr lang="en-IN" sz="1800" dirty="0"/>
                  <a:t>V</a:t>
                </a:r>
                <a:r>
                  <a:rPr lang="en-IN" sz="1800" baseline="-25000" dirty="0"/>
                  <a:t>o</a:t>
                </a:r>
                <a:r>
                  <a:rPr lang="en-IN" sz="1800" dirty="0"/>
                  <a:t> =A(V</a:t>
                </a:r>
                <a:r>
                  <a:rPr lang="en-IN" sz="1800" baseline="-25000" dirty="0"/>
                  <a:t>in1</a:t>
                </a:r>
                <a:r>
                  <a:rPr lang="en-IN" sz="1800" dirty="0"/>
                  <a:t> – V</a:t>
                </a:r>
                <a:r>
                  <a:rPr lang="en-IN" sz="1800" baseline="-25000" dirty="0"/>
                  <a:t>in2</a:t>
                </a:r>
                <a:r>
                  <a:rPr lang="en-IN" sz="1800" dirty="0"/>
                  <a:t>) = 200000(10 x 10</a:t>
                </a:r>
                <a:r>
                  <a:rPr lang="en-IN" sz="1800" baseline="30000" dirty="0"/>
                  <a:t>-3 </a:t>
                </a:r>
                <a:r>
                  <a:rPr lang="en-IN" sz="1800" dirty="0"/>
                  <a:t>- 20 x 10</a:t>
                </a:r>
                <a:r>
                  <a:rPr lang="en-IN" sz="1800" baseline="30000" dirty="0"/>
                  <a:t>-3</a:t>
                </a:r>
                <a:r>
                  <a:rPr lang="en-IN" sz="1800" dirty="0"/>
                  <a:t>) = -2000 V rms</a:t>
                </a:r>
                <a:endParaRPr lang="en-IN" sz="1800" dirty="0"/>
              </a:p>
              <a:p>
                <a:pPr marL="0" indent="0" algn="just">
                  <a:buNone/>
                </a:pPr>
                <a:r>
                  <a:rPr lang="en-IN" sz="1800" dirty="0"/>
                  <a:t>In the second case, the output saturates to ±14 V, which is not acceptable.</a:t>
                </a:r>
                <a:endParaRPr lang="en-IN" sz="1800" dirty="0"/>
              </a:p>
              <a:p>
                <a:pPr marL="0" indent="0" algn="just">
                  <a:buNone/>
                </a:pPr>
                <a:r>
                  <a:rPr lang="en-IN" sz="1800" dirty="0"/>
                  <a:t>Hint: </a:t>
                </a:r>
                <a:r>
                  <a:rPr lang="en-IN" sz="1800" dirty="0" err="1"/>
                  <a:t>Vrms</a:t>
                </a:r>
                <a:r>
                  <a:rPr lang="en-IN" sz="1800" dirty="0"/>
                  <a:t> = </a:t>
                </a:r>
                <a14:m>
                  <m:oMath xmlns:m="http://schemas.openxmlformats.org/officeDocument/2006/math">
                    <m:f>
                      <m:fPr>
                        <m:ctrlPr>
                          <a:rPr lang="en-IN" sz="1800" i="1" smtClean="0">
                            <a:latin typeface="Cambria Math" panose="02040503050406030204" pitchFamily="18" charset="0"/>
                          </a:rPr>
                        </m:ctrlPr>
                      </m:fPr>
                      <m:num>
                        <m:r>
                          <a:rPr lang="en-US" sz="1800" b="0" i="1" smtClean="0">
                            <a:latin typeface="Cambria Math" panose="02040503050406030204" pitchFamily="18" charset="0"/>
                          </a:rPr>
                          <m:t>1</m:t>
                        </m:r>
                      </m:num>
                      <m:den>
                        <m:rad>
                          <m:radPr>
                            <m:degHide m:val="on"/>
                            <m:ctrlPr>
                              <a:rPr lang="en-IN" sz="1800" i="1" smtClean="0">
                                <a:latin typeface="Cambria Math" panose="02040503050406030204" pitchFamily="18" charset="0"/>
                              </a:rPr>
                            </m:ctrlPr>
                          </m:radPr>
                          <m:deg/>
                          <m:e>
                            <m:r>
                              <a:rPr lang="en-US" sz="1800" b="0" i="1" smtClean="0">
                                <a:latin typeface="Cambria Math" panose="02040503050406030204" pitchFamily="18" charset="0"/>
                              </a:rPr>
                              <m:t>2</m:t>
                            </m:r>
                          </m:e>
                        </m:rad>
                      </m:den>
                    </m:f>
                    <m:r>
                      <a:rPr lang="en-US" sz="1800" b="0" i="1" smtClean="0">
                        <a:latin typeface="Cambria Math" panose="02040503050406030204" pitchFamily="18" charset="0"/>
                      </a:rPr>
                      <m:t> ∗</m:t>
                    </m:r>
                    <m:r>
                      <a:rPr lang="en-US" sz="1800" b="0" i="1" smtClean="0">
                        <a:latin typeface="Cambria Math" panose="02040503050406030204" pitchFamily="18" charset="0"/>
                      </a:rPr>
                      <m:t>𝑉𝑝</m:t>
                    </m:r>
                  </m:oMath>
                </a14:m>
                <a:endParaRPr lang="en-IN" sz="1800" dirty="0"/>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1493144" y="2001874"/>
                <a:ext cx="6528638" cy="4010995"/>
              </a:xfrm>
              <a:blipFill rotWithShape="1">
                <a:blip r:embed="rId1"/>
                <a:stretch>
                  <a:fillRect l="-4" t="-9" r="7" b="1"/>
                </a:stretch>
              </a:blipFill>
            </p:spPr>
            <p:txBody>
              <a:bodyPr/>
              <a:lstStyle/>
              <a:p>
                <a:r>
                  <a:rPr lang="en-US" altLang="en-US">
                    <a:noFill/>
                  </a:rPr>
                  <a:t> </a:t>
                </a:r>
              </a:p>
            </p:txBody>
          </p:sp>
        </mc:Fallback>
      </mc:AlternateContent>
      <p:pic>
        <p:nvPicPr>
          <p:cNvPr id="6" name="Picture 5"/>
          <p:cNvPicPr>
            <a:picLocks noChangeAspect="1"/>
          </p:cNvPicPr>
          <p:nvPr/>
        </p:nvPicPr>
        <p:blipFill>
          <a:blip r:embed="rId2"/>
          <a:stretch>
            <a:fillRect/>
          </a:stretch>
        </p:blipFill>
        <p:spPr>
          <a:xfrm>
            <a:off x="8721937" y="1894552"/>
            <a:ext cx="3331519" cy="42256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dirty="0"/>
              <a:t>Open loop op-amp configuration has</a:t>
            </a:r>
            <a:endParaRPr lang="en-US" dirty="0"/>
          </a:p>
        </p:txBody>
      </p:sp>
      <p:sp>
        <p:nvSpPr>
          <p:cNvPr id="11" name="Rounded Rectangle 17"/>
          <p:cNvSpPr/>
          <p:nvPr/>
        </p:nvSpPr>
        <p:spPr>
          <a:xfrm>
            <a:off x="1026827" y="1977905"/>
            <a:ext cx="8241863"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a) Direct network between output and input terminals</a:t>
            </a:r>
            <a:br>
              <a:rPr lang="en-US" sz="1600" dirty="0"/>
            </a:br>
            <a:r>
              <a:rPr lang="en-US" dirty="0"/>
              <a:t>b) No connection between output and feedback network</a:t>
            </a:r>
            <a:br>
              <a:rPr lang="en-US" sz="1600" dirty="0"/>
            </a:br>
            <a:r>
              <a:rPr lang="en-US" dirty="0"/>
              <a:t>c) No connection between input and feedback network</a:t>
            </a:r>
            <a:br>
              <a:rPr lang="en-US" sz="1600" dirty="0"/>
            </a:br>
            <a:r>
              <a:rPr lang="en-US" dirty="0"/>
              <a:t>d) All of the mentioned</a:t>
            </a:r>
            <a:endParaRPr lang="en-US" sz="1600" dirty="0">
              <a:solidFill>
                <a:schemeClr val="bg1"/>
              </a:solidFill>
              <a:latin typeface="+mj-lt"/>
            </a:endParaRPr>
          </a:p>
        </p:txBody>
      </p:sp>
      <p:sp>
        <p:nvSpPr>
          <p:cNvPr id="13" name="Google Shape;502;p17"/>
          <p:cNvSpPr/>
          <p:nvPr/>
        </p:nvSpPr>
        <p:spPr>
          <a:xfrm>
            <a:off x="1026828" y="37475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dirty="0"/>
              <a:t>What happen if any positive input signal is applied to open-loop configuration?</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09895" y="4486010"/>
            <a:ext cx="6845632"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a) Output reaches saturation level</a:t>
            </a:r>
            <a:br>
              <a:rPr lang="en-US" dirty="0"/>
            </a:br>
            <a:r>
              <a:rPr lang="en-US" dirty="0"/>
              <a:t>b) Output voltage swing’s peak to peak</a:t>
            </a:r>
            <a:br>
              <a:rPr lang="en-US" dirty="0"/>
            </a:br>
            <a:r>
              <a:rPr lang="en-US" dirty="0"/>
              <a:t>c) Output will be a sine waveform</a:t>
            </a:r>
            <a:br>
              <a:rPr lang="en-US" dirty="0"/>
            </a:br>
            <a:r>
              <a:rPr lang="en-US" dirty="0"/>
              <a:t>d) Output will be a non-sinusoidal waveform</a:t>
            </a:r>
            <a:endParaRPr lang="en-US" sz="1600" dirty="0"/>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endParaRPr lang="en-US" sz="2400" dirty="0"/>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3.	</a:t>
            </a:r>
            <a:r>
              <a:rPr lang="en-US" dirty="0"/>
              <a:t>Why open-loop op-amp configurations are not used in linear applications?</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442463" y="1905217"/>
            <a:ext cx="7784663"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 Output reaches positive saturation</a:t>
            </a:r>
            <a:br>
              <a:rPr lang="en-US" sz="1600" dirty="0"/>
            </a:br>
            <a:r>
              <a:rPr lang="en-US" dirty="0"/>
              <a:t>b) Output reaches negative saturation</a:t>
            </a:r>
            <a:br>
              <a:rPr lang="en-US" sz="1600" dirty="0"/>
            </a:br>
            <a:r>
              <a:rPr lang="en-US" dirty="0"/>
              <a:t>c) Output switches between positive and negative saturation</a:t>
            </a:r>
            <a:br>
              <a:rPr lang="en-US" sz="1600" dirty="0"/>
            </a:br>
            <a:r>
              <a:rPr lang="en-US" dirty="0"/>
              <a:t>d) Output reaches both positive and negative saturation  </a:t>
            </a:r>
            <a:endParaRPr lang="en-US" sz="1600" dirty="0">
              <a:solidFill>
                <a:schemeClr val="bg1"/>
              </a:solidFill>
            </a:endParaRPr>
          </a:p>
        </p:txBody>
      </p:sp>
      <p:sp>
        <p:nvSpPr>
          <p:cNvPr id="13" name="Google Shape;502;p17"/>
          <p:cNvSpPr/>
          <p:nvPr/>
        </p:nvSpPr>
        <p:spPr>
          <a:xfrm>
            <a:off x="1009895" y="371852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GB" dirty="0"/>
              <a:t>4.	</a:t>
            </a:r>
            <a:r>
              <a:rPr lang="en-US" dirty="0"/>
              <a:t>The output voltage of an open-loop differential amplifier is equal to</a:t>
            </a:r>
            <a:endParaRPr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162295" y="4530587"/>
            <a:ext cx="8064831"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a) Double the difference between the two input voltages</a:t>
            </a:r>
            <a:br>
              <a:rPr lang="en-US" dirty="0"/>
            </a:br>
            <a:r>
              <a:rPr lang="en-US" dirty="0"/>
              <a:t>b) Product of voltage gain and individual input voltages</a:t>
            </a:r>
            <a:br>
              <a:rPr lang="en-US" dirty="0"/>
            </a:br>
            <a:r>
              <a:rPr lang="en-US" dirty="0"/>
              <a:t>c) Product of voltage gain and the difference between the two input voltages</a:t>
            </a:r>
            <a:br>
              <a:rPr lang="en-US" dirty="0"/>
            </a:br>
            <a:r>
              <a:rPr lang="en-US" dirty="0"/>
              <a:t>d) Double the voltage gain and the difference between two input voltages</a:t>
            </a:r>
            <a:endParaRPr lang="en-US" sz="1600" dirty="0">
              <a:solidFill>
                <a:schemeClr val="bg1"/>
              </a:solidFill>
            </a:endParaRPr>
          </a:p>
        </p:txBody>
      </p:sp>
      <p:pic>
        <p:nvPicPr>
          <p:cNvPr id="8"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IN" dirty="0"/>
              <a:t>b</a:t>
            </a:r>
            <a:endParaRPr lang="en-IN" dirty="0"/>
          </a:p>
          <a:p>
            <a:pPr marL="457200" indent="-457200">
              <a:buFont typeface="+mj-lt"/>
              <a:buAutoNum type="arabicPeriod"/>
            </a:pPr>
            <a:r>
              <a:rPr lang="en-IN" dirty="0"/>
              <a:t>a</a:t>
            </a:r>
            <a:endParaRPr lang="en-IN" dirty="0"/>
          </a:p>
          <a:p>
            <a:pPr marL="457200" indent="-457200">
              <a:buFont typeface="+mj-lt"/>
              <a:buAutoNum type="arabicPeriod"/>
            </a:pPr>
            <a:r>
              <a:rPr lang="en-IN" dirty="0"/>
              <a:t>c</a:t>
            </a:r>
            <a:endParaRPr lang="en-IN" dirty="0"/>
          </a:p>
          <a:p>
            <a:pPr marL="457200" indent="-457200">
              <a:buFont typeface="+mj-lt"/>
              <a:buAutoNum type="arabicPeriod"/>
            </a:pPr>
            <a:r>
              <a:rPr lang="en-IN" dirty="0"/>
              <a:t>c</a:t>
            </a:r>
            <a:endParaRPr lang="en-IN" dirty="0"/>
          </a:p>
          <a:p>
            <a:pPr marL="0" indent="0">
              <a:buNone/>
            </a:pPr>
            <a:endParaRPr lang="en-IN" dirty="0"/>
          </a:p>
          <a:p>
            <a:pPr marL="457200" indent="-457200">
              <a:buFont typeface="+mj-lt"/>
              <a:buAutoNum type="arabicPeriod"/>
            </a:pP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fld>
            <a:endParaRPr lang="en-IN"/>
          </a:p>
        </p:txBody>
      </p:sp>
      <p:sp>
        <p:nvSpPr>
          <p:cNvPr id="5" name="Rounded Rectangle 17"/>
          <p:cNvSpPr/>
          <p:nvPr/>
        </p:nvSpPr>
        <p:spPr>
          <a:xfrm>
            <a:off x="3390635" y="118550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ANSWERS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endParaRPr lang="en-US" sz="2400" dirty="0"/>
          </a:p>
        </p:txBody>
      </p:sp>
      <p:sp>
        <p:nvSpPr>
          <p:cNvPr id="9" name="TextBox 8"/>
          <p:cNvSpPr txBox="1"/>
          <p:nvPr/>
        </p:nvSpPr>
        <p:spPr>
          <a:xfrm>
            <a:off x="1380930" y="1967920"/>
            <a:ext cx="9694506" cy="2224904"/>
          </a:xfrm>
          <a:prstGeom prst="rect">
            <a:avLst/>
          </a:prstGeom>
          <a:noFill/>
        </p:spPr>
        <p:txBody>
          <a:bodyPr wrap="square" rtlCol="0">
            <a:spAutoFit/>
          </a:bodyPr>
          <a:lstStyle/>
          <a:p>
            <a:pPr marL="342900" indent="-342900" algn="just">
              <a:lnSpc>
                <a:spcPct val="200000"/>
              </a:lnSpc>
              <a:buFont typeface="+mj-lt"/>
              <a:buAutoNum type="arabicPeriod"/>
            </a:pPr>
            <a:r>
              <a:rPr lang="en-US" b="1" dirty="0"/>
              <a:t>List three open-loop op-amp configurations.</a:t>
            </a:r>
            <a:endParaRPr lang="en-US" b="1" dirty="0"/>
          </a:p>
          <a:p>
            <a:pPr marL="342900" indent="-342900" algn="just">
              <a:lnSpc>
                <a:spcPct val="200000"/>
              </a:lnSpc>
              <a:buFont typeface="+mj-lt"/>
              <a:buAutoNum type="arabicPeriod"/>
            </a:pPr>
            <a:r>
              <a:rPr lang="en-US" b="1" dirty="0"/>
              <a:t>Explain why open-loop op-amp configurations are not used in linear applications.</a:t>
            </a:r>
            <a:endParaRPr lang="en-US" b="1" dirty="0"/>
          </a:p>
          <a:p>
            <a:pPr marL="342900" indent="-342900" algn="just">
              <a:lnSpc>
                <a:spcPct val="200000"/>
              </a:lnSpc>
              <a:buFont typeface="+mj-lt"/>
              <a:buAutoNum type="arabicPeriod"/>
            </a:pPr>
            <a:r>
              <a:rPr lang="en-US" b="1" dirty="0"/>
              <a:t>Discuss the working on open-loop non-inverting amplifier with relevant equations.</a:t>
            </a:r>
            <a:endParaRPr lang="en-US" b="1" dirty="0"/>
          </a:p>
          <a:p>
            <a:pPr marL="342900" indent="-342900" algn="just">
              <a:lnSpc>
                <a:spcPct val="200000"/>
              </a:lnSpc>
              <a:buFont typeface="+mj-lt"/>
              <a:buAutoNum type="arabicPeriod"/>
            </a:pPr>
            <a:r>
              <a:rPr lang="en-US" b="1" dirty="0"/>
              <a:t>Illustrate the behavior of open-loop differential amplifier.</a:t>
            </a:r>
            <a:endParaRPr lang="en-US" b="1" dirty="0"/>
          </a:p>
        </p:txBody>
      </p:sp>
      <p:pic>
        <p:nvPicPr>
          <p:cNvPr id="10"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1534940" y="2100679"/>
            <a:ext cx="9608234" cy="2308324"/>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Op-Amps and Linear Integrated Circuit; 4th Ed., </a:t>
            </a:r>
            <a:r>
              <a:rPr lang="en-GB" dirty="0" err="1"/>
              <a:t>Gayakwad</a:t>
            </a:r>
            <a:r>
              <a:rPr lang="en-GB" dirty="0"/>
              <a:t>, Ramakant A.</a:t>
            </a:r>
            <a:endParaRPr lang="en-US" dirty="0"/>
          </a:p>
          <a:p>
            <a:pPr>
              <a:lnSpc>
                <a:spcPct val="150000"/>
              </a:lnSpc>
            </a:pPr>
            <a:endParaRPr lang="en-US" dirty="0"/>
          </a:p>
          <a:p>
            <a:pPr>
              <a:lnSpc>
                <a:spcPct val="150000"/>
              </a:lnSpc>
            </a:pPr>
            <a:r>
              <a:rPr lang="en-US" b="1" dirty="0"/>
              <a:t>Sites and Web links:</a:t>
            </a:r>
            <a:endParaRPr lang="en-US" b="1" dirty="0"/>
          </a:p>
          <a:p>
            <a:pPr algn="l">
              <a:buFont typeface="+mj-lt"/>
              <a:buAutoNum type="arabicPeriod"/>
            </a:pPr>
            <a:r>
              <a:rPr lang="en-US" dirty="0"/>
              <a:t>1https://www.allaboutcircuits.com/textbook/semiconductors/chpt-8/op-amp-practical-considerations/</a:t>
            </a:r>
            <a:endParaRPr lang="en-IN" b="0" i="0" dirty="0">
              <a:solidFill>
                <a:srgbClr val="374151"/>
              </a:solidFill>
              <a:effectLst/>
              <a:latin typeface="Söhne"/>
            </a:endParaRPr>
          </a:p>
        </p:txBody>
      </p:sp>
      <p:pic>
        <p:nvPicPr>
          <p:cNvPr id="5" name="Picture 2" descr="KL Deemed to be University Logo"/>
          <p:cNvPicPr>
            <a:picLocks noChangeAspect="1" noChangeArrowheads="1"/>
          </p:cNvPicPr>
          <p:nvPr/>
        </p:nvPicPr>
        <p:blipFill>
          <a:blip r:embed="rId1"/>
          <a:srcRect/>
          <a:stretch>
            <a:fillRect/>
          </a:stretch>
        </p:blipFill>
        <p:spPr bwMode="auto">
          <a:xfrm>
            <a:off x="0" y="0"/>
            <a:ext cx="1990725" cy="60007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247960" y="2332796"/>
            <a:ext cx="7920111" cy="2883877"/>
            <a:chOff x="2247960" y="2332796"/>
            <a:chExt cx="7920111" cy="2883877"/>
          </a:xfrm>
        </p:grpSpPr>
        <p:sp>
          <p:nvSpPr>
            <p:cNvPr id="4" name="Rounded Rectangle 3"/>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endParaRPr lang="en-US" sz="2400" b="1"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AECD</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1"/>
            <a:srcRect/>
            <a:stretch>
              <a:fillRect/>
            </a:stretch>
          </p:blipFill>
          <p:spPr bwMode="auto">
            <a:xfrm>
              <a:off x="5131980" y="3092166"/>
              <a:ext cx="3235570" cy="1083212"/>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5321</Words>
  <Application>WPS Presentation</Application>
  <PresentationFormat>Widescreen</PresentationFormat>
  <Paragraphs>134</Paragraphs>
  <Slides>14</Slides>
  <Notes>2</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14</vt:i4>
      </vt:variant>
    </vt:vector>
  </HeadingPairs>
  <TitlesOfParts>
    <vt:vector size="30" baseType="lpstr">
      <vt:lpstr>Arial</vt:lpstr>
      <vt:lpstr>SimSun</vt:lpstr>
      <vt:lpstr>Wingdings</vt:lpstr>
      <vt:lpstr>Arial</vt:lpstr>
      <vt:lpstr>Calibri</vt:lpstr>
      <vt:lpstr>Poppins</vt:lpstr>
      <vt:lpstr>Segoe Print</vt:lpstr>
      <vt:lpstr>BioRhyme ExtraBold</vt:lpstr>
      <vt:lpstr>Poppins</vt:lpstr>
      <vt:lpstr>Poppins</vt:lpstr>
      <vt:lpstr>Cambria Math</vt:lpstr>
      <vt:lpstr>Söhne</vt:lpstr>
      <vt:lpstr>Gill Sans MT</vt:lpstr>
      <vt:lpstr>Microsoft YaHei</vt:lpstr>
      <vt:lpstr>Arial Unicode MS</vt:lpstr>
      <vt:lpstr>Gallery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Subba Reddy Vasipalli</dc:creator>
  <cp:lastModifiedBy>Uday Kiran</cp:lastModifiedBy>
  <cp:revision>44</cp:revision>
  <dcterms:created xsi:type="dcterms:W3CDTF">2023-05-11T04:21:00Z</dcterms:created>
  <dcterms:modified xsi:type="dcterms:W3CDTF">2025-09-08T03:47:07Z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7686347D58F54D4B844CBA1AAA2C6289_13</vt:lpwstr>
  </property>
  <property fmtid="{D5CDD505-2E9C-101B-9397-08002B2CF9AE}" pid="3" name="KSOProductBuildVer">
    <vt:lpwstr>1033-12.2.0.22222</vt:lpwstr>
  </property>
</Properties>
</file>