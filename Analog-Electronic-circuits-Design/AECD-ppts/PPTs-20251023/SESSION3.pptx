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8"/>
  </p:notesMasterIdLst>
  <p:sldIdLst>
    <p:sldId id="274" r:id="rId2"/>
    <p:sldId id="308" r:id="rId3"/>
    <p:sldId id="300" r:id="rId4"/>
    <p:sldId id="410" r:id="rId5"/>
    <p:sldId id="411" r:id="rId6"/>
    <p:sldId id="415" r:id="rId7"/>
    <p:sldId id="416" r:id="rId8"/>
    <p:sldId id="417" r:id="rId9"/>
    <p:sldId id="281" r:id="rId10"/>
    <p:sldId id="413" r:id="rId11"/>
    <p:sldId id="301" r:id="rId12"/>
    <p:sldId id="328" r:id="rId13"/>
    <p:sldId id="315" r:id="rId14"/>
    <p:sldId id="302" r:id="rId15"/>
    <p:sldId id="303" r:id="rId16"/>
    <p:sldId id="41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79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BF16C-2EFC-4D95-BF9E-D77F0CC196B6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4170B-FC8F-45CA-B24A-64FC788F0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22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3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69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99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14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18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85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78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89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672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34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349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645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9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24ec2104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ill Sans MT" panose="020B0502020104020203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ill Sans MT" panose="020B0502020104020203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BJT Q-POINT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Session - 03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ODD SEM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Open circuit voltage</a:t>
            </a:r>
          </a:p>
          <a:p>
            <a:r>
              <a:rPr lang="en-IN" sz="2400" dirty="0"/>
              <a:t>Short circuit current</a:t>
            </a:r>
          </a:p>
          <a:p>
            <a:r>
              <a:rPr lang="en-IN" sz="2400" dirty="0"/>
              <a:t>Load line</a:t>
            </a:r>
          </a:p>
          <a:p>
            <a:r>
              <a:rPr lang="en-IN" sz="2400" dirty="0"/>
              <a:t>Operating point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658894"/>
            <a:ext cx="11215640" cy="4248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demonstrate operating point of BJT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533835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2023900"/>
            <a:ext cx="11224971" cy="138499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This Session is designed to: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Demonstrate open circuit voltage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Demonstrate circuit current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Demonstrate Load line of BJT.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Identify operating point of BJT for changing current gains.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4" y="3523536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14399" y="4028757"/>
            <a:ext cx="11196319" cy="138499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 the end of this session, you should be able to: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Plot open circuit voltage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Plot short circuit current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Determine Load line of BJT.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Identify operating point of BJT for changing current gains.</a:t>
            </a: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BJt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placed in a circuit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D9206-8165-0359-DA91-9E308D9B4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13" y="2172801"/>
            <a:ext cx="7520729" cy="2119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CF74CF-6031-4EEF-6025-08B3647425D6}"/>
              </a:ext>
            </a:extLst>
          </p:cNvPr>
          <p:cNvSpPr txBox="1"/>
          <p:nvPr/>
        </p:nvSpPr>
        <p:spPr>
          <a:xfrm>
            <a:off x="209077" y="4408050"/>
            <a:ext cx="7520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3.1. BJT placed in a circuit with fixed conditions, identifying circuit conditions and operating characteristics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C133E-D1DF-7FB7-FE0D-66D8B3ED80DA}"/>
              </a:ext>
            </a:extLst>
          </p:cNvPr>
          <p:cNvSpPr txBox="1"/>
          <p:nvPr/>
        </p:nvSpPr>
        <p:spPr>
          <a:xfrm>
            <a:off x="7935686" y="1983758"/>
            <a:ext cx="425631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order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for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</a:t>
            </a:r>
            <a:r>
              <a:rPr kumimoji="0" lang="en-IN" sz="1400" b="1" i="0" u="none" strike="noStrike" kern="1200" cap="none" spc="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transistor</a:t>
            </a:r>
            <a:r>
              <a:rPr kumimoji="0" lang="en-IN" sz="1400" b="1" i="0" u="none" strike="noStrike" kern="1200" cap="none" spc="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to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function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as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an</a:t>
            </a:r>
            <a:r>
              <a:rPr kumimoji="0" lang="en-IN" sz="1400" b="1" i="0" u="none" strike="noStrike" kern="1200" cap="none" spc="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amplifier</a:t>
            </a:r>
            <a:r>
              <a:rPr kumimoji="0" lang="en-IN" sz="1400" b="1" i="0" u="none" strike="noStrike" kern="1200" cap="none" spc="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or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switch,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it</a:t>
            </a:r>
            <a:r>
              <a:rPr kumimoji="0" lang="en-IN" sz="1400" b="1" i="0" u="none" strike="noStrike" kern="1200" cap="none" spc="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must</a:t>
            </a:r>
            <a:r>
              <a:rPr kumimoji="0" lang="en-IN" sz="1400" b="1" i="0" u="none" strike="noStrike" kern="1200" cap="none" spc="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</a:t>
            </a:r>
            <a:r>
              <a:rPr kumimoji="0" lang="en-IN" sz="1400" b="1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IN" sz="1400" b="1" i="0" u="none" strike="noStrike" kern="1200" cap="none" spc="-2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rst</a:t>
            </a:r>
            <a:r>
              <a:rPr kumimoji="0" lang="en-IN" sz="1400" b="1" i="0" u="none" strike="noStrike" kern="1200" cap="none" spc="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h</a:t>
            </a:r>
            <a:r>
              <a:rPr kumimoji="0" lang="en-IN" sz="1400" b="1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</a:t>
            </a:r>
            <a:r>
              <a:rPr kumimoji="0" lang="en-IN" sz="14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e its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dc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circuit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conditions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set</a:t>
            </a:r>
            <a:r>
              <a:rPr kumimoji="0" lang="en-IN" sz="1400" b="1" i="0" u="none" strike="noStrike" kern="1200" cap="none" spc="8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properl</a:t>
            </a:r>
            <a:r>
              <a:rPr kumimoji="0" lang="en-IN" sz="1400" b="1" i="0" u="none" strike="noStrike" kern="120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y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.</a:t>
            </a:r>
            <a:r>
              <a:rPr kumimoji="0" lang="en-IN" sz="1400" b="1" i="0" u="none" strike="noStrike" kern="1200" cap="none" spc="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This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is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referred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to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as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properly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biasing</a:t>
            </a:r>
            <a:r>
              <a:rPr kumimoji="0" lang="en-IN" sz="1400" b="1" i="0" u="none" strike="noStrike" kern="1200" cap="none" spc="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transisto</a:t>
            </a: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Fig. 3.1. depicts a situation where   BJT with given output characteristics is placed in a circuit with given voltages and resistors.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Further step is to determine which are the worst case voltage and current that BJT shall carry in the given circuit.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Finally to obtain a common point which satisfy the operating characteristics and circuit conditions.</a:t>
            </a:r>
          </a:p>
        </p:txBody>
      </p:sp>
    </p:spTree>
    <p:extLst>
      <p:ext uri="{BB962C8B-B14F-4D97-AF65-F5344CB8AC3E}">
        <p14:creationId xmlns:p14="http://schemas.microsoft.com/office/powerpoint/2010/main" val="286696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Open Circuit Voltage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CF658-6985-8405-6A4B-63EFC8379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23" y="2232556"/>
            <a:ext cx="6091500" cy="28806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5EC1BC-B52D-483F-805F-C419D68700C1}"/>
              </a:ext>
            </a:extLst>
          </p:cNvPr>
          <p:cNvSpPr txBox="1"/>
          <p:nvPr/>
        </p:nvSpPr>
        <p:spPr>
          <a:xfrm>
            <a:off x="367697" y="5219928"/>
            <a:ext cx="7520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3.2. BJT placed in a circuit with fixed conditions, identifying open circuit voltage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37630-6D63-E053-C510-74FEF43CD9B2}"/>
              </a:ext>
            </a:extLst>
          </p:cNvPr>
          <p:cNvSpPr txBox="1"/>
          <p:nvPr/>
        </p:nvSpPr>
        <p:spPr>
          <a:xfrm>
            <a:off x="7581123" y="2467908"/>
            <a:ext cx="42563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To determine which are the worst case voltage and current that BJT shall carry in the given circuit.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First, open circuit the BJT terminals and find the voltage across collector-emitter terminals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For the given circuit conditions, the open circuit voltage across C-E terminals </a:t>
            </a:r>
            <a:r>
              <a:rPr kumimoji="0" lang="en-IN" sz="1400" b="1" i="0" u="none" strike="noStrike" kern="1200" cap="none" spc="-5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</a:t>
            </a:r>
            <a:r>
              <a:rPr kumimoji="0" lang="en-IN" sz="1400" b="1" i="0" u="none" strike="noStrike" kern="1200" cap="none" spc="-5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CEcutoff</a:t>
            </a:r>
            <a:r>
              <a:rPr kumimoji="0" lang="en-IN" sz="1400" b="1" i="0" u="none" strike="noStrike" kern="1200" cap="none" spc="-5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</a:t>
            </a: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= 15 V</a:t>
            </a:r>
          </a:p>
        </p:txBody>
      </p:sp>
    </p:spTree>
    <p:extLst>
      <p:ext uri="{BB962C8B-B14F-4D97-AF65-F5344CB8AC3E}">
        <p14:creationId xmlns:p14="http://schemas.microsoft.com/office/powerpoint/2010/main" val="134770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Short circuit 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ACA9C-472B-2576-F0D2-F21A905B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85" y="2104932"/>
            <a:ext cx="5034725" cy="26481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1306F5-C92C-0056-9AA8-ABED605770B9}"/>
              </a:ext>
            </a:extLst>
          </p:cNvPr>
          <p:cNvSpPr txBox="1"/>
          <p:nvPr/>
        </p:nvSpPr>
        <p:spPr>
          <a:xfrm>
            <a:off x="255730" y="4837258"/>
            <a:ext cx="7520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3.3. BJT placed in a circuit with fixed conditions, identifying short circuit current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57184-4C7B-EBEB-CE4D-C14EEC30F114}"/>
              </a:ext>
            </a:extLst>
          </p:cNvPr>
          <p:cNvSpPr txBox="1"/>
          <p:nvPr/>
        </p:nvSpPr>
        <p:spPr>
          <a:xfrm>
            <a:off x="7226560" y="2413336"/>
            <a:ext cx="42563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To determine which are the worst case voltage and current that BJT shall carry in the given circuit.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Next, short circuit the BJT  C-E terminals and find the current through the short circuit.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For the given circuit conditions, the short circuit current through  C-E terminals </a:t>
            </a:r>
            <a:r>
              <a:rPr kumimoji="0" lang="en-IN" sz="1400" b="1" i="0" u="none" strike="noStrike" kern="1200" cap="none" spc="-5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IN" sz="1400" b="1" i="0" u="none" strike="noStrike" kern="1200" cap="none" spc="-5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Csat</a:t>
            </a:r>
            <a:r>
              <a:rPr kumimoji="0" lang="en-IN" sz="1400" b="1" i="0" u="none" strike="noStrike" kern="1200" cap="none" spc="-5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 </a:t>
            </a: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= 15V/3 k</a:t>
            </a:r>
            <a:r>
              <a:rPr kumimoji="0" lang="el-GR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Ω</a:t>
            </a:r>
            <a:r>
              <a:rPr kumimoji="0" lang="en-US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= 9mA</a:t>
            </a: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92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Load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F00C-EE97-F4C1-2181-E7D1F54D3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85" y="2280178"/>
            <a:ext cx="5276054" cy="2898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55A1EA-12E0-2E5D-87DF-5B01BA6A6AA4}"/>
              </a:ext>
            </a:extLst>
          </p:cNvPr>
          <p:cNvSpPr txBox="1"/>
          <p:nvPr/>
        </p:nvSpPr>
        <p:spPr>
          <a:xfrm>
            <a:off x="181086" y="5332864"/>
            <a:ext cx="7520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3.4. BJT placed in a circuit with fixed conditions, identifying circuit conditions and operating characteristics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A70F9-A0BB-CC29-996F-6CC77B35529B}"/>
              </a:ext>
            </a:extLst>
          </p:cNvPr>
          <p:cNvSpPr txBox="1"/>
          <p:nvPr/>
        </p:nvSpPr>
        <p:spPr>
          <a:xfrm>
            <a:off x="7226560" y="2413336"/>
            <a:ext cx="42563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Now, the voltage across C-E terminals and current through C-E terminals can take the values only on the line joining the </a:t>
            </a:r>
            <a:r>
              <a:rPr kumimoji="0" lang="en-IN" sz="1400" b="1" i="0" u="none" strike="noStrike" kern="1200" cap="none" spc="-5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</a:t>
            </a:r>
            <a:r>
              <a:rPr kumimoji="0" lang="en-IN" sz="1400" b="1" i="0" u="none" strike="noStrike" kern="1200" cap="none" spc="-5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CEcutoff</a:t>
            </a: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and </a:t>
            </a:r>
            <a:r>
              <a:rPr kumimoji="0" lang="en-IN" sz="1400" b="1" i="0" u="none" strike="noStrike" kern="1200" cap="none" spc="-5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IN" sz="1400" b="1" i="0" u="none" strike="noStrike" kern="1200" cap="none" spc="-5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Csat</a:t>
            </a: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, owing to the given output circuit.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This line joining these two parameters is termed as Load line</a:t>
            </a:r>
          </a:p>
        </p:txBody>
      </p:sp>
    </p:spTree>
    <p:extLst>
      <p:ext uri="{BB962C8B-B14F-4D97-AF65-F5344CB8AC3E}">
        <p14:creationId xmlns:p14="http://schemas.microsoft.com/office/powerpoint/2010/main" val="100959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98101-A329-B655-32AE-D8EA7CE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Operating point (Q-point)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583F5-8A5A-C9BE-2C8C-304A9756F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2" y="2132988"/>
            <a:ext cx="4677853" cy="2967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C7B54-3779-DAE8-7AD1-2AB19155E516}"/>
              </a:ext>
            </a:extLst>
          </p:cNvPr>
          <p:cNvSpPr txBox="1"/>
          <p:nvPr/>
        </p:nvSpPr>
        <p:spPr>
          <a:xfrm>
            <a:off x="246400" y="5210482"/>
            <a:ext cx="7520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3.5. BJT placed in a circuit with fixed conditions, identifying operating point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F234E-3F6B-4645-1317-ACD420F6679B}"/>
              </a:ext>
            </a:extLst>
          </p:cNvPr>
          <p:cNvSpPr txBox="1"/>
          <p:nvPr/>
        </p:nvSpPr>
        <p:spPr>
          <a:xfrm>
            <a:off x="7010400" y="1974175"/>
            <a:ext cx="425631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voltage across C-E terminals and current through C-E terminals can take the values only on the line joining the </a:t>
            </a:r>
            <a:r>
              <a:rPr kumimoji="0" lang="en-IN" sz="1400" b="1" i="0" u="none" strike="noStrike" kern="1200" cap="none" spc="-5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V</a:t>
            </a:r>
            <a:r>
              <a:rPr kumimoji="0" lang="en-IN" sz="1400" b="1" i="0" u="none" strike="noStrike" kern="1200" cap="none" spc="-5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CEcutoff</a:t>
            </a: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and </a:t>
            </a:r>
            <a:r>
              <a:rPr kumimoji="0" lang="en-IN" sz="1400" b="1" i="0" u="none" strike="noStrike" kern="1200" cap="none" spc="-5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en-IN" sz="1400" b="1" i="0" u="none" strike="noStrike" kern="1200" cap="none" spc="-5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Csat</a:t>
            </a: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, owing to the given output circuit.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This line joining these two parameters is termed as Load line.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Output characteristics are controlled by current gain and input current.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intersection of load line and output characteristics is the only points where both device operation and circuit operation are feasible.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200" cap="none" spc="-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This is termed as operating point or Q-point</a:t>
            </a:r>
          </a:p>
        </p:txBody>
      </p:sp>
    </p:spTree>
    <p:extLst>
      <p:ext uri="{BB962C8B-B14F-4D97-AF65-F5344CB8AC3E}">
        <p14:creationId xmlns:p14="http://schemas.microsoft.com/office/powerpoint/2010/main" val="149515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3.1  Draw the load lines for circuits shown in Fig. 3.6.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Example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AF12B-6480-1A97-4A1A-01F87F5CD8E1}"/>
              </a:ext>
            </a:extLst>
          </p:cNvPr>
          <p:cNvSpPr txBox="1"/>
          <p:nvPr/>
        </p:nvSpPr>
        <p:spPr>
          <a:xfrm>
            <a:off x="3347535" y="2669623"/>
            <a:ext cx="642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3.6. BJT placed in circuits with voltage and current limiter resistances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6580B-2A45-70F4-DC88-FFFD956F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535" y="1225309"/>
            <a:ext cx="5891131" cy="1484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6FAC3D-541E-2402-C9CC-4CD9A85BC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7" y="3045159"/>
            <a:ext cx="4298969" cy="12655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A1C224-716C-4362-7110-EF7189349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016" y="3022697"/>
            <a:ext cx="3811547" cy="13105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CB9880-FDB8-22CE-D980-9BECAE1BE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224" y="4401337"/>
            <a:ext cx="2888877" cy="15515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3.2  For the ideal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shown in Fig. 3.7 having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DC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 100, determine Q-point and if base resistance changes to 1 M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Ω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determine the new Q-Point.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Example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AF12B-6480-1A97-4A1A-01F87F5CD8E1}"/>
              </a:ext>
            </a:extLst>
          </p:cNvPr>
          <p:cNvSpPr txBox="1"/>
          <p:nvPr/>
        </p:nvSpPr>
        <p:spPr>
          <a:xfrm>
            <a:off x="174876" y="3429000"/>
            <a:ext cx="4432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3.7. CE Configured BJT biased with external voltages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6D1F68-0D7D-B94E-FF4F-884F19A47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12" y="1551887"/>
            <a:ext cx="5898899" cy="1734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AD9174-BF8D-6C4A-2043-279C1CAA5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941" y="3879466"/>
            <a:ext cx="5898899" cy="20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16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Load line is drawn between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OC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I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OC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V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V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and I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831771"/>
            <a:ext cx="12192000" cy="546046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What is the Quiescent collector current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for BJT in active region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&lt;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Zero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3. Which mode does BJT Q-point  to be biased for amplification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Saturation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Active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Cut-off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788229"/>
            <a:ext cx="12192000" cy="589588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4. Operating point is the intersection of load line and device characteristics.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False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True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979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2616-E55E-DAB7-B0A0-D8540B2F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A2ACF-481C-7213-C089-BDAC243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67DA82E-43B9-32C7-5D30-307DE1BBBD76}"/>
              </a:ext>
            </a:extLst>
          </p:cNvPr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25723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23" y="2146654"/>
            <a:ext cx="11643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open circuit voltage across a circuit element at load terminals.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Discuss short circuit current in a circuit element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Draw the load line of BJT for given circuit.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Draw output characteristics of BJT for various input base current values.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Draw the load lines for varying resistance in output loop of BJT.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Identify the Q-point of BJT for given circuit.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REFERENCES FOR FURTHER LEARNING OF THE SESSION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 Books: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Albert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Malvino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David Bate, “Electronic Principles”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Robert L.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Boylestad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and Louis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Nashelsky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- “Electronic Devices and Circuit Theory”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1780855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itchFamily="2" charset="77"/>
                </a:rPr>
                <a:t>THANK YOU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itchFamily="2" charset="77"/>
                </a:rPr>
                <a:t>Team – </a:t>
              </a:r>
              <a:r>
                <a:rPr kumimoji="0" lang="en-US" sz="2000" b="1" i="0" u="none" strike="noStrike" kern="1200" cap="all" spc="0" normalizeH="0" baseline="0" noProof="0" dirty="0">
                  <a:ln/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anose="00000500000000000000" pitchFamily="2" charset="0"/>
                  <a:sym typeface="BioRhyme ExtraBold"/>
                </a:rPr>
                <a:t>Analog electronic Circuit Design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641EAF-9950-CBC7-0185-84F0EED5A950}"/>
              </a:ext>
            </a:extLst>
          </p:cNvPr>
          <p:cNvSpPr txBox="1"/>
          <p:nvPr/>
        </p:nvSpPr>
        <p:spPr>
          <a:xfrm>
            <a:off x="-6221" y="5763439"/>
            <a:ext cx="6102220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2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Prepared by – Mr. S. Ravi Teja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1818</TotalTime>
  <Words>827</Words>
  <Application>Microsoft Office PowerPoint</Application>
  <PresentationFormat>Widescreen</PresentationFormat>
  <Paragraphs>147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Gill Sans MT</vt:lpstr>
      <vt:lpstr>Poppins</vt:lpstr>
      <vt:lpstr>Times New Roman</vt:lpstr>
      <vt:lpstr>Gallery</vt:lpstr>
      <vt:lpstr>PowerPoint Presentation</vt:lpstr>
      <vt:lpstr>Session content</vt:lpstr>
      <vt:lpstr>PowerPoint Presentation</vt:lpstr>
      <vt:lpstr>BJt placed in a circuit</vt:lpstr>
      <vt:lpstr>Open Circuit Voltage</vt:lpstr>
      <vt:lpstr>Short circuit current</vt:lpstr>
      <vt:lpstr>Load line</vt:lpstr>
      <vt:lpstr>Operating point (Q-point)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syam sundar pillalamarri</cp:lastModifiedBy>
  <cp:revision>9</cp:revision>
  <dcterms:created xsi:type="dcterms:W3CDTF">2025-07-03T09:32:48Z</dcterms:created>
  <dcterms:modified xsi:type="dcterms:W3CDTF">2025-07-29T12:46:34Z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LastSaved">
    <vt:filetime>2025-07-03T00:00:00Z</vt:filetime>
  </property>
  <property fmtid="{D5CDD505-2E9C-101B-9397-08002B2CF9AE}" pid="4" name="Producer">
    <vt:lpwstr>iLovePDF</vt:lpwstr>
  </property>
</Properties>
</file>