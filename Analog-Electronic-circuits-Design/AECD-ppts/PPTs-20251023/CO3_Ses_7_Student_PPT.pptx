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344" r:id="rId3"/>
    <p:sldId id="332" r:id="rId5"/>
    <p:sldId id="353" r:id="rId6"/>
    <p:sldId id="258" r:id="rId7"/>
    <p:sldId id="326" r:id="rId8"/>
    <p:sldId id="331" r:id="rId9"/>
    <p:sldId id="327" r:id="rId10"/>
    <p:sldId id="508" r:id="rId11"/>
    <p:sldId id="511" r:id="rId12"/>
    <p:sldId id="514" r:id="rId13"/>
    <p:sldId id="517" r:id="rId14"/>
    <p:sldId id="328" r:id="rId15"/>
    <p:sldId id="544" r:id="rId16"/>
    <p:sldId id="337" r:id="rId17"/>
    <p:sldId id="550" r:id="rId18"/>
    <p:sldId id="553" r:id="rId19"/>
    <p:sldId id="359" r:id="rId20"/>
    <p:sldId id="316" r:id="rId21"/>
    <p:sldId id="360" r:id="rId22"/>
    <p:sldId id="377" r:id="rId23"/>
    <p:sldId id="361" r:id="rId24"/>
    <p:sldId id="362" r:id="rId25"/>
    <p:sldId id="363" r:id="rId26"/>
    <p:sldId id="356" r:id="rId27"/>
    <p:sldId id="37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8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4.wdp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microsoft.com/office/2007/relationships/hdphoto" Target="../media/image29.wdp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3410464" y="2820599"/>
            <a:ext cx="8767699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Analog electronic Circuit Design (24ec2104) 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Linear Applications-2 (comparator, Smith Trigger, instrumentation amplifier)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  <a:endParaRPr lang="en-US" sz="36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90452"/>
          </a:xfrm>
        </p:spPr>
        <p:txBody>
          <a:bodyPr/>
          <a:lstStyle/>
          <a:p>
            <a:r>
              <a:rPr lang="en-US" dirty="0"/>
              <a:t>Session Content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49639"/>
          </a:xfrm>
        </p:spPr>
        <p:txBody>
          <a:bodyPr>
            <a:normAutofit fontScale="25000" lnSpcReduction="20000"/>
          </a:bodyPr>
          <a:lstStyle/>
          <a:p>
            <a:r>
              <a:rPr lang="en-US" sz="4200" dirty="0"/>
              <a:t>Aim</a:t>
            </a:r>
            <a:r>
              <a:rPr lang="en-IN" sz="4200" dirty="0"/>
              <a:t> – Objectives – Outcomes</a:t>
            </a:r>
            <a:endParaRPr lang="en-IN" sz="4200" dirty="0"/>
          </a:p>
          <a:p>
            <a:r>
              <a:rPr lang="en-IN" sz="4200" dirty="0"/>
              <a:t>Introduction</a:t>
            </a:r>
            <a:endParaRPr lang="en-IN" sz="4200" dirty="0"/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IN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omparator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Schmitt T</a:t>
            </a:r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rigger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4400" cap="none" dirty="0">
                <a:latin typeface="Cambria" panose="02040503050406030204" pitchFamily="18" charset="0"/>
                <a:ea typeface="Cambria" panose="02040503050406030204" pitchFamily="18" charset="0"/>
              </a:rPr>
              <a:t>Applications of Schmitt Trigger</a:t>
            </a:r>
            <a:endParaRPr lang="en-GB" sz="4400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Instrumentation Amplifier</a:t>
            </a:r>
            <a:endParaRPr lang="en-IN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Advantages of Instrumentation Amplifier</a:t>
            </a:r>
            <a:endParaRPr lang="en-IN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4400" cap="none" dirty="0">
                <a:latin typeface="Cambria" panose="02040503050406030204" pitchFamily="18" charset="0"/>
                <a:ea typeface="Cambria" panose="02040503050406030204" pitchFamily="18" charset="0"/>
              </a:rPr>
              <a:t>Applications of Instrumentation Amplifier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4200" dirty="0"/>
              <a:t>Summary </a:t>
            </a:r>
            <a:endParaRPr lang="en-US" sz="4200" dirty="0"/>
          </a:p>
          <a:p>
            <a:r>
              <a:rPr lang="en-US" sz="4200" dirty="0"/>
              <a:t>Example Problems</a:t>
            </a:r>
            <a:endParaRPr lang="en-US" sz="4200" dirty="0"/>
          </a:p>
          <a:p>
            <a:r>
              <a:rPr lang="en-US" sz="4200" dirty="0"/>
              <a:t>Self  Assessment  Questions</a:t>
            </a:r>
            <a:endParaRPr lang="en-US" sz="4200" dirty="0"/>
          </a:p>
          <a:p>
            <a:r>
              <a:rPr lang="en-US" sz="4200" dirty="0"/>
              <a:t>Terminal Questions</a:t>
            </a:r>
            <a:endParaRPr lang="en-US" sz="4200" dirty="0"/>
          </a:p>
          <a:p>
            <a:r>
              <a:rPr lang="en-US" sz="4200" dirty="0"/>
              <a:t>References </a:t>
            </a:r>
            <a:endParaRPr lang="en-US" sz="4200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85748" y="637745"/>
            <a:ext cx="10731286" cy="87447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aim of this session is to emphasize the significance of operational amplifiers and to understand the fundamentals of their linear applications, including comparators, Schmitt triggers, and instrumentation amplifiers.</a:t>
            </a:r>
            <a:endParaRPr lang="en-IN" dirty="0"/>
          </a:p>
        </p:txBody>
      </p:sp>
      <p:sp>
        <p:nvSpPr>
          <p:cNvPr id="7" name="Rounded Rectangle 17"/>
          <p:cNvSpPr/>
          <p:nvPr/>
        </p:nvSpPr>
        <p:spPr>
          <a:xfrm>
            <a:off x="4053596" y="1630041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85749" y="2241406"/>
            <a:ext cx="10731286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Specify the importance/necessity of the Operational Amplifier (Op-Amp) Applications.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Describe the function of each block of the Op-Amp applications.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Understand the schematic symbol of the different mathematical functions.</a:t>
            </a:r>
            <a:endParaRPr lang="en-GB" sz="1600" dirty="0"/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315974" y="396995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4400" y="4518510"/>
            <a:ext cx="10702634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Explain the application of Op-Amp for various applications.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Summarize the functioning of different applications and use.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Identify the Pin configuration and importance of IC741 for various applications.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862487" y="6477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INTRODUCTION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5381" y="1417741"/>
            <a:ext cx="115741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two voltages and switch their output to indicate which input is higher.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devices where it is necessary to measure and compare voltages, such as in zero-crossing detectors, level shifters, and analog-to-digital converters.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 comparator is either high or low, depending on whether the positive input voltage is higher or lower than the negative input voltage.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Schmitt Trigger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comparator with hysteresis, providing a cleaner and more stable output signal by introducing two different threshold voltage levels for switching.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to eliminate noise in digital circuits, signal conditioning, and switch debouncing.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Schmitt Trigger switches its output state when the input crosses the upper or lower threshold, creating a stable and noise-resistant output.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Instrumentation amplifiers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amplify small differential signals while rejecting large common-mode voltages.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precision data acquisition, medical instrumentation, and sensor signal conditioning due to their high input impedance, low offset voltage, and high CMRR (Common Mode Rejection Ratio).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uses multiple op-amps in its configuration to ensure accurate and stable amplification of the differential signal.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97068" y="958788"/>
            <a:ext cx="10608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IN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omparator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110" y="2176606"/>
            <a:ext cx="10681221" cy="296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marR="713740" lvl="2" indent="-228600" algn="just">
              <a:lnSpc>
                <a:spcPct val="155000"/>
              </a:lnSpc>
              <a:spcBef>
                <a:spcPts val="4275"/>
              </a:spcBef>
              <a:spcAft>
                <a:spcPts val="0"/>
              </a:spcAft>
              <a:buFont typeface="Arial MT"/>
              <a:buChar char="•"/>
              <a:tabLst>
                <a:tab pos="6496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Comparator is a circuit which compares a signal voltage applied at one input of an OPAMP with a known reference voltage at the other input.</a:t>
            </a:r>
            <a:endParaRPr lang="en-IN" sz="1000" spc="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It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is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basically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an open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loop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OPAMP</a:t>
            </a:r>
            <a:r>
              <a:rPr lang="en-US" sz="1800" spc="-185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with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output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 </a:t>
            </a:r>
            <a:r>
              <a:rPr lang="en-US" sz="1800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±𝑣</a:t>
            </a:r>
            <a:r>
              <a:rPr lang="en-US" sz="1800" spc="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𝑠𝑎𝑡</a:t>
            </a:r>
            <a:r>
              <a:rPr lang="en-US" sz="1800" spc="345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lang="en-US" sz="1800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=</a:t>
            </a:r>
            <a:r>
              <a:rPr lang="en-US" sz="1800" spc="105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lang="en-US" sz="1800" spc="-25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𝑣</a:t>
            </a:r>
            <a:r>
              <a:rPr lang="en-US" sz="1800" spc="-25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𝑐𝑐</a:t>
            </a:r>
            <a:endParaRPr lang="en-US" sz="1800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lvl="2" algn="just">
              <a:spcBef>
                <a:spcPts val="1085"/>
              </a:spcBef>
              <a:spcAft>
                <a:spcPts val="0"/>
              </a:spcAft>
              <a:tabLst>
                <a:tab pos="648970" algn="l"/>
              </a:tabLst>
            </a:pPr>
            <a:endParaRPr lang="en-US" sz="1000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000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000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000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IN" sz="1000" spc="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</p:txBody>
      </p:sp>
      <p:pic>
        <p:nvPicPr>
          <p:cNvPr id="9" name="Image 5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32011" y="3586563"/>
            <a:ext cx="5716957" cy="239254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97068" y="958788"/>
            <a:ext cx="10608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IN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omparator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[contd..]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312" y="958788"/>
            <a:ext cx="3969704" cy="1864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lvl="2" algn="just">
              <a:spcBef>
                <a:spcPts val="1085"/>
              </a:spcBef>
              <a:spcAft>
                <a:spcPts val="0"/>
              </a:spcAft>
              <a:tabLst>
                <a:tab pos="648970" algn="l"/>
              </a:tabLst>
            </a:pPr>
            <a:endParaRPr lang="en-US" sz="1600" b="1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lvl="2" algn="just">
              <a:spcBef>
                <a:spcPts val="1085"/>
              </a:spcBef>
              <a:spcAft>
                <a:spcPts val="0"/>
              </a:spcAft>
              <a:tabLst>
                <a:tab pos="648970" algn="l"/>
              </a:tabLst>
            </a:pPr>
            <a:endParaRPr lang="en-US" sz="1600" b="1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r>
              <a:rPr lang="en-IN" sz="1600" b="1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Non-inverting comparator</a:t>
            </a:r>
            <a:endParaRPr lang="en-IN" sz="1600" b="1" spc="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5999" y="958788"/>
            <a:ext cx="3969704" cy="1864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lvl="2" algn="just">
              <a:spcBef>
                <a:spcPts val="1085"/>
              </a:spcBef>
              <a:spcAft>
                <a:spcPts val="0"/>
              </a:spcAft>
              <a:tabLst>
                <a:tab pos="648970" algn="l"/>
              </a:tabLst>
            </a:pPr>
            <a:endParaRPr lang="en-US" sz="1600" b="1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endParaRPr lang="en-US" sz="1600" b="1" spc="-25" baseline="-250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143000" lvl="2" indent="-228600" algn="just">
              <a:spcBef>
                <a:spcPts val="1085"/>
              </a:spcBef>
              <a:spcAft>
                <a:spcPts val="0"/>
              </a:spcAft>
              <a:buFont typeface="Arial MT"/>
              <a:buChar char="•"/>
              <a:tabLst>
                <a:tab pos="648970" algn="l"/>
              </a:tabLst>
            </a:pPr>
            <a:r>
              <a:rPr lang="en-IN" sz="1600" b="1" spc="0" dirty="0">
                <a:effectLst/>
                <a:latin typeface="Times New Roman" panose="02020603050405020304" pitchFamily="18" charset="0"/>
                <a:ea typeface="Arial MT"/>
                <a:cs typeface="Arial MT"/>
              </a:rPr>
              <a:t>Inverting comparator</a:t>
            </a:r>
            <a:endParaRPr lang="en-IN" sz="1600" b="1" spc="0" dirty="0">
              <a:effectLst/>
              <a:latin typeface="Times New Roman" panose="02020603050405020304" pitchFamily="18" charset="0"/>
              <a:ea typeface="Arial MT"/>
              <a:cs typeface="Arial MT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095999" y="2823401"/>
            <a:ext cx="5709951" cy="3106294"/>
            <a:chOff x="0" y="0"/>
            <a:chExt cx="8991600" cy="3962400"/>
          </a:xfrm>
        </p:grpSpPr>
        <p:pic>
          <p:nvPicPr>
            <p:cNvPr id="13" name="Image 6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3581400" cy="3667125"/>
            </a:xfrm>
            <a:prstGeom prst="rect">
              <a:avLst/>
            </a:prstGeom>
          </p:spPr>
        </p:pic>
        <p:pic>
          <p:nvPicPr>
            <p:cNvPr id="14" name="Image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1400" y="152400"/>
              <a:ext cx="2542413" cy="3657600"/>
            </a:xfrm>
            <a:prstGeom prst="rect">
              <a:avLst/>
            </a:prstGeom>
          </p:spPr>
        </p:pic>
        <p:pic>
          <p:nvPicPr>
            <p:cNvPr id="15" name="Image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27686"/>
              <a:ext cx="2971800" cy="3934714"/>
            </a:xfrm>
            <a:prstGeom prst="rect">
              <a:avLst/>
            </a:prstGeom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57" y="2845105"/>
            <a:ext cx="2455394" cy="132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946" y="2823402"/>
            <a:ext cx="2845906" cy="332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65" y="4122311"/>
            <a:ext cx="1873202" cy="202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9728" y="958788"/>
            <a:ext cx="10692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Schmitt T</a:t>
            </a:r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rigger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49" name="Image 63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792" y="2182417"/>
            <a:ext cx="3629025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85800" y="3200400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16146" y="1929188"/>
            <a:ext cx="7274646" cy="4247877"/>
          </a:xfrm>
        </p:spPr>
        <p:txBody>
          <a:bodyPr anchor="t">
            <a:no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Schmitt trigger is one of the important application of comparator.</a:t>
            </a: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 inverting comparator with positive feedback is called as Schmitt trigger.</a:t>
            </a:r>
            <a:endParaRPr lang="en-US" sz="1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circuit converts any irregular shaped input wave to square wave.</a:t>
            </a:r>
            <a:endParaRPr lang="en-US" sz="1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input voltage is applied to the (-) input terminal and feedback voltage to the (+) input terminal.</a:t>
            </a:r>
            <a:endParaRPr lang="en-US" sz="1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input voltage v</a:t>
            </a:r>
            <a:r>
              <a:rPr lang="en-US" sz="9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triggers the output voltage </a:t>
            </a:r>
            <a:r>
              <a:rPr lang="en-US" sz="1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v</a:t>
            </a:r>
            <a:r>
              <a:rPr lang="en-US" sz="9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every time it exceeds certain voltage levels.</a:t>
            </a:r>
            <a:endParaRPr lang="en-US" sz="1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These voltage levels are called upped threshold voltage(V</a:t>
            </a:r>
            <a:r>
              <a:rPr lang="en-US" sz="9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UT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) and lower threshold voltage(V</a:t>
            </a:r>
            <a:r>
              <a:rPr lang="en-US" sz="9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LT)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hysteresis width is the difference between these two threshold voltage </a:t>
            </a:r>
            <a:r>
              <a:rPr lang="en-US" sz="14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i.e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V</a:t>
            </a:r>
            <a:r>
              <a:rPr lang="en-US" sz="9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UT</a:t>
            </a:r>
            <a:r>
              <a:rPr lang="en-US" sz="1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–V</a:t>
            </a:r>
            <a:r>
              <a:rPr lang="en-US" sz="9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LT</a:t>
            </a:r>
            <a:endParaRPr lang="en-IN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Transfer characteristic of Schmitt trigger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One of the effective ways to improve the performance of the comparator is by introducing positive feedback.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Positive feedback can increase switching speed of the comparator and provide noise.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it is desired to switch about a voltage other than zero, a reference voltage can also be connected to the non-inverting terminal.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734" y="781079"/>
            <a:ext cx="3610479" cy="4549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Switching levels for the Schmitt trigGer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 </a:t>
            </a:r>
            <a:endParaRPr lang="en-US"/>
          </a:p>
          <a:p>
            <a:r>
              <a:rPr lang="en-US"/>
              <a:t> Vin &gt; R2/(R2+R1) Vsat + Vref R1/(R2+R1)</a:t>
            </a:r>
            <a:endParaRPr lang="en-US"/>
          </a:p>
          <a:p>
            <a:r>
              <a:rPr lang="en-US"/>
              <a:t>           Positive-going transition</a:t>
            </a:r>
            <a:endParaRPr lang="en-US"/>
          </a:p>
          <a:p>
            <a:r>
              <a:rPr lang="en-US"/>
              <a:t>Vin &lt; - R2/(R2+R1) Vsat + Vref R1/(R2+R1)</a:t>
            </a:r>
            <a:endParaRPr lang="en-US"/>
          </a:p>
          <a:p>
            <a:r>
              <a:rPr lang="en-US"/>
              <a:t>            Negative-going transition</a:t>
            </a:r>
            <a:endParaRPr lang="en-US"/>
          </a:p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734" y="781079"/>
            <a:ext cx="3610479" cy="45492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65" y="690465"/>
            <a:ext cx="3877216" cy="47492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62473" y="1110343"/>
            <a:ext cx="10776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/>
              <a:t>In effect, the Schmitt trigger provides a noise rejection range equal to ± Vsat[R2/(R2+R1)] within which the comparator cannot switch</a:t>
            </a:r>
            <a:endParaRPr lang="en-US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Thus if the noise amplitude is contained within this range, the Schmitt trigger will prevent multiple triggering</a:t>
            </a:r>
            <a:endParaRPr lang="en-US"/>
          </a:p>
          <a:p>
            <a:pPr rtl="0"/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52" y="2236027"/>
            <a:ext cx="7516274" cy="31807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587" y="1109483"/>
            <a:ext cx="9603275" cy="654003"/>
          </a:xfrm>
        </p:spPr>
        <p:txBody>
          <a:bodyPr>
            <a:normAutofit/>
          </a:bodyPr>
          <a:lstStyle/>
          <a:p>
            <a:r>
              <a:rPr lang="en-GB" sz="3000" cap="none" dirty="0">
                <a:latin typeface="Cambria" panose="02040503050406030204" pitchFamily="18" charset="0"/>
                <a:ea typeface="Cambria" panose="02040503050406030204" pitchFamily="18" charset="0"/>
              </a:rPr>
              <a:t>Applications of Schmitt Trigger</a:t>
            </a:r>
            <a:endParaRPr lang="en-GB" sz="3000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463" y="1920018"/>
            <a:ext cx="9793454" cy="3450613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Noise Immunity: Convert noisy analog signals into clean digital signals.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Debouncing mechanical switches to eliminate noise and false triggering in digital circuits.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Waveform Generation: Generate square waves from a sinusoidal input.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Used in function generators and pulse-width modulation (PWM) circuits.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Signal Conditioning: Condition analog signals before further digital processing.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Shape sensor outputs into precise digital pulses in measurement systems.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Oscillators: Create stable oscillations for clock generation.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Relaxation oscillators for timing and control applications in microcontrollers and other digital systems.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Comparators: Provide precise threshold detection.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Voltage level detectors in power supply circuits to monitor battery levels.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1200"/>
              </a:spcAft>
              <a:buNone/>
              <a:defRPr/>
            </a:pPr>
            <a:endParaRPr lang="en-US"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32028" y="958788"/>
            <a:ext cx="10738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Instrumentation Amplifier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7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86321" y="2126671"/>
            <a:ext cx="5684669" cy="3852909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16146" y="1929188"/>
            <a:ext cx="5779853" cy="4247877"/>
          </a:xfrm>
        </p:spPr>
        <p:txBody>
          <a:bodyPr anchor="t">
            <a:no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 a number of industrial and consumer applications, the measurement of physical quantities is usually done with the help of transducers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The output  of transducer has to be amplified so that it can drive the indicator or display system.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This function is performed by an instrumentation amplifier.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Features of instrumentation Amplifier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High gain accuracy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High CMRR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High gain stability with low temperature co-efficient 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Low dc offset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Low output impedance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1" hangingPunct="1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55963" y="1080086"/>
            <a:ext cx="10738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>
                <a:latin typeface="Cambria" panose="02040503050406030204" pitchFamily="18" charset="0"/>
                <a:ea typeface="Cambria" panose="02040503050406030204" pitchFamily="18" charset="0"/>
              </a:rPr>
              <a:t>Instrumentation Amplifier</a:t>
            </a:r>
            <a:r>
              <a:rPr lang="en-IN" sz="1400">
                <a:latin typeface="Cambria" panose="02040503050406030204" pitchFamily="18" charset="0"/>
                <a:ea typeface="Cambria" panose="02040503050406030204" pitchFamily="18" charset="0"/>
              </a:rPr>
              <a:t> [contd…]</a:t>
            </a:r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26518" y="1891865"/>
            <a:ext cx="10738962" cy="4247877"/>
          </a:xfrm>
        </p:spPr>
        <p:txBody>
          <a:bodyPr anchor="t">
            <a:no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Instrumentation amplifier is used to amplify very low signals, rejecting noise and interference signals.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Eg.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Heartbeats, Blood Pressure, Earthquakes,… so on.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characteristics of a good instrumentation amplifier are: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Inputs to the instrumentation amplifiers will have very low signal energy. Therefore, the instrumentation amplifier should have high gain and should be accurate.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gain should be easily adjustable using a single control.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must have High Input Impedance and Low Output Impedance to prevent loading.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Instrumentation amplifier should have High CMRR since the transducer output will usually contain common mode signals such as noise when transmitted over long wires.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must also have a High Slew Rate to handle sharp rise times of events and provide a maximum undistorted output voltage swing.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32028" y="958788"/>
            <a:ext cx="10738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Instrumentation Amplifier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contd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…]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1010" y="1928894"/>
            <a:ext cx="73050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Figure  shows the improved instrumentation amplifier using three op-amp. The output Vo is given by 𝑉𝑜 = 𝑅2 𝑅1 [𝑉1 − 𝑉2] Voltage at the + input terminal of op-amp A3 is 𝑅2𝑉1 ´ 𝑅1 + 𝑅2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 Using superposition Theorem 𝑉𝑜 = − 𝑅2 𝑅1 (𝑉1 ´ − 𝑉2 ´ ) − − − −(1)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Since no current flows into op-amp, the current I flowing(upwards) in R is 𝐼 = 𝑉1 − 𝑉2 𝑅 And passes through the resistor 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R’ 𝑉1 ´ = 𝑅 ´ 𝐼 + 𝑉1 𝑉1 ´ = 𝑅 𝑅 ´ (𝑉1 − 𝑉2 ) + 𝑉1 − − − − − (2) 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𝑉2 ´ = 𝑅 ´ 𝐼 + 𝑉2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𝑉2 ´ = − 𝑅 𝑅 ´ (𝑉1 − 𝑉2 ) + 𝑉2 − − − − − (3) 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Sub (2) &amp; (3) in (1) 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𝑉𝑜 = − 𝑅2 𝑅1 [(1 + 2𝑅 ´ 𝑅 ) (𝑉1 − 𝑉2 )]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5999" y="3390178"/>
            <a:ext cx="5281990" cy="230329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46632" y="1220045"/>
            <a:ext cx="107389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Advantages of Instrumentation Amplifier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46632" y="1804820"/>
            <a:ext cx="91533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50000"/>
              </a:lnSpc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advantages of the instrumentation amplifier include the following: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gain of a three op-amp instrumentation amplifier circuit can be easily varied by adjusting the value of only one resistor Rgain.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gain of the amplifier depends only on the external resistors used.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input impedance is very high due to the emitter follower configurations of amplifiers 1 and 2.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output impedance of the instrumentation amplifier is very low due to the difference amplifier 3.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CMRR of the op-amp 3 is very high and almost all of the common mode signal will be rejected.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257" y="1258773"/>
            <a:ext cx="9603275" cy="1049235"/>
          </a:xfrm>
        </p:spPr>
        <p:txBody>
          <a:bodyPr>
            <a:normAutofit/>
          </a:bodyPr>
          <a:lstStyle/>
          <a:p>
            <a:r>
              <a:rPr lang="en-GB" sz="3000" cap="none" dirty="0">
                <a:latin typeface="Cambria" panose="02040503050406030204" pitchFamily="18" charset="0"/>
                <a:ea typeface="Cambria" panose="02040503050406030204" pitchFamily="18" charset="0"/>
              </a:rPr>
              <a:t>Applications of Instrumentation Amplifier</a:t>
            </a:r>
            <a:endParaRPr lang="en-GB" sz="3000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88" y="1864034"/>
            <a:ext cx="9793454" cy="345061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applications of the instrumentation amplifier include the following: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amplifiers mainly involve where the accuracy of high differential gain is required, strength must be preserved in noisy surroundings, as well as where huge common-mode signals are there. Some of the applications are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Instrumentation amplifiers are used in data acquisition from small o/p transducers like thermocouples, strain gauges, measurements of Wheatstone bridge, etc.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amplifiers are used in navigation, medical, radar, etc.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amplifiers are used to enhance the S/N ratio (signal to noise) in audio applications like audio signals with low amplitude.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amplifiers are used for imaging as well as video data acquisition in the conditioning of high-speed signal.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amplifiers are used in RF cable systems for amplification of the high-frequency signal.</a:t>
            </a:r>
            <a:endParaRPr lang="en-US" sz="16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spcAft>
                <a:spcPts val="1200"/>
              </a:spcAft>
              <a:buNone/>
              <a:defRPr/>
            </a:pPr>
            <a:endParaRPr lang="en-US" sz="14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1200"/>
              </a:spcAft>
              <a:buNone/>
              <a:defRPr/>
            </a:pPr>
            <a:endParaRPr lang="en-US"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436914" y="2234519"/>
            <a:ext cx="964785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Importance of operational amplifiers (Op-Amps) in electronic systems.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Fundamentals of linear applications of Op-Amps.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Key circuits discussed: comparators, Schmitt triggers, and instrumentation amplifiers.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Tlinear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applications play crucial roles in various electronic systems by enabling precise voltage comparisons, noise reduction, and accurate signal amplification, making them essential components in both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analog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and digital electronics.</a:t>
            </a:r>
            <a:endParaRPr lang="en-GB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- 1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6681" y="1042898"/>
                <a:ext cx="610076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1800" dirty="0">
                    <a:effectLst/>
                    <a:highlight>
                      <a:srgbClr val="FFFFFF"/>
                    </a:highlight>
                    <a:latin typeface="Times"/>
                  </a:rPr>
                  <a:t>The input signal in Figure (a) is applied to the comparator in Figure (b). Draw the output showing its proper relationship to the input signal. Assume the maxi- mum output levels of the comparator are </a:t>
                </a: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IN" sz="1800" dirty="0">
                    <a:effectLst/>
                    <a:highlight>
                      <a:srgbClr val="FFFFFF"/>
                    </a:highlight>
                    <a:latin typeface="Times"/>
                  </a:rPr>
                  <a:t>14 V. </a:t>
                </a:r>
                <a:endParaRPr lang="en-IN" dirty="0">
                  <a:effectLst/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81" y="1042898"/>
                <a:ext cx="6100762" cy="1200329"/>
              </a:xfrm>
              <a:prstGeom prst="rect">
                <a:avLst/>
              </a:prstGeom>
              <a:blipFill rotWithShape="1">
                <a:blip r:embed="rId1"/>
                <a:stretch>
                  <a:fillRect l="-8" t="-19" r="3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6681" y="673566"/>
            <a:ext cx="109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highlight>
                  <a:srgbClr val="FFFFFF"/>
                </a:highlight>
                <a:latin typeface="Times"/>
              </a:rPr>
              <a:t>Problem:</a:t>
            </a:r>
            <a:endParaRPr lang="en-IN" dirty="0">
              <a:effectLst/>
              <a:highlight>
                <a:srgbClr val="FFFFFF"/>
              </a:highlight>
            </a:endParaRPr>
          </a:p>
        </p:txBody>
      </p:sp>
      <p:pic>
        <p:nvPicPr>
          <p:cNvPr id="7" name="Picture 6" descr="A diagram of a diagram and a diagram of a diagram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090" y="743411"/>
            <a:ext cx="5964886" cy="2889241"/>
          </a:xfrm>
          <a:prstGeom prst="rect">
            <a:avLst/>
          </a:prstGeom>
        </p:spPr>
      </p:pic>
      <p:pic>
        <p:nvPicPr>
          <p:cNvPr id="9" name="Picture 8" descr="A math equations on a piece of paper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6" y="3658753"/>
            <a:ext cx="6988272" cy="17615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616" y="3247990"/>
            <a:ext cx="109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highlight>
                  <a:srgbClr val="FFFFFF"/>
                </a:highlight>
                <a:latin typeface="Times"/>
              </a:rPr>
              <a:t>Solution:</a:t>
            </a:r>
            <a:endParaRPr lang="en-IN" dirty="0">
              <a:effectLst/>
              <a:highlight>
                <a:srgbClr val="FFFFFF"/>
              </a:highlight>
            </a:endParaRPr>
          </a:p>
        </p:txBody>
      </p:sp>
      <p:pic>
        <p:nvPicPr>
          <p:cNvPr id="12" name="Picture 11" descr="A diagram of a voltag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888" y="3028951"/>
            <a:ext cx="2601298" cy="30727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What is the primary application of a comparator?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444721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Voltage amplification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Digital-to-</a:t>
            </a:r>
            <a:r>
              <a:rPr lang="en-IN" sz="1600" dirty="0" err="1"/>
              <a:t>analog</a:t>
            </a:r>
            <a:r>
              <a:rPr lang="en-IN" sz="1600" dirty="0"/>
              <a:t> conversion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Signal filtering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Signal comparison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26828" y="37475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dirty="0"/>
              <a:t>Which statement best describes the output </a:t>
            </a:r>
            <a:r>
              <a:rPr lang="en-IN" dirty="0" err="1"/>
              <a:t>behavior</a:t>
            </a:r>
            <a:r>
              <a:rPr lang="en-IN" dirty="0"/>
              <a:t> of an ideal comparator?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09895" y="4486010"/>
            <a:ext cx="971577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The output transitions instantly between high and low states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The output changes gradually with input changes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The output is always at a fixed voltage level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The output is unaffected by input changes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what application would a Schmitt trigger be most useful?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262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Audio amplification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Signal filtering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Switch debouncing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Voltage regulation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26828" y="37475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dirty="0"/>
              <a:t>What is the main purpose of a Schmitt trigger?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09895" y="4486010"/>
            <a:ext cx="971577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To amplify signals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To provide hysteresis in signal processing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To generate sinusoidal waves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To filter out noise from signals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3.	</a:t>
            </a:r>
            <a:r>
              <a:rPr lang="en-IN" dirty="0"/>
              <a:t>What is the primary advantage of an instrumentation amplifier over a regular operational amplifier?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442464" y="1905217"/>
            <a:ext cx="506917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Higher gain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Lower cost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Higher input impedance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/>
              <a:t>Greater accuracy in differential amplification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09895" y="371852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4.	</a:t>
            </a:r>
            <a:r>
              <a:rPr lang="en-IN" dirty="0"/>
              <a:t>In what application would an instrumentation amplifier be most suitable?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62295" y="4530587"/>
            <a:ext cx="534934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Audio amplification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Temperature sensing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Power generation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Signal conditioning for sensors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380930" y="1967920"/>
            <a:ext cx="9694506" cy="2951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Describe the characteristics of an ideal comparator. What are the key parameters to consider when selecting a comparator for a specific application?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is hysteresis, and how does it apply to Schmitt triggers? Explain with the help of a diagram.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Define an instrumentation amplifier and discuss its primary features and advantages over traditional operational amplifiers.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Explain the configuration and working principle of an instrumentation amplifier. How does it achieve high common-mode rejection ratio (CMRR) and gain accuracy?</a:t>
            </a:r>
            <a:endParaRPr lang="en-US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Op-Amps and Linear Integrated Circuit; 4th Ed., </a:t>
            </a:r>
            <a:r>
              <a:rPr lang="en-GB" dirty="0" err="1"/>
              <a:t>Gayakwad</a:t>
            </a:r>
            <a:r>
              <a:rPr lang="en-GB" dirty="0"/>
              <a:t>, Ramakant A.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algn="l">
              <a:buFont typeface="+mj-lt"/>
              <a:buAutoNum type="arabicPeriod"/>
            </a:pPr>
            <a:r>
              <a:rPr lang="en-US" dirty="0"/>
              <a:t>1. 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https://electronicsforyou.in/introduction-to-op-amp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/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ANALOG ELECTRONIC CIRCUIT DESIGN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0</TotalTime>
  <Words>11018</Words>
  <Application>WPS Presentation</Application>
  <PresentationFormat>Widescreen</PresentationFormat>
  <Paragraphs>334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9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Cambria</vt:lpstr>
      <vt:lpstr>Times New Roman</vt:lpstr>
      <vt:lpstr>Arial MT</vt:lpstr>
      <vt:lpstr>Cambria Math</vt:lpstr>
      <vt:lpstr>Calibri</vt:lpstr>
      <vt:lpstr>Symbol</vt:lpstr>
      <vt:lpstr>Gill Sans MT</vt:lpstr>
      <vt:lpstr>Microsoft YaHei</vt:lpstr>
      <vt:lpstr>Arial Unicode MS</vt:lpstr>
      <vt:lpstr>Söhne</vt:lpstr>
      <vt:lpstr>Times</vt:lpstr>
      <vt:lpstr>-webkit-standard</vt:lpstr>
      <vt:lpstr>BatangChe</vt:lpstr>
      <vt:lpstr>Gallery</vt:lpstr>
      <vt:lpstr>PowerPoint 演示文稿</vt:lpstr>
      <vt:lpstr>Session Content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Transfer characteristic of Schmitt trigger</vt:lpstr>
      <vt:lpstr>Switching levels for the Schmitt trigGer</vt:lpstr>
      <vt:lpstr>PowerPoint 演示文稿</vt:lpstr>
      <vt:lpstr>Applications of Schmitt Trigger</vt:lpstr>
      <vt:lpstr>PowerPoint 演示文稿</vt:lpstr>
      <vt:lpstr>PowerPoint 演示文稿</vt:lpstr>
      <vt:lpstr>PowerPoint 演示文稿</vt:lpstr>
      <vt:lpstr>PowerPoint 演示文稿</vt:lpstr>
      <vt:lpstr>Applications of Instrumentation Amplifier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MEMS</dc:title>
  <dc:creator>வெ. விவேகானந்தன்</dc:creator>
  <cp:lastModifiedBy>Uday Kiran</cp:lastModifiedBy>
  <cp:revision>376</cp:revision>
  <dcterms:created xsi:type="dcterms:W3CDTF">2023-05-02T05:06:00Z</dcterms:created>
  <dcterms:modified xsi:type="dcterms:W3CDTF">2025-09-08T03:48:16Z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966FBDCE4AA64BE98270317A7378EA21_13</vt:lpwstr>
  </property>
  <property fmtid="{D5CDD505-2E9C-101B-9397-08002B2CF9AE}" pid="3" name="KSOProductBuildVer">
    <vt:lpwstr>1033-12.2.0.22222</vt:lpwstr>
  </property>
</Properties>
</file>