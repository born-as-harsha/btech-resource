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1" r:id="rId1"/>
  </p:sldMasterIdLst>
  <p:notesMasterIdLst>
    <p:notesMasterId r:id="rId58"/>
  </p:notesMasterIdLst>
  <p:handoutMasterIdLst>
    <p:handoutMasterId r:id="rId59"/>
  </p:handoutMasterIdLst>
  <p:sldIdLst>
    <p:sldId id="271" r:id="rId2"/>
    <p:sldId id="1276" r:id="rId3"/>
    <p:sldId id="991" r:id="rId4"/>
    <p:sldId id="1277" r:id="rId5"/>
    <p:sldId id="1317" r:id="rId6"/>
    <p:sldId id="1316" r:id="rId7"/>
    <p:sldId id="1278" r:id="rId8"/>
    <p:sldId id="1279" r:id="rId9"/>
    <p:sldId id="1091" r:id="rId10"/>
    <p:sldId id="1280" r:id="rId11"/>
    <p:sldId id="1090" r:id="rId12"/>
    <p:sldId id="1282" r:id="rId13"/>
    <p:sldId id="1283" r:id="rId14"/>
    <p:sldId id="1284" r:id="rId15"/>
    <p:sldId id="1309" r:id="rId16"/>
    <p:sldId id="1310" r:id="rId17"/>
    <p:sldId id="1285" r:id="rId18"/>
    <p:sldId id="1286" r:id="rId19"/>
    <p:sldId id="1311" r:id="rId20"/>
    <p:sldId id="1092" r:id="rId21"/>
    <p:sldId id="1312" r:id="rId22"/>
    <p:sldId id="1313" r:id="rId23"/>
    <p:sldId id="1314" r:id="rId24"/>
    <p:sldId id="1287" r:id="rId25"/>
    <p:sldId id="1288" r:id="rId26"/>
    <p:sldId id="1289" r:id="rId27"/>
    <p:sldId id="1290" r:id="rId28"/>
    <p:sldId id="1291" r:id="rId29"/>
    <p:sldId id="1292" r:id="rId30"/>
    <p:sldId id="1293" r:id="rId31"/>
    <p:sldId id="1294" r:id="rId32"/>
    <p:sldId id="1318" r:id="rId33"/>
    <p:sldId id="1319" r:id="rId34"/>
    <p:sldId id="1320" r:id="rId35"/>
    <p:sldId id="1321" r:id="rId36"/>
    <p:sldId id="276" r:id="rId37"/>
    <p:sldId id="1045" r:id="rId38"/>
    <p:sldId id="1046" r:id="rId39"/>
    <p:sldId id="1041" r:id="rId40"/>
    <p:sldId id="1042" r:id="rId41"/>
    <p:sldId id="1043" r:id="rId42"/>
    <p:sldId id="1044" r:id="rId43"/>
    <p:sldId id="1047" r:id="rId44"/>
    <p:sldId id="1048" r:id="rId45"/>
    <p:sldId id="1296" r:id="rId46"/>
    <p:sldId id="1297" r:id="rId47"/>
    <p:sldId id="1040" r:id="rId48"/>
    <p:sldId id="1298" r:id="rId49"/>
    <p:sldId id="1299" r:id="rId50"/>
    <p:sldId id="1300" r:id="rId51"/>
    <p:sldId id="1301" r:id="rId52"/>
    <p:sldId id="1302" r:id="rId53"/>
    <p:sldId id="1305" r:id="rId54"/>
    <p:sldId id="1306" r:id="rId55"/>
    <p:sldId id="1307" r:id="rId56"/>
    <p:sldId id="1308" r:id="rId5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000" kern="1200">
        <a:solidFill>
          <a:srgbClr val="000000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000" kern="1200">
        <a:solidFill>
          <a:srgbClr val="000000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000" kern="1200">
        <a:solidFill>
          <a:srgbClr val="000000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000" kern="1200">
        <a:solidFill>
          <a:srgbClr val="000000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CC00FF"/>
    <a:srgbClr val="0099FF"/>
    <a:srgbClr val="2C2C78"/>
    <a:srgbClr val="CC99FF"/>
    <a:srgbClr val="FFFF66"/>
    <a:srgbClr val="FFFF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1" autoAdjust="0"/>
    <p:restoredTop sz="94660" autoAdjust="0"/>
  </p:normalViewPr>
  <p:slideViewPr>
    <p:cSldViewPr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FAEB13-5431-433B-A6D3-ACE8F904CC66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5E40-5BB1-4A73-BFAA-CA8CC66D1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411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10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05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05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05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8FFC21A9-7A7A-41E5-B06F-08A08A897D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6234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98538027-CA0C-417D-892D-E1E60F51AE43}" type="slidenum">
              <a:rPr lang="en-US" altLang="en-US" sz="1200" smtClean="0">
                <a:solidFill>
                  <a:schemeClr val="tx1"/>
                </a:solidFill>
              </a:rPr>
              <a:pPr eaLnBrk="1" hangingPunct="1"/>
              <a:t>4</a:t>
            </a:fld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177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177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836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837433AA-8241-41ED-A8D9-395AEB22553F}" type="slidenum">
              <a:rPr lang="en-US" altLang="en-US" sz="1200" smtClean="0">
                <a:solidFill>
                  <a:schemeClr val="tx1"/>
                </a:solidFill>
              </a:rPr>
              <a:pPr eaLnBrk="1" hangingPunct="1"/>
              <a:t>7</a:t>
            </a:fld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175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solidFill>
            <a:srgbClr val="FFFFFF"/>
          </a:solidFill>
          <a:ln/>
        </p:spPr>
      </p:sp>
      <p:sp>
        <p:nvSpPr>
          <p:cNvPr id="17510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altLang="zh-TW">
                <a:latin typeface="Arial" charset="0"/>
                <a:cs typeface="Arial" charset="0"/>
              </a:rPr>
              <a:t>versatility </a:t>
            </a:r>
            <a:r>
              <a:rPr lang="zh-TW" altLang="en-US">
                <a:latin typeface="Arial" charset="0"/>
                <a:cs typeface="Arial" charset="0"/>
              </a:rPr>
              <a:t>多用途的</a:t>
            </a:r>
            <a:r>
              <a:rPr lang="en-US" altLang="zh-TW">
                <a:latin typeface="Arial" charset="0"/>
                <a:cs typeface="Arial" charset="0"/>
              </a:rPr>
              <a:t>: any number of applications for PC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4E0F1F-B263-480B-B376-FCF9BD96C11C}" type="datetime2">
              <a:rPr lang="en-US" smtClean="0"/>
              <a:t>Thursday, July 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K.V.PRASHANTH M.Sc., M.Tech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1FC505-2800-4F7C-9BA0-95A9F87DFF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87180"/>
      </p:ext>
    </p:extLst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06D0C2-8423-4759-B467-511C0DA6C0CE}" type="datetime2">
              <a:rPr lang="en-US" smtClean="0"/>
              <a:t>Thursday, July 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K.V.PRASHANTH M.Sc., M.Tech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DBE227-8F40-419F-9427-D506C86A5E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22282"/>
      </p:ext>
    </p:extLst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98FFAF-0A7F-4338-9EF2-1595A662FFA4}" type="datetime2">
              <a:rPr lang="en-US" smtClean="0"/>
              <a:t>Thursday, July 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K.V.PRASHANTH M.Sc., M.Tech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96E74-87FE-408C-A241-BB0D6B9D91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152249"/>
      </p:ext>
    </p:extLst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162564-4A24-4EDB-AAC6-83F053D737BA}" type="datetime2">
              <a:rPr lang="en-US" smtClean="0"/>
              <a:t>Thursday, July 3, 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K.V.PRASHANTH M.Sc., M.Tech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EBEFD2-B18E-4C1F-A15E-2C51B47340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998381"/>
      </p:ext>
    </p:extLst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3D95BA-D89D-4825-93AA-F773E341494C}" type="datetime2">
              <a:rPr lang="en-US" smtClean="0"/>
              <a:t>Thursday, July 3, 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K.V.PRASHANTH M.Sc., M.Tech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5BBE16-5AE8-43FE-931B-7F4E26EBFC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045769"/>
      </p:ext>
    </p:extLst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707919-CB69-434E-B683-8247DC7C95BE}" type="datetime2">
              <a:rPr lang="en-US" smtClean="0"/>
              <a:t>Thursday, July 3, 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K.V.PRASHANTH M.Sc., M.Tech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2BAFA8-B723-44FA-AFD8-491DDAE102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457090"/>
      </p:ext>
    </p:extLst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5C3055-3696-476B-81D5-36E18FD9FE3C}" type="datetime2">
              <a:rPr lang="en-US" smtClean="0"/>
              <a:t>Thursday, July 3, 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K.V.PRASHANTH M.Sc., M.Tech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222074-2EE5-42E2-9DCC-4A65092B20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093498"/>
      </p:ext>
    </p:extLst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F2BCB9-9F53-4A13-80DD-0DB376AE2073}" type="datetime2">
              <a:rPr lang="en-US" smtClean="0"/>
              <a:t>Thursday, July 3, 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K.V.PRASHANTH M.Sc., M.Tech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06A429-1D88-403C-9D43-4DC5E0904E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58704"/>
      </p:ext>
    </p:extLst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AE8F4B-772B-4753-B989-B4FCEF3498F9}" type="datetime2">
              <a:rPr lang="en-US" smtClean="0"/>
              <a:t>Thursday, July 3, 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K.V.PRASHANTH M.Sc., M.Tech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851CAC-28A6-4AF9-B71E-A0AFB461AF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228703"/>
      </p:ext>
    </p:extLst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233DC8-B106-4882-813F-B473812B5581}" type="datetime2">
              <a:rPr lang="en-US" smtClean="0"/>
              <a:t>Thursday, July 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K.V.PRASHANTH M.Sc., M.Tech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0CE79D-E249-4B7D-A10F-ED9E41963C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579777"/>
      </p:ext>
    </p:extLst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73D9A0-EF45-43D2-8C8A-66228F49D986}" type="datetime2">
              <a:rPr lang="en-US" smtClean="0"/>
              <a:t>Thursday, July 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K.V.PRASHANTH M.Sc., M.Tech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E2529C-9C93-487F-AB0B-DA2DB2F768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068643"/>
      </p:ext>
    </p:extLst>
  </p:cSld>
  <p:clrMapOvr>
    <a:masterClrMapping/>
  </p:clrMapOvr>
  <p:transition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625" y="228600"/>
            <a:ext cx="8510588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01625" y="1676400"/>
            <a:ext cx="8540750" cy="4422775"/>
          </a:xfrm>
        </p:spPr>
        <p:txBody>
          <a:bodyPr rtlCol="0">
            <a:normAutofit/>
          </a:bodyPr>
          <a:lstStyle/>
          <a:p>
            <a:pPr lvl="0"/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8F1CDE-1A36-4BCD-87D8-FDCA48330E49}" type="datetime2">
              <a:rPr lang="en-US" smtClean="0"/>
              <a:t>Thursday, July 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K.V.PRASHANTH M.Sc., M.Tech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10A666-01EA-4BEB-B1F4-A73FB3388F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616912"/>
      </p:ext>
    </p:extLst>
  </p:cSld>
  <p:clrMapOvr>
    <a:masterClrMapping/>
  </p:clrMapOvr>
  <p:transition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1"/>
            <a:ext cx="4100513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57515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7998B73-E6DF-4535-BEE7-327FD6A0F14D}" type="datetime2">
              <a:rPr lang="en-US" smtClean="0"/>
              <a:t>Thursday, July 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K.V.PRASHANTH M.Sc., M.Tech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5804C0F-9B08-436F-8BC1-D360A1EAA8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5" r:id="rId12"/>
    <p:sldLayoutId id="2147483696" r:id="rId13"/>
  </p:sldLayoutIdLst>
  <p:transition>
    <p:random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-8175" y="110489"/>
            <a:ext cx="9144000" cy="663702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0082"/>
            <a:ext cx="4590531" cy="5136379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2819400" y="3047421"/>
            <a:ext cx="6511205" cy="2516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US" sz="24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COURSE: </a:t>
            </a:r>
          </a:p>
          <a:p>
            <a:pPr algn="ctr"/>
            <a:r>
              <a:rPr lang="en-US" sz="21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Processors and Controllers</a:t>
            </a:r>
          </a:p>
          <a:p>
            <a:pPr algn="ctr"/>
            <a:endParaRPr lang="en-US" sz="2400" b="1" cap="all" dirty="0">
              <a:ln/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  <a:p>
            <a:pPr algn="ctr"/>
            <a:r>
              <a:rPr lang="en-US" sz="24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COURSE CODE:24EC2106</a:t>
            </a:r>
          </a:p>
          <a:p>
            <a:pPr algn="ctr"/>
            <a:endParaRPr lang="en-US" sz="15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algn="ctr"/>
            <a:r>
              <a:rPr lang="en-US" sz="21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algn="ctr"/>
            <a:r>
              <a:rPr lang="en-US" sz="3000" b="1" cap="all" dirty="0">
                <a:ln/>
                <a:solidFill>
                  <a:srgbClr val="C00000"/>
                </a:solidFill>
                <a:cs typeface="Poppins" panose="00000500000000000000" pitchFamily="2" charset="0"/>
              </a:rPr>
              <a:t>CO 2- 8051 </a:t>
            </a:r>
            <a:endParaRPr lang="en-US" sz="3000" b="1" dirty="0">
              <a:solidFill>
                <a:srgbClr val="C00000"/>
              </a:solidFill>
              <a:cs typeface="Poppins" panose="00000500000000000000" pitchFamily="2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4674937" y="1551293"/>
            <a:ext cx="3428054" cy="1461839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75" name="Google Shape;475;p16"/>
          <p:cNvSpPr txBox="1"/>
          <p:nvPr/>
        </p:nvSpPr>
        <p:spPr>
          <a:xfrm>
            <a:off x="4602052" y="1853373"/>
            <a:ext cx="3446585" cy="992549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US" sz="3000" b="1" dirty="0">
                <a:solidFill>
                  <a:srgbClr val="C00000"/>
                </a:solidFill>
                <a:cs typeface="Poppins" pitchFamily="2" charset="77"/>
              </a:rPr>
              <a:t>Department of ECE 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5966461"/>
            <a:ext cx="9144000" cy="3428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857251"/>
            <a:ext cx="9144000" cy="3428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67028" y="918709"/>
            <a:ext cx="1882397" cy="7961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WordArt 2"/>
          <p:cNvSpPr>
            <a:spLocks noChangeArrowheads="1" noChangeShapeType="1" noTextEdit="1"/>
          </p:cNvSpPr>
          <p:nvPr/>
        </p:nvSpPr>
        <p:spPr bwMode="auto">
          <a:xfrm>
            <a:off x="1143000" y="762000"/>
            <a:ext cx="7200900" cy="3857625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IN" sz="3600" kern="10" dirty="0">
                <a:ln w="9525">
                  <a:solidFill>
                    <a:srgbClr val="CC99FF"/>
                  </a:solidFill>
                  <a:round/>
                  <a:headEnd type="none" w="sm" len="sm"/>
                  <a:tailEnd type="none" w="sm" len="sm"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Microcontroller</a:t>
            </a:r>
          </a:p>
          <a:p>
            <a:pPr algn="ctr"/>
            <a:r>
              <a:rPr lang="en-IN" sz="3600" kern="10" dirty="0">
                <a:ln w="9525">
                  <a:solidFill>
                    <a:srgbClr val="CC99FF"/>
                  </a:solidFill>
                  <a:round/>
                  <a:headEnd type="none" w="sm" len="sm"/>
                  <a:tailEnd type="none" w="sm" len="sm"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8051</a:t>
            </a:r>
          </a:p>
        </p:txBody>
      </p:sp>
      <p:pic>
        <p:nvPicPr>
          <p:cNvPr id="4" name="Picture 25">
            <a:extLst>
              <a:ext uri="{FF2B5EF4-FFF2-40B4-BE49-F238E27FC236}">
                <a16:creationId xmlns:a16="http://schemas.microsoft.com/office/drawing/2014/main" id="{E744209B-81B5-4DA2-AC9E-CFE8112B19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27784" y="4293096"/>
            <a:ext cx="4786313" cy="20796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48166362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29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dirty="0">
                <a:solidFill>
                  <a:srgbClr val="FF0000"/>
                </a:solidFill>
              </a:rPr>
              <a:t>The necessary tools for a microprocessor/controller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40A44C-8C16-49F7-8E3A-A0C4CC98E0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8760" y="1462897"/>
            <a:ext cx="1143000" cy="1981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49AD2A7A-1F71-43D7-AA5A-A4F4452E12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8760" y="1539097"/>
            <a:ext cx="1295400" cy="160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b="1" dirty="0">
                <a:latin typeface="Times New Roman" pitchFamily="18" charset="0"/>
              </a:rPr>
              <a:t>CPU</a:t>
            </a:r>
          </a:p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dirty="0">
                <a:latin typeface="Times New Roman" pitchFamily="18" charset="0"/>
              </a:rPr>
              <a:t>General-Purpose Micro-processor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6B27F8-60FE-4AF6-B4E3-AC0FB4F91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960" y="2072497"/>
            <a:ext cx="685800" cy="8382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22400225-1115-48AA-BD92-6B18EE9F27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8960" y="2301097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b="1" dirty="0">
                <a:latin typeface="Times New Roman" pitchFamily="18" charset="0"/>
              </a:rPr>
              <a:t>RAM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43518C-1CBE-4C9B-AEF8-468BB7369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7660" y="2072497"/>
            <a:ext cx="685800" cy="8382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8D8E33E9-7577-4A96-BDCD-034EB2EDA7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7660" y="2301097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b="1" dirty="0">
                <a:latin typeface="Times New Roman" pitchFamily="18" charset="0"/>
              </a:rPr>
              <a:t>ROM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795D5A-56BF-4353-A429-6342FED66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2560" y="2072497"/>
            <a:ext cx="685800" cy="8382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35D8C126-24D0-4361-99F4-1DDE08FA5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2560" y="2224897"/>
            <a:ext cx="838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b="1" dirty="0">
                <a:latin typeface="Times New Roman" pitchFamily="18" charset="0"/>
              </a:rPr>
              <a:t>I/O Port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53B672-5F4E-452D-9C4C-C5E3AABA44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9360" y="2072497"/>
            <a:ext cx="762000" cy="8382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ADE7B068-B0EB-477C-AA44-3A1FFF116C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9360" y="2301097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b="1" dirty="0">
                <a:latin typeface="Times New Roman" pitchFamily="18" charset="0"/>
              </a:rPr>
              <a:t>Timer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454091-717A-4AB9-9C2B-93916B75D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8060" y="2061385"/>
            <a:ext cx="838200" cy="8382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1" lang="en-US" altLang="zh-TW" sz="1600" b="1" dirty="0">
              <a:latin typeface="Times New Roman" pitchFamily="18" charset="0"/>
            </a:endParaRPr>
          </a:p>
          <a:p>
            <a:r>
              <a:rPr kumimoji="1" lang="en-US" altLang="zh-TW" sz="1600" b="1" dirty="0">
                <a:latin typeface="Times New Roman" pitchFamily="18" charset="0"/>
              </a:rPr>
              <a:t> Serial</a:t>
            </a:r>
          </a:p>
          <a:p>
            <a:r>
              <a:rPr kumimoji="1" lang="en-US" altLang="zh-TW" sz="1600" b="1" dirty="0">
                <a:latin typeface="Times New Roman" pitchFamily="18" charset="0"/>
              </a:rPr>
              <a:t> COM</a:t>
            </a:r>
          </a:p>
          <a:p>
            <a:r>
              <a:rPr kumimoji="1" lang="en-US" altLang="zh-TW" sz="1600" b="1" dirty="0">
                <a:latin typeface="Times New Roman" pitchFamily="18" charset="0"/>
              </a:rPr>
              <a:t> Port</a:t>
            </a:r>
          </a:p>
          <a:p>
            <a:endParaRPr lang="en-US" altLang="en-US" sz="1600" dirty="0">
              <a:ea typeface="PMingLiU" pitchFamily="18" charset="-120"/>
            </a:endParaRPr>
          </a:p>
        </p:txBody>
      </p:sp>
      <p:sp>
        <p:nvSpPr>
          <p:cNvPr id="15" name="Line 15">
            <a:extLst>
              <a:ext uri="{FF2B5EF4-FFF2-40B4-BE49-F238E27FC236}">
                <a16:creationId xmlns:a16="http://schemas.microsoft.com/office/drawing/2014/main" id="{16656CDC-A80C-4A7B-93A4-287F6FCFB116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1760" y="3139297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1F3FBF0D-927C-4D3B-81AF-4E4E4CA8BC5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9960" y="2910697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D5CD170C-C798-48A4-877F-928CE0964F3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0560" y="2910697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8" name="Line 18">
            <a:extLst>
              <a:ext uri="{FF2B5EF4-FFF2-40B4-BE49-F238E27FC236}">
                <a16:creationId xmlns:a16="http://schemas.microsoft.com/office/drawing/2014/main" id="{DF8F77B5-E419-4E29-9849-C919B84ED77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9960" y="1843897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9" name="Line 19">
            <a:extLst>
              <a:ext uri="{FF2B5EF4-FFF2-40B4-BE49-F238E27FC236}">
                <a16:creationId xmlns:a16="http://schemas.microsoft.com/office/drawing/2014/main" id="{A6E21527-8A1F-4465-B759-2218B580177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0560" y="1843897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0" name="Line 20">
            <a:extLst>
              <a:ext uri="{FF2B5EF4-FFF2-40B4-BE49-F238E27FC236}">
                <a16:creationId xmlns:a16="http://schemas.microsoft.com/office/drawing/2014/main" id="{FDCB01A4-4F64-4309-931D-B995E4137266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3560" y="2910697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1" name="Line 21">
            <a:extLst>
              <a:ext uri="{FF2B5EF4-FFF2-40B4-BE49-F238E27FC236}">
                <a16:creationId xmlns:a16="http://schemas.microsoft.com/office/drawing/2014/main" id="{67887033-9E64-4ACD-AEEA-959674F5EB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3560" y="1843897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" name="Line 22">
            <a:extLst>
              <a:ext uri="{FF2B5EF4-FFF2-40B4-BE49-F238E27FC236}">
                <a16:creationId xmlns:a16="http://schemas.microsoft.com/office/drawing/2014/main" id="{688EFC51-86C4-4EE4-8CA9-BC75C05821A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0360" y="2910697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3" name="Line 23">
            <a:extLst>
              <a:ext uri="{FF2B5EF4-FFF2-40B4-BE49-F238E27FC236}">
                <a16:creationId xmlns:a16="http://schemas.microsoft.com/office/drawing/2014/main" id="{B0181E08-DA7F-4A82-B57F-C39A6505E3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01148" y="1843897"/>
            <a:ext cx="0" cy="263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" name="Line 24">
            <a:extLst>
              <a:ext uri="{FF2B5EF4-FFF2-40B4-BE49-F238E27FC236}">
                <a16:creationId xmlns:a16="http://schemas.microsoft.com/office/drawing/2014/main" id="{AE90B95C-5D7E-4BA2-A5D0-C253FC298A03}"/>
              </a:ext>
            </a:extLst>
          </p:cNvPr>
          <p:cNvSpPr>
            <a:spLocks noChangeShapeType="1"/>
          </p:cNvSpPr>
          <p:nvPr/>
        </p:nvSpPr>
        <p:spPr bwMode="auto">
          <a:xfrm>
            <a:off x="7517160" y="1843897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5" name="Line 25">
            <a:extLst>
              <a:ext uri="{FF2B5EF4-FFF2-40B4-BE49-F238E27FC236}">
                <a16:creationId xmlns:a16="http://schemas.microsoft.com/office/drawing/2014/main" id="{802200D3-FFF3-41E6-970C-7A2F4992B697}"/>
              </a:ext>
            </a:extLst>
          </p:cNvPr>
          <p:cNvSpPr>
            <a:spLocks noChangeShapeType="1"/>
          </p:cNvSpPr>
          <p:nvPr/>
        </p:nvSpPr>
        <p:spPr bwMode="auto">
          <a:xfrm>
            <a:off x="7517160" y="2910697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" name="Line 26">
            <a:extLst>
              <a:ext uri="{FF2B5EF4-FFF2-40B4-BE49-F238E27FC236}">
                <a16:creationId xmlns:a16="http://schemas.microsoft.com/office/drawing/2014/main" id="{F4224409-2CCF-4342-A673-18EB284F6994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1760" y="1843897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7" name="Text Box 27">
            <a:extLst>
              <a:ext uri="{FF2B5EF4-FFF2-40B4-BE49-F238E27FC236}">
                <a16:creationId xmlns:a16="http://schemas.microsoft.com/office/drawing/2014/main" id="{31FD93D0-16F4-4467-90D1-46A06692C6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6560" y="1386697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b="1">
                <a:latin typeface="Times New Roman" pitchFamily="18" charset="0"/>
              </a:rPr>
              <a:t>Data Bus</a:t>
            </a:r>
          </a:p>
        </p:txBody>
      </p:sp>
      <p:sp>
        <p:nvSpPr>
          <p:cNvPr id="28" name="Text Box 28">
            <a:extLst>
              <a:ext uri="{FF2B5EF4-FFF2-40B4-BE49-F238E27FC236}">
                <a16:creationId xmlns:a16="http://schemas.microsoft.com/office/drawing/2014/main" id="{6FE9E4E2-28AA-4A08-A05D-392BEA78C0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2760" y="3215497"/>
            <a:ext cx="1828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b="1">
                <a:latin typeface="Times New Roman" pitchFamily="18" charset="0"/>
              </a:rPr>
              <a:t>Address Bus</a:t>
            </a:r>
          </a:p>
        </p:txBody>
      </p:sp>
      <p:sp>
        <p:nvSpPr>
          <p:cNvPr id="29" name="Text Box 29">
            <a:extLst>
              <a:ext uri="{FF2B5EF4-FFF2-40B4-BE49-F238E27FC236}">
                <a16:creationId xmlns:a16="http://schemas.microsoft.com/office/drawing/2014/main" id="{EE126FEE-B41E-4C30-B2D4-40186DA59A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7810" y="3691747"/>
            <a:ext cx="6400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dirty="0">
                <a:latin typeface="Times New Roman" pitchFamily="18" charset="0"/>
              </a:rPr>
              <a:t>General-Purpose Microprocessor System</a:t>
            </a:r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76803EF6-6DB9-44F2-81DB-62FCC413E8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4428937"/>
            <a:ext cx="7620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31" name="Text Box 4">
            <a:extLst>
              <a:ext uri="{FF2B5EF4-FFF2-40B4-BE49-F238E27FC236}">
                <a16:creationId xmlns:a16="http://schemas.microsoft.com/office/drawing/2014/main" id="{BDE0100C-3EE3-468E-8D01-09264D2D6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4657537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b="1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kumimoji="1" lang="en-US" altLang="zh-TW" sz="1800" b="1" dirty="0">
                <a:latin typeface="Times New Roman" pitchFamily="18" charset="0"/>
              </a:rPr>
              <a:t>RAM</a:t>
            </a:r>
          </a:p>
        </p:txBody>
      </p:sp>
      <p:sp>
        <p:nvSpPr>
          <p:cNvPr id="32" name="Rectangle 5">
            <a:extLst>
              <a:ext uri="{FF2B5EF4-FFF2-40B4-BE49-F238E27FC236}">
                <a16:creationId xmlns:a16="http://schemas.microsoft.com/office/drawing/2014/main" id="{2B79DE09-2464-4A1D-9464-917F52DEB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4428937"/>
            <a:ext cx="8382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33" name="Text Box 6">
            <a:extLst>
              <a:ext uri="{FF2B5EF4-FFF2-40B4-BE49-F238E27FC236}">
                <a16:creationId xmlns:a16="http://schemas.microsoft.com/office/drawing/2014/main" id="{F1ED3223-D990-4F26-A06F-9C150AB3E6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4657537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b="1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kumimoji="1" lang="en-US" altLang="zh-TW" sz="1800" b="1">
                <a:latin typeface="Times New Roman" pitchFamily="18" charset="0"/>
              </a:rPr>
              <a:t>ROM</a:t>
            </a:r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D8852D58-4FBC-4380-A0C7-B498AA71C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5267137"/>
            <a:ext cx="6858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35" name="Text Box 8">
            <a:extLst>
              <a:ext uri="{FF2B5EF4-FFF2-40B4-BE49-F238E27FC236}">
                <a16:creationId xmlns:a16="http://schemas.microsoft.com/office/drawing/2014/main" id="{915D4B0A-B935-450F-832A-04453A4657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5419537"/>
            <a:ext cx="838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b="1">
                <a:latin typeface="Times New Roman" pitchFamily="18" charset="0"/>
              </a:rPr>
              <a:t>I/O Port</a:t>
            </a:r>
          </a:p>
        </p:txBody>
      </p:sp>
      <p:sp>
        <p:nvSpPr>
          <p:cNvPr id="36" name="Rectangle 9">
            <a:extLst>
              <a:ext uri="{FF2B5EF4-FFF2-40B4-BE49-F238E27FC236}">
                <a16:creationId xmlns:a16="http://schemas.microsoft.com/office/drawing/2014/main" id="{735ABECC-907E-43FD-87C2-35F67D4E6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5267137"/>
            <a:ext cx="7620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37" name="Text Box 10">
            <a:extLst>
              <a:ext uri="{FF2B5EF4-FFF2-40B4-BE49-F238E27FC236}">
                <a16:creationId xmlns:a16="http://schemas.microsoft.com/office/drawing/2014/main" id="{4651BC07-BEF0-4C2B-AFE7-20291D8C30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5495737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b="1">
                <a:latin typeface="Times New Roman" pitchFamily="18" charset="0"/>
              </a:rPr>
              <a:t>Timer</a:t>
            </a:r>
          </a:p>
        </p:txBody>
      </p:sp>
      <p:sp>
        <p:nvSpPr>
          <p:cNvPr id="38" name="Rectangle 11">
            <a:extLst>
              <a:ext uri="{FF2B5EF4-FFF2-40B4-BE49-F238E27FC236}">
                <a16:creationId xmlns:a16="http://schemas.microsoft.com/office/drawing/2014/main" id="{DF9B91A5-C7BE-442D-B8D0-4918F9E66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5267137"/>
            <a:ext cx="8382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39" name="Text Box 12">
            <a:extLst>
              <a:ext uri="{FF2B5EF4-FFF2-40B4-BE49-F238E27FC236}">
                <a16:creationId xmlns:a16="http://schemas.microsoft.com/office/drawing/2014/main" id="{2DA52375-1CC5-4163-88A2-842F082F45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5267137"/>
            <a:ext cx="8382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b="1">
                <a:latin typeface="Times New Roman" pitchFamily="18" charset="0"/>
              </a:rPr>
              <a:t>Serial COM Port</a:t>
            </a:r>
          </a:p>
        </p:txBody>
      </p:sp>
      <p:sp>
        <p:nvSpPr>
          <p:cNvPr id="40" name="Text Box 13">
            <a:extLst>
              <a:ext uri="{FF2B5EF4-FFF2-40B4-BE49-F238E27FC236}">
                <a16:creationId xmlns:a16="http://schemas.microsoft.com/office/drawing/2014/main" id="{CC44F87F-A941-4FA3-B18B-D66525F128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9360" y="5455397"/>
            <a:ext cx="22558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dirty="0">
                <a:latin typeface="Times New Roman" pitchFamily="18" charset="0"/>
              </a:rPr>
              <a:t>Microcontroller</a:t>
            </a:r>
          </a:p>
        </p:txBody>
      </p:sp>
      <p:sp>
        <p:nvSpPr>
          <p:cNvPr id="41" name="Rectangle 14">
            <a:extLst>
              <a:ext uri="{FF2B5EF4-FFF2-40B4-BE49-F238E27FC236}">
                <a16:creationId xmlns:a16="http://schemas.microsoft.com/office/drawing/2014/main" id="{E12C81AA-2527-4849-87E4-80307A1E9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428937"/>
            <a:ext cx="6858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42" name="Text Box 15">
            <a:extLst>
              <a:ext uri="{FF2B5EF4-FFF2-40B4-BE49-F238E27FC236}">
                <a16:creationId xmlns:a16="http://schemas.microsoft.com/office/drawing/2014/main" id="{A0F05E59-D14D-4C07-BED3-F1B9853AF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57537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b="1" dirty="0">
                <a:latin typeface="Times New Roman" pitchFamily="18" charset="0"/>
              </a:rPr>
              <a:t>CPU</a:t>
            </a:r>
          </a:p>
        </p:txBody>
      </p:sp>
      <p:sp>
        <p:nvSpPr>
          <p:cNvPr id="43" name="Line 17">
            <a:extLst>
              <a:ext uri="{FF2B5EF4-FFF2-40B4-BE49-F238E27FC236}">
                <a16:creationId xmlns:a16="http://schemas.microsoft.com/office/drawing/2014/main" id="{B78F18E7-A2CB-48F3-809E-7DEE17AA88B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19800" y="5190937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4" name="Rectangle 19">
            <a:extLst>
              <a:ext uri="{FF2B5EF4-FFF2-40B4-BE49-F238E27FC236}">
                <a16:creationId xmlns:a16="http://schemas.microsoft.com/office/drawing/2014/main" id="{01F410C1-9C2B-4844-90C7-330463D87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4352737"/>
            <a:ext cx="2590800" cy="182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FFD45B-481B-4814-B735-C793FBB5B535}"/>
              </a:ext>
            </a:extLst>
          </p:cNvPr>
          <p:cNvSpPr/>
          <p:nvPr/>
        </p:nvSpPr>
        <p:spPr>
          <a:xfrm>
            <a:off x="1116360" y="6339757"/>
            <a:ext cx="72088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zh-TW" dirty="0">
                <a:latin typeface="Times New Roman" pitchFamily="18" charset="0"/>
              </a:rPr>
              <a:t>Example</a:t>
            </a:r>
            <a:r>
              <a:rPr lang="zh-TW" altLang="en-US" dirty="0">
                <a:latin typeface="Times New Roman" pitchFamily="18" charset="0"/>
              </a:rPr>
              <a:t>：</a:t>
            </a:r>
            <a:r>
              <a:rPr lang="en-US" altLang="zh-TW" dirty="0">
                <a:latin typeface="Times New Roman" pitchFamily="18" charset="0"/>
              </a:rPr>
              <a:t>Motorola’s 6811, Intel’s 8051, </a:t>
            </a:r>
            <a:r>
              <a:rPr lang="en-US" altLang="zh-TW" dirty="0" err="1">
                <a:latin typeface="Times New Roman" pitchFamily="18" charset="0"/>
              </a:rPr>
              <a:t>Zilog’s</a:t>
            </a:r>
            <a:r>
              <a:rPr lang="en-US" altLang="zh-TW" dirty="0">
                <a:latin typeface="Times New Roman" pitchFamily="18" charset="0"/>
              </a:rPr>
              <a:t> Z8 and PIC 16X</a:t>
            </a:r>
          </a:p>
        </p:txBody>
      </p:sp>
    </p:spTree>
    <p:extLst>
      <p:ext uri="{BB962C8B-B14F-4D97-AF65-F5344CB8AC3E}">
        <p14:creationId xmlns:p14="http://schemas.microsoft.com/office/powerpoint/2010/main" val="1874872169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  <p:bldP spid="13" grpId="0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833438" y="379413"/>
            <a:ext cx="7159625" cy="987425"/>
          </a:xfrm>
        </p:spPr>
        <p:txBody>
          <a:bodyPr/>
          <a:lstStyle/>
          <a:p>
            <a:pPr eaLnBrk="1" hangingPunct="1"/>
            <a:r>
              <a:rPr lang="en-US" altLang="ko-KR" b="1" dirty="0">
                <a:solidFill>
                  <a:srgbClr val="FF0000"/>
                </a:solidFill>
                <a:latin typeface="Times New Roman" pitchFamily="18" charset="0"/>
                <a:ea typeface="굴림" pitchFamily="34" charset="-127"/>
                <a:cs typeface="Times New Roman" pitchFamily="18" charset="0"/>
              </a:rPr>
              <a:t>Block Diagram of 8051</a:t>
            </a:r>
            <a:endParaRPr lang="en-US" altLang="zh-TW" b="1" dirty="0">
              <a:solidFill>
                <a:srgbClr val="FF0000"/>
              </a:solidFill>
              <a:latin typeface="Times New Roman" pitchFamily="18" charset="0"/>
              <a:ea typeface="굴림" pitchFamily="34" charset="-127"/>
              <a:cs typeface="Times New Roman" pitchFamily="18" charset="0"/>
            </a:endParaRPr>
          </a:p>
        </p:txBody>
      </p:sp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838200" y="3276600"/>
            <a:ext cx="11430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30724" name="Text Box 4"/>
          <p:cNvSpPr txBox="1">
            <a:spLocks noChangeArrowheads="1"/>
          </p:cNvSpPr>
          <p:nvPr/>
        </p:nvSpPr>
        <p:spPr bwMode="auto">
          <a:xfrm>
            <a:off x="838200" y="3429000"/>
            <a:ext cx="1143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 eaLnBrk="1" fontAlgn="b" hangingPunct="1">
              <a:spcBef>
                <a:spcPct val="50000"/>
              </a:spcBef>
            </a:pPr>
            <a:r>
              <a:rPr kumimoji="1" lang="en-US" altLang="zh-TW" sz="1800" b="1">
                <a:latin typeface="Times New Roman" pitchFamily="18" charset="0"/>
              </a:rPr>
              <a:t>CPU</a:t>
            </a:r>
          </a:p>
        </p:txBody>
      </p:sp>
      <p:sp>
        <p:nvSpPr>
          <p:cNvPr id="30725" name="Rectangle 5"/>
          <p:cNvSpPr>
            <a:spLocks noChangeArrowheads="1"/>
          </p:cNvSpPr>
          <p:nvPr/>
        </p:nvSpPr>
        <p:spPr bwMode="auto">
          <a:xfrm>
            <a:off x="4343400" y="2209800"/>
            <a:ext cx="1066800" cy="9144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30726" name="Text Box 6"/>
          <p:cNvSpPr txBox="1">
            <a:spLocks noChangeArrowheads="1"/>
          </p:cNvSpPr>
          <p:nvPr/>
        </p:nvSpPr>
        <p:spPr bwMode="auto">
          <a:xfrm>
            <a:off x="4343400" y="2362200"/>
            <a:ext cx="1066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b="1" dirty="0">
                <a:latin typeface="Times New Roman" pitchFamily="18" charset="0"/>
              </a:rPr>
              <a:t>On-chip RAM</a:t>
            </a:r>
          </a:p>
        </p:txBody>
      </p:sp>
      <p:sp>
        <p:nvSpPr>
          <p:cNvPr id="30727" name="Rectangle 7"/>
          <p:cNvSpPr>
            <a:spLocks noChangeArrowheads="1"/>
          </p:cNvSpPr>
          <p:nvPr/>
        </p:nvSpPr>
        <p:spPr bwMode="auto">
          <a:xfrm>
            <a:off x="2667000" y="1905000"/>
            <a:ext cx="1219200" cy="12192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30728" name="Text Box 8"/>
          <p:cNvSpPr txBox="1">
            <a:spLocks noChangeArrowheads="1"/>
          </p:cNvSpPr>
          <p:nvPr/>
        </p:nvSpPr>
        <p:spPr bwMode="auto">
          <a:xfrm>
            <a:off x="2686050" y="1919288"/>
            <a:ext cx="1181100" cy="1200150"/>
          </a:xfrm>
          <a:prstGeom prst="rect">
            <a:avLst/>
          </a:prstGeom>
          <a:solidFill>
            <a:srgbClr val="CC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b="1" dirty="0">
                <a:latin typeface="Times New Roman" pitchFamily="18" charset="0"/>
              </a:rPr>
              <a:t>On-chip ROM for program code</a:t>
            </a:r>
          </a:p>
        </p:txBody>
      </p:sp>
      <p:sp>
        <p:nvSpPr>
          <p:cNvPr id="30729" name="Rectangle 9"/>
          <p:cNvSpPr>
            <a:spLocks noChangeArrowheads="1"/>
          </p:cNvSpPr>
          <p:nvPr/>
        </p:nvSpPr>
        <p:spPr bwMode="auto">
          <a:xfrm>
            <a:off x="4114800" y="4114800"/>
            <a:ext cx="1600200" cy="8382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30730" name="Text Box 10"/>
          <p:cNvSpPr txBox="1">
            <a:spLocks noChangeArrowheads="1"/>
          </p:cNvSpPr>
          <p:nvPr/>
        </p:nvSpPr>
        <p:spPr bwMode="auto">
          <a:xfrm>
            <a:off x="4267200" y="4343400"/>
            <a:ext cx="1371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b="1">
                <a:latin typeface="Times New Roman" pitchFamily="18" charset="0"/>
              </a:rPr>
              <a:t>4 I/O Ports</a:t>
            </a:r>
          </a:p>
        </p:txBody>
      </p:sp>
      <p:sp>
        <p:nvSpPr>
          <p:cNvPr id="30731" name="Rectangle 11"/>
          <p:cNvSpPr>
            <a:spLocks noChangeArrowheads="1"/>
          </p:cNvSpPr>
          <p:nvPr/>
        </p:nvSpPr>
        <p:spPr bwMode="auto">
          <a:xfrm>
            <a:off x="6057900" y="2728913"/>
            <a:ext cx="1295400" cy="3810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30732" name="Text Box 12"/>
          <p:cNvSpPr txBox="1">
            <a:spLocks noChangeArrowheads="1"/>
          </p:cNvSpPr>
          <p:nvPr/>
        </p:nvSpPr>
        <p:spPr bwMode="auto">
          <a:xfrm>
            <a:off x="6057900" y="2743200"/>
            <a:ext cx="1295400" cy="366713"/>
          </a:xfrm>
          <a:prstGeom prst="rect">
            <a:avLst/>
          </a:prstGeom>
          <a:solidFill>
            <a:srgbClr val="CC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b="1">
                <a:latin typeface="Times New Roman" pitchFamily="18" charset="0"/>
              </a:rPr>
              <a:t>Timer 0</a:t>
            </a:r>
          </a:p>
        </p:txBody>
      </p:sp>
      <p:sp>
        <p:nvSpPr>
          <p:cNvPr id="30733" name="Rectangle 13"/>
          <p:cNvSpPr>
            <a:spLocks noChangeArrowheads="1"/>
          </p:cNvSpPr>
          <p:nvPr/>
        </p:nvSpPr>
        <p:spPr bwMode="auto">
          <a:xfrm>
            <a:off x="6096000" y="4114800"/>
            <a:ext cx="1219200" cy="8382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30734" name="Text Box 14"/>
          <p:cNvSpPr txBox="1">
            <a:spLocks noChangeArrowheads="1"/>
          </p:cNvSpPr>
          <p:nvPr/>
        </p:nvSpPr>
        <p:spPr bwMode="auto">
          <a:xfrm>
            <a:off x="6324600" y="4191000"/>
            <a:ext cx="838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b="1" dirty="0">
                <a:latin typeface="Times New Roman" pitchFamily="18" charset="0"/>
              </a:rPr>
              <a:t>Serial Port</a:t>
            </a:r>
          </a:p>
        </p:txBody>
      </p:sp>
      <p:sp>
        <p:nvSpPr>
          <p:cNvPr id="30735" name="Rectangle 16"/>
          <p:cNvSpPr>
            <a:spLocks noChangeArrowheads="1"/>
          </p:cNvSpPr>
          <p:nvPr/>
        </p:nvSpPr>
        <p:spPr bwMode="auto">
          <a:xfrm>
            <a:off x="838200" y="4267200"/>
            <a:ext cx="1143000" cy="7620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30736" name="Text Box 17"/>
          <p:cNvSpPr txBox="1">
            <a:spLocks noChangeArrowheads="1"/>
          </p:cNvSpPr>
          <p:nvPr/>
        </p:nvSpPr>
        <p:spPr bwMode="auto">
          <a:xfrm>
            <a:off x="838200" y="4495800"/>
            <a:ext cx="1143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 eaLnBrk="1" fontAlgn="b" hangingPunct="1">
              <a:spcBef>
                <a:spcPct val="50000"/>
              </a:spcBef>
            </a:pPr>
            <a:r>
              <a:rPr kumimoji="1" lang="en-US" altLang="zh-TW" sz="1800" b="1" dirty="0">
                <a:latin typeface="Times New Roman" pitchFamily="18" charset="0"/>
              </a:rPr>
              <a:t>OSC</a:t>
            </a:r>
          </a:p>
        </p:txBody>
      </p:sp>
      <p:sp>
        <p:nvSpPr>
          <p:cNvPr id="30737" name="Line 18"/>
          <p:cNvSpPr>
            <a:spLocks noChangeShapeType="1"/>
          </p:cNvSpPr>
          <p:nvPr/>
        </p:nvSpPr>
        <p:spPr bwMode="auto">
          <a:xfrm flipV="1">
            <a:off x="1219200" y="39624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38" name="Line 19"/>
          <p:cNvSpPr>
            <a:spLocks noChangeShapeType="1"/>
          </p:cNvSpPr>
          <p:nvPr/>
        </p:nvSpPr>
        <p:spPr bwMode="auto">
          <a:xfrm flipV="1">
            <a:off x="1524000" y="39624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39" name="Rectangle 20"/>
          <p:cNvSpPr>
            <a:spLocks noChangeArrowheads="1"/>
          </p:cNvSpPr>
          <p:nvPr/>
        </p:nvSpPr>
        <p:spPr bwMode="auto">
          <a:xfrm>
            <a:off x="838200" y="2209800"/>
            <a:ext cx="1143000" cy="7620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30740" name="Text Box 21"/>
          <p:cNvSpPr txBox="1">
            <a:spLocks noChangeArrowheads="1"/>
          </p:cNvSpPr>
          <p:nvPr/>
        </p:nvSpPr>
        <p:spPr bwMode="auto">
          <a:xfrm>
            <a:off x="838200" y="2286000"/>
            <a:ext cx="1143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 eaLnBrk="1" fontAlgn="b" hangingPunct="1">
              <a:spcBef>
                <a:spcPct val="50000"/>
              </a:spcBef>
            </a:pPr>
            <a:r>
              <a:rPr kumimoji="1" lang="en-US" altLang="zh-TW" sz="1800" b="1" dirty="0">
                <a:latin typeface="Times New Roman" pitchFamily="18" charset="0"/>
              </a:rPr>
              <a:t>Interrupt Control</a:t>
            </a:r>
          </a:p>
        </p:txBody>
      </p:sp>
      <p:sp>
        <p:nvSpPr>
          <p:cNvPr id="30741" name="Line 22"/>
          <p:cNvSpPr>
            <a:spLocks noChangeShapeType="1"/>
          </p:cNvSpPr>
          <p:nvPr/>
        </p:nvSpPr>
        <p:spPr bwMode="auto">
          <a:xfrm>
            <a:off x="1371600" y="2971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42" name="Line 23"/>
          <p:cNvSpPr>
            <a:spLocks noChangeShapeType="1"/>
          </p:cNvSpPr>
          <p:nvPr/>
        </p:nvSpPr>
        <p:spPr bwMode="auto">
          <a:xfrm>
            <a:off x="1143000" y="1905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43" name="Line 24"/>
          <p:cNvSpPr>
            <a:spLocks noChangeShapeType="1"/>
          </p:cNvSpPr>
          <p:nvPr/>
        </p:nvSpPr>
        <p:spPr bwMode="auto">
          <a:xfrm>
            <a:off x="1600200" y="1905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44" name="Text Box 25"/>
          <p:cNvSpPr txBox="1">
            <a:spLocks noChangeArrowheads="1"/>
          </p:cNvSpPr>
          <p:nvPr/>
        </p:nvSpPr>
        <p:spPr bwMode="auto">
          <a:xfrm>
            <a:off x="323850" y="1700213"/>
            <a:ext cx="2362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b="1">
                <a:latin typeface="Times New Roman" pitchFamily="18" charset="0"/>
              </a:rPr>
              <a:t>External interrupts</a:t>
            </a:r>
          </a:p>
        </p:txBody>
      </p:sp>
      <p:sp>
        <p:nvSpPr>
          <p:cNvPr id="30745" name="Line 26"/>
          <p:cNvSpPr>
            <a:spLocks noChangeShapeType="1"/>
          </p:cNvSpPr>
          <p:nvPr/>
        </p:nvSpPr>
        <p:spPr bwMode="auto">
          <a:xfrm>
            <a:off x="1143000" y="5029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46" name="Rectangle 27"/>
          <p:cNvSpPr>
            <a:spLocks noChangeArrowheads="1"/>
          </p:cNvSpPr>
          <p:nvPr/>
        </p:nvSpPr>
        <p:spPr bwMode="auto">
          <a:xfrm>
            <a:off x="1371600" y="5257800"/>
            <a:ext cx="762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30747" name="Line 28"/>
          <p:cNvSpPr>
            <a:spLocks noChangeShapeType="1"/>
          </p:cNvSpPr>
          <p:nvPr/>
        </p:nvSpPr>
        <p:spPr bwMode="auto">
          <a:xfrm>
            <a:off x="1295400" y="53340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48" name="Line 29"/>
          <p:cNvSpPr>
            <a:spLocks noChangeShapeType="1"/>
          </p:cNvSpPr>
          <p:nvPr/>
        </p:nvSpPr>
        <p:spPr bwMode="auto">
          <a:xfrm>
            <a:off x="1524000" y="53340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49" name="Line 30"/>
          <p:cNvSpPr>
            <a:spLocks noChangeShapeType="1"/>
          </p:cNvSpPr>
          <p:nvPr/>
        </p:nvSpPr>
        <p:spPr bwMode="auto">
          <a:xfrm>
            <a:off x="1143000" y="54102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50" name="Line 31"/>
          <p:cNvSpPr>
            <a:spLocks noChangeShapeType="1"/>
          </p:cNvSpPr>
          <p:nvPr/>
        </p:nvSpPr>
        <p:spPr bwMode="auto">
          <a:xfrm>
            <a:off x="1524000" y="54102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51" name="Line 32"/>
          <p:cNvSpPr>
            <a:spLocks noChangeShapeType="1"/>
          </p:cNvSpPr>
          <p:nvPr/>
        </p:nvSpPr>
        <p:spPr bwMode="auto">
          <a:xfrm>
            <a:off x="1676400" y="5029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52" name="Line 33"/>
          <p:cNvSpPr>
            <a:spLocks noChangeShapeType="1"/>
          </p:cNvSpPr>
          <p:nvPr/>
        </p:nvSpPr>
        <p:spPr bwMode="auto">
          <a:xfrm>
            <a:off x="1066800" y="5715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53" name="Line 34"/>
          <p:cNvSpPr>
            <a:spLocks noChangeShapeType="1"/>
          </p:cNvSpPr>
          <p:nvPr/>
        </p:nvSpPr>
        <p:spPr bwMode="auto">
          <a:xfrm>
            <a:off x="1066800" y="57912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54" name="Line 35"/>
          <p:cNvSpPr>
            <a:spLocks noChangeShapeType="1"/>
          </p:cNvSpPr>
          <p:nvPr/>
        </p:nvSpPr>
        <p:spPr bwMode="auto">
          <a:xfrm flipV="1">
            <a:off x="1143000" y="57912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55" name="Line 36"/>
          <p:cNvSpPr>
            <a:spLocks noChangeShapeType="1"/>
          </p:cNvSpPr>
          <p:nvPr/>
        </p:nvSpPr>
        <p:spPr bwMode="auto">
          <a:xfrm>
            <a:off x="1600200" y="5715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56" name="Line 37"/>
          <p:cNvSpPr>
            <a:spLocks noChangeShapeType="1"/>
          </p:cNvSpPr>
          <p:nvPr/>
        </p:nvSpPr>
        <p:spPr bwMode="auto">
          <a:xfrm>
            <a:off x="1600200" y="57912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57" name="Line 38"/>
          <p:cNvSpPr>
            <a:spLocks noChangeShapeType="1"/>
          </p:cNvSpPr>
          <p:nvPr/>
        </p:nvSpPr>
        <p:spPr bwMode="auto">
          <a:xfrm flipV="1">
            <a:off x="1676400" y="57912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58" name="Line 39"/>
          <p:cNvSpPr>
            <a:spLocks noChangeShapeType="1"/>
          </p:cNvSpPr>
          <p:nvPr/>
        </p:nvSpPr>
        <p:spPr bwMode="auto">
          <a:xfrm>
            <a:off x="990600" y="5943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59" name="Line 40"/>
          <p:cNvSpPr>
            <a:spLocks noChangeShapeType="1"/>
          </p:cNvSpPr>
          <p:nvPr/>
        </p:nvSpPr>
        <p:spPr bwMode="auto">
          <a:xfrm>
            <a:off x="1066800" y="6096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60" name="Line 41"/>
          <p:cNvSpPr>
            <a:spLocks noChangeShapeType="1"/>
          </p:cNvSpPr>
          <p:nvPr/>
        </p:nvSpPr>
        <p:spPr bwMode="auto">
          <a:xfrm>
            <a:off x="1028700" y="60198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61" name="Line 42"/>
          <p:cNvSpPr>
            <a:spLocks noChangeShapeType="1"/>
          </p:cNvSpPr>
          <p:nvPr/>
        </p:nvSpPr>
        <p:spPr bwMode="auto">
          <a:xfrm>
            <a:off x="1524000" y="5943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62" name="Line 43"/>
          <p:cNvSpPr>
            <a:spLocks noChangeShapeType="1"/>
          </p:cNvSpPr>
          <p:nvPr/>
        </p:nvSpPr>
        <p:spPr bwMode="auto">
          <a:xfrm>
            <a:off x="1600200" y="6096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63" name="Line 44"/>
          <p:cNvSpPr>
            <a:spLocks noChangeShapeType="1"/>
          </p:cNvSpPr>
          <p:nvPr/>
        </p:nvSpPr>
        <p:spPr bwMode="auto">
          <a:xfrm>
            <a:off x="1562100" y="60198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64" name="Rectangle 45"/>
          <p:cNvSpPr>
            <a:spLocks noChangeArrowheads="1"/>
          </p:cNvSpPr>
          <p:nvPr/>
        </p:nvSpPr>
        <p:spPr bwMode="auto">
          <a:xfrm>
            <a:off x="6057900" y="2333625"/>
            <a:ext cx="1295400" cy="3810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30765" name="Text Box 46"/>
          <p:cNvSpPr txBox="1">
            <a:spLocks noChangeArrowheads="1"/>
          </p:cNvSpPr>
          <p:nvPr/>
        </p:nvSpPr>
        <p:spPr bwMode="auto">
          <a:xfrm>
            <a:off x="6057900" y="2347913"/>
            <a:ext cx="1295400" cy="366712"/>
          </a:xfrm>
          <a:prstGeom prst="rect">
            <a:avLst/>
          </a:prstGeom>
          <a:solidFill>
            <a:srgbClr val="CC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b="1" dirty="0">
                <a:latin typeface="Times New Roman" pitchFamily="18" charset="0"/>
              </a:rPr>
              <a:t>Timer 1</a:t>
            </a:r>
          </a:p>
        </p:txBody>
      </p:sp>
      <p:sp>
        <p:nvSpPr>
          <p:cNvPr id="30766" name="Rectangle 47"/>
          <p:cNvSpPr>
            <a:spLocks noChangeArrowheads="1"/>
          </p:cNvSpPr>
          <p:nvPr/>
        </p:nvSpPr>
        <p:spPr bwMode="auto">
          <a:xfrm>
            <a:off x="6057900" y="1952625"/>
            <a:ext cx="1295400" cy="3810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30767" name="Text Box 48"/>
          <p:cNvSpPr txBox="1">
            <a:spLocks noChangeArrowheads="1"/>
          </p:cNvSpPr>
          <p:nvPr/>
        </p:nvSpPr>
        <p:spPr bwMode="auto">
          <a:xfrm>
            <a:off x="6057900" y="1966913"/>
            <a:ext cx="16049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400" b="1">
                <a:latin typeface="Times New Roman" pitchFamily="18" charset="0"/>
              </a:rPr>
              <a:t>Timer/Counter</a:t>
            </a:r>
          </a:p>
        </p:txBody>
      </p:sp>
      <p:sp>
        <p:nvSpPr>
          <p:cNvPr id="30768" name="Rectangle 49"/>
          <p:cNvSpPr>
            <a:spLocks noChangeArrowheads="1"/>
          </p:cNvSpPr>
          <p:nvPr/>
        </p:nvSpPr>
        <p:spPr bwMode="auto">
          <a:xfrm>
            <a:off x="2667000" y="4114800"/>
            <a:ext cx="1219200" cy="8382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30769" name="Text Box 50"/>
          <p:cNvSpPr txBox="1">
            <a:spLocks noChangeArrowheads="1"/>
          </p:cNvSpPr>
          <p:nvPr/>
        </p:nvSpPr>
        <p:spPr bwMode="auto">
          <a:xfrm>
            <a:off x="2667000" y="4267200"/>
            <a:ext cx="1143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 eaLnBrk="1" fontAlgn="b" hangingPunct="1">
              <a:spcBef>
                <a:spcPct val="50000"/>
              </a:spcBef>
            </a:pPr>
            <a:r>
              <a:rPr kumimoji="1" lang="en-US" altLang="zh-TW" sz="1800" b="1">
                <a:latin typeface="Times New Roman" pitchFamily="18" charset="0"/>
              </a:rPr>
              <a:t>Bus Control</a:t>
            </a:r>
          </a:p>
        </p:txBody>
      </p:sp>
      <p:sp>
        <p:nvSpPr>
          <p:cNvPr id="30770" name="Line 51"/>
          <p:cNvSpPr>
            <a:spLocks noChangeShapeType="1"/>
          </p:cNvSpPr>
          <p:nvPr/>
        </p:nvSpPr>
        <p:spPr bwMode="auto">
          <a:xfrm>
            <a:off x="3048000" y="4953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71" name="Line 52"/>
          <p:cNvSpPr>
            <a:spLocks noChangeShapeType="1"/>
          </p:cNvSpPr>
          <p:nvPr/>
        </p:nvSpPr>
        <p:spPr bwMode="auto">
          <a:xfrm>
            <a:off x="3505200" y="4953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72" name="Line 53"/>
          <p:cNvSpPr>
            <a:spLocks noChangeShapeType="1"/>
          </p:cNvSpPr>
          <p:nvPr/>
        </p:nvSpPr>
        <p:spPr bwMode="auto">
          <a:xfrm>
            <a:off x="4419600" y="4953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73" name="Line 54"/>
          <p:cNvSpPr>
            <a:spLocks noChangeShapeType="1"/>
          </p:cNvSpPr>
          <p:nvPr/>
        </p:nvSpPr>
        <p:spPr bwMode="auto">
          <a:xfrm>
            <a:off x="4724400" y="4953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74" name="Line 55"/>
          <p:cNvSpPr>
            <a:spLocks noChangeShapeType="1"/>
          </p:cNvSpPr>
          <p:nvPr/>
        </p:nvSpPr>
        <p:spPr bwMode="auto">
          <a:xfrm>
            <a:off x="5029200" y="4953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75" name="Line 56"/>
          <p:cNvSpPr>
            <a:spLocks noChangeShapeType="1"/>
          </p:cNvSpPr>
          <p:nvPr/>
        </p:nvSpPr>
        <p:spPr bwMode="auto">
          <a:xfrm>
            <a:off x="5334000" y="4953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76" name="Line 57"/>
          <p:cNvSpPr>
            <a:spLocks noChangeShapeType="1"/>
          </p:cNvSpPr>
          <p:nvPr/>
        </p:nvSpPr>
        <p:spPr bwMode="auto">
          <a:xfrm>
            <a:off x="6477000" y="4953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77" name="Line 58"/>
          <p:cNvSpPr>
            <a:spLocks noChangeShapeType="1"/>
          </p:cNvSpPr>
          <p:nvPr/>
        </p:nvSpPr>
        <p:spPr bwMode="auto">
          <a:xfrm flipV="1">
            <a:off x="7010400" y="4953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78" name="Text Box 59"/>
          <p:cNvSpPr txBox="1">
            <a:spLocks noChangeArrowheads="1"/>
          </p:cNvSpPr>
          <p:nvPr/>
        </p:nvSpPr>
        <p:spPr bwMode="auto">
          <a:xfrm>
            <a:off x="6172200" y="5334000"/>
            <a:ext cx="1295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b="1">
                <a:latin typeface="Times New Roman" pitchFamily="18" charset="0"/>
              </a:rPr>
              <a:t>TxD  RxD</a:t>
            </a:r>
          </a:p>
        </p:txBody>
      </p:sp>
      <p:sp>
        <p:nvSpPr>
          <p:cNvPr id="30779" name="Text Box 60"/>
          <p:cNvSpPr txBox="1">
            <a:spLocks noChangeArrowheads="1"/>
          </p:cNvSpPr>
          <p:nvPr/>
        </p:nvSpPr>
        <p:spPr bwMode="auto">
          <a:xfrm>
            <a:off x="4191000" y="5334000"/>
            <a:ext cx="13906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600" b="1">
                <a:latin typeface="Times New Roman" pitchFamily="18" charset="0"/>
              </a:rPr>
              <a:t>P0 P1 P2 P3</a:t>
            </a:r>
          </a:p>
        </p:txBody>
      </p:sp>
      <p:sp>
        <p:nvSpPr>
          <p:cNvPr id="30780" name="AutoShape 61"/>
          <p:cNvSpPr>
            <a:spLocks/>
          </p:cNvSpPr>
          <p:nvPr/>
        </p:nvSpPr>
        <p:spPr bwMode="auto">
          <a:xfrm rot="-5400000">
            <a:off x="4419600" y="5562600"/>
            <a:ext cx="152400" cy="304800"/>
          </a:xfrm>
          <a:prstGeom prst="leftBrace">
            <a:avLst>
              <a:gd name="adj1" fmla="val 16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30781" name="Text Box 62"/>
          <p:cNvSpPr txBox="1">
            <a:spLocks noChangeArrowheads="1"/>
          </p:cNvSpPr>
          <p:nvPr/>
        </p:nvSpPr>
        <p:spPr bwMode="auto">
          <a:xfrm>
            <a:off x="3733800" y="5715000"/>
            <a:ext cx="1828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b="1">
                <a:latin typeface="Times New Roman" pitchFamily="18" charset="0"/>
              </a:rPr>
              <a:t>Address/Data</a:t>
            </a:r>
          </a:p>
        </p:txBody>
      </p:sp>
      <p:sp>
        <p:nvSpPr>
          <p:cNvPr id="30782" name="AutoShape 63"/>
          <p:cNvSpPr>
            <a:spLocks/>
          </p:cNvSpPr>
          <p:nvPr/>
        </p:nvSpPr>
        <p:spPr bwMode="auto">
          <a:xfrm>
            <a:off x="7696200" y="2438400"/>
            <a:ext cx="76200" cy="533400"/>
          </a:xfrm>
          <a:prstGeom prst="rightBrace">
            <a:avLst>
              <a:gd name="adj1" fmla="val 58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30783" name="Line 64"/>
          <p:cNvSpPr>
            <a:spLocks noChangeShapeType="1"/>
          </p:cNvSpPr>
          <p:nvPr/>
        </p:nvSpPr>
        <p:spPr bwMode="auto">
          <a:xfrm flipH="1">
            <a:off x="7391400" y="2514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84" name="Line 65"/>
          <p:cNvSpPr>
            <a:spLocks noChangeShapeType="1"/>
          </p:cNvSpPr>
          <p:nvPr/>
        </p:nvSpPr>
        <p:spPr bwMode="auto">
          <a:xfrm flipH="1">
            <a:off x="7391400" y="29718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785" name="Text Box 66"/>
          <p:cNvSpPr txBox="1">
            <a:spLocks noChangeArrowheads="1"/>
          </p:cNvSpPr>
          <p:nvPr/>
        </p:nvSpPr>
        <p:spPr bwMode="auto">
          <a:xfrm>
            <a:off x="7772400" y="2362200"/>
            <a:ext cx="1143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b="1">
                <a:latin typeface="Times New Roman" pitchFamily="18" charset="0"/>
              </a:rPr>
              <a:t>Counter Inputs</a:t>
            </a:r>
          </a:p>
        </p:txBody>
      </p:sp>
      <p:sp>
        <p:nvSpPr>
          <p:cNvPr id="30786" name="AutoShape 67"/>
          <p:cNvSpPr>
            <a:spLocks noChangeArrowheads="1"/>
          </p:cNvSpPr>
          <p:nvPr/>
        </p:nvSpPr>
        <p:spPr bwMode="auto">
          <a:xfrm>
            <a:off x="1981200" y="3429000"/>
            <a:ext cx="4876800" cy="381000"/>
          </a:xfrm>
          <a:prstGeom prst="leftArrow">
            <a:avLst>
              <a:gd name="adj1" fmla="val 68333"/>
              <a:gd name="adj2" fmla="val 6820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30787" name="AutoShape 69"/>
          <p:cNvSpPr>
            <a:spLocks noChangeArrowheads="1"/>
          </p:cNvSpPr>
          <p:nvPr/>
        </p:nvSpPr>
        <p:spPr bwMode="auto">
          <a:xfrm>
            <a:off x="6629400" y="3124200"/>
            <a:ext cx="457200" cy="990600"/>
          </a:xfrm>
          <a:prstGeom prst="upDownArrow">
            <a:avLst>
              <a:gd name="adj1" fmla="val 50000"/>
              <a:gd name="adj2" fmla="val 4333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30788" name="Rectangle 71"/>
          <p:cNvSpPr>
            <a:spLocks noChangeArrowheads="1"/>
          </p:cNvSpPr>
          <p:nvPr/>
        </p:nvSpPr>
        <p:spPr bwMode="auto">
          <a:xfrm>
            <a:off x="2514600" y="3505200"/>
            <a:ext cx="4419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30789" name="AutoShape 68"/>
          <p:cNvSpPr>
            <a:spLocks noChangeArrowheads="1"/>
          </p:cNvSpPr>
          <p:nvPr/>
        </p:nvSpPr>
        <p:spPr bwMode="auto">
          <a:xfrm>
            <a:off x="4648200" y="3101975"/>
            <a:ext cx="457200" cy="990600"/>
          </a:xfrm>
          <a:prstGeom prst="upDownArrow">
            <a:avLst>
              <a:gd name="adj1" fmla="val 50000"/>
              <a:gd name="adj2" fmla="val 4333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30790" name="AutoShape 68"/>
          <p:cNvSpPr>
            <a:spLocks noChangeArrowheads="1"/>
          </p:cNvSpPr>
          <p:nvPr/>
        </p:nvSpPr>
        <p:spPr bwMode="auto">
          <a:xfrm>
            <a:off x="3021013" y="3101975"/>
            <a:ext cx="457200" cy="990600"/>
          </a:xfrm>
          <a:prstGeom prst="upDownArrow">
            <a:avLst>
              <a:gd name="adj1" fmla="val 50000"/>
              <a:gd name="adj2" fmla="val 4333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4802182"/>
      </p:ext>
    </p:extLst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47054-6F3F-4906-8169-506572A5B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606" y="455888"/>
            <a:ext cx="8507288" cy="850106"/>
          </a:xfrm>
        </p:spPr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Features of 8051 Microcontroller</a:t>
            </a:r>
            <a:br>
              <a:rPr lang="en-US" b="0" i="0" dirty="0">
                <a:effectLst/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786E7-DFAB-4DFC-9290-B39356240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606" y="1340768"/>
            <a:ext cx="8229600" cy="4525963"/>
          </a:xfrm>
        </p:spPr>
        <p:txBody>
          <a:bodyPr/>
          <a:lstStyle/>
          <a:p>
            <a:pPr algn="just"/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 8051 microcontroller comes bundled with the following features −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Arial" panose="020B0604020202020204" pitchFamily="34" charset="0"/>
              </a:rPr>
              <a:t>4KB bytes on-chip program memory (ROM)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Arial" panose="020B0604020202020204" pitchFamily="34" charset="0"/>
              </a:rPr>
              <a:t>128 bytes on-chip data memory (RAM)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Arial" panose="020B0604020202020204" pitchFamily="34" charset="0"/>
              </a:rPr>
              <a:t>Four register banks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Arial" panose="020B0604020202020204" pitchFamily="34" charset="0"/>
              </a:rPr>
              <a:t>128 user defined software flags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Arial" panose="020B0604020202020204" pitchFamily="34" charset="0"/>
              </a:rPr>
              <a:t>8-bit bidirectional data bus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Arial" panose="020B0604020202020204" pitchFamily="34" charset="0"/>
              </a:rPr>
              <a:t>16-bit unidirectional address bus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Arial" panose="020B0604020202020204" pitchFamily="34" charset="0"/>
              </a:rPr>
              <a:t>32 general purpose registers each of 8-bit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Arial" panose="020B0604020202020204" pitchFamily="34" charset="0"/>
              </a:rPr>
              <a:t>16 bit Timers (usually 2, but may have more or less)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Arial" panose="020B0604020202020204" pitchFamily="34" charset="0"/>
              </a:rPr>
              <a:t>Three internal and two external Interrupts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Arial" panose="020B0604020202020204" pitchFamily="34" charset="0"/>
              </a:rPr>
              <a:t>Four 8-bit ports,(short model have two 8-bit ports)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Arial" panose="020B0604020202020204" pitchFamily="34" charset="0"/>
              </a:rPr>
              <a:t>16-bit program counter and data pointer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Arial" panose="020B0604020202020204" pitchFamily="34" charset="0"/>
              </a:rPr>
              <a:t>8051 may also have a number of special features such as UARTs, ADC, Op-amp, etc.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0368711"/>
      </p:ext>
    </p:extLst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E9621-ACF2-45BE-85CE-B3AA85B44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 of 8051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AF8515-1647-4428-BDA5-B8711DED8B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9018" y="1438917"/>
            <a:ext cx="7560840" cy="4983162"/>
          </a:xfrm>
        </p:spPr>
      </p:pic>
    </p:spTree>
    <p:extLst>
      <p:ext uri="{BB962C8B-B14F-4D97-AF65-F5344CB8AC3E}">
        <p14:creationId xmlns:p14="http://schemas.microsoft.com/office/powerpoint/2010/main" val="2303839631"/>
      </p:ext>
    </p:extLst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4"/>
          <p:cNvSpPr>
            <a:spLocks noChangeArrowheads="1"/>
          </p:cNvSpPr>
          <p:nvPr/>
        </p:nvSpPr>
        <p:spPr bwMode="auto">
          <a:xfrm>
            <a:off x="633413" y="642938"/>
            <a:ext cx="70754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TW" sz="3000" b="1" u="sng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Comparison of the 8051 Family Members</a:t>
            </a:r>
            <a:r>
              <a:rPr lang="en-US" altLang="en-US" sz="4000">
                <a:solidFill>
                  <a:srgbClr val="FF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E5E6DB-5B9D-464C-90C2-CBF767292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1985962"/>
            <a:ext cx="6809308" cy="381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84573"/>
      </p:ext>
    </p:extLst>
  </p:cSld>
  <p:clrMapOvr>
    <a:masterClrMapping/>
  </p:clrMapOvr>
  <p:transition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836" name="Rectangle 4"/>
          <p:cNvSpPr>
            <a:spLocks noChangeArrowheads="1"/>
          </p:cNvSpPr>
          <p:nvPr/>
        </p:nvSpPr>
        <p:spPr bwMode="auto">
          <a:xfrm>
            <a:off x="715963" y="333375"/>
            <a:ext cx="8002587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altLang="zh-TW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Pin Description of the 8051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EFFB2AD-42BD-4B18-823C-A307E5176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63" y="1268760"/>
            <a:ext cx="7384429" cy="5069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230299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48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48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483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037BD7-F3EC-4159-A0F2-D90C3DE2F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538089"/>
            <a:ext cx="7344816" cy="498157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C91DBCD-E548-4E92-AA0B-5E99A10CE1FB}"/>
              </a:ext>
            </a:extLst>
          </p:cNvPr>
          <p:cNvSpPr/>
          <p:nvPr/>
        </p:nvSpPr>
        <p:spPr>
          <a:xfrm>
            <a:off x="2267744" y="332656"/>
            <a:ext cx="58326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rgbClr val="FF0000"/>
                </a:solidFill>
                <a:latin typeface="Times New Roman" pitchFamily="18" charset="0"/>
              </a:rPr>
              <a:t>Port 3 Alternate Functions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957989515"/>
      </p:ext>
    </p:extLst>
  </p:cSld>
  <p:clrMapOvr>
    <a:masterClrMapping/>
  </p:clrMapOvr>
  <p:transition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490538"/>
            <a:ext cx="8229600" cy="993775"/>
          </a:xfrm>
        </p:spPr>
        <p:txBody>
          <a:bodyPr/>
          <a:lstStyle/>
          <a:p>
            <a:pPr eaLnBrk="1" hangingPunct="1"/>
            <a:r>
              <a:rPr lang="en-US" altLang="zh-TW" sz="25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RESET Value of Some 8051 Registers:</a:t>
            </a:r>
          </a:p>
        </p:txBody>
      </p:sp>
      <p:sp>
        <p:nvSpPr>
          <p:cNvPr id="51203" name="Line 3"/>
          <p:cNvSpPr>
            <a:spLocks noChangeShapeType="1"/>
          </p:cNvSpPr>
          <p:nvPr/>
        </p:nvSpPr>
        <p:spPr bwMode="auto">
          <a:xfrm>
            <a:off x="1385888" y="1711325"/>
            <a:ext cx="3762375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204" name="Line 4"/>
          <p:cNvSpPr>
            <a:spLocks noChangeShapeType="1"/>
          </p:cNvSpPr>
          <p:nvPr/>
        </p:nvSpPr>
        <p:spPr bwMode="auto">
          <a:xfrm>
            <a:off x="1385888" y="1711325"/>
            <a:ext cx="0" cy="51752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205" name="Line 5"/>
          <p:cNvSpPr>
            <a:spLocks noChangeShapeType="1"/>
          </p:cNvSpPr>
          <p:nvPr/>
        </p:nvSpPr>
        <p:spPr bwMode="auto">
          <a:xfrm>
            <a:off x="7804150" y="1711325"/>
            <a:ext cx="0" cy="51752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206" name="Line 6"/>
          <p:cNvSpPr>
            <a:spLocks noChangeShapeType="1"/>
          </p:cNvSpPr>
          <p:nvPr/>
        </p:nvSpPr>
        <p:spPr bwMode="auto">
          <a:xfrm>
            <a:off x="5148263" y="1711325"/>
            <a:ext cx="2655887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207" name="Line 7"/>
          <p:cNvSpPr>
            <a:spLocks noChangeShapeType="1"/>
          </p:cNvSpPr>
          <p:nvPr/>
        </p:nvSpPr>
        <p:spPr bwMode="auto">
          <a:xfrm>
            <a:off x="1385888" y="2228850"/>
            <a:ext cx="0" cy="51752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208" name="Line 8"/>
          <p:cNvSpPr>
            <a:spLocks noChangeShapeType="1"/>
          </p:cNvSpPr>
          <p:nvPr/>
        </p:nvSpPr>
        <p:spPr bwMode="auto">
          <a:xfrm>
            <a:off x="7804150" y="2228850"/>
            <a:ext cx="0" cy="51752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209" name="Line 9"/>
          <p:cNvSpPr>
            <a:spLocks noChangeShapeType="1"/>
          </p:cNvSpPr>
          <p:nvPr/>
        </p:nvSpPr>
        <p:spPr bwMode="auto">
          <a:xfrm>
            <a:off x="1385888" y="2746375"/>
            <a:ext cx="0" cy="51752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210" name="Line 10"/>
          <p:cNvSpPr>
            <a:spLocks noChangeShapeType="1"/>
          </p:cNvSpPr>
          <p:nvPr/>
        </p:nvSpPr>
        <p:spPr bwMode="auto">
          <a:xfrm>
            <a:off x="7804150" y="2746375"/>
            <a:ext cx="0" cy="51752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211" name="Line 11"/>
          <p:cNvSpPr>
            <a:spLocks noChangeShapeType="1"/>
          </p:cNvSpPr>
          <p:nvPr/>
        </p:nvSpPr>
        <p:spPr bwMode="auto">
          <a:xfrm>
            <a:off x="1385888" y="3263900"/>
            <a:ext cx="0" cy="51752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212" name="Line 12"/>
          <p:cNvSpPr>
            <a:spLocks noChangeShapeType="1"/>
          </p:cNvSpPr>
          <p:nvPr/>
        </p:nvSpPr>
        <p:spPr bwMode="auto">
          <a:xfrm>
            <a:off x="7804150" y="3263900"/>
            <a:ext cx="0" cy="51752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213" name="Line 13"/>
          <p:cNvSpPr>
            <a:spLocks noChangeShapeType="1"/>
          </p:cNvSpPr>
          <p:nvPr/>
        </p:nvSpPr>
        <p:spPr bwMode="auto">
          <a:xfrm>
            <a:off x="1385888" y="3781425"/>
            <a:ext cx="0" cy="51752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214" name="Line 14"/>
          <p:cNvSpPr>
            <a:spLocks noChangeShapeType="1"/>
          </p:cNvSpPr>
          <p:nvPr/>
        </p:nvSpPr>
        <p:spPr bwMode="auto">
          <a:xfrm>
            <a:off x="7804150" y="3781425"/>
            <a:ext cx="0" cy="51752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215" name="Line 15"/>
          <p:cNvSpPr>
            <a:spLocks noChangeShapeType="1"/>
          </p:cNvSpPr>
          <p:nvPr/>
        </p:nvSpPr>
        <p:spPr bwMode="auto">
          <a:xfrm>
            <a:off x="1385888" y="4298950"/>
            <a:ext cx="0" cy="51752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216" name="Line 16"/>
          <p:cNvSpPr>
            <a:spLocks noChangeShapeType="1"/>
          </p:cNvSpPr>
          <p:nvPr/>
        </p:nvSpPr>
        <p:spPr bwMode="auto">
          <a:xfrm>
            <a:off x="7804150" y="4298950"/>
            <a:ext cx="0" cy="51752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217" name="Line 17"/>
          <p:cNvSpPr>
            <a:spLocks noChangeShapeType="1"/>
          </p:cNvSpPr>
          <p:nvPr/>
        </p:nvSpPr>
        <p:spPr bwMode="auto">
          <a:xfrm>
            <a:off x="1385888" y="4816475"/>
            <a:ext cx="0" cy="51752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218" name="Line 18"/>
          <p:cNvSpPr>
            <a:spLocks noChangeShapeType="1"/>
          </p:cNvSpPr>
          <p:nvPr/>
        </p:nvSpPr>
        <p:spPr bwMode="auto">
          <a:xfrm>
            <a:off x="7804150" y="4816475"/>
            <a:ext cx="0" cy="51752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219" name="Rectangle 19"/>
          <p:cNvSpPr>
            <a:spLocks noChangeArrowheads="1"/>
          </p:cNvSpPr>
          <p:nvPr/>
        </p:nvSpPr>
        <p:spPr bwMode="auto">
          <a:xfrm>
            <a:off x="5076825" y="5013325"/>
            <a:ext cx="2655888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Clr>
                <a:schemeClr val="hlink"/>
              </a:buClr>
              <a:buFont typeface="Wingdings" pitchFamily="2" charset="2"/>
              <a:buNone/>
            </a:pPr>
            <a:r>
              <a:rPr lang="en-US" altLang="zh-TW" sz="2800" b="1">
                <a:latin typeface="Times New Roman" pitchFamily="18" charset="0"/>
                <a:cs typeface="Times New Roman" pitchFamily="18" charset="0"/>
              </a:rPr>
              <a:t>0000</a:t>
            </a:r>
          </a:p>
        </p:txBody>
      </p:sp>
      <p:sp>
        <p:nvSpPr>
          <p:cNvPr id="51220" name="Rectangle 20"/>
          <p:cNvSpPr>
            <a:spLocks noChangeArrowheads="1"/>
          </p:cNvSpPr>
          <p:nvPr/>
        </p:nvSpPr>
        <p:spPr bwMode="auto">
          <a:xfrm>
            <a:off x="1333500" y="5021263"/>
            <a:ext cx="376237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Clr>
                <a:schemeClr val="hlink"/>
              </a:buClr>
              <a:buFont typeface="Wingdings" pitchFamily="2" charset="2"/>
              <a:buNone/>
            </a:pPr>
            <a:r>
              <a:rPr lang="en-US" altLang="zh-TW" sz="2800" b="1">
                <a:latin typeface="Times New Roman" pitchFamily="18" charset="0"/>
                <a:cs typeface="Times New Roman" pitchFamily="18" charset="0"/>
              </a:rPr>
              <a:t>DPTR</a:t>
            </a:r>
          </a:p>
        </p:txBody>
      </p:sp>
      <p:sp>
        <p:nvSpPr>
          <p:cNvPr id="51221" name="Rectangle 21"/>
          <p:cNvSpPr>
            <a:spLocks noChangeArrowheads="1"/>
          </p:cNvSpPr>
          <p:nvPr/>
        </p:nvSpPr>
        <p:spPr bwMode="auto">
          <a:xfrm>
            <a:off x="5095875" y="4503738"/>
            <a:ext cx="2655888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Clr>
                <a:schemeClr val="hlink"/>
              </a:buClr>
              <a:buFont typeface="Wingdings" pitchFamily="2" charset="2"/>
              <a:buNone/>
            </a:pPr>
            <a:r>
              <a:rPr lang="en-US" altLang="zh-TW" sz="2800" b="1">
                <a:latin typeface="Times New Roman" pitchFamily="18" charset="0"/>
                <a:cs typeface="Times New Roman" pitchFamily="18" charset="0"/>
              </a:rPr>
              <a:t>07</a:t>
            </a:r>
          </a:p>
        </p:txBody>
      </p:sp>
      <p:sp>
        <p:nvSpPr>
          <p:cNvPr id="51222" name="Rectangle 22"/>
          <p:cNvSpPr>
            <a:spLocks noChangeArrowheads="1"/>
          </p:cNvSpPr>
          <p:nvPr/>
        </p:nvSpPr>
        <p:spPr bwMode="auto">
          <a:xfrm>
            <a:off x="1333500" y="4503738"/>
            <a:ext cx="376237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Clr>
                <a:schemeClr val="hlink"/>
              </a:buClr>
              <a:buFont typeface="Wingdings" pitchFamily="2" charset="2"/>
              <a:buNone/>
            </a:pPr>
            <a:r>
              <a:rPr lang="en-US" altLang="zh-TW" sz="2800" b="1">
                <a:latin typeface="Times New Roman" pitchFamily="18" charset="0"/>
                <a:cs typeface="Times New Roman" pitchFamily="18" charset="0"/>
              </a:rPr>
              <a:t>SP</a:t>
            </a:r>
          </a:p>
        </p:txBody>
      </p:sp>
      <p:sp>
        <p:nvSpPr>
          <p:cNvPr id="51223" name="Rectangle 23"/>
          <p:cNvSpPr>
            <a:spLocks noChangeArrowheads="1"/>
          </p:cNvSpPr>
          <p:nvPr/>
        </p:nvSpPr>
        <p:spPr bwMode="auto">
          <a:xfrm>
            <a:off x="5095875" y="3986213"/>
            <a:ext cx="2655888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Clr>
                <a:schemeClr val="hlink"/>
              </a:buClr>
              <a:buFont typeface="Wingdings" pitchFamily="2" charset="2"/>
              <a:buNone/>
            </a:pPr>
            <a:r>
              <a:rPr lang="en-US" altLang="zh-TW" sz="2800" b="1">
                <a:latin typeface="Times New Roman" pitchFamily="18" charset="0"/>
                <a:cs typeface="Times New Roman" pitchFamily="18" charset="0"/>
              </a:rPr>
              <a:t>00</a:t>
            </a:r>
          </a:p>
        </p:txBody>
      </p:sp>
      <p:sp>
        <p:nvSpPr>
          <p:cNvPr id="51224" name="Rectangle 24"/>
          <p:cNvSpPr>
            <a:spLocks noChangeArrowheads="1"/>
          </p:cNvSpPr>
          <p:nvPr/>
        </p:nvSpPr>
        <p:spPr bwMode="auto">
          <a:xfrm>
            <a:off x="1333500" y="3986213"/>
            <a:ext cx="376237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Clr>
                <a:schemeClr val="hlink"/>
              </a:buClr>
              <a:buFont typeface="Wingdings" pitchFamily="2" charset="2"/>
              <a:buNone/>
            </a:pPr>
            <a:r>
              <a:rPr lang="en-US" altLang="zh-TW" sz="2800" b="1">
                <a:latin typeface="Times New Roman" pitchFamily="18" charset="0"/>
                <a:cs typeface="Times New Roman" pitchFamily="18" charset="0"/>
              </a:rPr>
              <a:t>PSW</a:t>
            </a:r>
          </a:p>
        </p:txBody>
      </p:sp>
      <p:sp>
        <p:nvSpPr>
          <p:cNvPr id="51225" name="Rectangle 25"/>
          <p:cNvSpPr>
            <a:spLocks noChangeArrowheads="1"/>
          </p:cNvSpPr>
          <p:nvPr/>
        </p:nvSpPr>
        <p:spPr bwMode="auto">
          <a:xfrm>
            <a:off x="5095875" y="3468688"/>
            <a:ext cx="2655888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Clr>
                <a:schemeClr val="hlink"/>
              </a:buClr>
              <a:buFont typeface="Wingdings" pitchFamily="2" charset="2"/>
              <a:buNone/>
            </a:pPr>
            <a:r>
              <a:rPr lang="en-US" altLang="zh-TW" sz="2800" b="1">
                <a:latin typeface="Times New Roman" pitchFamily="18" charset="0"/>
                <a:cs typeface="Times New Roman" pitchFamily="18" charset="0"/>
              </a:rPr>
              <a:t>00</a:t>
            </a:r>
          </a:p>
        </p:txBody>
      </p:sp>
      <p:sp>
        <p:nvSpPr>
          <p:cNvPr id="51226" name="Rectangle 26"/>
          <p:cNvSpPr>
            <a:spLocks noChangeArrowheads="1"/>
          </p:cNvSpPr>
          <p:nvPr/>
        </p:nvSpPr>
        <p:spPr bwMode="auto">
          <a:xfrm>
            <a:off x="1333500" y="3468688"/>
            <a:ext cx="376237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Clr>
                <a:schemeClr val="hlink"/>
              </a:buClr>
              <a:buFont typeface="Wingdings" pitchFamily="2" charset="2"/>
              <a:buNone/>
            </a:pPr>
            <a:r>
              <a:rPr lang="en-US" altLang="zh-TW" sz="2800" b="1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1227" name="Rectangle 27"/>
          <p:cNvSpPr>
            <a:spLocks noChangeArrowheads="1"/>
          </p:cNvSpPr>
          <p:nvPr/>
        </p:nvSpPr>
        <p:spPr bwMode="auto">
          <a:xfrm>
            <a:off x="5095875" y="2951163"/>
            <a:ext cx="2655888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Clr>
                <a:schemeClr val="hlink"/>
              </a:buClr>
              <a:buFont typeface="Wingdings" pitchFamily="2" charset="2"/>
              <a:buNone/>
            </a:pPr>
            <a:r>
              <a:rPr lang="en-US" altLang="zh-TW" sz="2800" b="1">
                <a:latin typeface="Times New Roman" pitchFamily="18" charset="0"/>
                <a:cs typeface="Times New Roman" pitchFamily="18" charset="0"/>
              </a:rPr>
              <a:t>00</a:t>
            </a:r>
          </a:p>
        </p:txBody>
      </p:sp>
      <p:sp>
        <p:nvSpPr>
          <p:cNvPr id="51228" name="Rectangle 28"/>
          <p:cNvSpPr>
            <a:spLocks noChangeArrowheads="1"/>
          </p:cNvSpPr>
          <p:nvPr/>
        </p:nvSpPr>
        <p:spPr bwMode="auto">
          <a:xfrm>
            <a:off x="1333500" y="2951163"/>
            <a:ext cx="376237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Clr>
                <a:schemeClr val="hlink"/>
              </a:buClr>
              <a:buFont typeface="Wingdings" pitchFamily="2" charset="2"/>
              <a:buNone/>
            </a:pPr>
            <a:r>
              <a:rPr lang="en-US" altLang="zh-TW" sz="2800" b="1">
                <a:latin typeface="Times New Roman" pitchFamily="18" charset="0"/>
                <a:cs typeface="Times New Roman" pitchFamily="18" charset="0"/>
              </a:rPr>
              <a:t>ACC</a:t>
            </a:r>
          </a:p>
        </p:txBody>
      </p:sp>
      <p:sp>
        <p:nvSpPr>
          <p:cNvPr id="51229" name="Rectangle 29"/>
          <p:cNvSpPr>
            <a:spLocks noChangeArrowheads="1"/>
          </p:cNvSpPr>
          <p:nvPr/>
        </p:nvSpPr>
        <p:spPr bwMode="auto">
          <a:xfrm>
            <a:off x="5095875" y="2433638"/>
            <a:ext cx="2655888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Clr>
                <a:schemeClr val="hlink"/>
              </a:buClr>
              <a:buFont typeface="Wingdings" pitchFamily="2" charset="2"/>
              <a:buNone/>
            </a:pPr>
            <a:r>
              <a:rPr lang="en-US" altLang="zh-TW" sz="2800" b="1">
                <a:latin typeface="Times New Roman" pitchFamily="18" charset="0"/>
                <a:cs typeface="Times New Roman" pitchFamily="18" charset="0"/>
              </a:rPr>
              <a:t>0000</a:t>
            </a:r>
          </a:p>
        </p:txBody>
      </p:sp>
      <p:sp>
        <p:nvSpPr>
          <p:cNvPr id="51230" name="Rectangle 30"/>
          <p:cNvSpPr>
            <a:spLocks noChangeArrowheads="1"/>
          </p:cNvSpPr>
          <p:nvPr/>
        </p:nvSpPr>
        <p:spPr bwMode="auto">
          <a:xfrm>
            <a:off x="1331913" y="2420938"/>
            <a:ext cx="376237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Clr>
                <a:schemeClr val="hlink"/>
              </a:buClr>
              <a:buFont typeface="Wingdings" pitchFamily="2" charset="2"/>
              <a:buNone/>
            </a:pPr>
            <a:r>
              <a:rPr lang="en-US" altLang="zh-TW" sz="2800" b="1">
                <a:latin typeface="Times New Roman" pitchFamily="18" charset="0"/>
                <a:cs typeface="Times New Roman" pitchFamily="18" charset="0"/>
              </a:rPr>
              <a:t>PC</a:t>
            </a:r>
          </a:p>
        </p:txBody>
      </p:sp>
      <p:sp>
        <p:nvSpPr>
          <p:cNvPr id="51231" name="Rectangle 31"/>
          <p:cNvSpPr>
            <a:spLocks noChangeArrowheads="1"/>
          </p:cNvSpPr>
          <p:nvPr/>
        </p:nvSpPr>
        <p:spPr bwMode="auto">
          <a:xfrm>
            <a:off x="5095875" y="1916113"/>
            <a:ext cx="2655888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Clr>
                <a:schemeClr val="hlink"/>
              </a:buClr>
              <a:buFont typeface="Wingdings" pitchFamily="2" charset="2"/>
              <a:buNone/>
            </a:pPr>
            <a:r>
              <a:rPr lang="en-US" altLang="zh-TW" sz="2800" b="1">
                <a:latin typeface="Times New Roman" pitchFamily="18" charset="0"/>
                <a:cs typeface="Times New Roman" pitchFamily="18" charset="0"/>
              </a:rPr>
              <a:t>Reset Value</a:t>
            </a:r>
          </a:p>
        </p:txBody>
      </p:sp>
      <p:sp>
        <p:nvSpPr>
          <p:cNvPr id="51232" name="Rectangle 32"/>
          <p:cNvSpPr>
            <a:spLocks noChangeArrowheads="1"/>
          </p:cNvSpPr>
          <p:nvPr/>
        </p:nvSpPr>
        <p:spPr bwMode="auto">
          <a:xfrm>
            <a:off x="1333500" y="1916113"/>
            <a:ext cx="376237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Clr>
                <a:schemeClr val="hlink"/>
              </a:buClr>
              <a:buFont typeface="Wingdings" pitchFamily="2" charset="2"/>
              <a:buNone/>
            </a:pPr>
            <a:r>
              <a:rPr lang="en-US" altLang="zh-TW" sz="2800" b="1">
                <a:latin typeface="Times New Roman" pitchFamily="18" charset="0"/>
                <a:cs typeface="Times New Roman" pitchFamily="18" charset="0"/>
              </a:rPr>
              <a:t>Register</a:t>
            </a:r>
          </a:p>
        </p:txBody>
      </p:sp>
      <p:sp>
        <p:nvSpPr>
          <p:cNvPr id="51233" name="Line 33"/>
          <p:cNvSpPr>
            <a:spLocks noChangeShapeType="1"/>
          </p:cNvSpPr>
          <p:nvPr/>
        </p:nvSpPr>
        <p:spPr bwMode="auto">
          <a:xfrm>
            <a:off x="1333500" y="2951163"/>
            <a:ext cx="64182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234" name="Line 34"/>
          <p:cNvSpPr>
            <a:spLocks noChangeShapeType="1"/>
          </p:cNvSpPr>
          <p:nvPr/>
        </p:nvSpPr>
        <p:spPr bwMode="auto">
          <a:xfrm>
            <a:off x="1333500" y="3468688"/>
            <a:ext cx="64182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235" name="Line 35"/>
          <p:cNvSpPr>
            <a:spLocks noChangeShapeType="1"/>
          </p:cNvSpPr>
          <p:nvPr/>
        </p:nvSpPr>
        <p:spPr bwMode="auto">
          <a:xfrm>
            <a:off x="1333500" y="3986213"/>
            <a:ext cx="64182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236" name="Line 36"/>
          <p:cNvSpPr>
            <a:spLocks noChangeShapeType="1"/>
          </p:cNvSpPr>
          <p:nvPr/>
        </p:nvSpPr>
        <p:spPr bwMode="auto">
          <a:xfrm>
            <a:off x="1333500" y="4503738"/>
            <a:ext cx="64182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237" name="Line 37"/>
          <p:cNvSpPr>
            <a:spLocks noChangeShapeType="1"/>
          </p:cNvSpPr>
          <p:nvPr/>
        </p:nvSpPr>
        <p:spPr bwMode="auto">
          <a:xfrm>
            <a:off x="1333500" y="5021263"/>
            <a:ext cx="64182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238" name="Line 38"/>
          <p:cNvSpPr>
            <a:spLocks noChangeShapeType="1"/>
          </p:cNvSpPr>
          <p:nvPr/>
        </p:nvSpPr>
        <p:spPr bwMode="auto">
          <a:xfrm>
            <a:off x="1333500" y="5538788"/>
            <a:ext cx="64182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239" name="Line 39"/>
          <p:cNvSpPr>
            <a:spLocks noChangeShapeType="1"/>
          </p:cNvSpPr>
          <p:nvPr/>
        </p:nvSpPr>
        <p:spPr bwMode="auto">
          <a:xfrm>
            <a:off x="1331913" y="2443163"/>
            <a:ext cx="6408737" cy="0"/>
          </a:xfrm>
          <a:prstGeom prst="line">
            <a:avLst/>
          </a:prstGeom>
          <a:noFill/>
          <a:ln w="69850" cmpd="dbl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37608" name="Rectangle 40"/>
          <p:cNvSpPr>
            <a:spLocks noChangeArrowheads="1"/>
          </p:cNvSpPr>
          <p:nvPr/>
        </p:nvSpPr>
        <p:spPr bwMode="auto">
          <a:xfrm>
            <a:off x="1371600" y="5638800"/>
            <a:ext cx="3762375" cy="5175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altLang="zh-TW" sz="2800" b="1">
                <a:latin typeface="Times New Roman" pitchFamily="18" charset="0"/>
                <a:cs typeface="Times New Roman" pitchFamily="18" charset="0"/>
              </a:rPr>
              <a:t>RAM are all zero</a:t>
            </a:r>
            <a:r>
              <a:rPr lang="en-US" altLang="zh-TW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29422108"/>
      </p:ext>
    </p:extLst>
  </p:cSld>
  <p:clrMapOvr>
    <a:masterClrMapping/>
  </p:clrMapOvr>
  <p:transition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36B26-3E85-41C7-B70F-2D959D849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ko-KR" b="1" dirty="0">
                <a:solidFill>
                  <a:srgbClr val="FF0000"/>
                </a:solidFill>
                <a:latin typeface="Times New Roman" pitchFamily="18" charset="0"/>
                <a:ea typeface="Batang" pitchFamily="18" charset="-127"/>
                <a:cs typeface="Times New Roman" pitchFamily="18" charset="0"/>
              </a:rPr>
            </a:br>
            <a:r>
              <a:rPr lang="en-US" altLang="ko-KR" b="1" dirty="0">
                <a:solidFill>
                  <a:srgbClr val="FF0000"/>
                </a:solidFill>
                <a:latin typeface="Times New Roman" pitchFamily="18" charset="0"/>
                <a:ea typeface="Batang" pitchFamily="18" charset="-127"/>
                <a:cs typeface="Times New Roman" pitchFamily="18" charset="0"/>
              </a:rPr>
              <a:t>Registers</a:t>
            </a:r>
            <a:br>
              <a:rPr lang="en-US" altLang="ko-KR" dirty="0">
                <a:solidFill>
                  <a:srgbClr val="FF0000"/>
                </a:solidFill>
                <a:ea typeface="Batang" pitchFamily="18" charset="-127"/>
                <a:cs typeface="Times New Roman" pitchFamily="18" charset="0"/>
              </a:rPr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A7EA0D-318A-4A68-ADC7-8EFF1378A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5" y="1571624"/>
            <a:ext cx="3744415" cy="48097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1FA695-54BC-4184-87F6-34BB8E85D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571624"/>
            <a:ext cx="4114801" cy="4809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888968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rrowheads="1"/>
          </p:cNvSpPr>
          <p:nvPr>
            <p:ph idx="1"/>
          </p:nvPr>
        </p:nvSpPr>
        <p:spPr>
          <a:xfrm>
            <a:off x="303213" y="190500"/>
            <a:ext cx="8229600" cy="5289550"/>
          </a:xfrm>
        </p:spPr>
        <p:txBody>
          <a:bodyPr/>
          <a:lstStyle/>
          <a:p>
            <a:pPr marL="0" indent="0" algn="ctr" eaLnBrk="1" hangingPunct="1">
              <a:buFont typeface="Arial" charset="0"/>
              <a:buNone/>
            </a:pPr>
            <a:r>
              <a:rPr lang="en-US" altLang="ko-KR" sz="2500" b="1">
                <a:solidFill>
                  <a:srgbClr val="FF0000"/>
                </a:solidFill>
                <a:ea typeface="굴림" pitchFamily="34" charset="-127"/>
              </a:rPr>
              <a:t>RAM memory space allocation in the 8051</a:t>
            </a:r>
            <a:endParaRPr lang="en-US" altLang="en-US" sz="2500" b="1">
              <a:solidFill>
                <a:srgbClr val="FF0000"/>
              </a:solidFill>
              <a:ea typeface="굴림" pitchFamily="34" charset="-127"/>
            </a:endParaRPr>
          </a:p>
        </p:txBody>
      </p:sp>
      <p:grpSp>
        <p:nvGrpSpPr>
          <p:cNvPr id="54275" name="Group 3"/>
          <p:cNvGrpSpPr>
            <a:grpSpLocks noChangeAspect="1"/>
          </p:cNvGrpSpPr>
          <p:nvPr/>
        </p:nvGrpSpPr>
        <p:grpSpPr bwMode="auto">
          <a:xfrm>
            <a:off x="827584" y="1377950"/>
            <a:ext cx="7705229" cy="5016500"/>
            <a:chOff x="1804" y="2190"/>
            <a:chExt cx="8638" cy="4678"/>
          </a:xfrm>
        </p:grpSpPr>
        <p:sp>
          <p:nvSpPr>
            <p:cNvPr id="54277" name="AutoShape 4"/>
            <p:cNvSpPr>
              <a:spLocks noChangeAspect="1" noChangeArrowheads="1"/>
            </p:cNvSpPr>
            <p:nvPr/>
          </p:nvSpPr>
          <p:spPr bwMode="auto">
            <a:xfrm>
              <a:off x="1804" y="2190"/>
              <a:ext cx="8638" cy="4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54278" name="Rectangle 5"/>
            <p:cNvSpPr>
              <a:spLocks noChangeArrowheads="1"/>
            </p:cNvSpPr>
            <p:nvPr/>
          </p:nvSpPr>
          <p:spPr bwMode="auto">
            <a:xfrm>
              <a:off x="5220" y="2586"/>
              <a:ext cx="1848" cy="1299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54279" name="Text Box 6"/>
            <p:cNvSpPr txBox="1">
              <a:spLocks noChangeArrowheads="1"/>
            </p:cNvSpPr>
            <p:nvPr/>
          </p:nvSpPr>
          <p:spPr bwMode="auto">
            <a:xfrm>
              <a:off x="4719" y="2549"/>
              <a:ext cx="980" cy="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rtl="1" eaLnBrk="1" hangingPunct="1"/>
              <a:r>
                <a:rPr lang="en-US" altLang="zh-CN" sz="1200">
                  <a:solidFill>
                    <a:schemeClr val="tx1"/>
                  </a:solidFill>
                  <a:latin typeface="Times New Roman" pitchFamily="18" charset="0"/>
                </a:rPr>
                <a:t>7FH</a:t>
              </a:r>
              <a:endParaRPr lang="en-US" altLang="en-US" sz="1800">
                <a:solidFill>
                  <a:schemeClr val="tx1"/>
                </a:solidFill>
                <a:ea typeface="SimSun" pitchFamily="2" charset="-122"/>
              </a:endParaRPr>
            </a:p>
          </p:txBody>
        </p:sp>
        <p:sp>
          <p:nvSpPr>
            <p:cNvPr id="54280" name="Text Box 7"/>
            <p:cNvSpPr txBox="1">
              <a:spLocks noChangeArrowheads="1"/>
            </p:cNvSpPr>
            <p:nvPr/>
          </p:nvSpPr>
          <p:spPr bwMode="auto">
            <a:xfrm>
              <a:off x="4734" y="3630"/>
              <a:ext cx="980" cy="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rtl="1" eaLnBrk="1" hangingPunct="1"/>
              <a:r>
                <a:rPr lang="en-US" altLang="zh-CN" sz="1200">
                  <a:solidFill>
                    <a:schemeClr val="tx1"/>
                  </a:solidFill>
                  <a:latin typeface="Times New Roman" pitchFamily="18" charset="0"/>
                </a:rPr>
                <a:t>30H</a:t>
              </a:r>
              <a:endParaRPr lang="en-US" altLang="en-US" sz="1800">
                <a:solidFill>
                  <a:schemeClr val="tx1"/>
                </a:solidFill>
                <a:ea typeface="SimSun" pitchFamily="2" charset="-122"/>
              </a:endParaRPr>
            </a:p>
          </p:txBody>
        </p:sp>
        <p:sp>
          <p:nvSpPr>
            <p:cNvPr id="54281" name="Line 8"/>
            <p:cNvSpPr>
              <a:spLocks noChangeShapeType="1"/>
            </p:cNvSpPr>
            <p:nvPr/>
          </p:nvSpPr>
          <p:spPr bwMode="auto">
            <a:xfrm flipH="1">
              <a:off x="4674" y="3885"/>
              <a:ext cx="57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282" name="Rectangle 9"/>
            <p:cNvSpPr>
              <a:spLocks noChangeArrowheads="1"/>
            </p:cNvSpPr>
            <p:nvPr/>
          </p:nvSpPr>
          <p:spPr bwMode="auto">
            <a:xfrm>
              <a:off x="5220" y="3861"/>
              <a:ext cx="1848" cy="881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54283" name="Text Box 10"/>
            <p:cNvSpPr txBox="1">
              <a:spLocks noChangeArrowheads="1"/>
            </p:cNvSpPr>
            <p:nvPr/>
          </p:nvSpPr>
          <p:spPr bwMode="auto">
            <a:xfrm>
              <a:off x="4734" y="3823"/>
              <a:ext cx="980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rtl="1" eaLnBrk="1" hangingPunct="1"/>
              <a:r>
                <a:rPr lang="en-US" altLang="zh-CN" sz="1200">
                  <a:solidFill>
                    <a:schemeClr val="tx1"/>
                  </a:solidFill>
                  <a:latin typeface="Times New Roman" pitchFamily="18" charset="0"/>
                </a:rPr>
                <a:t>2FH</a:t>
              </a:r>
              <a:endParaRPr lang="en-US" altLang="en-US" sz="1800">
                <a:solidFill>
                  <a:schemeClr val="tx1"/>
                </a:solidFill>
                <a:ea typeface="SimSun" pitchFamily="2" charset="-122"/>
              </a:endParaRPr>
            </a:p>
          </p:txBody>
        </p:sp>
        <p:sp>
          <p:nvSpPr>
            <p:cNvPr id="54284" name="Text Box 11"/>
            <p:cNvSpPr txBox="1">
              <a:spLocks noChangeArrowheads="1"/>
            </p:cNvSpPr>
            <p:nvPr/>
          </p:nvSpPr>
          <p:spPr bwMode="auto">
            <a:xfrm>
              <a:off x="4734" y="4535"/>
              <a:ext cx="980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rtl="1" eaLnBrk="1" hangingPunct="1"/>
              <a:r>
                <a:rPr lang="en-US" altLang="zh-CN" sz="1200">
                  <a:solidFill>
                    <a:schemeClr val="tx1"/>
                  </a:solidFill>
                  <a:latin typeface="Times New Roman" pitchFamily="18" charset="0"/>
                </a:rPr>
                <a:t>20H</a:t>
              </a:r>
              <a:endParaRPr lang="en-US" altLang="en-US" sz="1800">
                <a:solidFill>
                  <a:schemeClr val="tx1"/>
                </a:solidFill>
                <a:ea typeface="SimSun" pitchFamily="2" charset="-122"/>
              </a:endParaRPr>
            </a:p>
          </p:txBody>
        </p:sp>
        <p:sp>
          <p:nvSpPr>
            <p:cNvPr id="54285" name="Line 12"/>
            <p:cNvSpPr>
              <a:spLocks noChangeShapeType="1"/>
            </p:cNvSpPr>
            <p:nvPr/>
          </p:nvSpPr>
          <p:spPr bwMode="auto">
            <a:xfrm flipH="1">
              <a:off x="4674" y="4752"/>
              <a:ext cx="57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286" name="Rectangle 13"/>
            <p:cNvSpPr>
              <a:spLocks noChangeArrowheads="1"/>
            </p:cNvSpPr>
            <p:nvPr/>
          </p:nvSpPr>
          <p:spPr bwMode="auto">
            <a:xfrm>
              <a:off x="5220" y="4753"/>
              <a:ext cx="1848" cy="503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54287" name="Text Box 14"/>
            <p:cNvSpPr txBox="1">
              <a:spLocks noChangeArrowheads="1"/>
            </p:cNvSpPr>
            <p:nvPr/>
          </p:nvSpPr>
          <p:spPr bwMode="auto">
            <a:xfrm>
              <a:off x="4734" y="4696"/>
              <a:ext cx="980" cy="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rtl="1" eaLnBrk="1" hangingPunct="1"/>
              <a:r>
                <a:rPr lang="en-US" altLang="zh-CN" sz="1200">
                  <a:solidFill>
                    <a:schemeClr val="tx1"/>
                  </a:solidFill>
                  <a:latin typeface="Times New Roman" pitchFamily="18" charset="0"/>
                </a:rPr>
                <a:t>1FH</a:t>
              </a:r>
              <a:endParaRPr lang="en-US" altLang="en-US" sz="1800">
                <a:solidFill>
                  <a:schemeClr val="tx1"/>
                </a:solidFill>
                <a:ea typeface="SimSun" pitchFamily="2" charset="-122"/>
              </a:endParaRPr>
            </a:p>
          </p:txBody>
        </p:sp>
        <p:sp>
          <p:nvSpPr>
            <p:cNvPr id="54288" name="Line 15"/>
            <p:cNvSpPr>
              <a:spLocks noChangeShapeType="1"/>
            </p:cNvSpPr>
            <p:nvPr/>
          </p:nvSpPr>
          <p:spPr bwMode="auto">
            <a:xfrm flipH="1">
              <a:off x="4660" y="5242"/>
              <a:ext cx="57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289" name="Rectangle 16"/>
            <p:cNvSpPr>
              <a:spLocks noChangeArrowheads="1"/>
            </p:cNvSpPr>
            <p:nvPr/>
          </p:nvSpPr>
          <p:spPr bwMode="auto">
            <a:xfrm>
              <a:off x="5220" y="5256"/>
              <a:ext cx="1848" cy="454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54290" name="Text Box 17"/>
            <p:cNvSpPr txBox="1">
              <a:spLocks noChangeArrowheads="1"/>
            </p:cNvSpPr>
            <p:nvPr/>
          </p:nvSpPr>
          <p:spPr bwMode="auto">
            <a:xfrm>
              <a:off x="4734" y="5200"/>
              <a:ext cx="980" cy="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rtl="1" eaLnBrk="1" hangingPunct="1"/>
              <a:r>
                <a:rPr lang="en-US" altLang="zh-CN" sz="1200">
                  <a:solidFill>
                    <a:schemeClr val="tx1"/>
                  </a:solidFill>
                  <a:latin typeface="Times New Roman" pitchFamily="18" charset="0"/>
                </a:rPr>
                <a:t>17H</a:t>
              </a:r>
              <a:endParaRPr lang="en-US" altLang="en-US" sz="1800">
                <a:solidFill>
                  <a:schemeClr val="tx1"/>
                </a:solidFill>
                <a:ea typeface="SimSun" pitchFamily="2" charset="-122"/>
              </a:endParaRPr>
            </a:p>
          </p:txBody>
        </p:sp>
        <p:sp>
          <p:nvSpPr>
            <p:cNvPr id="54291" name="Text Box 18"/>
            <p:cNvSpPr txBox="1">
              <a:spLocks noChangeArrowheads="1"/>
            </p:cNvSpPr>
            <p:nvPr/>
          </p:nvSpPr>
          <p:spPr bwMode="auto">
            <a:xfrm>
              <a:off x="4719" y="5481"/>
              <a:ext cx="980" cy="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rtl="1" eaLnBrk="1" hangingPunct="1"/>
              <a:r>
                <a:rPr lang="en-US" altLang="zh-CN" sz="1200">
                  <a:solidFill>
                    <a:schemeClr val="tx1"/>
                  </a:solidFill>
                  <a:latin typeface="Times New Roman" pitchFamily="18" charset="0"/>
                </a:rPr>
                <a:t>10H</a:t>
              </a:r>
              <a:endParaRPr lang="en-US" altLang="en-US" sz="1800">
                <a:solidFill>
                  <a:schemeClr val="tx1"/>
                </a:solidFill>
                <a:ea typeface="SimSun" pitchFamily="2" charset="-122"/>
              </a:endParaRPr>
            </a:p>
          </p:txBody>
        </p:sp>
        <p:sp>
          <p:nvSpPr>
            <p:cNvPr id="54292" name="Line 19"/>
            <p:cNvSpPr>
              <a:spLocks noChangeShapeType="1"/>
            </p:cNvSpPr>
            <p:nvPr/>
          </p:nvSpPr>
          <p:spPr bwMode="auto">
            <a:xfrm flipH="1">
              <a:off x="4646" y="5704"/>
              <a:ext cx="57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293" name="Rectangle 20"/>
            <p:cNvSpPr>
              <a:spLocks noChangeArrowheads="1"/>
            </p:cNvSpPr>
            <p:nvPr/>
          </p:nvSpPr>
          <p:spPr bwMode="auto">
            <a:xfrm>
              <a:off x="5220" y="5704"/>
              <a:ext cx="1848" cy="448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54294" name="Text Box 21"/>
            <p:cNvSpPr txBox="1">
              <a:spLocks noChangeArrowheads="1"/>
            </p:cNvSpPr>
            <p:nvPr/>
          </p:nvSpPr>
          <p:spPr bwMode="auto">
            <a:xfrm>
              <a:off x="4719" y="5649"/>
              <a:ext cx="980" cy="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rtl="1" eaLnBrk="1" hangingPunct="1"/>
              <a:r>
                <a:rPr lang="en-US" altLang="zh-CN" sz="1200">
                  <a:solidFill>
                    <a:schemeClr val="tx1"/>
                  </a:solidFill>
                  <a:latin typeface="Times New Roman" pitchFamily="18" charset="0"/>
                </a:rPr>
                <a:t>0FH</a:t>
              </a:r>
              <a:endParaRPr lang="en-US" altLang="en-US" sz="1800">
                <a:solidFill>
                  <a:schemeClr val="tx1"/>
                </a:solidFill>
                <a:ea typeface="SimSun" pitchFamily="2" charset="-122"/>
              </a:endParaRPr>
            </a:p>
          </p:txBody>
        </p:sp>
        <p:sp>
          <p:nvSpPr>
            <p:cNvPr id="54295" name="Text Box 22"/>
            <p:cNvSpPr txBox="1">
              <a:spLocks noChangeArrowheads="1"/>
            </p:cNvSpPr>
            <p:nvPr/>
          </p:nvSpPr>
          <p:spPr bwMode="auto">
            <a:xfrm>
              <a:off x="4744" y="6152"/>
              <a:ext cx="980" cy="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rtl="1" eaLnBrk="1" hangingPunct="1"/>
              <a:r>
                <a:rPr lang="en-US" altLang="zh-CN" sz="1200">
                  <a:solidFill>
                    <a:schemeClr val="tx1"/>
                  </a:solidFill>
                  <a:latin typeface="Times New Roman" pitchFamily="18" charset="0"/>
                </a:rPr>
                <a:t>07H</a:t>
              </a:r>
              <a:endParaRPr lang="en-US" altLang="en-US" sz="1800">
                <a:solidFill>
                  <a:schemeClr val="tx1"/>
                </a:solidFill>
                <a:ea typeface="SimSun" pitchFamily="2" charset="-122"/>
              </a:endParaRPr>
            </a:p>
          </p:txBody>
        </p:sp>
        <p:sp>
          <p:nvSpPr>
            <p:cNvPr id="54296" name="Rectangle 23"/>
            <p:cNvSpPr>
              <a:spLocks noChangeArrowheads="1"/>
            </p:cNvSpPr>
            <p:nvPr/>
          </p:nvSpPr>
          <p:spPr bwMode="auto">
            <a:xfrm>
              <a:off x="5220" y="6152"/>
              <a:ext cx="1848" cy="504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54297" name="Line 24"/>
            <p:cNvSpPr>
              <a:spLocks noChangeShapeType="1"/>
            </p:cNvSpPr>
            <p:nvPr/>
          </p:nvSpPr>
          <p:spPr bwMode="auto">
            <a:xfrm flipH="1">
              <a:off x="4688" y="6166"/>
              <a:ext cx="546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298" name="Text Box 25"/>
            <p:cNvSpPr txBox="1">
              <a:spLocks noChangeArrowheads="1"/>
            </p:cNvSpPr>
            <p:nvPr/>
          </p:nvSpPr>
          <p:spPr bwMode="auto">
            <a:xfrm>
              <a:off x="4732" y="5980"/>
              <a:ext cx="980" cy="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rtl="1" eaLnBrk="1" hangingPunct="1"/>
              <a:r>
                <a:rPr lang="en-US" altLang="zh-CN" sz="1200">
                  <a:solidFill>
                    <a:schemeClr val="tx1"/>
                  </a:solidFill>
                  <a:latin typeface="Times New Roman" pitchFamily="18" charset="0"/>
                </a:rPr>
                <a:t>08H</a:t>
              </a:r>
              <a:endParaRPr lang="en-US" altLang="en-US" sz="1800">
                <a:solidFill>
                  <a:schemeClr val="tx1"/>
                </a:solidFill>
                <a:ea typeface="SimSun" pitchFamily="2" charset="-122"/>
              </a:endParaRPr>
            </a:p>
          </p:txBody>
        </p:sp>
        <p:sp>
          <p:nvSpPr>
            <p:cNvPr id="54299" name="Text Box 26"/>
            <p:cNvSpPr txBox="1">
              <a:spLocks noChangeArrowheads="1"/>
            </p:cNvSpPr>
            <p:nvPr/>
          </p:nvSpPr>
          <p:spPr bwMode="auto">
            <a:xfrm>
              <a:off x="4738" y="5016"/>
              <a:ext cx="980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rtl="1" eaLnBrk="1" hangingPunct="1"/>
              <a:r>
                <a:rPr lang="en-US" altLang="zh-CN" sz="1200">
                  <a:solidFill>
                    <a:schemeClr val="tx1"/>
                  </a:solidFill>
                  <a:latin typeface="Times New Roman" pitchFamily="18" charset="0"/>
                </a:rPr>
                <a:t>18H</a:t>
              </a:r>
              <a:endParaRPr lang="en-US" altLang="en-US" sz="1800">
                <a:solidFill>
                  <a:schemeClr val="tx1"/>
                </a:solidFill>
                <a:ea typeface="SimSun" pitchFamily="2" charset="-122"/>
              </a:endParaRPr>
            </a:p>
          </p:txBody>
        </p:sp>
        <p:sp>
          <p:nvSpPr>
            <p:cNvPr id="54300" name="Text Box 27"/>
            <p:cNvSpPr txBox="1">
              <a:spLocks noChangeArrowheads="1"/>
            </p:cNvSpPr>
            <p:nvPr/>
          </p:nvSpPr>
          <p:spPr bwMode="auto">
            <a:xfrm>
              <a:off x="4774" y="6443"/>
              <a:ext cx="980" cy="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rtl="1" eaLnBrk="1" hangingPunct="1"/>
              <a:r>
                <a:rPr lang="en-US" altLang="zh-CN" sz="1200">
                  <a:solidFill>
                    <a:schemeClr val="tx1"/>
                  </a:solidFill>
                  <a:latin typeface="Times New Roman" pitchFamily="18" charset="0"/>
                </a:rPr>
                <a:t>00H</a:t>
              </a:r>
              <a:endParaRPr lang="en-US" altLang="en-US" sz="1800">
                <a:solidFill>
                  <a:schemeClr val="tx1"/>
                </a:solidFill>
                <a:ea typeface="SimSun" pitchFamily="2" charset="-122"/>
              </a:endParaRPr>
            </a:p>
          </p:txBody>
        </p:sp>
        <p:sp>
          <p:nvSpPr>
            <p:cNvPr id="54301" name="Text Box 28"/>
            <p:cNvSpPr txBox="1">
              <a:spLocks noChangeArrowheads="1"/>
            </p:cNvSpPr>
            <p:nvPr/>
          </p:nvSpPr>
          <p:spPr bwMode="auto">
            <a:xfrm>
              <a:off x="7208" y="6193"/>
              <a:ext cx="2198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r" rtl="1" eaLnBrk="1" hangingPunct="1"/>
              <a:r>
                <a:rPr lang="en-US" altLang="zh-CN" sz="1200" b="1">
                  <a:solidFill>
                    <a:schemeClr val="tx1"/>
                  </a:solidFill>
                  <a:latin typeface="Times New Roman" pitchFamily="18" charset="0"/>
                </a:rPr>
                <a:t>Register Bank 0</a:t>
              </a:r>
              <a:endParaRPr lang="en-US" altLang="en-US" sz="1800" b="1">
                <a:solidFill>
                  <a:schemeClr val="tx1"/>
                </a:solidFill>
                <a:ea typeface="SimSun" pitchFamily="2" charset="-122"/>
              </a:endParaRPr>
            </a:p>
          </p:txBody>
        </p:sp>
        <p:sp>
          <p:nvSpPr>
            <p:cNvPr id="54302" name="Text Box 29"/>
            <p:cNvSpPr txBox="1">
              <a:spLocks noChangeArrowheads="1"/>
            </p:cNvSpPr>
            <p:nvPr/>
          </p:nvSpPr>
          <p:spPr bwMode="auto">
            <a:xfrm>
              <a:off x="7233" y="5649"/>
              <a:ext cx="2198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r" rtl="1" eaLnBrk="1" hangingPunct="1"/>
              <a:r>
                <a:rPr lang="en-US" altLang="zh-CN" sz="1200" b="1">
                  <a:solidFill>
                    <a:schemeClr val="tx1"/>
                  </a:solidFill>
                  <a:latin typeface="Times New Roman" pitchFamily="18" charset="0"/>
                </a:rPr>
                <a:t>(Stack)  Register Bank 1 </a:t>
              </a:r>
              <a:endParaRPr lang="en-US" altLang="en-US" sz="1800" b="1">
                <a:solidFill>
                  <a:schemeClr val="tx1"/>
                </a:solidFill>
                <a:ea typeface="SimSun" pitchFamily="2" charset="-122"/>
              </a:endParaRPr>
            </a:p>
          </p:txBody>
        </p:sp>
        <p:sp>
          <p:nvSpPr>
            <p:cNvPr id="54303" name="Text Box 30"/>
            <p:cNvSpPr txBox="1">
              <a:spLocks noChangeArrowheads="1"/>
            </p:cNvSpPr>
            <p:nvPr/>
          </p:nvSpPr>
          <p:spPr bwMode="auto">
            <a:xfrm>
              <a:off x="7208" y="5196"/>
              <a:ext cx="2198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r" rtl="1" eaLnBrk="1" hangingPunct="1"/>
              <a:r>
                <a:rPr lang="en-US" altLang="zh-CN" sz="1200" b="1">
                  <a:solidFill>
                    <a:schemeClr val="tx1"/>
                  </a:solidFill>
                  <a:latin typeface="Times New Roman" pitchFamily="18" charset="0"/>
                </a:rPr>
                <a:t>Register Bank 2</a:t>
              </a:r>
              <a:endParaRPr lang="en-US" altLang="en-US" sz="1800" b="1">
                <a:solidFill>
                  <a:schemeClr val="tx1"/>
                </a:solidFill>
                <a:ea typeface="SimSun" pitchFamily="2" charset="-122"/>
              </a:endParaRPr>
            </a:p>
          </p:txBody>
        </p:sp>
        <p:sp>
          <p:nvSpPr>
            <p:cNvPr id="54304" name="Text Box 31"/>
            <p:cNvSpPr txBox="1">
              <a:spLocks noChangeArrowheads="1"/>
            </p:cNvSpPr>
            <p:nvPr/>
          </p:nvSpPr>
          <p:spPr bwMode="auto">
            <a:xfrm>
              <a:off x="7208" y="4718"/>
              <a:ext cx="2198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r" rtl="1" eaLnBrk="1" hangingPunct="1"/>
              <a:r>
                <a:rPr lang="en-US" altLang="zh-CN" sz="1200" b="1">
                  <a:solidFill>
                    <a:schemeClr val="tx1"/>
                  </a:solidFill>
                  <a:latin typeface="Times New Roman" pitchFamily="18" charset="0"/>
                </a:rPr>
                <a:t>Register Bank 3</a:t>
              </a:r>
              <a:endParaRPr lang="en-US" altLang="en-US" sz="1800" b="1">
                <a:solidFill>
                  <a:schemeClr val="tx1"/>
                </a:solidFill>
                <a:ea typeface="SimSun" pitchFamily="2" charset="-122"/>
              </a:endParaRPr>
            </a:p>
          </p:txBody>
        </p:sp>
        <p:sp>
          <p:nvSpPr>
            <p:cNvPr id="54305" name="Text Box 32"/>
            <p:cNvSpPr txBox="1">
              <a:spLocks noChangeArrowheads="1"/>
            </p:cNvSpPr>
            <p:nvPr/>
          </p:nvSpPr>
          <p:spPr bwMode="auto">
            <a:xfrm>
              <a:off x="7082" y="4052"/>
              <a:ext cx="2702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r" rtl="1" eaLnBrk="1" hangingPunct="1"/>
              <a:r>
                <a:rPr lang="en-US" altLang="zh-CN" sz="1200" b="1">
                  <a:solidFill>
                    <a:schemeClr val="tx1"/>
                  </a:solidFill>
                  <a:latin typeface="Times New Roman" pitchFamily="18" charset="0"/>
                </a:rPr>
                <a:t>Bit-Addressable RAM</a:t>
              </a:r>
              <a:endParaRPr lang="en-US" altLang="en-US" sz="1800" b="1">
                <a:solidFill>
                  <a:schemeClr val="tx1"/>
                </a:solidFill>
                <a:ea typeface="SimSun" pitchFamily="2" charset="-122"/>
              </a:endParaRPr>
            </a:p>
          </p:txBody>
        </p:sp>
        <p:sp>
          <p:nvSpPr>
            <p:cNvPr id="54306" name="Text Box 33"/>
            <p:cNvSpPr txBox="1">
              <a:spLocks noChangeArrowheads="1"/>
            </p:cNvSpPr>
            <p:nvPr/>
          </p:nvSpPr>
          <p:spPr bwMode="auto">
            <a:xfrm>
              <a:off x="6830" y="2932"/>
              <a:ext cx="2702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r" rtl="1" eaLnBrk="1" hangingPunct="1"/>
              <a:r>
                <a:rPr lang="en-US" altLang="zh-CN" sz="1200" b="1">
                  <a:solidFill>
                    <a:schemeClr val="tx1"/>
                  </a:solidFill>
                  <a:latin typeface="Times New Roman" pitchFamily="18" charset="0"/>
                </a:rPr>
                <a:t>Scratch pad RAM</a:t>
              </a:r>
              <a:endParaRPr lang="en-US" altLang="en-US" sz="1800" b="1">
                <a:solidFill>
                  <a:schemeClr val="tx1"/>
                </a:solidFill>
                <a:ea typeface="SimSun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0338106"/>
      </p:ext>
    </p:extLst>
  </p:cSld>
  <p:clrMapOvr>
    <a:masterClrMapping/>
  </p:clrMapOvr>
  <p:transition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0173" y="116632"/>
            <a:ext cx="4248051" cy="6336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5425902"/>
      </p:ext>
    </p:extLst>
  </p:cSld>
  <p:clrMapOvr>
    <a:masterClrMapping/>
  </p:clrMapOvr>
  <p:transition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601663"/>
            <a:ext cx="7942262" cy="5564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15248156"/>
      </p:ext>
    </p:extLst>
  </p:cSld>
  <p:clrMapOvr>
    <a:masterClrMapping/>
  </p:clrMapOvr>
  <p:transition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084DFD-0824-4ACC-B051-7ACFCD3A4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692696"/>
            <a:ext cx="7344816" cy="5748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190394"/>
      </p:ext>
    </p:extLst>
  </p:cSld>
  <p:clrMapOvr>
    <a:masterClrMapping/>
  </p:clrMapOvr>
  <p:transition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95D1100-A50E-42D2-A4DE-DD79D78BB948}"/>
              </a:ext>
            </a:extLst>
          </p:cNvPr>
          <p:cNvGrpSpPr/>
          <p:nvPr/>
        </p:nvGrpSpPr>
        <p:grpSpPr>
          <a:xfrm>
            <a:off x="699428" y="757237"/>
            <a:ext cx="7745144" cy="5343525"/>
            <a:chOff x="855584" y="620688"/>
            <a:chExt cx="7745144" cy="534352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8C1FF01-B162-435E-9A34-784656CA6F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23728" y="620688"/>
              <a:ext cx="6477000" cy="5343525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16BF40B-7E18-452F-AA89-73115275F9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5584" y="3573016"/>
              <a:ext cx="1352550" cy="73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98537883"/>
      </p:ext>
    </p:extLst>
  </p:cSld>
  <p:clrMapOvr>
    <a:masterClrMapping/>
  </p:clrMapOvr>
  <p:transition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476250"/>
            <a:ext cx="8077200" cy="568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8791065"/>
      </p:ext>
    </p:extLst>
  </p:cSld>
  <p:clrMapOvr>
    <a:masterClrMapping/>
  </p:clrMapOvr>
  <p:transition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287338"/>
            <a:ext cx="8154987" cy="5949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51701364"/>
      </p:ext>
    </p:extLst>
  </p:cSld>
  <p:clrMapOvr>
    <a:masterClrMapping/>
  </p:clrMapOvr>
  <p:transition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277761D-2172-4E90-85D4-8B29DE55EA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548680"/>
            <a:ext cx="7772400" cy="1152128"/>
          </a:xfrm>
        </p:spPr>
        <p:txBody>
          <a:bodyPr/>
          <a:lstStyle/>
          <a:p>
            <a:r>
              <a:rPr lang="en-US" altLang="ko-KR" b="1" dirty="0">
                <a:solidFill>
                  <a:srgbClr val="FF0000"/>
                </a:solidFill>
                <a:ea typeface="굴림" pitchFamily="34" charset="-127"/>
              </a:rPr>
              <a:t>8051 Flag bits and the PSW register</a:t>
            </a:r>
            <a:br>
              <a:rPr lang="en-US" altLang="en-US" b="1" dirty="0">
                <a:solidFill>
                  <a:srgbClr val="FF0000"/>
                </a:solidFill>
                <a:ea typeface="굴림" pitchFamily="34" charset="-127"/>
              </a:rPr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006274-A681-470E-8C4A-2905FB5CEC0D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899592" y="1722462"/>
            <a:ext cx="7705725" cy="4514850"/>
          </a:xfrm>
        </p:spPr>
      </p:pic>
    </p:spTree>
    <p:extLst>
      <p:ext uri="{BB962C8B-B14F-4D97-AF65-F5344CB8AC3E}">
        <p14:creationId xmlns:p14="http://schemas.microsoft.com/office/powerpoint/2010/main" val="2339678829"/>
      </p:ext>
    </p:extLst>
  </p:cSld>
  <p:clrMapOvr>
    <a:masterClrMapping/>
  </p:clrMapOvr>
  <p:transition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1927FF-AD2C-4AB0-A0D8-EA44D433E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764704"/>
            <a:ext cx="6552728" cy="56886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BFAB0E-F45D-49D3-BD0F-53FB3FA0D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2492896"/>
            <a:ext cx="1944216" cy="27003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14466BA-F6F6-45E9-B860-F4A010AEF892}"/>
              </a:ext>
            </a:extLst>
          </p:cNvPr>
          <p:cNvSpPr/>
          <p:nvPr/>
        </p:nvSpPr>
        <p:spPr>
          <a:xfrm>
            <a:off x="2308399" y="204609"/>
            <a:ext cx="45272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ko-KR" b="1" dirty="0">
                <a:solidFill>
                  <a:srgbClr val="FF0000"/>
                </a:solidFill>
                <a:ea typeface="굴림" pitchFamily="34" charset="-127"/>
              </a:rPr>
              <a:t>8051 Flag bits and the PSW register</a:t>
            </a:r>
            <a:endParaRPr lang="en-US" altLang="en-US" b="1" dirty="0">
              <a:solidFill>
                <a:srgbClr val="FF0000"/>
              </a:solidFill>
              <a:ea typeface="굴림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5250250"/>
      </p:ext>
    </p:extLst>
  </p:cSld>
  <p:clrMapOvr>
    <a:masterClrMapping/>
  </p:clrMapOvr>
  <p:transition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4FC82-0919-4166-895B-3185DBAB2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14051"/>
            <a:ext cx="8229600" cy="1143000"/>
          </a:xfrm>
        </p:spPr>
        <p:txBody>
          <a:bodyPr/>
          <a:lstStyle/>
          <a:p>
            <a:r>
              <a:rPr lang="en-US" altLang="ko-KR" b="1" dirty="0">
                <a:solidFill>
                  <a:srgbClr val="FF0000"/>
                </a:solidFill>
                <a:ea typeface="굴림" pitchFamily="34" charset="-127"/>
              </a:rPr>
              <a:t>8051 Flag bits and the PSW register</a:t>
            </a:r>
            <a:br>
              <a:rPr lang="en-US" altLang="en-US" b="1" dirty="0">
                <a:solidFill>
                  <a:srgbClr val="FF0000"/>
                </a:solidFill>
                <a:ea typeface="굴림" pitchFamily="34" charset="-127"/>
              </a:rPr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768707-8DDB-4A65-B34A-32099834CF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9592" y="1843880"/>
            <a:ext cx="7128792" cy="4393431"/>
          </a:xfrm>
        </p:spPr>
      </p:pic>
    </p:spTree>
    <p:extLst>
      <p:ext uri="{BB962C8B-B14F-4D97-AF65-F5344CB8AC3E}">
        <p14:creationId xmlns:p14="http://schemas.microsoft.com/office/powerpoint/2010/main" val="222089541"/>
      </p:ext>
    </p:extLst>
  </p:cSld>
  <p:clrMapOvr>
    <a:masterClrMapping/>
  </p:clrMapOvr>
  <p:transition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0C492-F7D3-4EB4-87F5-7E9181064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FF0000"/>
                </a:solidFill>
                <a:ea typeface="굴림" pitchFamily="34" charset="-127"/>
              </a:rPr>
              <a:t>8051 PSW BANK SELECTION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9648A4-2CBC-48BF-921A-B005506E4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385492"/>
            <a:ext cx="7488832" cy="481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204674"/>
      </p:ext>
    </p:extLst>
  </p:cSld>
  <p:clrMapOvr>
    <a:masterClrMapping/>
  </p:clrMapOvr>
  <p:transition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7D814-5F38-40A0-8AC3-C64388260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FF0000"/>
                </a:solidFill>
                <a:ea typeface="굴림" pitchFamily="34" charset="-127"/>
              </a:rPr>
              <a:t>8051 PSW BANK SELECTION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75CE08-012D-4E24-9628-403741B36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1464866"/>
            <a:ext cx="4895850" cy="9560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8CB661-C944-4161-AA9B-5C907E55C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700" y="2506146"/>
            <a:ext cx="5562600" cy="7844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7A9A62-5ED2-4455-836B-FA49A4BC41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1082" y="4379127"/>
            <a:ext cx="5495925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889582"/>
      </p:ext>
    </p:extLst>
  </p:cSld>
  <p:clrMapOvr>
    <a:masterClrMapping/>
  </p:clrMapOvr>
  <p:transition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1">
                <a:solidFill>
                  <a:srgbClr val="FF0000"/>
                </a:solidFill>
                <a:latin typeface="Times New Roman" pitchFamily="18" charset="0"/>
                <a:ea typeface="굴림" pitchFamily="34" charset="-127"/>
                <a:cs typeface="Times New Roman" pitchFamily="18" charset="0"/>
              </a:rPr>
              <a:t>Stack in the 8051</a:t>
            </a:r>
            <a:endParaRPr lang="en-US" altLang="en-US">
              <a:solidFill>
                <a:srgbClr val="FF0000"/>
              </a:solidFill>
              <a:latin typeface="Times New Roman" pitchFamily="18" charset="0"/>
              <a:ea typeface="굴림" pitchFamily="34" charset="-127"/>
              <a:cs typeface="Times New Roman" pitchFamily="18" charset="0"/>
            </a:endParaRPr>
          </a:p>
        </p:txBody>
      </p:sp>
      <p:sp>
        <p:nvSpPr>
          <p:cNvPr id="60419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301625" y="1676400"/>
            <a:ext cx="3895725" cy="404018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2200">
                <a:solidFill>
                  <a:srgbClr val="000000"/>
                </a:solidFill>
                <a:latin typeface="Times New Roman" pitchFamily="18" charset="0"/>
                <a:ea typeface="굴림" pitchFamily="34" charset="-127"/>
                <a:cs typeface="Times New Roman" pitchFamily="18" charset="0"/>
              </a:rPr>
              <a:t>The register used to access the stack is called </a:t>
            </a:r>
            <a:r>
              <a:rPr lang="en-US" altLang="ko-KR" sz="2200" b="1">
                <a:solidFill>
                  <a:srgbClr val="000000"/>
                </a:solidFill>
                <a:latin typeface="Times New Roman" pitchFamily="18" charset="0"/>
                <a:ea typeface="굴림" pitchFamily="34" charset="-127"/>
                <a:cs typeface="Times New Roman" pitchFamily="18" charset="0"/>
              </a:rPr>
              <a:t>SP </a:t>
            </a:r>
            <a:r>
              <a:rPr lang="en-US" altLang="ko-KR" sz="2200">
                <a:solidFill>
                  <a:srgbClr val="000000"/>
                </a:solidFill>
                <a:latin typeface="Times New Roman" pitchFamily="18" charset="0"/>
                <a:ea typeface="굴림" pitchFamily="34" charset="-127"/>
                <a:cs typeface="Times New Roman" pitchFamily="18" charset="0"/>
              </a:rPr>
              <a:t>(stack pointer) register.</a:t>
            </a:r>
            <a:endParaRPr lang="fa-IR" altLang="ko-KR" sz="2200">
              <a:solidFill>
                <a:srgbClr val="000000"/>
              </a:solidFill>
              <a:latin typeface="Times New Roman" pitchFamily="18" charset="0"/>
              <a:ea typeface="굴림" pitchFamily="34" charset="-127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ko-KR" sz="2200">
              <a:solidFill>
                <a:srgbClr val="000000"/>
              </a:solidFill>
              <a:latin typeface="Times New Roman" pitchFamily="18" charset="0"/>
              <a:ea typeface="굴림" pitchFamily="34" charset="-127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2200">
                <a:solidFill>
                  <a:srgbClr val="000000"/>
                </a:solidFill>
                <a:latin typeface="Times New Roman" pitchFamily="18" charset="0"/>
                <a:ea typeface="굴림" pitchFamily="34" charset="-127"/>
                <a:cs typeface="Times New Roman" pitchFamily="18" charset="0"/>
              </a:rPr>
              <a:t>The stack pointer in the 8051 is only 8 bits wide, which means that it can take value 00 to FFH. </a:t>
            </a:r>
            <a:r>
              <a:rPr lang="en-US" altLang="ko-KR" sz="2200" u="sng">
                <a:solidFill>
                  <a:srgbClr val="000000"/>
                </a:solidFill>
                <a:latin typeface="Times New Roman" pitchFamily="18" charset="0"/>
                <a:ea typeface="굴림" pitchFamily="34" charset="-127"/>
                <a:cs typeface="Times New Roman" pitchFamily="18" charset="0"/>
              </a:rPr>
              <a:t>When 8051 powered up, the SP register contains value 07.</a:t>
            </a:r>
            <a:endParaRPr lang="en-US" altLang="en-US" sz="2200" u="sng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60420" name="Group 4"/>
          <p:cNvGrpSpPr>
            <a:grpSpLocks noChangeAspect="1"/>
          </p:cNvGrpSpPr>
          <p:nvPr/>
        </p:nvGrpSpPr>
        <p:grpSpPr bwMode="auto">
          <a:xfrm>
            <a:off x="2339975" y="1557338"/>
            <a:ext cx="6804025" cy="4103687"/>
            <a:chOff x="1804" y="2190"/>
            <a:chExt cx="8638" cy="4634"/>
          </a:xfrm>
        </p:grpSpPr>
        <p:sp>
          <p:nvSpPr>
            <p:cNvPr id="60422" name="AutoShape 5"/>
            <p:cNvSpPr>
              <a:spLocks noChangeAspect="1" noChangeArrowheads="1"/>
            </p:cNvSpPr>
            <p:nvPr/>
          </p:nvSpPr>
          <p:spPr bwMode="auto">
            <a:xfrm>
              <a:off x="1804" y="2190"/>
              <a:ext cx="8638" cy="4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60423" name="Rectangle 6"/>
            <p:cNvSpPr>
              <a:spLocks noChangeArrowheads="1"/>
            </p:cNvSpPr>
            <p:nvPr/>
          </p:nvSpPr>
          <p:spPr bwMode="auto">
            <a:xfrm>
              <a:off x="5220" y="2586"/>
              <a:ext cx="1848" cy="1299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60424" name="Text Box 7"/>
            <p:cNvSpPr txBox="1">
              <a:spLocks noChangeArrowheads="1"/>
            </p:cNvSpPr>
            <p:nvPr/>
          </p:nvSpPr>
          <p:spPr bwMode="auto">
            <a:xfrm>
              <a:off x="4268" y="2484"/>
              <a:ext cx="980" cy="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rtl="1" eaLnBrk="1" hangingPunct="1"/>
              <a:r>
                <a:rPr lang="en-US" altLang="zh-CN" sz="1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7FH</a:t>
              </a:r>
              <a:endParaRPr lang="en-US" altLang="en-US" sz="1800">
                <a:solidFill>
                  <a:schemeClr val="tx1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60425" name="Text Box 8"/>
            <p:cNvSpPr txBox="1">
              <a:spLocks noChangeArrowheads="1"/>
            </p:cNvSpPr>
            <p:nvPr/>
          </p:nvSpPr>
          <p:spPr bwMode="auto">
            <a:xfrm>
              <a:off x="4310" y="3450"/>
              <a:ext cx="980" cy="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rtl="1" eaLnBrk="1" hangingPunct="1"/>
              <a:r>
                <a:rPr lang="en-US" altLang="zh-CN" sz="1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30H</a:t>
              </a:r>
              <a:endParaRPr lang="en-US" altLang="en-US" sz="1800">
                <a:solidFill>
                  <a:schemeClr val="tx1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60426" name="Line 9"/>
            <p:cNvSpPr>
              <a:spLocks noChangeShapeType="1"/>
            </p:cNvSpPr>
            <p:nvPr/>
          </p:nvSpPr>
          <p:spPr bwMode="auto">
            <a:xfrm flipH="1">
              <a:off x="4674" y="3885"/>
              <a:ext cx="57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0427" name="Rectangle 10"/>
            <p:cNvSpPr>
              <a:spLocks noChangeArrowheads="1"/>
            </p:cNvSpPr>
            <p:nvPr/>
          </p:nvSpPr>
          <p:spPr bwMode="auto">
            <a:xfrm>
              <a:off x="5220" y="3898"/>
              <a:ext cx="1848" cy="881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60428" name="Text Box 11"/>
            <p:cNvSpPr txBox="1">
              <a:spLocks noChangeArrowheads="1"/>
            </p:cNvSpPr>
            <p:nvPr/>
          </p:nvSpPr>
          <p:spPr bwMode="auto">
            <a:xfrm>
              <a:off x="4268" y="3828"/>
              <a:ext cx="980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rtl="1" eaLnBrk="1" hangingPunct="1"/>
              <a:r>
                <a:rPr lang="en-US" altLang="zh-CN" sz="1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2FH</a:t>
              </a:r>
              <a:endParaRPr lang="en-US" altLang="en-US" sz="1800">
                <a:solidFill>
                  <a:schemeClr val="tx1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60429" name="Text Box 12"/>
            <p:cNvSpPr txBox="1">
              <a:spLocks noChangeArrowheads="1"/>
            </p:cNvSpPr>
            <p:nvPr/>
          </p:nvSpPr>
          <p:spPr bwMode="auto">
            <a:xfrm>
              <a:off x="4310" y="4444"/>
              <a:ext cx="980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rtl="1" eaLnBrk="1" hangingPunct="1"/>
              <a:r>
                <a:rPr lang="en-US" altLang="zh-CN" sz="1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20H</a:t>
              </a:r>
              <a:endParaRPr lang="en-US" altLang="en-US" sz="1800">
                <a:solidFill>
                  <a:schemeClr val="tx1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60430" name="Line 13"/>
            <p:cNvSpPr>
              <a:spLocks noChangeShapeType="1"/>
            </p:cNvSpPr>
            <p:nvPr/>
          </p:nvSpPr>
          <p:spPr bwMode="auto">
            <a:xfrm flipH="1">
              <a:off x="4674" y="4752"/>
              <a:ext cx="57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0431" name="Rectangle 14"/>
            <p:cNvSpPr>
              <a:spLocks noChangeArrowheads="1"/>
            </p:cNvSpPr>
            <p:nvPr/>
          </p:nvSpPr>
          <p:spPr bwMode="auto">
            <a:xfrm>
              <a:off x="5220" y="4753"/>
              <a:ext cx="1848" cy="503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60432" name="Text Box 15"/>
            <p:cNvSpPr txBox="1">
              <a:spLocks noChangeArrowheads="1"/>
            </p:cNvSpPr>
            <p:nvPr/>
          </p:nvSpPr>
          <p:spPr bwMode="auto">
            <a:xfrm>
              <a:off x="4268" y="4682"/>
              <a:ext cx="980" cy="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rtl="1" eaLnBrk="1" hangingPunct="1"/>
              <a:r>
                <a:rPr lang="en-US" altLang="zh-CN" sz="1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1FH</a:t>
              </a:r>
              <a:endParaRPr lang="en-US" altLang="en-US" sz="1800">
                <a:solidFill>
                  <a:schemeClr val="tx1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60433" name="Line 16"/>
            <p:cNvSpPr>
              <a:spLocks noChangeShapeType="1"/>
            </p:cNvSpPr>
            <p:nvPr/>
          </p:nvSpPr>
          <p:spPr bwMode="auto">
            <a:xfrm flipH="1">
              <a:off x="4660" y="5242"/>
              <a:ext cx="57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0434" name="Rectangle 17"/>
            <p:cNvSpPr>
              <a:spLocks noChangeArrowheads="1"/>
            </p:cNvSpPr>
            <p:nvPr/>
          </p:nvSpPr>
          <p:spPr bwMode="auto">
            <a:xfrm>
              <a:off x="5220" y="5256"/>
              <a:ext cx="1848" cy="454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60435" name="Text Box 18"/>
            <p:cNvSpPr txBox="1">
              <a:spLocks noChangeArrowheads="1"/>
            </p:cNvSpPr>
            <p:nvPr/>
          </p:nvSpPr>
          <p:spPr bwMode="auto">
            <a:xfrm>
              <a:off x="4282" y="5144"/>
              <a:ext cx="980" cy="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rtl="1" eaLnBrk="1" hangingPunct="1"/>
              <a:r>
                <a:rPr lang="en-US" altLang="zh-CN" sz="1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17H</a:t>
              </a:r>
              <a:endParaRPr lang="en-US" altLang="en-US" sz="1800">
                <a:solidFill>
                  <a:schemeClr val="tx1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60436" name="Text Box 19"/>
            <p:cNvSpPr txBox="1">
              <a:spLocks noChangeArrowheads="1"/>
            </p:cNvSpPr>
            <p:nvPr/>
          </p:nvSpPr>
          <p:spPr bwMode="auto">
            <a:xfrm>
              <a:off x="4254" y="5368"/>
              <a:ext cx="980" cy="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rtl="1" eaLnBrk="1" hangingPunct="1"/>
              <a:r>
                <a:rPr lang="en-US" altLang="zh-CN" sz="1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10H</a:t>
              </a:r>
              <a:endParaRPr lang="en-US" altLang="en-US" sz="1800">
                <a:solidFill>
                  <a:schemeClr val="tx1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60437" name="Line 20"/>
            <p:cNvSpPr>
              <a:spLocks noChangeShapeType="1"/>
            </p:cNvSpPr>
            <p:nvPr/>
          </p:nvSpPr>
          <p:spPr bwMode="auto">
            <a:xfrm flipH="1">
              <a:off x="4646" y="5704"/>
              <a:ext cx="57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0438" name="Rectangle 21"/>
            <p:cNvSpPr>
              <a:spLocks noChangeArrowheads="1"/>
            </p:cNvSpPr>
            <p:nvPr/>
          </p:nvSpPr>
          <p:spPr bwMode="auto">
            <a:xfrm>
              <a:off x="5220" y="5704"/>
              <a:ext cx="1848" cy="448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60439" name="Text Box 22"/>
            <p:cNvSpPr txBox="1">
              <a:spLocks noChangeArrowheads="1"/>
            </p:cNvSpPr>
            <p:nvPr/>
          </p:nvSpPr>
          <p:spPr bwMode="auto">
            <a:xfrm>
              <a:off x="4296" y="5620"/>
              <a:ext cx="980" cy="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rtl="1" eaLnBrk="1" hangingPunct="1"/>
              <a:r>
                <a:rPr lang="en-US" altLang="zh-CN" sz="1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0FH</a:t>
              </a:r>
              <a:endParaRPr lang="en-US" altLang="en-US" sz="1800">
                <a:solidFill>
                  <a:schemeClr val="tx1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60440" name="Text Box 23"/>
            <p:cNvSpPr txBox="1">
              <a:spLocks noChangeArrowheads="1"/>
            </p:cNvSpPr>
            <p:nvPr/>
          </p:nvSpPr>
          <p:spPr bwMode="auto">
            <a:xfrm>
              <a:off x="4296" y="6068"/>
              <a:ext cx="980" cy="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rtl="1" eaLnBrk="1" hangingPunct="1"/>
              <a:r>
                <a:rPr lang="en-US" altLang="zh-CN" sz="1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07H</a:t>
              </a:r>
              <a:endParaRPr lang="en-US" altLang="en-US" sz="1800">
                <a:solidFill>
                  <a:schemeClr val="tx1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60441" name="Rectangle 24"/>
            <p:cNvSpPr>
              <a:spLocks noChangeArrowheads="1"/>
            </p:cNvSpPr>
            <p:nvPr/>
          </p:nvSpPr>
          <p:spPr bwMode="auto">
            <a:xfrm>
              <a:off x="5220" y="6152"/>
              <a:ext cx="1848" cy="504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60442" name="Line 25"/>
            <p:cNvSpPr>
              <a:spLocks noChangeShapeType="1"/>
            </p:cNvSpPr>
            <p:nvPr/>
          </p:nvSpPr>
          <p:spPr bwMode="auto">
            <a:xfrm flipH="1">
              <a:off x="4688" y="6166"/>
              <a:ext cx="546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0443" name="Text Box 26"/>
            <p:cNvSpPr txBox="1">
              <a:spLocks noChangeArrowheads="1"/>
            </p:cNvSpPr>
            <p:nvPr/>
          </p:nvSpPr>
          <p:spPr bwMode="auto">
            <a:xfrm>
              <a:off x="4296" y="5816"/>
              <a:ext cx="980" cy="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rtl="1" eaLnBrk="1" hangingPunct="1"/>
              <a:r>
                <a:rPr lang="en-US" altLang="zh-CN" sz="1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08H</a:t>
              </a:r>
              <a:endParaRPr lang="en-US" altLang="en-US" sz="1800">
                <a:solidFill>
                  <a:schemeClr val="tx1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60444" name="Text Box 27"/>
            <p:cNvSpPr txBox="1">
              <a:spLocks noChangeArrowheads="1"/>
            </p:cNvSpPr>
            <p:nvPr/>
          </p:nvSpPr>
          <p:spPr bwMode="auto">
            <a:xfrm>
              <a:off x="4282" y="4906"/>
              <a:ext cx="980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rtl="1" eaLnBrk="1" hangingPunct="1"/>
              <a:r>
                <a:rPr lang="en-US" altLang="zh-CN" sz="1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18H</a:t>
              </a:r>
              <a:endParaRPr lang="en-US" altLang="en-US" sz="1800">
                <a:solidFill>
                  <a:schemeClr val="tx1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60445" name="Text Box 28"/>
            <p:cNvSpPr txBox="1">
              <a:spLocks noChangeArrowheads="1"/>
            </p:cNvSpPr>
            <p:nvPr/>
          </p:nvSpPr>
          <p:spPr bwMode="auto">
            <a:xfrm>
              <a:off x="4296" y="6306"/>
              <a:ext cx="980" cy="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rtl="1" eaLnBrk="1" hangingPunct="1"/>
              <a:r>
                <a:rPr lang="en-US" altLang="zh-CN" sz="1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00H</a:t>
              </a:r>
              <a:endParaRPr lang="en-US" altLang="en-US" sz="1800">
                <a:solidFill>
                  <a:schemeClr val="tx1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60446" name="Text Box 29"/>
            <p:cNvSpPr txBox="1">
              <a:spLocks noChangeArrowheads="1"/>
            </p:cNvSpPr>
            <p:nvPr/>
          </p:nvSpPr>
          <p:spPr bwMode="auto">
            <a:xfrm>
              <a:off x="7068" y="6194"/>
              <a:ext cx="2198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r" rtl="1" eaLnBrk="1" hangingPunct="1"/>
              <a:r>
                <a:rPr lang="en-US" altLang="zh-CN" sz="1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Register Bank 0</a:t>
              </a:r>
              <a:endParaRPr lang="en-US" altLang="en-US" sz="1800">
                <a:solidFill>
                  <a:schemeClr val="tx1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60447" name="Text Box 30"/>
            <p:cNvSpPr txBox="1">
              <a:spLocks noChangeArrowheads="1"/>
            </p:cNvSpPr>
            <p:nvPr/>
          </p:nvSpPr>
          <p:spPr bwMode="auto">
            <a:xfrm>
              <a:off x="7068" y="5676"/>
              <a:ext cx="2198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r" rtl="1" eaLnBrk="1" hangingPunct="1"/>
              <a:r>
                <a:rPr lang="en-US" altLang="zh-CN" sz="1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(Stack)  Register Bank 1 </a:t>
              </a:r>
              <a:endParaRPr lang="en-US" altLang="en-US" sz="1800">
                <a:solidFill>
                  <a:schemeClr val="tx1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60448" name="Text Box 31"/>
            <p:cNvSpPr txBox="1">
              <a:spLocks noChangeArrowheads="1"/>
            </p:cNvSpPr>
            <p:nvPr/>
          </p:nvSpPr>
          <p:spPr bwMode="auto">
            <a:xfrm>
              <a:off x="7068" y="5256"/>
              <a:ext cx="2198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r" rtl="1" eaLnBrk="1" hangingPunct="1"/>
              <a:r>
                <a:rPr lang="en-US" altLang="zh-CN" sz="1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Register Bank 2</a:t>
              </a:r>
              <a:endParaRPr lang="en-US" altLang="en-US" sz="1800">
                <a:solidFill>
                  <a:schemeClr val="tx1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60449" name="Text Box 32"/>
            <p:cNvSpPr txBox="1">
              <a:spLocks noChangeArrowheads="1"/>
            </p:cNvSpPr>
            <p:nvPr/>
          </p:nvSpPr>
          <p:spPr bwMode="auto">
            <a:xfrm>
              <a:off x="7082" y="4752"/>
              <a:ext cx="2198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r" rtl="1" eaLnBrk="1" hangingPunct="1"/>
              <a:r>
                <a:rPr lang="en-US" altLang="zh-CN" sz="1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Register Bank 3</a:t>
              </a:r>
              <a:endParaRPr lang="en-US" altLang="en-US" sz="1800">
                <a:solidFill>
                  <a:schemeClr val="tx1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60450" name="Text Box 33"/>
            <p:cNvSpPr txBox="1">
              <a:spLocks noChangeArrowheads="1"/>
            </p:cNvSpPr>
            <p:nvPr/>
          </p:nvSpPr>
          <p:spPr bwMode="auto">
            <a:xfrm>
              <a:off x="7082" y="4052"/>
              <a:ext cx="2702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r" rtl="1" eaLnBrk="1" hangingPunct="1"/>
              <a:r>
                <a:rPr lang="en-US" altLang="zh-CN" sz="1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Bit-Addressable RAM</a:t>
              </a:r>
              <a:endParaRPr lang="en-US" altLang="en-US" sz="1800">
                <a:solidFill>
                  <a:schemeClr val="tx1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endParaRPr>
            </a:p>
          </p:txBody>
        </p:sp>
        <p:sp>
          <p:nvSpPr>
            <p:cNvPr id="60451" name="Text Box 34"/>
            <p:cNvSpPr txBox="1">
              <a:spLocks noChangeArrowheads="1"/>
            </p:cNvSpPr>
            <p:nvPr/>
          </p:nvSpPr>
          <p:spPr bwMode="auto">
            <a:xfrm>
              <a:off x="7054" y="2932"/>
              <a:ext cx="2702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r" rtl="1" eaLnBrk="1" hangingPunct="1"/>
              <a:r>
                <a:rPr lang="en-US" altLang="zh-CN" sz="12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Scratch pad RAM</a:t>
              </a:r>
              <a:endParaRPr lang="en-US" altLang="en-US" sz="1800">
                <a:solidFill>
                  <a:schemeClr val="tx1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07160280"/>
      </p:ext>
    </p:extLst>
  </p:cSld>
  <p:clrMapOvr>
    <a:masterClrMapping/>
  </p:clrMapOvr>
  <p:transition>
    <p:rand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29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4800" y="4876800"/>
            <a:ext cx="8458200" cy="71913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br>
              <a:rPr lang="en-US" sz="1400" dirty="0">
                <a:solidFill>
                  <a:srgbClr val="FFFF00"/>
                </a:solidFill>
              </a:rPr>
            </a:br>
            <a:br>
              <a:rPr lang="en-US" sz="1800" dirty="0">
                <a:solidFill>
                  <a:srgbClr val="FFFF00"/>
                </a:solidFill>
              </a:rPr>
            </a:br>
            <a:r>
              <a:rPr lang="en-US" altLang="ko-KR" sz="2800" b="1" u="sng" dirty="0">
                <a:solidFill>
                  <a:srgbClr val="000000"/>
                </a:solidFill>
                <a:latin typeface="Times New Roman" pitchFamily="18" charset="0"/>
                <a:ea typeface="Batang" pitchFamily="18" charset="-127"/>
              </a:rPr>
              <a:t>Example of STACK operation</a:t>
            </a:r>
            <a:r>
              <a:rPr lang="en-US" altLang="ko-KR" sz="2800" u="sng" dirty="0">
                <a:solidFill>
                  <a:srgbClr val="000000"/>
                </a:solidFill>
                <a:latin typeface="Times New Roman" pitchFamily="18" charset="0"/>
                <a:ea typeface="Batang" pitchFamily="18" charset="-127"/>
              </a:rPr>
              <a:t>:</a:t>
            </a:r>
            <a:br>
              <a:rPr lang="en-US" altLang="ko-KR" sz="2800" u="sng" dirty="0">
                <a:solidFill>
                  <a:srgbClr val="000000"/>
                </a:solidFill>
                <a:latin typeface="Times New Roman" pitchFamily="18" charset="0"/>
                <a:ea typeface="Batang" pitchFamily="18" charset="-127"/>
              </a:rPr>
            </a:br>
            <a:br>
              <a:rPr lang="en-US" altLang="ko-KR" sz="1100" dirty="0">
                <a:ea typeface="Batang" pitchFamily="18" charset="-127"/>
              </a:rPr>
            </a:br>
            <a:r>
              <a:rPr lang="en-US" altLang="ko-KR" sz="1600" b="1" dirty="0">
                <a:solidFill>
                  <a:srgbClr val="000000"/>
                </a:solidFill>
                <a:latin typeface="Times New Roman" pitchFamily="18" charset="0"/>
                <a:ea typeface="Batang" pitchFamily="18" charset="-127"/>
              </a:rPr>
              <a:t>	</a:t>
            </a:r>
            <a:r>
              <a:rPr lang="en-US" altLang="ko-KR" sz="2000" b="1" dirty="0">
                <a:solidFill>
                  <a:srgbClr val="000000"/>
                </a:solidFill>
                <a:latin typeface="Times New Roman" pitchFamily="18" charset="0"/>
                <a:ea typeface="Batang" pitchFamily="18" charset="-127"/>
              </a:rPr>
              <a:t>MOV	R6,#25H</a:t>
            </a:r>
            <a:br>
              <a:rPr lang="en-US" altLang="ko-KR" sz="1500" b="1" dirty="0">
                <a:solidFill>
                  <a:srgbClr val="000000"/>
                </a:solidFill>
                <a:ea typeface="굴림" pitchFamily="34" charset="-127"/>
              </a:rPr>
            </a:br>
            <a:r>
              <a:rPr lang="en-US" altLang="ko-KR" sz="2000" b="1" dirty="0">
                <a:solidFill>
                  <a:srgbClr val="000000"/>
                </a:solidFill>
                <a:latin typeface="Times New Roman" pitchFamily="18" charset="0"/>
                <a:ea typeface="Batang" pitchFamily="18" charset="-127"/>
              </a:rPr>
              <a:t>	MOV	R1,#12H</a:t>
            </a:r>
            <a:br>
              <a:rPr lang="en-US" altLang="ko-KR" sz="1500" b="1" dirty="0">
                <a:solidFill>
                  <a:srgbClr val="000000"/>
                </a:solidFill>
                <a:ea typeface="굴림" pitchFamily="34" charset="-127"/>
              </a:rPr>
            </a:br>
            <a:r>
              <a:rPr lang="en-US" altLang="ko-KR" sz="2000" b="1" dirty="0">
                <a:solidFill>
                  <a:srgbClr val="000000"/>
                </a:solidFill>
                <a:latin typeface="Times New Roman" pitchFamily="18" charset="0"/>
                <a:ea typeface="Batang" pitchFamily="18" charset="-127"/>
              </a:rPr>
              <a:t>	MOV	R4,#0F3H</a:t>
            </a:r>
            <a:br>
              <a:rPr lang="en-US" altLang="ko-KR" sz="1500" b="1" dirty="0">
                <a:solidFill>
                  <a:srgbClr val="000000"/>
                </a:solidFill>
                <a:ea typeface="굴림" pitchFamily="34" charset="-127"/>
              </a:rPr>
            </a:br>
            <a:r>
              <a:rPr lang="en-US" altLang="ko-KR" sz="2000" b="1" dirty="0">
                <a:solidFill>
                  <a:srgbClr val="000000"/>
                </a:solidFill>
                <a:latin typeface="Times New Roman" pitchFamily="18" charset="0"/>
                <a:ea typeface="Batang" pitchFamily="18" charset="-127"/>
              </a:rPr>
              <a:t>	PUSH	6</a:t>
            </a:r>
            <a:br>
              <a:rPr lang="en-US" altLang="ko-KR" sz="1500" b="1" dirty="0">
                <a:solidFill>
                  <a:srgbClr val="000000"/>
                </a:solidFill>
                <a:ea typeface="굴림" pitchFamily="34" charset="-127"/>
              </a:rPr>
            </a:br>
            <a:r>
              <a:rPr lang="en-US" altLang="ko-KR" sz="2000" b="1" dirty="0">
                <a:solidFill>
                  <a:srgbClr val="000000"/>
                </a:solidFill>
                <a:latin typeface="Times New Roman" pitchFamily="18" charset="0"/>
                <a:ea typeface="Batang" pitchFamily="18" charset="-127"/>
              </a:rPr>
              <a:t>	PUSH	1</a:t>
            </a:r>
            <a:br>
              <a:rPr lang="en-US" altLang="ko-KR" sz="1500" b="1" dirty="0">
                <a:solidFill>
                  <a:srgbClr val="000000"/>
                </a:solidFill>
                <a:ea typeface="굴림" pitchFamily="34" charset="-127"/>
              </a:rPr>
            </a:br>
            <a:r>
              <a:rPr lang="en-US" altLang="ko-KR" sz="2000" b="1" dirty="0">
                <a:solidFill>
                  <a:srgbClr val="000000"/>
                </a:solidFill>
                <a:latin typeface="Times New Roman" pitchFamily="18" charset="0"/>
                <a:ea typeface="Batang" pitchFamily="18" charset="-127"/>
              </a:rPr>
              <a:t>	PUSH	4</a:t>
            </a:r>
            <a:br>
              <a:rPr lang="en-US" altLang="ko-KR" sz="1500" b="1" dirty="0">
                <a:solidFill>
                  <a:srgbClr val="000000"/>
                </a:solidFill>
                <a:ea typeface="굴림" pitchFamily="34" charset="-127"/>
              </a:rPr>
            </a:br>
            <a:br>
              <a:rPr 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</a:br>
            <a:br>
              <a:rPr 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</a:br>
            <a:br>
              <a:rPr 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</a:br>
            <a:br>
              <a:rPr 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</a:br>
            <a:br>
              <a:rPr 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</a:br>
            <a:br>
              <a:rPr 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</a:br>
            <a:br>
              <a:rPr 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</a:br>
            <a:br>
              <a:rPr 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</a:br>
            <a:br>
              <a:rPr 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</a:br>
            <a:br>
              <a:rPr 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</a:br>
            <a:br>
              <a:rPr 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</a:br>
            <a:br>
              <a:rPr 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</a:br>
            <a:br>
              <a:rPr 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</a:br>
            <a:br>
              <a:rPr 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</a:br>
            <a:endParaRPr lang="en-US" sz="3600" dirty="0">
              <a:solidFill>
                <a:srgbClr val="FFFF00"/>
              </a:solidFill>
            </a:endParaRPr>
          </a:p>
        </p:txBody>
      </p:sp>
      <p:grpSp>
        <p:nvGrpSpPr>
          <p:cNvPr id="61443" name="Group 5"/>
          <p:cNvGrpSpPr>
            <a:grpSpLocks/>
          </p:cNvGrpSpPr>
          <p:nvPr/>
        </p:nvGrpSpPr>
        <p:grpSpPr bwMode="auto">
          <a:xfrm>
            <a:off x="381000" y="3068638"/>
            <a:ext cx="1616075" cy="2278062"/>
            <a:chOff x="1940" y="5126"/>
            <a:chExt cx="2282" cy="3220"/>
          </a:xfrm>
        </p:grpSpPr>
        <p:grpSp>
          <p:nvGrpSpPr>
            <p:cNvPr id="61499" name="Group 6"/>
            <p:cNvGrpSpPr>
              <a:grpSpLocks/>
            </p:cNvGrpSpPr>
            <p:nvPr/>
          </p:nvGrpSpPr>
          <p:grpSpPr bwMode="auto">
            <a:xfrm>
              <a:off x="2668" y="5140"/>
              <a:ext cx="1273" cy="631"/>
              <a:chOff x="2668" y="5140"/>
              <a:chExt cx="1273" cy="631"/>
            </a:xfrm>
          </p:grpSpPr>
          <p:sp>
            <p:nvSpPr>
              <p:cNvPr id="61514" name="Text Box 7"/>
              <p:cNvSpPr txBox="1">
                <a:spLocks noChangeArrowheads="1"/>
              </p:cNvSpPr>
              <p:nvPr/>
            </p:nvSpPr>
            <p:spPr bwMode="auto">
              <a:xfrm>
                <a:off x="3032" y="5140"/>
                <a:ext cx="909" cy="630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1515" name="Line 8"/>
              <p:cNvSpPr>
                <a:spLocks noChangeShapeType="1"/>
              </p:cNvSpPr>
              <p:nvPr/>
            </p:nvSpPr>
            <p:spPr bwMode="auto">
              <a:xfrm flipH="1">
                <a:off x="2668" y="5770"/>
                <a:ext cx="1273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61500" name="Group 9"/>
            <p:cNvGrpSpPr>
              <a:grpSpLocks/>
            </p:cNvGrpSpPr>
            <p:nvPr/>
          </p:nvGrpSpPr>
          <p:grpSpPr bwMode="auto">
            <a:xfrm>
              <a:off x="2668" y="5797"/>
              <a:ext cx="1273" cy="631"/>
              <a:chOff x="2668" y="5140"/>
              <a:chExt cx="1273" cy="631"/>
            </a:xfrm>
          </p:grpSpPr>
          <p:sp>
            <p:nvSpPr>
              <p:cNvPr id="61512" name="Text Box 10"/>
              <p:cNvSpPr txBox="1">
                <a:spLocks noChangeArrowheads="1"/>
              </p:cNvSpPr>
              <p:nvPr/>
            </p:nvSpPr>
            <p:spPr bwMode="auto">
              <a:xfrm>
                <a:off x="3032" y="5140"/>
                <a:ext cx="909" cy="630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1513" name="Line 11"/>
              <p:cNvSpPr>
                <a:spLocks noChangeShapeType="1"/>
              </p:cNvSpPr>
              <p:nvPr/>
            </p:nvSpPr>
            <p:spPr bwMode="auto">
              <a:xfrm flipH="1">
                <a:off x="2668" y="5770"/>
                <a:ext cx="1273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61501" name="Group 12"/>
            <p:cNvGrpSpPr>
              <a:grpSpLocks/>
            </p:cNvGrpSpPr>
            <p:nvPr/>
          </p:nvGrpSpPr>
          <p:grpSpPr bwMode="auto">
            <a:xfrm>
              <a:off x="2669" y="6455"/>
              <a:ext cx="1273" cy="631"/>
              <a:chOff x="2668" y="5140"/>
              <a:chExt cx="1273" cy="631"/>
            </a:xfrm>
          </p:grpSpPr>
          <p:sp>
            <p:nvSpPr>
              <p:cNvPr id="61510" name="Text Box 13"/>
              <p:cNvSpPr txBox="1">
                <a:spLocks noChangeArrowheads="1"/>
              </p:cNvSpPr>
              <p:nvPr/>
            </p:nvSpPr>
            <p:spPr bwMode="auto">
              <a:xfrm>
                <a:off x="3032" y="5140"/>
                <a:ext cx="909" cy="630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1511" name="Line 14"/>
              <p:cNvSpPr>
                <a:spLocks noChangeShapeType="1"/>
              </p:cNvSpPr>
              <p:nvPr/>
            </p:nvSpPr>
            <p:spPr bwMode="auto">
              <a:xfrm flipH="1">
                <a:off x="2668" y="5770"/>
                <a:ext cx="1273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61502" name="Group 15"/>
            <p:cNvGrpSpPr>
              <a:grpSpLocks/>
            </p:cNvGrpSpPr>
            <p:nvPr/>
          </p:nvGrpSpPr>
          <p:grpSpPr bwMode="auto">
            <a:xfrm>
              <a:off x="2669" y="7100"/>
              <a:ext cx="1273" cy="631"/>
              <a:chOff x="2668" y="5140"/>
              <a:chExt cx="1273" cy="631"/>
            </a:xfrm>
          </p:grpSpPr>
          <p:sp>
            <p:nvSpPr>
              <p:cNvPr id="61508" name="Text Box 16"/>
              <p:cNvSpPr txBox="1">
                <a:spLocks noChangeArrowheads="1"/>
              </p:cNvSpPr>
              <p:nvPr/>
            </p:nvSpPr>
            <p:spPr bwMode="auto">
              <a:xfrm>
                <a:off x="3032" y="5140"/>
                <a:ext cx="909" cy="630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1509" name="Line 17"/>
              <p:cNvSpPr>
                <a:spLocks noChangeShapeType="1"/>
              </p:cNvSpPr>
              <p:nvPr/>
            </p:nvSpPr>
            <p:spPr bwMode="auto">
              <a:xfrm flipH="1">
                <a:off x="2668" y="5770"/>
                <a:ext cx="1273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61503" name="Text Box 18"/>
            <p:cNvSpPr txBox="1">
              <a:spLocks noChangeArrowheads="1"/>
            </p:cNvSpPr>
            <p:nvPr/>
          </p:nvSpPr>
          <p:spPr bwMode="auto">
            <a:xfrm>
              <a:off x="1954" y="5126"/>
              <a:ext cx="812" cy="4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r" rtl="1" eaLnBrk="1" hangingPunct="1"/>
              <a:r>
                <a:rPr lang="en-US" altLang="en-US" sz="1400" b="1">
                  <a:latin typeface="Times New Roman" pitchFamily="18" charset="0"/>
                  <a:cs typeface="Times New Roman" pitchFamily="18" charset="0"/>
                </a:rPr>
                <a:t>0BH</a:t>
              </a:r>
              <a:endParaRPr lang="en-US" altLang="en-US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504" name="Text Box 19"/>
            <p:cNvSpPr txBox="1">
              <a:spLocks noChangeArrowheads="1"/>
            </p:cNvSpPr>
            <p:nvPr/>
          </p:nvSpPr>
          <p:spPr bwMode="auto">
            <a:xfrm>
              <a:off x="1954" y="5826"/>
              <a:ext cx="812" cy="4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r" rtl="1" eaLnBrk="1" hangingPunct="1"/>
              <a:r>
                <a:rPr lang="en-US" altLang="en-US" sz="1400" b="1">
                  <a:latin typeface="Times New Roman" pitchFamily="18" charset="0"/>
                  <a:cs typeface="Times New Roman" pitchFamily="18" charset="0"/>
                </a:rPr>
                <a:t>0AH</a:t>
              </a:r>
              <a:endParaRPr lang="en-US" altLang="en-US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505" name="Text Box 20"/>
            <p:cNvSpPr txBox="1">
              <a:spLocks noChangeArrowheads="1"/>
            </p:cNvSpPr>
            <p:nvPr/>
          </p:nvSpPr>
          <p:spPr bwMode="auto">
            <a:xfrm>
              <a:off x="1940" y="6484"/>
              <a:ext cx="812" cy="4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r" rtl="1" eaLnBrk="1" hangingPunct="1"/>
              <a:r>
                <a:rPr lang="en-US" altLang="en-US" sz="1400" b="1">
                  <a:latin typeface="Times New Roman" pitchFamily="18" charset="0"/>
                  <a:cs typeface="Times New Roman" pitchFamily="18" charset="0"/>
                </a:rPr>
                <a:t>09H</a:t>
              </a:r>
              <a:endParaRPr lang="en-US" altLang="en-US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506" name="Text Box 21"/>
            <p:cNvSpPr txBox="1">
              <a:spLocks noChangeArrowheads="1"/>
            </p:cNvSpPr>
            <p:nvPr/>
          </p:nvSpPr>
          <p:spPr bwMode="auto">
            <a:xfrm>
              <a:off x="1968" y="7198"/>
              <a:ext cx="812" cy="4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r" rtl="1" eaLnBrk="1" hangingPunct="1"/>
              <a:r>
                <a:rPr lang="en-US" altLang="en-US" sz="1400" b="1">
                  <a:latin typeface="Times New Roman" pitchFamily="18" charset="0"/>
                  <a:cs typeface="Times New Roman" pitchFamily="18" charset="0"/>
                </a:rPr>
                <a:t>08H</a:t>
              </a:r>
              <a:endParaRPr lang="en-US" altLang="en-US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507" name="Text Box 22"/>
            <p:cNvSpPr txBox="1">
              <a:spLocks noChangeArrowheads="1"/>
            </p:cNvSpPr>
            <p:nvPr/>
          </p:nvSpPr>
          <p:spPr bwMode="auto">
            <a:xfrm>
              <a:off x="2416" y="7898"/>
              <a:ext cx="1806" cy="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rtl="1" eaLnBrk="1" hangingPunct="1"/>
              <a:r>
                <a:rPr lang="en-US" altLang="en-US" sz="1400" b="1">
                  <a:latin typeface="Times New Roman" pitchFamily="18" charset="0"/>
                  <a:cs typeface="Times New Roman" pitchFamily="18" charset="0"/>
                </a:rPr>
                <a:t>Start SP=07H</a:t>
              </a:r>
              <a:endParaRPr lang="en-US" altLang="en-US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7" name="Group 23"/>
          <p:cNvGrpSpPr>
            <a:grpSpLocks/>
          </p:cNvGrpSpPr>
          <p:nvPr/>
        </p:nvGrpSpPr>
        <p:grpSpPr bwMode="auto">
          <a:xfrm>
            <a:off x="2133600" y="3068638"/>
            <a:ext cx="1614488" cy="2278062"/>
            <a:chOff x="1940" y="5126"/>
            <a:chExt cx="2282" cy="3220"/>
          </a:xfrm>
        </p:grpSpPr>
        <p:grpSp>
          <p:nvGrpSpPr>
            <p:cNvPr id="61482" name="Group 24"/>
            <p:cNvGrpSpPr>
              <a:grpSpLocks/>
            </p:cNvGrpSpPr>
            <p:nvPr/>
          </p:nvGrpSpPr>
          <p:grpSpPr bwMode="auto">
            <a:xfrm>
              <a:off x="2668" y="5140"/>
              <a:ext cx="1273" cy="631"/>
              <a:chOff x="2668" y="5140"/>
              <a:chExt cx="1273" cy="631"/>
            </a:xfrm>
          </p:grpSpPr>
          <p:sp>
            <p:nvSpPr>
              <p:cNvPr id="61497" name="Text Box 25"/>
              <p:cNvSpPr txBox="1">
                <a:spLocks noChangeArrowheads="1"/>
              </p:cNvSpPr>
              <p:nvPr/>
            </p:nvSpPr>
            <p:spPr bwMode="auto">
              <a:xfrm>
                <a:off x="3032" y="5140"/>
                <a:ext cx="909" cy="630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1498" name="Line 26"/>
              <p:cNvSpPr>
                <a:spLocks noChangeShapeType="1"/>
              </p:cNvSpPr>
              <p:nvPr/>
            </p:nvSpPr>
            <p:spPr bwMode="auto">
              <a:xfrm flipH="1">
                <a:off x="2668" y="5770"/>
                <a:ext cx="1273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61483" name="Group 27"/>
            <p:cNvGrpSpPr>
              <a:grpSpLocks/>
            </p:cNvGrpSpPr>
            <p:nvPr/>
          </p:nvGrpSpPr>
          <p:grpSpPr bwMode="auto">
            <a:xfrm>
              <a:off x="2668" y="5797"/>
              <a:ext cx="1273" cy="631"/>
              <a:chOff x="2668" y="5140"/>
              <a:chExt cx="1273" cy="631"/>
            </a:xfrm>
          </p:grpSpPr>
          <p:sp>
            <p:nvSpPr>
              <p:cNvPr id="61495" name="Text Box 28"/>
              <p:cNvSpPr txBox="1">
                <a:spLocks noChangeArrowheads="1"/>
              </p:cNvSpPr>
              <p:nvPr/>
            </p:nvSpPr>
            <p:spPr bwMode="auto">
              <a:xfrm>
                <a:off x="3032" y="5140"/>
                <a:ext cx="909" cy="630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1496" name="Line 29"/>
              <p:cNvSpPr>
                <a:spLocks noChangeShapeType="1"/>
              </p:cNvSpPr>
              <p:nvPr/>
            </p:nvSpPr>
            <p:spPr bwMode="auto">
              <a:xfrm flipH="1">
                <a:off x="2668" y="5770"/>
                <a:ext cx="1273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61484" name="Group 30"/>
            <p:cNvGrpSpPr>
              <a:grpSpLocks/>
            </p:cNvGrpSpPr>
            <p:nvPr/>
          </p:nvGrpSpPr>
          <p:grpSpPr bwMode="auto">
            <a:xfrm>
              <a:off x="2669" y="6455"/>
              <a:ext cx="1273" cy="631"/>
              <a:chOff x="2668" y="5140"/>
              <a:chExt cx="1273" cy="631"/>
            </a:xfrm>
          </p:grpSpPr>
          <p:sp>
            <p:nvSpPr>
              <p:cNvPr id="61493" name="Text Box 31"/>
              <p:cNvSpPr txBox="1">
                <a:spLocks noChangeArrowheads="1"/>
              </p:cNvSpPr>
              <p:nvPr/>
            </p:nvSpPr>
            <p:spPr bwMode="auto">
              <a:xfrm>
                <a:off x="3032" y="5140"/>
                <a:ext cx="909" cy="630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1494" name="Line 32"/>
              <p:cNvSpPr>
                <a:spLocks noChangeShapeType="1"/>
              </p:cNvSpPr>
              <p:nvPr/>
            </p:nvSpPr>
            <p:spPr bwMode="auto">
              <a:xfrm flipH="1">
                <a:off x="2668" y="5770"/>
                <a:ext cx="1273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61485" name="Group 33"/>
            <p:cNvGrpSpPr>
              <a:grpSpLocks/>
            </p:cNvGrpSpPr>
            <p:nvPr/>
          </p:nvGrpSpPr>
          <p:grpSpPr bwMode="auto">
            <a:xfrm>
              <a:off x="2669" y="7100"/>
              <a:ext cx="1273" cy="631"/>
              <a:chOff x="2668" y="5140"/>
              <a:chExt cx="1273" cy="631"/>
            </a:xfrm>
          </p:grpSpPr>
          <p:sp>
            <p:nvSpPr>
              <p:cNvPr id="61491" name="Text Box 34"/>
              <p:cNvSpPr txBox="1">
                <a:spLocks noChangeArrowheads="1"/>
              </p:cNvSpPr>
              <p:nvPr/>
            </p:nvSpPr>
            <p:spPr bwMode="auto">
              <a:xfrm>
                <a:off x="3032" y="5140"/>
                <a:ext cx="909" cy="630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rtl="1" eaLnBrk="1" hangingPunct="1"/>
                <a:r>
                  <a:rPr lang="en-US" altLang="en-US" sz="1400" b="1">
                    <a:latin typeface="Times New Roman" pitchFamily="18" charset="0"/>
                    <a:cs typeface="Times New Roman" pitchFamily="18" charset="0"/>
                  </a:rPr>
                  <a:t>25</a:t>
                </a:r>
                <a:endParaRPr lang="en-US" altLang="en-US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1492" name="Line 35"/>
              <p:cNvSpPr>
                <a:spLocks noChangeShapeType="1"/>
              </p:cNvSpPr>
              <p:nvPr/>
            </p:nvSpPr>
            <p:spPr bwMode="auto">
              <a:xfrm flipH="1">
                <a:off x="2668" y="5770"/>
                <a:ext cx="1273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61486" name="Text Box 36"/>
            <p:cNvSpPr txBox="1">
              <a:spLocks noChangeArrowheads="1"/>
            </p:cNvSpPr>
            <p:nvPr/>
          </p:nvSpPr>
          <p:spPr bwMode="auto">
            <a:xfrm>
              <a:off x="1954" y="5126"/>
              <a:ext cx="812" cy="4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r" rtl="1" eaLnBrk="1" hangingPunct="1"/>
              <a:r>
                <a:rPr lang="en-US" altLang="en-US" sz="1400" b="1">
                  <a:latin typeface="Times New Roman" pitchFamily="18" charset="0"/>
                  <a:cs typeface="Times New Roman" pitchFamily="18" charset="0"/>
                </a:rPr>
                <a:t>0BH</a:t>
              </a:r>
              <a:endParaRPr lang="en-US" altLang="en-US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487" name="Text Box 37"/>
            <p:cNvSpPr txBox="1">
              <a:spLocks noChangeArrowheads="1"/>
            </p:cNvSpPr>
            <p:nvPr/>
          </p:nvSpPr>
          <p:spPr bwMode="auto">
            <a:xfrm>
              <a:off x="1954" y="5826"/>
              <a:ext cx="812" cy="4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r" rtl="1" eaLnBrk="1" hangingPunct="1"/>
              <a:r>
                <a:rPr lang="en-US" altLang="en-US" sz="1400" b="1">
                  <a:latin typeface="Times New Roman" pitchFamily="18" charset="0"/>
                  <a:cs typeface="Times New Roman" pitchFamily="18" charset="0"/>
                </a:rPr>
                <a:t>0AH</a:t>
              </a:r>
              <a:endParaRPr lang="en-US" altLang="en-US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488" name="Text Box 38"/>
            <p:cNvSpPr txBox="1">
              <a:spLocks noChangeArrowheads="1"/>
            </p:cNvSpPr>
            <p:nvPr/>
          </p:nvSpPr>
          <p:spPr bwMode="auto">
            <a:xfrm>
              <a:off x="1940" y="6484"/>
              <a:ext cx="812" cy="4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r" rtl="1" eaLnBrk="1" hangingPunct="1"/>
              <a:r>
                <a:rPr lang="en-US" altLang="en-US" sz="1400" b="1">
                  <a:latin typeface="Times New Roman" pitchFamily="18" charset="0"/>
                  <a:cs typeface="Times New Roman" pitchFamily="18" charset="0"/>
                </a:rPr>
                <a:t>09H</a:t>
              </a:r>
              <a:endParaRPr lang="en-US" altLang="en-US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489" name="Text Box 39"/>
            <p:cNvSpPr txBox="1">
              <a:spLocks noChangeArrowheads="1"/>
            </p:cNvSpPr>
            <p:nvPr/>
          </p:nvSpPr>
          <p:spPr bwMode="auto">
            <a:xfrm>
              <a:off x="1968" y="7198"/>
              <a:ext cx="812" cy="4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r" rtl="1" eaLnBrk="1" hangingPunct="1"/>
              <a:r>
                <a:rPr lang="en-US" altLang="en-US" sz="1400" b="1">
                  <a:latin typeface="Times New Roman" pitchFamily="18" charset="0"/>
                  <a:cs typeface="Times New Roman" pitchFamily="18" charset="0"/>
                </a:rPr>
                <a:t>08H</a:t>
              </a:r>
              <a:endParaRPr lang="en-US" altLang="en-US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490" name="Text Box 40"/>
            <p:cNvSpPr txBox="1">
              <a:spLocks noChangeArrowheads="1"/>
            </p:cNvSpPr>
            <p:nvPr/>
          </p:nvSpPr>
          <p:spPr bwMode="auto">
            <a:xfrm>
              <a:off x="2416" y="7898"/>
              <a:ext cx="1806" cy="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rtl="1" eaLnBrk="1" hangingPunct="1"/>
              <a:r>
                <a:rPr lang="en-US" altLang="en-US" sz="1400" b="1">
                  <a:latin typeface="Times New Roman" pitchFamily="18" charset="0"/>
                  <a:cs typeface="Times New Roman" pitchFamily="18" charset="0"/>
                </a:rPr>
                <a:t>SP=08H</a:t>
              </a:r>
              <a:endParaRPr lang="en-US" altLang="en-US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2" name="Group 41"/>
          <p:cNvGrpSpPr>
            <a:grpSpLocks/>
          </p:cNvGrpSpPr>
          <p:nvPr/>
        </p:nvGrpSpPr>
        <p:grpSpPr bwMode="auto">
          <a:xfrm>
            <a:off x="4191000" y="3068638"/>
            <a:ext cx="1614488" cy="2279650"/>
            <a:chOff x="1940" y="5126"/>
            <a:chExt cx="2282" cy="3220"/>
          </a:xfrm>
        </p:grpSpPr>
        <p:grpSp>
          <p:nvGrpSpPr>
            <p:cNvPr id="61465" name="Group 42"/>
            <p:cNvGrpSpPr>
              <a:grpSpLocks/>
            </p:cNvGrpSpPr>
            <p:nvPr/>
          </p:nvGrpSpPr>
          <p:grpSpPr bwMode="auto">
            <a:xfrm>
              <a:off x="2668" y="5140"/>
              <a:ext cx="1273" cy="631"/>
              <a:chOff x="2668" y="5140"/>
              <a:chExt cx="1273" cy="631"/>
            </a:xfrm>
          </p:grpSpPr>
          <p:sp>
            <p:nvSpPr>
              <p:cNvPr id="61480" name="Text Box 43"/>
              <p:cNvSpPr txBox="1">
                <a:spLocks noChangeArrowheads="1"/>
              </p:cNvSpPr>
              <p:nvPr/>
            </p:nvSpPr>
            <p:spPr bwMode="auto">
              <a:xfrm>
                <a:off x="3032" y="5140"/>
                <a:ext cx="909" cy="630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1481" name="Line 44"/>
              <p:cNvSpPr>
                <a:spLocks noChangeShapeType="1"/>
              </p:cNvSpPr>
              <p:nvPr/>
            </p:nvSpPr>
            <p:spPr bwMode="auto">
              <a:xfrm flipH="1">
                <a:off x="2668" y="5770"/>
                <a:ext cx="1273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61466" name="Group 45"/>
            <p:cNvGrpSpPr>
              <a:grpSpLocks/>
            </p:cNvGrpSpPr>
            <p:nvPr/>
          </p:nvGrpSpPr>
          <p:grpSpPr bwMode="auto">
            <a:xfrm>
              <a:off x="2668" y="5797"/>
              <a:ext cx="1273" cy="631"/>
              <a:chOff x="2668" y="5140"/>
              <a:chExt cx="1273" cy="631"/>
            </a:xfrm>
          </p:grpSpPr>
          <p:sp>
            <p:nvSpPr>
              <p:cNvPr id="61478" name="Text Box 46"/>
              <p:cNvSpPr txBox="1">
                <a:spLocks noChangeArrowheads="1"/>
              </p:cNvSpPr>
              <p:nvPr/>
            </p:nvSpPr>
            <p:spPr bwMode="auto">
              <a:xfrm>
                <a:off x="3032" y="5140"/>
                <a:ext cx="909" cy="630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1479" name="Line 47"/>
              <p:cNvSpPr>
                <a:spLocks noChangeShapeType="1"/>
              </p:cNvSpPr>
              <p:nvPr/>
            </p:nvSpPr>
            <p:spPr bwMode="auto">
              <a:xfrm flipH="1">
                <a:off x="2668" y="5770"/>
                <a:ext cx="1273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61467" name="Group 48"/>
            <p:cNvGrpSpPr>
              <a:grpSpLocks/>
            </p:cNvGrpSpPr>
            <p:nvPr/>
          </p:nvGrpSpPr>
          <p:grpSpPr bwMode="auto">
            <a:xfrm>
              <a:off x="2669" y="6455"/>
              <a:ext cx="1273" cy="631"/>
              <a:chOff x="2668" y="5140"/>
              <a:chExt cx="1273" cy="631"/>
            </a:xfrm>
          </p:grpSpPr>
          <p:sp>
            <p:nvSpPr>
              <p:cNvPr id="61476" name="Text Box 49"/>
              <p:cNvSpPr txBox="1">
                <a:spLocks noChangeArrowheads="1"/>
              </p:cNvSpPr>
              <p:nvPr/>
            </p:nvSpPr>
            <p:spPr bwMode="auto">
              <a:xfrm>
                <a:off x="3032" y="5140"/>
                <a:ext cx="909" cy="630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rtl="1" eaLnBrk="1" hangingPunct="1"/>
                <a:r>
                  <a:rPr lang="en-US" altLang="en-US" sz="1400" b="1">
                    <a:latin typeface="Times New Roman" pitchFamily="18" charset="0"/>
                    <a:cs typeface="Times New Roman" pitchFamily="18" charset="0"/>
                  </a:rPr>
                  <a:t>12</a:t>
                </a:r>
                <a:endParaRPr lang="en-US" altLang="en-US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1477" name="Line 50"/>
              <p:cNvSpPr>
                <a:spLocks noChangeShapeType="1"/>
              </p:cNvSpPr>
              <p:nvPr/>
            </p:nvSpPr>
            <p:spPr bwMode="auto">
              <a:xfrm flipH="1">
                <a:off x="2668" y="5770"/>
                <a:ext cx="1273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61468" name="Group 51"/>
            <p:cNvGrpSpPr>
              <a:grpSpLocks/>
            </p:cNvGrpSpPr>
            <p:nvPr/>
          </p:nvGrpSpPr>
          <p:grpSpPr bwMode="auto">
            <a:xfrm>
              <a:off x="2669" y="7100"/>
              <a:ext cx="1273" cy="631"/>
              <a:chOff x="2668" y="5140"/>
              <a:chExt cx="1273" cy="631"/>
            </a:xfrm>
          </p:grpSpPr>
          <p:sp>
            <p:nvSpPr>
              <p:cNvPr id="61474" name="Text Box 52"/>
              <p:cNvSpPr txBox="1">
                <a:spLocks noChangeArrowheads="1"/>
              </p:cNvSpPr>
              <p:nvPr/>
            </p:nvSpPr>
            <p:spPr bwMode="auto">
              <a:xfrm>
                <a:off x="3032" y="5140"/>
                <a:ext cx="909" cy="630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rtl="1" eaLnBrk="1" hangingPunct="1"/>
                <a:r>
                  <a:rPr lang="en-US" altLang="en-US" sz="1400" b="1">
                    <a:latin typeface="Times New Roman" pitchFamily="18" charset="0"/>
                    <a:cs typeface="Times New Roman" pitchFamily="18" charset="0"/>
                  </a:rPr>
                  <a:t>25</a:t>
                </a:r>
                <a:endParaRPr lang="en-US" altLang="en-US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1475" name="Line 53"/>
              <p:cNvSpPr>
                <a:spLocks noChangeShapeType="1"/>
              </p:cNvSpPr>
              <p:nvPr/>
            </p:nvSpPr>
            <p:spPr bwMode="auto">
              <a:xfrm flipH="1">
                <a:off x="2668" y="5770"/>
                <a:ext cx="1273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61469" name="Text Box 54"/>
            <p:cNvSpPr txBox="1">
              <a:spLocks noChangeArrowheads="1"/>
            </p:cNvSpPr>
            <p:nvPr/>
          </p:nvSpPr>
          <p:spPr bwMode="auto">
            <a:xfrm>
              <a:off x="1954" y="5126"/>
              <a:ext cx="812" cy="4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r" rtl="1" eaLnBrk="1" hangingPunct="1"/>
              <a:r>
                <a:rPr lang="en-US" altLang="en-US" sz="1400" b="1">
                  <a:latin typeface="Times New Roman" pitchFamily="18" charset="0"/>
                  <a:cs typeface="Times New Roman" pitchFamily="18" charset="0"/>
                </a:rPr>
                <a:t>0BH</a:t>
              </a:r>
              <a:endParaRPr lang="en-US" altLang="en-US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470" name="Text Box 55"/>
            <p:cNvSpPr txBox="1">
              <a:spLocks noChangeArrowheads="1"/>
            </p:cNvSpPr>
            <p:nvPr/>
          </p:nvSpPr>
          <p:spPr bwMode="auto">
            <a:xfrm>
              <a:off x="1954" y="5826"/>
              <a:ext cx="812" cy="4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r" rtl="1" eaLnBrk="1" hangingPunct="1"/>
              <a:r>
                <a:rPr lang="en-US" altLang="en-US" sz="1400" b="1">
                  <a:latin typeface="Times New Roman" pitchFamily="18" charset="0"/>
                  <a:cs typeface="Times New Roman" pitchFamily="18" charset="0"/>
                </a:rPr>
                <a:t>0AH</a:t>
              </a:r>
              <a:endParaRPr lang="en-US" altLang="en-US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471" name="Text Box 56"/>
            <p:cNvSpPr txBox="1">
              <a:spLocks noChangeArrowheads="1"/>
            </p:cNvSpPr>
            <p:nvPr/>
          </p:nvSpPr>
          <p:spPr bwMode="auto">
            <a:xfrm>
              <a:off x="1940" y="6484"/>
              <a:ext cx="812" cy="4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r" rtl="1" eaLnBrk="1" hangingPunct="1"/>
              <a:r>
                <a:rPr lang="en-US" altLang="en-US" sz="1400" b="1">
                  <a:latin typeface="Times New Roman" pitchFamily="18" charset="0"/>
                  <a:cs typeface="Times New Roman" pitchFamily="18" charset="0"/>
                </a:rPr>
                <a:t>09H</a:t>
              </a:r>
              <a:endParaRPr lang="en-US" altLang="en-US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472" name="Text Box 57"/>
            <p:cNvSpPr txBox="1">
              <a:spLocks noChangeArrowheads="1"/>
            </p:cNvSpPr>
            <p:nvPr/>
          </p:nvSpPr>
          <p:spPr bwMode="auto">
            <a:xfrm>
              <a:off x="1968" y="7198"/>
              <a:ext cx="812" cy="4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r" rtl="1" eaLnBrk="1" hangingPunct="1"/>
              <a:r>
                <a:rPr lang="en-US" altLang="en-US" sz="1400" b="1">
                  <a:latin typeface="Times New Roman" pitchFamily="18" charset="0"/>
                  <a:cs typeface="Times New Roman" pitchFamily="18" charset="0"/>
                </a:rPr>
                <a:t>08H</a:t>
              </a:r>
              <a:endParaRPr lang="en-US" altLang="en-US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473" name="Text Box 58"/>
            <p:cNvSpPr txBox="1">
              <a:spLocks noChangeArrowheads="1"/>
            </p:cNvSpPr>
            <p:nvPr/>
          </p:nvSpPr>
          <p:spPr bwMode="auto">
            <a:xfrm>
              <a:off x="2416" y="7898"/>
              <a:ext cx="1806" cy="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rtl="1" eaLnBrk="1" hangingPunct="1"/>
              <a:r>
                <a:rPr lang="en-US" altLang="en-US" sz="1400" b="1">
                  <a:latin typeface="Times New Roman" pitchFamily="18" charset="0"/>
                  <a:cs typeface="Times New Roman" pitchFamily="18" charset="0"/>
                </a:rPr>
                <a:t>SP=09H</a:t>
              </a:r>
              <a:endParaRPr lang="en-US" altLang="en-US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7" name="Group 59"/>
          <p:cNvGrpSpPr>
            <a:grpSpLocks/>
          </p:cNvGrpSpPr>
          <p:nvPr/>
        </p:nvGrpSpPr>
        <p:grpSpPr bwMode="auto">
          <a:xfrm>
            <a:off x="6227763" y="3068638"/>
            <a:ext cx="1616075" cy="2278062"/>
            <a:chOff x="1940" y="5126"/>
            <a:chExt cx="2282" cy="3220"/>
          </a:xfrm>
        </p:grpSpPr>
        <p:grpSp>
          <p:nvGrpSpPr>
            <p:cNvPr id="61448" name="Group 60"/>
            <p:cNvGrpSpPr>
              <a:grpSpLocks/>
            </p:cNvGrpSpPr>
            <p:nvPr/>
          </p:nvGrpSpPr>
          <p:grpSpPr bwMode="auto">
            <a:xfrm>
              <a:off x="2668" y="5140"/>
              <a:ext cx="1273" cy="631"/>
              <a:chOff x="2668" y="5140"/>
              <a:chExt cx="1273" cy="631"/>
            </a:xfrm>
          </p:grpSpPr>
          <p:sp>
            <p:nvSpPr>
              <p:cNvPr id="61463" name="Text Box 61"/>
              <p:cNvSpPr txBox="1">
                <a:spLocks noChangeArrowheads="1"/>
              </p:cNvSpPr>
              <p:nvPr/>
            </p:nvSpPr>
            <p:spPr bwMode="auto">
              <a:xfrm>
                <a:off x="3032" y="5140"/>
                <a:ext cx="909" cy="630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1464" name="Line 62"/>
              <p:cNvSpPr>
                <a:spLocks noChangeShapeType="1"/>
              </p:cNvSpPr>
              <p:nvPr/>
            </p:nvSpPr>
            <p:spPr bwMode="auto">
              <a:xfrm flipH="1">
                <a:off x="2668" y="5770"/>
                <a:ext cx="1273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61449" name="Group 63"/>
            <p:cNvGrpSpPr>
              <a:grpSpLocks/>
            </p:cNvGrpSpPr>
            <p:nvPr/>
          </p:nvGrpSpPr>
          <p:grpSpPr bwMode="auto">
            <a:xfrm>
              <a:off x="2668" y="5797"/>
              <a:ext cx="1273" cy="631"/>
              <a:chOff x="2668" y="5140"/>
              <a:chExt cx="1273" cy="631"/>
            </a:xfrm>
          </p:grpSpPr>
          <p:sp>
            <p:nvSpPr>
              <p:cNvPr id="61461" name="Text Box 64"/>
              <p:cNvSpPr txBox="1">
                <a:spLocks noChangeArrowheads="1"/>
              </p:cNvSpPr>
              <p:nvPr/>
            </p:nvSpPr>
            <p:spPr bwMode="auto">
              <a:xfrm>
                <a:off x="3032" y="5140"/>
                <a:ext cx="909" cy="630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rtl="1" eaLnBrk="1" hangingPunct="1"/>
                <a:r>
                  <a:rPr lang="en-US" altLang="en-US" sz="1400" b="1">
                    <a:latin typeface="Times New Roman" pitchFamily="18" charset="0"/>
                    <a:cs typeface="Times New Roman" pitchFamily="18" charset="0"/>
                  </a:rPr>
                  <a:t>F3</a:t>
                </a:r>
                <a:endParaRPr lang="en-US" altLang="en-US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1462" name="Line 65"/>
              <p:cNvSpPr>
                <a:spLocks noChangeShapeType="1"/>
              </p:cNvSpPr>
              <p:nvPr/>
            </p:nvSpPr>
            <p:spPr bwMode="auto">
              <a:xfrm flipH="1">
                <a:off x="2668" y="5770"/>
                <a:ext cx="1273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61450" name="Group 66"/>
            <p:cNvGrpSpPr>
              <a:grpSpLocks/>
            </p:cNvGrpSpPr>
            <p:nvPr/>
          </p:nvGrpSpPr>
          <p:grpSpPr bwMode="auto">
            <a:xfrm>
              <a:off x="2669" y="6455"/>
              <a:ext cx="1273" cy="631"/>
              <a:chOff x="2668" y="5140"/>
              <a:chExt cx="1273" cy="631"/>
            </a:xfrm>
          </p:grpSpPr>
          <p:sp>
            <p:nvSpPr>
              <p:cNvPr id="61459" name="Text Box 67"/>
              <p:cNvSpPr txBox="1">
                <a:spLocks noChangeArrowheads="1"/>
              </p:cNvSpPr>
              <p:nvPr/>
            </p:nvSpPr>
            <p:spPr bwMode="auto">
              <a:xfrm>
                <a:off x="3032" y="5140"/>
                <a:ext cx="909" cy="630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rtl="1" eaLnBrk="1" hangingPunct="1"/>
                <a:r>
                  <a:rPr lang="en-US" altLang="en-US" sz="1400" b="1">
                    <a:latin typeface="Times New Roman" pitchFamily="18" charset="0"/>
                    <a:cs typeface="Times New Roman" pitchFamily="18" charset="0"/>
                  </a:rPr>
                  <a:t>12</a:t>
                </a:r>
                <a:endParaRPr lang="en-US" altLang="en-US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1460" name="Line 68"/>
              <p:cNvSpPr>
                <a:spLocks noChangeShapeType="1"/>
              </p:cNvSpPr>
              <p:nvPr/>
            </p:nvSpPr>
            <p:spPr bwMode="auto">
              <a:xfrm flipH="1">
                <a:off x="2668" y="5770"/>
                <a:ext cx="1273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61451" name="Group 69"/>
            <p:cNvGrpSpPr>
              <a:grpSpLocks/>
            </p:cNvGrpSpPr>
            <p:nvPr/>
          </p:nvGrpSpPr>
          <p:grpSpPr bwMode="auto">
            <a:xfrm>
              <a:off x="2669" y="7100"/>
              <a:ext cx="1273" cy="631"/>
              <a:chOff x="2668" y="5140"/>
              <a:chExt cx="1273" cy="631"/>
            </a:xfrm>
          </p:grpSpPr>
          <p:sp>
            <p:nvSpPr>
              <p:cNvPr id="61457" name="Text Box 70"/>
              <p:cNvSpPr txBox="1">
                <a:spLocks noChangeArrowheads="1"/>
              </p:cNvSpPr>
              <p:nvPr/>
            </p:nvSpPr>
            <p:spPr bwMode="auto">
              <a:xfrm>
                <a:off x="3032" y="5140"/>
                <a:ext cx="909" cy="630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rtl="1" eaLnBrk="1" hangingPunct="1"/>
                <a:r>
                  <a:rPr lang="en-US" altLang="en-US" sz="1400" b="1">
                    <a:latin typeface="Times New Roman" pitchFamily="18" charset="0"/>
                    <a:cs typeface="Times New Roman" pitchFamily="18" charset="0"/>
                  </a:rPr>
                  <a:t>25</a:t>
                </a:r>
                <a:endParaRPr lang="en-US" altLang="en-US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1458" name="Line 71"/>
              <p:cNvSpPr>
                <a:spLocks noChangeShapeType="1"/>
              </p:cNvSpPr>
              <p:nvPr/>
            </p:nvSpPr>
            <p:spPr bwMode="auto">
              <a:xfrm flipH="1">
                <a:off x="2668" y="5770"/>
                <a:ext cx="1273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61452" name="Text Box 72"/>
            <p:cNvSpPr txBox="1">
              <a:spLocks noChangeArrowheads="1"/>
            </p:cNvSpPr>
            <p:nvPr/>
          </p:nvSpPr>
          <p:spPr bwMode="auto">
            <a:xfrm>
              <a:off x="1954" y="5126"/>
              <a:ext cx="812" cy="4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r" rtl="1" eaLnBrk="1" hangingPunct="1"/>
              <a:r>
                <a:rPr lang="en-US" altLang="en-US" sz="1400" b="1">
                  <a:latin typeface="Times New Roman" pitchFamily="18" charset="0"/>
                  <a:cs typeface="Times New Roman" pitchFamily="18" charset="0"/>
                </a:rPr>
                <a:t>0BH</a:t>
              </a:r>
              <a:endParaRPr lang="en-US" altLang="en-US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453" name="Text Box 73"/>
            <p:cNvSpPr txBox="1">
              <a:spLocks noChangeArrowheads="1"/>
            </p:cNvSpPr>
            <p:nvPr/>
          </p:nvSpPr>
          <p:spPr bwMode="auto">
            <a:xfrm>
              <a:off x="1954" y="5826"/>
              <a:ext cx="812" cy="4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r" rtl="1" eaLnBrk="1" hangingPunct="1"/>
              <a:r>
                <a:rPr lang="en-US" altLang="en-US" sz="1400" b="1">
                  <a:latin typeface="Times New Roman" pitchFamily="18" charset="0"/>
                  <a:cs typeface="Times New Roman" pitchFamily="18" charset="0"/>
                </a:rPr>
                <a:t>0AH</a:t>
              </a:r>
              <a:endParaRPr lang="en-US" altLang="en-US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454" name="Text Box 74"/>
            <p:cNvSpPr txBox="1">
              <a:spLocks noChangeArrowheads="1"/>
            </p:cNvSpPr>
            <p:nvPr/>
          </p:nvSpPr>
          <p:spPr bwMode="auto">
            <a:xfrm>
              <a:off x="1940" y="6484"/>
              <a:ext cx="812" cy="4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r" rtl="1" eaLnBrk="1" hangingPunct="1"/>
              <a:r>
                <a:rPr lang="en-US" altLang="en-US" sz="1400" b="1">
                  <a:latin typeface="Times New Roman" pitchFamily="18" charset="0"/>
                  <a:cs typeface="Times New Roman" pitchFamily="18" charset="0"/>
                </a:rPr>
                <a:t>09H</a:t>
              </a:r>
              <a:endParaRPr lang="en-US" altLang="en-US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455" name="Text Box 75"/>
            <p:cNvSpPr txBox="1">
              <a:spLocks noChangeArrowheads="1"/>
            </p:cNvSpPr>
            <p:nvPr/>
          </p:nvSpPr>
          <p:spPr bwMode="auto">
            <a:xfrm>
              <a:off x="1968" y="7198"/>
              <a:ext cx="812" cy="4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r" rtl="1" eaLnBrk="1" hangingPunct="1"/>
              <a:r>
                <a:rPr lang="en-US" altLang="en-US" sz="1400" b="1">
                  <a:latin typeface="Times New Roman" pitchFamily="18" charset="0"/>
                  <a:cs typeface="Times New Roman" pitchFamily="18" charset="0"/>
                </a:rPr>
                <a:t>08H</a:t>
              </a:r>
              <a:endParaRPr lang="en-US" altLang="en-US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456" name="Text Box 76"/>
            <p:cNvSpPr txBox="1">
              <a:spLocks noChangeArrowheads="1"/>
            </p:cNvSpPr>
            <p:nvPr/>
          </p:nvSpPr>
          <p:spPr bwMode="auto">
            <a:xfrm>
              <a:off x="2416" y="7898"/>
              <a:ext cx="1806" cy="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rtl="1" eaLnBrk="1" hangingPunct="1"/>
              <a:r>
                <a:rPr lang="en-US" altLang="en-US" sz="1400" b="1">
                  <a:latin typeface="Times New Roman" pitchFamily="18" charset="0"/>
                  <a:cs typeface="Times New Roman" pitchFamily="18" charset="0"/>
                </a:rPr>
                <a:t>SP=0AH</a:t>
              </a:r>
              <a:endParaRPr lang="en-US" altLang="en-US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79247836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085" name="Rectangle 5"/>
          <p:cNvSpPr>
            <a:spLocks noGrp="1" noRot="1" noChangeArrowheads="1"/>
          </p:cNvSpPr>
          <p:nvPr>
            <p:ph type="title"/>
          </p:nvPr>
        </p:nvSpPr>
        <p:spPr>
          <a:xfrm>
            <a:off x="301625" y="228600"/>
            <a:ext cx="8510588" cy="5562600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br>
              <a:rPr lang="en-US" altLang="ko-KR" sz="4900" b="1" u="sng" dirty="0">
                <a:latin typeface="Times New Roman" pitchFamily="18" charset="0"/>
                <a:ea typeface="굴림" pitchFamily="34" charset="-127"/>
              </a:rPr>
            </a:br>
            <a:r>
              <a:rPr lang="en-US" altLang="ko-KR" sz="4900" b="1" u="sng" dirty="0">
                <a:solidFill>
                  <a:srgbClr val="FF0000"/>
                </a:solidFill>
                <a:latin typeface="Times New Roman" pitchFamily="18" charset="0"/>
                <a:ea typeface="굴림" pitchFamily="34" charset="-127"/>
              </a:rPr>
              <a:t>8051- Addressing Modes</a:t>
            </a:r>
            <a:br>
              <a:rPr lang="en-US" altLang="ko-KR" sz="4900" b="1" u="sng" dirty="0">
                <a:latin typeface="Times New Roman" pitchFamily="18" charset="0"/>
                <a:ea typeface="굴림" pitchFamily="34" charset="-127"/>
              </a:rPr>
            </a:br>
            <a:r>
              <a:rPr lang="en-US" sz="4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cs typeface="Times New Roman" pitchFamily="18" charset="0"/>
              </a:rPr>
              <a:t>Immediate</a:t>
            </a:r>
            <a:br>
              <a:rPr lang="en-US" sz="4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4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cs typeface="Times New Roman" pitchFamily="18" charset="0"/>
              </a:rPr>
              <a:t>Register</a:t>
            </a:r>
            <a:br>
              <a:rPr lang="en-US" sz="4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4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cs typeface="Times New Roman" pitchFamily="18" charset="0"/>
              </a:rPr>
              <a:t>Direct</a:t>
            </a:r>
            <a:br>
              <a:rPr lang="en-US" sz="4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4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cs typeface="Times New Roman" pitchFamily="18" charset="0"/>
              </a:rPr>
              <a:t>Register Indirect</a:t>
            </a:r>
            <a:br>
              <a:rPr lang="en-US" sz="4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4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cs typeface="Times New Roman" pitchFamily="18" charset="0"/>
              </a:rPr>
              <a:t>Indexed</a:t>
            </a:r>
            <a:br>
              <a:rPr lang="en-US" sz="4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4800" b="1" dirty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784727"/>
      </p:ext>
    </p:extLst>
  </p:cSld>
  <p:clrMapOvr>
    <a:masterClrMapping/>
  </p:clrMapOvr>
  <p:transition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3"/>
          <p:cNvSpPr>
            <a:spLocks noGrp="1" noRot="1" noChangeArrowheads="1"/>
          </p:cNvSpPr>
          <p:nvPr>
            <p:ph type="title"/>
          </p:nvPr>
        </p:nvSpPr>
        <p:spPr>
          <a:xfrm>
            <a:off x="304800" y="2852738"/>
            <a:ext cx="8458200" cy="3276600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br>
              <a:rPr lang="en-US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Immediate Addressing Mode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br>
              <a:rPr lang="en-US" sz="2400" b="1" dirty="0">
                <a:solidFill>
                  <a:srgbClr val="FF0000"/>
                </a:solidFill>
              </a:rPr>
            </a:br>
            <a:br>
              <a:rPr lang="en-US" sz="2400" b="1" dirty="0">
                <a:solidFill>
                  <a:srgbClr val="FF0000"/>
                </a:solidFill>
              </a:rPr>
            </a:br>
            <a:r>
              <a:rPr lang="en-US" sz="2400" b="1" dirty="0">
                <a:solidFill>
                  <a:srgbClr val="FF0000"/>
                </a:solidFill>
              </a:rPr>
              <a:t>			</a:t>
            </a:r>
            <a:r>
              <a:rPr lang="en-US" sz="2700" b="1" dirty="0">
                <a:latin typeface="Times New Roman" pitchFamily="18" charset="0"/>
                <a:cs typeface="Times New Roman" pitchFamily="18" charset="0"/>
              </a:rPr>
              <a:t>MOV	A,#65H</a:t>
            </a:r>
            <a:br>
              <a:rPr lang="en-US" sz="2700" b="1" dirty="0">
                <a:latin typeface="Times New Roman" pitchFamily="18" charset="0"/>
                <a:cs typeface="Times New Roman" pitchFamily="18" charset="0"/>
              </a:rPr>
            </a:br>
            <a:br>
              <a:rPr lang="en-US" sz="27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700" b="1" dirty="0">
                <a:latin typeface="Times New Roman" pitchFamily="18" charset="0"/>
                <a:cs typeface="Times New Roman" pitchFamily="18" charset="0"/>
              </a:rPr>
              <a:t>			MOV	A,#’A’</a:t>
            </a:r>
            <a:br>
              <a:rPr lang="en-US" sz="2700" b="1" dirty="0">
                <a:latin typeface="Times New Roman" pitchFamily="18" charset="0"/>
                <a:cs typeface="Times New Roman" pitchFamily="18" charset="0"/>
              </a:rPr>
            </a:br>
            <a:br>
              <a:rPr lang="en-US" sz="27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700" b="1" dirty="0">
                <a:latin typeface="Times New Roman" pitchFamily="18" charset="0"/>
                <a:cs typeface="Times New Roman" pitchFamily="18" charset="0"/>
              </a:rPr>
              <a:t>			MOV	R6,#65H</a:t>
            </a:r>
            <a:br>
              <a:rPr lang="en-US" sz="2700" b="1" dirty="0">
                <a:latin typeface="Times New Roman" pitchFamily="18" charset="0"/>
                <a:cs typeface="Times New Roman" pitchFamily="18" charset="0"/>
              </a:rPr>
            </a:br>
            <a:br>
              <a:rPr lang="en-US" sz="27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700" b="1" dirty="0">
                <a:latin typeface="Times New Roman" pitchFamily="18" charset="0"/>
                <a:cs typeface="Times New Roman" pitchFamily="18" charset="0"/>
              </a:rPr>
              <a:t>			MOV	DPTR,#2343H</a:t>
            </a:r>
            <a:br>
              <a:rPr lang="en-US" sz="2700" b="1" dirty="0">
                <a:latin typeface="Times New Roman" pitchFamily="18" charset="0"/>
                <a:cs typeface="Times New Roman" pitchFamily="18" charset="0"/>
              </a:rPr>
            </a:br>
            <a:br>
              <a:rPr lang="en-US" sz="27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700" b="1" dirty="0">
                <a:latin typeface="Times New Roman" pitchFamily="18" charset="0"/>
                <a:cs typeface="Times New Roman" pitchFamily="18" charset="0"/>
              </a:rPr>
              <a:t>			MOV	P1,#65H</a:t>
            </a:r>
            <a:br>
              <a:rPr lang="en-US" sz="1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sz="1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sz="2400" b="1" dirty="0">
                <a:solidFill>
                  <a:srgbClr val="FF0000"/>
                </a:solidFill>
              </a:rPr>
            </a:br>
            <a:br>
              <a:rPr lang="en-US" sz="3600" b="1" dirty="0">
                <a:solidFill>
                  <a:srgbClr val="FF0000"/>
                </a:solidFill>
              </a:rPr>
            </a:br>
            <a:br>
              <a:rPr lang="en-US" sz="3600" b="1" dirty="0">
                <a:solidFill>
                  <a:srgbClr val="FF0000"/>
                </a:solidFill>
              </a:rPr>
            </a:br>
            <a:br>
              <a:rPr lang="en-US" sz="3600" b="1" dirty="0">
                <a:solidFill>
                  <a:srgbClr val="FF0000"/>
                </a:solidFill>
              </a:rPr>
            </a:br>
            <a:br>
              <a:rPr lang="en-US" sz="3600" b="1" dirty="0">
                <a:solidFill>
                  <a:srgbClr val="FF0000"/>
                </a:solidFill>
              </a:rPr>
            </a:br>
            <a:br>
              <a:rPr lang="en-US" sz="3600" b="1" dirty="0">
                <a:solidFill>
                  <a:srgbClr val="FF0000"/>
                </a:solidFill>
              </a:rPr>
            </a:br>
            <a:br>
              <a:rPr lang="en-US" sz="3600" b="1" dirty="0">
                <a:solidFill>
                  <a:srgbClr val="FF0000"/>
                </a:solidFill>
              </a:rPr>
            </a:br>
            <a:br>
              <a:rPr lang="en-US" sz="3600" b="1" dirty="0">
                <a:solidFill>
                  <a:srgbClr val="FF0000"/>
                </a:solidFill>
              </a:rPr>
            </a:br>
            <a:endParaRPr lang="en-US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977120"/>
      </p:ext>
    </p:extLst>
  </p:cSld>
  <p:clrMapOvr>
    <a:masterClrMapping/>
  </p:clrMapOvr>
  <p:transition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28600" y="4648200"/>
            <a:ext cx="8458200" cy="71913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Register Addressing Mode</a:t>
            </a:r>
            <a:r>
              <a:rPr lang="en-US" sz="3200" b="1" u="sng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3200" b="1" u="sng" dirty="0">
                <a:latin typeface="Times New Roman" pitchFamily="18" charset="0"/>
                <a:cs typeface="Times New Roman" pitchFamily="18" charset="0"/>
              </a:rPr>
            </a:br>
            <a:br>
              <a:rPr lang="en-US" sz="32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MOV	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Rn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, A		;n=0,..,7</a:t>
            </a:r>
            <a:br>
              <a:rPr lang="en-US" sz="32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ADD		A,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Rn</a:t>
            </a:r>
            <a:br>
              <a:rPr lang="en-US" sz="32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MOV	DPL, R6</a:t>
            </a:r>
            <a:br>
              <a:rPr lang="en-US" sz="3200" b="1" dirty="0">
                <a:latin typeface="Times New Roman" pitchFamily="18" charset="0"/>
                <a:cs typeface="Times New Roman" pitchFamily="18" charset="0"/>
              </a:rPr>
            </a:br>
            <a:br>
              <a:rPr lang="en-US" sz="32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MOV	    DPTR, A</a:t>
            </a:r>
            <a:br>
              <a:rPr lang="en-US" sz="32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MOV	   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Rm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Rn</a:t>
            </a:r>
            <a:br>
              <a:rPr lang="en-US" sz="3200" b="1" dirty="0">
                <a:latin typeface="Times New Roman" pitchFamily="18" charset="0"/>
                <a:cs typeface="Times New Roman" pitchFamily="18" charset="0"/>
              </a:rPr>
            </a:br>
            <a:br>
              <a:rPr lang="en-US" sz="2400" b="1" dirty="0"/>
            </a:br>
            <a:br>
              <a:rPr lang="en-US" sz="2400" b="1" dirty="0"/>
            </a:br>
            <a:br>
              <a:rPr lang="en-US" sz="3600" b="1" dirty="0"/>
            </a:br>
            <a:br>
              <a:rPr lang="en-US" sz="3600" b="1" dirty="0"/>
            </a:br>
            <a:br>
              <a:rPr lang="en-US" sz="3600" b="1" dirty="0"/>
            </a:br>
            <a:br>
              <a:rPr lang="en-US" sz="3600" b="1" dirty="0"/>
            </a:br>
            <a:br>
              <a:rPr lang="en-US" sz="3600" b="1" dirty="0"/>
            </a:br>
            <a:br>
              <a:rPr lang="en-US" sz="3600" b="1" dirty="0"/>
            </a:br>
            <a:br>
              <a:rPr lang="en-US" sz="3600" b="1" dirty="0"/>
            </a:br>
            <a:endParaRPr lang="en-US" sz="3600" b="1" dirty="0"/>
          </a:p>
        </p:txBody>
      </p:sp>
      <p:sp>
        <p:nvSpPr>
          <p:cNvPr id="563205" name="Line 5"/>
          <p:cNvSpPr>
            <a:spLocks noChangeShapeType="1"/>
          </p:cNvSpPr>
          <p:nvPr/>
        </p:nvSpPr>
        <p:spPr bwMode="auto">
          <a:xfrm>
            <a:off x="539750" y="3573463"/>
            <a:ext cx="3816350" cy="1008062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63206" name="Line 6"/>
          <p:cNvSpPr>
            <a:spLocks noChangeShapeType="1"/>
          </p:cNvSpPr>
          <p:nvPr/>
        </p:nvSpPr>
        <p:spPr bwMode="auto">
          <a:xfrm rot="-3432365">
            <a:off x="929482" y="2840831"/>
            <a:ext cx="3027362" cy="2600325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484532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63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3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05" grpId="0" animBg="1"/>
      <p:bldP spid="56320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4800" y="4495800"/>
            <a:ext cx="8458200" cy="71913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1400" b="1" u="sng" dirty="0"/>
              <a:t> </a:t>
            </a:r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Direct Addressing Mode</a:t>
            </a:r>
            <a:r>
              <a:rPr lang="en-US" sz="1400" b="1" dirty="0"/>
              <a:t> 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	</a:t>
            </a:r>
            <a:br>
              <a:rPr lang="en-US" sz="14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Although the entire of 128 bytes of RAM can be accessed using direct addressing mode, it is most often used to access RAM loc. 30 – 7FH.</a:t>
            </a:r>
            <a:br>
              <a:rPr lang="en-US" sz="2000" b="1" dirty="0">
                <a:latin typeface="Times New Roman" pitchFamily="18" charset="0"/>
                <a:cs typeface="Times New Roman" pitchFamily="18" charset="0"/>
              </a:rPr>
            </a:br>
            <a:br>
              <a:rPr lang="en-US" sz="20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MOV	R0, 40H</a:t>
            </a:r>
            <a:br>
              <a:rPr lang="en-US" sz="20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MOV	56H,</a:t>
            </a:r>
            <a:r>
              <a:rPr lang="fa-IR" sz="2000" b="1" dirty="0">
                <a:latin typeface="Times New Roman" pitchFamily="18" charset="0"/>
              </a:rPr>
              <a:t>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</a:t>
            </a:r>
            <a:br>
              <a:rPr lang="en-US" sz="20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MOV	A, 4		; ≡ MOV A, R4</a:t>
            </a:r>
            <a:br>
              <a:rPr lang="en-US" sz="20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MOV	6, 2		; copy R2 to R6</a:t>
            </a:r>
            <a:br>
              <a:rPr lang="en-US" sz="20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				; MOV  R6,R2 is invalid !</a:t>
            </a:r>
            <a:br>
              <a:rPr lang="en-US" sz="2000" b="1" dirty="0">
                <a:latin typeface="Times New Roman" pitchFamily="18" charset="0"/>
                <a:cs typeface="Times New Roman" pitchFamily="18" charset="0"/>
              </a:rPr>
            </a:br>
            <a:br>
              <a:rPr lang="en-US" sz="20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SFR register and their address</a:t>
            </a:r>
            <a:br>
              <a:rPr lang="en-US" sz="2000" b="1" dirty="0">
                <a:latin typeface="Times New Roman" pitchFamily="18" charset="0"/>
                <a:cs typeface="Times New Roman" pitchFamily="18" charset="0"/>
              </a:rPr>
            </a:br>
            <a:br>
              <a:rPr lang="en-US" sz="20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MOV	0E0H, #66H	; ≡ MOV A,#66H</a:t>
            </a:r>
            <a:br>
              <a:rPr lang="en-US" sz="20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MOV	0F0H, R2	; ≡ MOV B, R2</a:t>
            </a:r>
            <a:br>
              <a:rPr lang="en-US" sz="20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MOV	80H,A		; ≡ MOV P1,A</a:t>
            </a:r>
            <a:br>
              <a:rPr lang="en-US" sz="2000" b="1" dirty="0">
                <a:latin typeface="Times New Roman" pitchFamily="18" charset="0"/>
                <a:cs typeface="Times New Roman" pitchFamily="18" charset="0"/>
              </a:rPr>
            </a:br>
            <a:br>
              <a:rPr lang="en-US" sz="1400" b="1" dirty="0"/>
            </a:br>
            <a:br>
              <a:rPr lang="en-US" sz="1400" b="1" dirty="0"/>
            </a:br>
            <a:br>
              <a:rPr lang="en-US" sz="3600" b="1" dirty="0"/>
            </a:br>
            <a:br>
              <a:rPr lang="en-US" sz="3600" b="1" dirty="0"/>
            </a:br>
            <a:br>
              <a:rPr lang="en-US" sz="3600" b="1" dirty="0"/>
            </a:br>
            <a:br>
              <a:rPr lang="en-US" sz="3600" b="1" dirty="0"/>
            </a:br>
            <a:br>
              <a:rPr lang="en-US" sz="3600" b="1" dirty="0"/>
            </a:b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1941736"/>
      </p:ext>
    </p:extLst>
  </p:cSld>
  <p:clrMapOvr>
    <a:masterClrMapping/>
  </p:clrMapOvr>
  <p:transition>
    <p:rand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4800" y="5013325"/>
            <a:ext cx="8458200" cy="71913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br>
              <a:rPr lang="en-US" sz="1600" b="1" u="sng" dirty="0">
                <a:latin typeface="Times New Roman" pitchFamily="18" charset="0"/>
                <a:cs typeface="Times New Roman" pitchFamily="18" charset="0"/>
              </a:rPr>
            </a:br>
            <a:r>
              <a:rPr lang="en-US" sz="1600" b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b="1" u="sng" dirty="0">
                <a:latin typeface="Times New Roman" pitchFamily="18" charset="0"/>
                <a:cs typeface="Times New Roman" pitchFamily="18" charset="0"/>
              </a:rPr>
              <a:t>Register Indirect Addressing Mode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16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In this mode, register is used as a pointer to the data.</a:t>
            </a:r>
            <a:br>
              <a:rPr lang="en-US" sz="2000" b="1" dirty="0">
                <a:latin typeface="Times New Roman" pitchFamily="18" charset="0"/>
                <a:cs typeface="Times New Roman" pitchFamily="18" charset="0"/>
              </a:rPr>
            </a:br>
            <a:br>
              <a:rPr lang="en-US" sz="18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MOV		A,@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Ri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	; move content of RAM loc. Where address is held by 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Ri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 into A  </a:t>
            </a:r>
            <a:br>
              <a:rPr lang="en-US" sz="18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				( i=0 or 1 )</a:t>
            </a:r>
            <a:br>
              <a:rPr lang="en-US" sz="18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MOV		@R1,B</a:t>
            </a:r>
            <a:br>
              <a:rPr lang="en-US" sz="1800" b="1" dirty="0">
                <a:latin typeface="Times New Roman" pitchFamily="18" charset="0"/>
                <a:cs typeface="Times New Roman" pitchFamily="18" charset="0"/>
              </a:rPr>
            </a:br>
            <a:br>
              <a:rPr lang="en-US" sz="16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	In other word, the content of register R0 or R1 is sources or target in MOV, ADD and SUBB instructions.</a:t>
            </a:r>
            <a:br>
              <a:rPr lang="en-US" sz="20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Example:  Write a program to copy a block of 10 bytes from RAM location starting at 40H to RAM location starting at 60H.</a:t>
            </a:r>
            <a:br>
              <a:rPr lang="en-US" sz="20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b="1" u="sng" dirty="0">
                <a:latin typeface="Times New Roman" pitchFamily="18" charset="0"/>
                <a:cs typeface="Times New Roman" pitchFamily="18" charset="0"/>
              </a:rPr>
              <a:t>Solution:</a:t>
            </a:r>
            <a:br>
              <a:rPr lang="en-US" sz="1800" b="1" u="sng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	MOV   R0,#40H		; source pointer</a:t>
            </a:r>
            <a:br>
              <a:rPr lang="en-US" sz="18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	MOV   R1,#60H		; destination pointer </a:t>
            </a:r>
            <a:br>
              <a:rPr lang="en-US" sz="18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	MOV   R2,#10		; counter	</a:t>
            </a:r>
            <a:br>
              <a:rPr lang="en-US" sz="18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BACK: 	MOV   A,@R0</a:t>
            </a:r>
            <a:br>
              <a:rPr lang="en-US" sz="18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	MOV   @R1,A</a:t>
            </a:r>
            <a:br>
              <a:rPr lang="en-US" sz="18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	INC    R0</a:t>
            </a:r>
            <a:br>
              <a:rPr lang="en-US" sz="18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	INC    R1</a:t>
            </a:r>
            <a:br>
              <a:rPr lang="en-US" sz="18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	DJNZ  R2,BACK  </a:t>
            </a:r>
            <a:br>
              <a:rPr lang="en-US" sz="1800" b="1" dirty="0">
                <a:latin typeface="Times New Roman" pitchFamily="18" charset="0"/>
                <a:cs typeface="Times New Roman" pitchFamily="18" charset="0"/>
              </a:rPr>
            </a:br>
            <a:br>
              <a:rPr lang="en-US" sz="1600" b="1" dirty="0"/>
            </a:br>
            <a:br>
              <a:rPr lang="en-US" sz="2400" b="1" dirty="0"/>
            </a:br>
            <a:br>
              <a:rPr lang="en-US" sz="3600" b="1" dirty="0"/>
            </a:br>
            <a:br>
              <a:rPr lang="en-US" sz="3600" b="1" dirty="0"/>
            </a:br>
            <a:br>
              <a:rPr lang="en-US" sz="3600" b="1" dirty="0"/>
            </a:br>
            <a:br>
              <a:rPr lang="en-US" sz="3600" b="1" dirty="0"/>
            </a:br>
            <a:br>
              <a:rPr lang="en-US" sz="3600" b="1" dirty="0"/>
            </a:br>
            <a:br>
              <a:rPr lang="en-US" sz="3600" b="1" dirty="0"/>
            </a:br>
            <a:br>
              <a:rPr lang="en-US" sz="3600" b="1" dirty="0"/>
            </a:b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141826819"/>
      </p:ext>
    </p:extLst>
  </p:cSld>
  <p:clrMapOvr>
    <a:masterClrMapping/>
  </p:clrMapOvr>
  <p:transition>
    <p:rand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4800" y="4419600"/>
            <a:ext cx="8458200" cy="71913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3300" b="1" u="sng" dirty="0">
                <a:latin typeface="Times New Roman" pitchFamily="18" charset="0"/>
                <a:cs typeface="Times New Roman" pitchFamily="18" charset="0"/>
              </a:rPr>
              <a:t>Indexed Addressing Mode And On-Chip ROM Access</a:t>
            </a:r>
            <a:r>
              <a:rPr lang="en-US" sz="1200" b="1" u="sng" dirty="0"/>
              <a:t> </a:t>
            </a:r>
            <a:br>
              <a:rPr lang="en-US" sz="1200" b="1" u="sng" dirty="0"/>
            </a:b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This mode is widely used in accessing data elements of look-up table entries located in the program  (code) space ROM at the 8051</a:t>
            </a:r>
            <a:br>
              <a:rPr lang="en-US" sz="2400" b="1" dirty="0">
                <a:latin typeface="Times New Roman" pitchFamily="18" charset="0"/>
                <a:cs typeface="Times New Roman" pitchFamily="18" charset="0"/>
              </a:rPr>
            </a:br>
            <a:br>
              <a:rPr lang="en-US" sz="24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MOVC	A,@A+DPTR</a:t>
            </a:r>
            <a:br>
              <a:rPr lang="en-US" sz="24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A= content of address A +DPTR from ROM </a:t>
            </a:r>
            <a:br>
              <a:rPr lang="en-US" sz="24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b="1" u="sng" dirty="0">
                <a:latin typeface="Times New Roman" pitchFamily="18" charset="0"/>
                <a:cs typeface="Times New Roman" pitchFamily="18" charset="0"/>
              </a:rPr>
              <a:t>Note:</a:t>
            </a:r>
            <a:br>
              <a:rPr lang="en-US" sz="28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Because the data elements are stored in the program (code ) space ROM of the 8051, it uses the instruction MOVC instead of MOV. The “C” means code.</a:t>
            </a:r>
            <a:br>
              <a:rPr lang="en-US" sz="2400" b="1" u="sng" dirty="0">
                <a:latin typeface="Times New Roman" pitchFamily="18" charset="0"/>
                <a:cs typeface="Times New Roman" pitchFamily="18" charset="0"/>
              </a:rPr>
            </a:br>
            <a:br>
              <a:rPr lang="en-US" sz="1400" b="1" dirty="0"/>
            </a:br>
            <a:br>
              <a:rPr lang="en-US" sz="1400" b="1" dirty="0"/>
            </a:br>
            <a:br>
              <a:rPr lang="en-US" sz="3600" b="1" dirty="0"/>
            </a:br>
            <a:br>
              <a:rPr lang="en-US" sz="3600" b="1" dirty="0"/>
            </a:br>
            <a:br>
              <a:rPr lang="en-US" sz="3600" b="1" dirty="0"/>
            </a:br>
            <a:br>
              <a:rPr lang="en-US" sz="3600" b="1" dirty="0"/>
            </a:br>
            <a:br>
              <a:rPr lang="en-US" sz="3600" b="1" dirty="0"/>
            </a:b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845021264"/>
      </p:ext>
    </p:extLst>
  </p:cSld>
  <p:clrMapOvr>
    <a:masterClrMapping/>
  </p:clrMapOvr>
  <p:transition>
    <p:rand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C0B0E-3DB5-4F51-BC49-E36FFA806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Programs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482CB7-6061-4577-AC57-8AE2D9B15B7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51620" y="1695291"/>
            <a:ext cx="6840760" cy="4915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120130"/>
      </p:ext>
    </p:extLst>
  </p:cSld>
  <p:clrMapOvr>
    <a:masterClrMapping/>
  </p:clrMapOvr>
  <p:transition>
    <p:rand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37DCD-357E-421E-90F5-FDB0C5523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Programs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ADD1EC-17F3-4D9D-9FB2-258B71EF34E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619672" y="2060848"/>
            <a:ext cx="6106115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363318"/>
      </p:ext>
    </p:extLst>
  </p:cSld>
  <p:clrMapOvr>
    <a:masterClrMapping/>
  </p:clrMapOvr>
  <p:transition>
    <p:rand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825D-CB52-4339-9BD2-8B0A5D142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Programs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46DCBE-8BC8-4CD5-9971-CA44C32A02C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259632" y="2061844"/>
            <a:ext cx="6178123" cy="367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713948"/>
      </p:ext>
    </p:extLst>
  </p:cSld>
  <p:clrMapOvr>
    <a:masterClrMapping/>
  </p:clrMapOvr>
  <p:transition>
    <p:rand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A89C9-D5BA-469C-8DD4-D6E871534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Programs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2F177A-AC5C-4956-A9AA-E824FBB8C16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15616" y="1628800"/>
            <a:ext cx="6984776" cy="437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282280"/>
      </p:ext>
    </p:extLst>
  </p:cSld>
  <p:clrMapOvr>
    <a:masterClrMapping/>
  </p:clrMapOvr>
  <p:transition>
    <p:rand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>
            <a:extLst>
              <a:ext uri="{FF2B5EF4-FFF2-40B4-BE49-F238E27FC236}">
                <a16:creationId xmlns:a16="http://schemas.microsoft.com/office/drawing/2014/main" id="{96BB048A-91C7-4D0F-BE14-360D5E63CD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3775" y="1700808"/>
            <a:ext cx="7693025" cy="3724275"/>
          </a:xfrm>
        </p:spPr>
        <p:txBody>
          <a:bodyPr/>
          <a:lstStyle/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en-US" dirty="0"/>
              <a:t>Data transfer instructions.</a:t>
            </a:r>
          </a:p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en-US" dirty="0"/>
              <a:t>Arithmetic instructions.</a:t>
            </a:r>
          </a:p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en-US" dirty="0"/>
              <a:t>Logical instructions.</a:t>
            </a:r>
          </a:p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en-US" dirty="0"/>
              <a:t>Logical instructions with bits.</a:t>
            </a:r>
          </a:p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en-US" dirty="0"/>
              <a:t>Branch instructions.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97D396-4489-4E60-9461-A75E983C3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8051- INSTRUCTION SET</a:t>
            </a:r>
            <a:endParaRPr lang="en-IN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rand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4800" y="1447800"/>
            <a:ext cx="8458200" cy="71913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br>
              <a:rPr lang="en-US" sz="1400" b="1" dirty="0">
                <a:solidFill>
                  <a:srgbClr val="FF0000"/>
                </a:solidFill>
              </a:rPr>
            </a:br>
            <a:br>
              <a:rPr lang="en-US" sz="1400" b="1" dirty="0">
                <a:solidFill>
                  <a:srgbClr val="FF0000"/>
                </a:solidFill>
              </a:rPr>
            </a:br>
            <a:r>
              <a:rPr lang="en-US" sz="2800" b="1" u="sng" dirty="0">
                <a:solidFill>
                  <a:srgbClr val="FF0000"/>
                </a:solidFill>
              </a:rPr>
              <a:t>Data transfer instructions:</a:t>
            </a:r>
            <a:br>
              <a:rPr lang="en-US" sz="2800" b="1" u="sng" dirty="0">
                <a:solidFill>
                  <a:srgbClr val="FF0000"/>
                </a:solidFill>
              </a:rPr>
            </a:br>
            <a:br>
              <a:rPr lang="en-US" sz="3600" b="1" u="sng" dirty="0">
                <a:solidFill>
                  <a:srgbClr val="FF0000"/>
                </a:solidFill>
              </a:rPr>
            </a:br>
            <a:br>
              <a:rPr lang="en-US" sz="3600" b="1" dirty="0">
                <a:solidFill>
                  <a:srgbClr val="FF0000"/>
                </a:solidFill>
              </a:rPr>
            </a:br>
            <a:br>
              <a:rPr lang="en-US" sz="3600" b="1" dirty="0">
                <a:solidFill>
                  <a:srgbClr val="FF0000"/>
                </a:solidFill>
              </a:rPr>
            </a:br>
            <a:br>
              <a:rPr lang="en-US" sz="3600" b="1" dirty="0">
                <a:solidFill>
                  <a:srgbClr val="FF0000"/>
                </a:solidFill>
              </a:rPr>
            </a:br>
            <a:endParaRPr lang="en-US" sz="3600" b="1" dirty="0">
              <a:solidFill>
                <a:srgbClr val="FF0000"/>
              </a:solidFill>
            </a:endParaRPr>
          </a:p>
        </p:txBody>
      </p:sp>
      <p:graphicFrame>
        <p:nvGraphicFramePr>
          <p:cNvPr id="574519" name="Group 55"/>
          <p:cNvGraphicFramePr>
            <a:graphicFrameLocks noGrp="1"/>
          </p:cNvGraphicFramePr>
          <p:nvPr/>
        </p:nvGraphicFramePr>
        <p:xfrm>
          <a:off x="4572000" y="1143000"/>
          <a:ext cx="4191000" cy="4800600"/>
        </p:xfrm>
        <a:graphic>
          <a:graphicData uri="http://schemas.openxmlformats.org/drawingml/2006/table">
            <a:tbl>
              <a:tblPr/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MOV Direct, Direct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MOV Direct,@Ri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MOV Direct,#Data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MOV @Ri,A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MOV @Ri,Direct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MOV @Ri,#Data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MOV DPTR,#Data16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MOVX A,@Ri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MOVX A,@DPTR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74491" name="Rectangle 27"/>
          <p:cNvSpPr>
            <a:spLocks noRot="1" noChangeArrowheads="1"/>
          </p:cNvSpPr>
          <p:nvPr/>
        </p:nvSpPr>
        <p:spPr bwMode="auto">
          <a:xfrm>
            <a:off x="304800" y="3090863"/>
            <a:ext cx="8458200" cy="719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defRPr/>
            </a:pPr>
            <a:br>
              <a:rPr lang="en-US" sz="14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</a:br>
            <a:br>
              <a:rPr lang="en-US" sz="14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</a:br>
            <a:br>
              <a:rPr lang="en-US" sz="3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</a:br>
            <a:br>
              <a:rPr lang="en-US" sz="3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</a:br>
            <a:br>
              <a:rPr lang="en-US" sz="3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</a:br>
            <a:br>
              <a:rPr lang="en-US" sz="3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</a:br>
            <a:endParaRPr lang="en-US" sz="36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74492" name="Group 28"/>
          <p:cNvGraphicFramePr>
            <a:graphicFrameLocks noGrp="1"/>
          </p:cNvGraphicFramePr>
          <p:nvPr/>
        </p:nvGraphicFramePr>
        <p:xfrm>
          <a:off x="381000" y="1143000"/>
          <a:ext cx="4191000" cy="4800600"/>
        </p:xfrm>
        <a:graphic>
          <a:graphicData uri="http://schemas.openxmlformats.org/drawingml/2006/table">
            <a:tbl>
              <a:tblPr/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MOV </a:t>
                      </a:r>
                      <a:r>
                        <a:rPr kumimoji="0" 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A,Rn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MOV A, Direct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MOV A,@Ri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MOV A,#Data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MOV Rn,A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MOV Rn,Direct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MOV Rn,#Data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MOV Direct,A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MOV Direct, </a:t>
                      </a:r>
                      <a:r>
                        <a:rPr kumimoji="0" 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Rn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8815886"/>
      </p:ext>
    </p:extLst>
  </p:cSld>
  <p:clrMapOvr>
    <a:masterClrMapping/>
  </p:clrMapOvr>
  <p:transition>
    <p:rand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51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4800" y="1447800"/>
            <a:ext cx="8458200" cy="71913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br>
              <a:rPr lang="en-US" sz="1400" dirty="0">
                <a:solidFill>
                  <a:srgbClr val="FF0000"/>
                </a:solidFill>
              </a:rPr>
            </a:br>
            <a:br>
              <a:rPr lang="en-US" sz="1400" dirty="0">
                <a:solidFill>
                  <a:srgbClr val="FF0000"/>
                </a:solidFill>
              </a:rPr>
            </a:br>
            <a:r>
              <a:rPr lang="en-US" sz="2800" b="1" u="sng" dirty="0">
                <a:solidFill>
                  <a:srgbClr val="FF0000"/>
                </a:solidFill>
              </a:rPr>
              <a:t>Data transfer instructions:</a:t>
            </a:r>
            <a:br>
              <a:rPr lang="en-US" sz="2800" b="1" u="sng" dirty="0">
                <a:solidFill>
                  <a:srgbClr val="FF0000"/>
                </a:solidFill>
              </a:rPr>
            </a:br>
            <a:br>
              <a:rPr lang="en-US" sz="3600" dirty="0">
                <a:solidFill>
                  <a:srgbClr val="FF0000"/>
                </a:solidFill>
              </a:rPr>
            </a:br>
            <a:br>
              <a:rPr lang="en-US" sz="3600" dirty="0">
                <a:solidFill>
                  <a:srgbClr val="FF0000"/>
                </a:solidFill>
              </a:rPr>
            </a:br>
            <a:br>
              <a:rPr lang="en-US" sz="3600" dirty="0">
                <a:solidFill>
                  <a:srgbClr val="FF0000"/>
                </a:solidFill>
              </a:rPr>
            </a:br>
            <a:br>
              <a:rPr lang="en-US" sz="3600" dirty="0">
                <a:solidFill>
                  <a:srgbClr val="FF0000"/>
                </a:solidFill>
              </a:rPr>
            </a:b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576517" name="Rectangle 5"/>
          <p:cNvSpPr>
            <a:spLocks noRot="1" noChangeArrowheads="1"/>
          </p:cNvSpPr>
          <p:nvPr/>
        </p:nvSpPr>
        <p:spPr bwMode="auto">
          <a:xfrm>
            <a:off x="304800" y="3090863"/>
            <a:ext cx="8458200" cy="719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defRPr/>
            </a:pPr>
            <a:br>
              <a:rPr lang="en-US" sz="14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</a:br>
            <a:br>
              <a:rPr lang="en-US" sz="14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</a:br>
            <a:br>
              <a:rPr lang="en-US" sz="3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</a:br>
            <a:br>
              <a:rPr lang="en-US" sz="3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</a:br>
            <a:br>
              <a:rPr lang="en-US" sz="3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</a:br>
            <a:br>
              <a:rPr lang="en-US" sz="3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</a:br>
            <a:endParaRPr lang="en-US" sz="36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76539" name="Group 27"/>
          <p:cNvGraphicFramePr>
            <a:graphicFrameLocks noGrp="1"/>
          </p:cNvGraphicFramePr>
          <p:nvPr/>
        </p:nvGraphicFramePr>
        <p:xfrm>
          <a:off x="381000" y="1143000"/>
          <a:ext cx="4191000" cy="4267200"/>
        </p:xfrm>
        <a:graphic>
          <a:graphicData uri="http://schemas.openxmlformats.org/drawingml/2006/table">
            <a:tbl>
              <a:tblPr/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PUSH Direct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POP Direct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XCH A,Rn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XCH A, Direct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XCH A,@Ri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XCHD A,@Ri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MOVX @Ri,A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MOV @DPTR,A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9504012"/>
      </p:ext>
    </p:extLst>
  </p:cSld>
  <p:clrMapOvr>
    <a:masterClrMapping/>
  </p:clrMapOvr>
  <p:transition>
    <p:rand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4800" y="1447800"/>
            <a:ext cx="8458200" cy="71913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br>
              <a:rPr lang="en-US" sz="1400" b="1" dirty="0"/>
            </a:br>
            <a:br>
              <a:rPr lang="en-US" sz="1400" b="1" dirty="0"/>
            </a:br>
            <a:br>
              <a:rPr lang="en-US" sz="1400" b="1" dirty="0"/>
            </a:br>
            <a:r>
              <a:rPr lang="en-US" sz="2800" b="1" u="sng" dirty="0">
                <a:solidFill>
                  <a:srgbClr val="FF0000"/>
                </a:solidFill>
              </a:rPr>
              <a:t>Arithmetic instructions:</a:t>
            </a:r>
            <a:br>
              <a:rPr lang="en-US" sz="2800" b="1" u="sng" dirty="0"/>
            </a:br>
            <a:br>
              <a:rPr lang="en-US" sz="3600" b="1" u="sng" dirty="0"/>
            </a:br>
            <a:br>
              <a:rPr lang="en-US" sz="3600" b="1" dirty="0"/>
            </a:br>
            <a:br>
              <a:rPr lang="en-US" sz="3600" b="1" dirty="0"/>
            </a:br>
            <a:br>
              <a:rPr lang="en-US" sz="3600" b="1" dirty="0"/>
            </a:br>
            <a:endParaRPr lang="en-US" sz="3600" b="1" dirty="0"/>
          </a:p>
        </p:txBody>
      </p:sp>
      <p:graphicFrame>
        <p:nvGraphicFramePr>
          <p:cNvPr id="570697" name="Group 329"/>
          <p:cNvGraphicFramePr>
            <a:graphicFrameLocks noGrp="1"/>
          </p:cNvGraphicFramePr>
          <p:nvPr/>
        </p:nvGraphicFramePr>
        <p:xfrm>
          <a:off x="381000" y="1143000"/>
          <a:ext cx="4191000" cy="3200400"/>
        </p:xfrm>
        <a:graphic>
          <a:graphicData uri="http://schemas.openxmlformats.org/drawingml/2006/table">
            <a:tbl>
              <a:tblPr/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ADD </a:t>
                      </a:r>
                      <a:r>
                        <a:rPr kumimoji="0" 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A,Rn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ADD A,Direct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ADD A,@Ri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ADD </a:t>
                      </a:r>
                      <a:r>
                        <a:rPr kumimoji="0" 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A,#Data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ADDC A,Rn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70742" name="Group 374"/>
          <p:cNvGraphicFramePr>
            <a:graphicFrameLocks noGrp="1"/>
          </p:cNvGraphicFramePr>
          <p:nvPr/>
        </p:nvGraphicFramePr>
        <p:xfrm>
          <a:off x="4572000" y="1143000"/>
          <a:ext cx="4191000" cy="4800600"/>
        </p:xfrm>
        <a:graphic>
          <a:graphicData uri="http://schemas.openxmlformats.org/drawingml/2006/table">
            <a:tbl>
              <a:tblPr/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SUBB A, Direct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SUBB A,@</a:t>
                      </a:r>
                      <a:r>
                        <a:rPr kumimoji="0" 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Ri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SUBB </a:t>
                      </a:r>
                      <a:r>
                        <a:rPr kumimoji="0" 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A,#Data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INC 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INC Rn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INC Direct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INC @Ri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DEC 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DEC </a:t>
                      </a:r>
                      <a:r>
                        <a:rPr kumimoji="0" 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Rn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70598" name="Rectangle 230"/>
          <p:cNvSpPr>
            <a:spLocks noRot="1" noChangeArrowheads="1"/>
          </p:cNvSpPr>
          <p:nvPr/>
        </p:nvSpPr>
        <p:spPr bwMode="auto">
          <a:xfrm>
            <a:off x="304800" y="3090863"/>
            <a:ext cx="8458200" cy="719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defRPr/>
            </a:pPr>
            <a:br>
              <a:rPr lang="en-US" sz="14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</a:br>
            <a:br>
              <a:rPr lang="en-US" sz="14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</a:br>
            <a:br>
              <a:rPr lang="en-US" sz="3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</a:br>
            <a:br>
              <a:rPr lang="en-US" sz="3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</a:br>
            <a:br>
              <a:rPr lang="en-US" sz="3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</a:br>
            <a:br>
              <a:rPr lang="en-US" sz="3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</a:br>
            <a:endParaRPr lang="en-US" sz="36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70671" name="Group 303"/>
          <p:cNvGraphicFramePr>
            <a:graphicFrameLocks noGrp="1"/>
          </p:cNvGraphicFramePr>
          <p:nvPr/>
        </p:nvGraphicFramePr>
        <p:xfrm>
          <a:off x="381000" y="5410200"/>
          <a:ext cx="4191000" cy="533400"/>
        </p:xfrm>
        <a:graphic>
          <a:graphicData uri="http://schemas.openxmlformats.org/drawingml/2006/table">
            <a:tbl>
              <a:tblPr/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SUBB </a:t>
                      </a:r>
                      <a:r>
                        <a:rPr kumimoji="0" 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A,Rn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70753" name="Group 385"/>
          <p:cNvGraphicFramePr>
            <a:graphicFrameLocks noGrp="1"/>
          </p:cNvGraphicFramePr>
          <p:nvPr/>
        </p:nvGraphicFramePr>
        <p:xfrm>
          <a:off x="381000" y="3810000"/>
          <a:ext cx="4191000" cy="1600200"/>
        </p:xfrm>
        <a:graphic>
          <a:graphicData uri="http://schemas.openxmlformats.org/drawingml/2006/table">
            <a:tbl>
              <a:tblPr/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ADDC A, Direct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ADDC A,@</a:t>
                      </a:r>
                      <a:r>
                        <a:rPr kumimoji="0" 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Ri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ADDC </a:t>
                      </a:r>
                      <a:r>
                        <a:rPr kumimoji="0" 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A,#Data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3813393"/>
      </p:ext>
    </p:extLst>
  </p:cSld>
  <p:clrMapOvr>
    <a:masterClrMapping/>
  </p:clrMapOvr>
  <p:transition>
    <p:rand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4800" y="1447800"/>
            <a:ext cx="8458200" cy="71913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br>
              <a:rPr lang="en-US" sz="1400" b="1" dirty="0">
                <a:solidFill>
                  <a:srgbClr val="FF0000"/>
                </a:solidFill>
              </a:rPr>
            </a:br>
            <a:br>
              <a:rPr lang="en-US" sz="1400" b="1" dirty="0">
                <a:solidFill>
                  <a:srgbClr val="FF0000"/>
                </a:solidFill>
              </a:rPr>
            </a:br>
            <a:r>
              <a:rPr lang="en-US" sz="2800" b="1" u="sng" dirty="0">
                <a:solidFill>
                  <a:srgbClr val="FF0000"/>
                </a:solidFill>
              </a:rPr>
              <a:t>Arithmetic instructions:</a:t>
            </a:r>
            <a:br>
              <a:rPr lang="en-US" sz="2800" b="1" u="sng" dirty="0">
                <a:solidFill>
                  <a:srgbClr val="FF0000"/>
                </a:solidFill>
              </a:rPr>
            </a:br>
            <a:br>
              <a:rPr lang="en-US" sz="3600" b="1" u="sng" dirty="0">
                <a:solidFill>
                  <a:srgbClr val="FF0000"/>
                </a:solidFill>
              </a:rPr>
            </a:br>
            <a:br>
              <a:rPr lang="en-US" sz="3600" b="1" dirty="0">
                <a:solidFill>
                  <a:srgbClr val="FF0000"/>
                </a:solidFill>
              </a:rPr>
            </a:br>
            <a:br>
              <a:rPr lang="en-US" sz="3600" b="1" dirty="0">
                <a:solidFill>
                  <a:srgbClr val="FF0000"/>
                </a:solidFill>
              </a:rPr>
            </a:br>
            <a:br>
              <a:rPr lang="en-US" sz="3600" b="1" dirty="0">
                <a:solidFill>
                  <a:srgbClr val="FF0000"/>
                </a:solidFill>
              </a:rPr>
            </a:br>
            <a:endParaRPr lang="en-US" sz="3600" b="1" dirty="0">
              <a:solidFill>
                <a:srgbClr val="FF0000"/>
              </a:solidFill>
            </a:endParaRPr>
          </a:p>
        </p:txBody>
      </p:sp>
      <p:graphicFrame>
        <p:nvGraphicFramePr>
          <p:cNvPr id="571397" name="Group 5"/>
          <p:cNvGraphicFramePr>
            <a:graphicFrameLocks noGrp="1"/>
          </p:cNvGraphicFramePr>
          <p:nvPr/>
        </p:nvGraphicFramePr>
        <p:xfrm>
          <a:off x="381000" y="1143000"/>
          <a:ext cx="4191000" cy="3200400"/>
        </p:xfrm>
        <a:graphic>
          <a:graphicData uri="http://schemas.openxmlformats.org/drawingml/2006/table">
            <a:tbl>
              <a:tblPr/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DEC Direct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DEC @</a:t>
                      </a:r>
                      <a:r>
                        <a:rPr kumimoji="0" 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Ri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INC DPTR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MUL AB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DIV AB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DA 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71435" name="Rectangle 43"/>
          <p:cNvSpPr>
            <a:spLocks noRot="1" noChangeArrowheads="1"/>
          </p:cNvSpPr>
          <p:nvPr/>
        </p:nvSpPr>
        <p:spPr bwMode="auto">
          <a:xfrm>
            <a:off x="304800" y="3090863"/>
            <a:ext cx="8458200" cy="719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defRPr/>
            </a:pPr>
            <a:br>
              <a:rPr lang="en-US" sz="14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</a:br>
            <a:br>
              <a:rPr lang="en-US" sz="14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</a:br>
            <a:br>
              <a:rPr lang="en-US" sz="3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</a:br>
            <a:br>
              <a:rPr lang="en-US" sz="3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</a:br>
            <a:br>
              <a:rPr lang="en-US" sz="3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</a:br>
            <a:br>
              <a:rPr lang="en-US" sz="3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</a:br>
            <a:endParaRPr lang="en-US" sz="36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7564088"/>
      </p:ext>
    </p:extLst>
  </p:cSld>
  <p:clrMapOvr>
    <a:masterClrMapping/>
  </p:clrMapOvr>
  <p:transition>
    <p:rand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4800" y="1447800"/>
            <a:ext cx="8458200" cy="71913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br>
              <a:rPr lang="en-US" sz="1400" b="1" dirty="0">
                <a:solidFill>
                  <a:srgbClr val="FF0000"/>
                </a:solidFill>
              </a:rPr>
            </a:br>
            <a:br>
              <a:rPr lang="en-US" sz="1400" b="1" dirty="0">
                <a:solidFill>
                  <a:srgbClr val="FF0000"/>
                </a:solidFill>
              </a:rPr>
            </a:br>
            <a:r>
              <a:rPr lang="en-US" sz="2800" b="1" u="sng" dirty="0">
                <a:solidFill>
                  <a:srgbClr val="FF0000"/>
                </a:solidFill>
              </a:rPr>
              <a:t>Logical instructions:</a:t>
            </a:r>
            <a:br>
              <a:rPr lang="en-US" sz="2800" b="1" u="sng" dirty="0">
                <a:solidFill>
                  <a:srgbClr val="FF0000"/>
                </a:solidFill>
              </a:rPr>
            </a:br>
            <a:br>
              <a:rPr lang="en-US" sz="3600" b="1" u="sng" dirty="0">
                <a:solidFill>
                  <a:srgbClr val="FF0000"/>
                </a:solidFill>
              </a:rPr>
            </a:br>
            <a:br>
              <a:rPr lang="en-US" sz="3600" b="1" dirty="0">
                <a:solidFill>
                  <a:srgbClr val="FF0000"/>
                </a:solidFill>
              </a:rPr>
            </a:br>
            <a:br>
              <a:rPr lang="en-US" sz="3600" b="1" dirty="0">
                <a:solidFill>
                  <a:srgbClr val="FF0000"/>
                </a:solidFill>
              </a:rPr>
            </a:br>
            <a:br>
              <a:rPr lang="en-US" sz="3600" b="1" dirty="0">
                <a:solidFill>
                  <a:srgbClr val="FF0000"/>
                </a:solidFill>
              </a:rPr>
            </a:br>
            <a:endParaRPr lang="en-US" sz="3600" b="1" dirty="0">
              <a:solidFill>
                <a:srgbClr val="FF0000"/>
              </a:solidFill>
            </a:endParaRPr>
          </a:p>
        </p:txBody>
      </p:sp>
      <p:graphicFrame>
        <p:nvGraphicFramePr>
          <p:cNvPr id="572437" name="Group 21"/>
          <p:cNvGraphicFramePr>
            <a:graphicFrameLocks noGrp="1"/>
          </p:cNvGraphicFramePr>
          <p:nvPr/>
        </p:nvGraphicFramePr>
        <p:xfrm>
          <a:off x="4572000" y="1143000"/>
          <a:ext cx="4191000" cy="4800600"/>
        </p:xfrm>
        <a:graphic>
          <a:graphicData uri="http://schemas.openxmlformats.org/drawingml/2006/table">
            <a:tbl>
              <a:tblPr/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ORL </a:t>
                      </a:r>
                      <a:r>
                        <a:rPr kumimoji="0" 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A,#Data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ORL Direct,A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ORL Direct,#Data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XRL </a:t>
                      </a:r>
                      <a:r>
                        <a:rPr kumimoji="0" 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A,Rn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XRL A,Direct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XRL A,@Ri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XRL A,#Data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XRL Direct,A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XRL </a:t>
                      </a:r>
                      <a:r>
                        <a:rPr kumimoji="0" 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Direct,#Data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72459" name="Rectangle 43"/>
          <p:cNvSpPr>
            <a:spLocks noRot="1" noChangeArrowheads="1"/>
          </p:cNvSpPr>
          <p:nvPr/>
        </p:nvSpPr>
        <p:spPr bwMode="auto">
          <a:xfrm>
            <a:off x="304800" y="3090863"/>
            <a:ext cx="8458200" cy="719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defRPr/>
            </a:pPr>
            <a:br>
              <a:rPr lang="en-US" sz="14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</a:br>
            <a:br>
              <a:rPr lang="en-US" sz="14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</a:br>
            <a:br>
              <a:rPr lang="en-US" sz="3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</a:br>
            <a:br>
              <a:rPr lang="en-US" sz="3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</a:br>
            <a:br>
              <a:rPr lang="en-US" sz="3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</a:br>
            <a:br>
              <a:rPr lang="en-US" sz="3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</a:br>
            <a:endParaRPr lang="en-US" sz="36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72476" name="Group 60"/>
          <p:cNvGraphicFramePr>
            <a:graphicFrameLocks noGrp="1"/>
          </p:cNvGraphicFramePr>
          <p:nvPr/>
        </p:nvGraphicFramePr>
        <p:xfrm>
          <a:off x="381000" y="1143000"/>
          <a:ext cx="4191000" cy="4800600"/>
        </p:xfrm>
        <a:graphic>
          <a:graphicData uri="http://schemas.openxmlformats.org/drawingml/2006/table">
            <a:tbl>
              <a:tblPr/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ANL </a:t>
                      </a:r>
                      <a:r>
                        <a:rPr kumimoji="0" 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A,Rn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ANL </a:t>
                      </a:r>
                      <a:r>
                        <a:rPr kumimoji="0" 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A,Direct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ANL A,@Ri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ANL A,#Data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ANL Direct,A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ANL Direct,#Data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ORL A,Rn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ORL A,Direct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ORL A,@</a:t>
                      </a:r>
                      <a:r>
                        <a:rPr kumimoji="0" 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Ri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984732"/>
      </p:ext>
    </p:extLst>
  </p:cSld>
  <p:clrMapOvr>
    <a:masterClrMapping/>
  </p:clrMapOvr>
  <p:transition>
    <p:rand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4800" y="1447800"/>
            <a:ext cx="8458200" cy="71913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br>
              <a:rPr lang="en-US" sz="1400" b="1" dirty="0"/>
            </a:br>
            <a:br>
              <a:rPr lang="en-US" sz="1400" b="1" dirty="0"/>
            </a:br>
            <a:r>
              <a:rPr lang="en-US" sz="2800" b="1" u="sng" dirty="0">
                <a:solidFill>
                  <a:srgbClr val="FF0000"/>
                </a:solidFill>
              </a:rPr>
              <a:t>Logical instructions:</a:t>
            </a:r>
            <a:br>
              <a:rPr lang="en-US" sz="2800" b="1" u="sng" dirty="0"/>
            </a:br>
            <a:br>
              <a:rPr lang="en-US" sz="3600" b="1" dirty="0"/>
            </a:br>
            <a:br>
              <a:rPr lang="en-US" sz="3600" b="1" dirty="0"/>
            </a:br>
            <a:br>
              <a:rPr lang="en-US" sz="3600" b="1" dirty="0"/>
            </a:br>
            <a:br>
              <a:rPr lang="en-US" sz="3600" b="1" dirty="0"/>
            </a:br>
            <a:endParaRPr lang="en-US" sz="3600" b="1" dirty="0"/>
          </a:p>
        </p:txBody>
      </p:sp>
      <p:graphicFrame>
        <p:nvGraphicFramePr>
          <p:cNvPr id="573516" name="Group 76"/>
          <p:cNvGraphicFramePr>
            <a:graphicFrameLocks noGrp="1"/>
          </p:cNvGraphicFramePr>
          <p:nvPr/>
        </p:nvGraphicFramePr>
        <p:xfrm>
          <a:off x="609600" y="1143000"/>
          <a:ext cx="4191000" cy="3733800"/>
        </p:xfrm>
        <a:graphic>
          <a:graphicData uri="http://schemas.openxmlformats.org/drawingml/2006/table">
            <a:tbl>
              <a:tblPr/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CLR 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CPL 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RL 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RLC 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RR 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RRC 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SWAP 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3942715"/>
      </p:ext>
    </p:extLst>
  </p:cSld>
  <p:clrMapOvr>
    <a:masterClrMapping/>
  </p:clrMapOvr>
  <p:transition>
    <p:rand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49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4800" y="1447800"/>
            <a:ext cx="8458200" cy="71913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br>
              <a:rPr lang="en-US" sz="1400" dirty="0">
                <a:solidFill>
                  <a:srgbClr val="FF0000"/>
                </a:solidFill>
              </a:rPr>
            </a:br>
            <a:br>
              <a:rPr lang="en-US" sz="1400" dirty="0">
                <a:solidFill>
                  <a:srgbClr val="FF0000"/>
                </a:solidFill>
              </a:rPr>
            </a:br>
            <a:r>
              <a:rPr lang="en-US" sz="2800" b="1" u="sng" dirty="0">
                <a:solidFill>
                  <a:srgbClr val="FF0000"/>
                </a:solidFill>
              </a:rPr>
              <a:t>Boolean Variable Manipulation instructions:</a:t>
            </a:r>
            <a:br>
              <a:rPr lang="en-US" sz="2800" b="1" u="sng" dirty="0">
                <a:solidFill>
                  <a:srgbClr val="FF0000"/>
                </a:solidFill>
              </a:rPr>
            </a:br>
            <a:br>
              <a:rPr lang="en-US" sz="2800" b="1" u="sng" dirty="0">
                <a:solidFill>
                  <a:srgbClr val="FF0000"/>
                </a:solidFill>
              </a:rPr>
            </a:br>
            <a:br>
              <a:rPr lang="en-US" sz="3600" dirty="0">
                <a:solidFill>
                  <a:srgbClr val="FF0000"/>
                </a:solidFill>
              </a:rPr>
            </a:br>
            <a:br>
              <a:rPr lang="en-US" sz="3600" dirty="0">
                <a:solidFill>
                  <a:srgbClr val="FF0000"/>
                </a:solidFill>
              </a:rPr>
            </a:br>
            <a:br>
              <a:rPr lang="en-US" sz="3600" dirty="0">
                <a:solidFill>
                  <a:srgbClr val="FF0000"/>
                </a:solidFill>
              </a:rPr>
            </a:b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575515" name="Rectangle 27"/>
          <p:cNvSpPr>
            <a:spLocks noRot="1" noChangeArrowheads="1"/>
          </p:cNvSpPr>
          <p:nvPr/>
        </p:nvSpPr>
        <p:spPr bwMode="auto">
          <a:xfrm>
            <a:off x="304800" y="3090863"/>
            <a:ext cx="8458200" cy="719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defRPr/>
            </a:pPr>
            <a:br>
              <a:rPr lang="en-US" sz="14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</a:br>
            <a:br>
              <a:rPr lang="en-US" sz="14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</a:br>
            <a:br>
              <a:rPr lang="en-US" sz="3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</a:br>
            <a:br>
              <a:rPr lang="en-US" sz="3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</a:br>
            <a:br>
              <a:rPr lang="en-US" sz="3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</a:br>
            <a:br>
              <a:rPr lang="en-US" sz="3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</a:br>
            <a:endParaRPr lang="en-US" sz="36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75563" name="Group 75"/>
          <p:cNvGraphicFramePr>
            <a:graphicFrameLocks noGrp="1"/>
          </p:cNvGraphicFramePr>
          <p:nvPr/>
        </p:nvGraphicFramePr>
        <p:xfrm>
          <a:off x="381000" y="1219200"/>
          <a:ext cx="4191000" cy="4800600"/>
        </p:xfrm>
        <a:graphic>
          <a:graphicData uri="http://schemas.openxmlformats.org/drawingml/2006/table">
            <a:tbl>
              <a:tblPr/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CLR 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CLR bit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SETB 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SETB bit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CPL 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CPL bit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ANL C,bit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ANL C,/bit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ORL </a:t>
                      </a:r>
                      <a:r>
                        <a:rPr kumimoji="0" 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C,bit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75609" name="Group 121"/>
          <p:cNvGraphicFramePr>
            <a:graphicFrameLocks noGrp="1"/>
          </p:cNvGraphicFramePr>
          <p:nvPr/>
        </p:nvGraphicFramePr>
        <p:xfrm>
          <a:off x="4572000" y="1219200"/>
          <a:ext cx="4191000" cy="4267200"/>
        </p:xfrm>
        <a:graphic>
          <a:graphicData uri="http://schemas.openxmlformats.org/drawingml/2006/table">
            <a:tbl>
              <a:tblPr/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ORL C,/bit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MOV </a:t>
                      </a:r>
                      <a:r>
                        <a:rPr kumimoji="0" 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C,bit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MOV bit,C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JC </a:t>
                      </a:r>
                      <a:r>
                        <a:rPr kumimoji="0" 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rel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JNC rel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JB bit,rel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JNB bit,rel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JBC </a:t>
                      </a:r>
                      <a:r>
                        <a:rPr kumimoji="0" 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bit,rel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237493"/>
      </p:ext>
    </p:extLst>
  </p:cSld>
  <p:clrMapOvr>
    <a:masterClrMapping/>
  </p:clrMapOvr>
  <p:transition>
    <p:rand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4800" y="1447800"/>
            <a:ext cx="8458200" cy="71913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br>
              <a:rPr lang="en-US" sz="1400" b="1" dirty="0">
                <a:solidFill>
                  <a:srgbClr val="FF0000"/>
                </a:solidFill>
              </a:rPr>
            </a:br>
            <a:br>
              <a:rPr lang="en-US" sz="1400" b="1" dirty="0">
                <a:solidFill>
                  <a:srgbClr val="FF0000"/>
                </a:solidFill>
              </a:rPr>
            </a:br>
            <a:r>
              <a:rPr lang="en-US" sz="2800" b="1" u="sng" dirty="0">
                <a:solidFill>
                  <a:srgbClr val="FF0000"/>
                </a:solidFill>
              </a:rPr>
              <a:t>Program branching instructions:</a:t>
            </a:r>
            <a:br>
              <a:rPr lang="en-US" sz="2800" b="1" u="sng" dirty="0">
                <a:solidFill>
                  <a:srgbClr val="FF0000"/>
                </a:solidFill>
              </a:rPr>
            </a:br>
            <a:br>
              <a:rPr lang="en-US" sz="3600" b="1" dirty="0">
                <a:solidFill>
                  <a:srgbClr val="FF0000"/>
                </a:solidFill>
              </a:rPr>
            </a:br>
            <a:br>
              <a:rPr lang="en-US" sz="3600" b="1" dirty="0">
                <a:solidFill>
                  <a:srgbClr val="FF0000"/>
                </a:solidFill>
              </a:rPr>
            </a:br>
            <a:br>
              <a:rPr lang="en-US" sz="3600" b="1" dirty="0">
                <a:solidFill>
                  <a:srgbClr val="FF0000"/>
                </a:solidFill>
              </a:rPr>
            </a:br>
            <a:br>
              <a:rPr lang="en-US" sz="3600" b="1" dirty="0">
                <a:solidFill>
                  <a:srgbClr val="FF0000"/>
                </a:solidFill>
              </a:rPr>
            </a:b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577541" name="Rectangle 5"/>
          <p:cNvSpPr>
            <a:spLocks noRot="1" noChangeArrowheads="1"/>
          </p:cNvSpPr>
          <p:nvPr/>
        </p:nvSpPr>
        <p:spPr bwMode="auto">
          <a:xfrm>
            <a:off x="304800" y="3090863"/>
            <a:ext cx="8458200" cy="719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defRPr/>
            </a:pPr>
            <a:br>
              <a:rPr lang="en-US" sz="14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</a:br>
            <a:br>
              <a:rPr lang="en-US" sz="14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</a:br>
            <a:br>
              <a:rPr lang="en-US" sz="3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</a:br>
            <a:br>
              <a:rPr lang="en-US" sz="3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</a:br>
            <a:br>
              <a:rPr lang="en-US" sz="3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</a:br>
            <a:br>
              <a:rPr lang="en-US" sz="3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</a:br>
            <a:endParaRPr lang="en-US" sz="36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77542" name="Group 6"/>
          <p:cNvGraphicFramePr>
            <a:graphicFrameLocks noGrp="1"/>
          </p:cNvGraphicFramePr>
          <p:nvPr/>
        </p:nvGraphicFramePr>
        <p:xfrm>
          <a:off x="381000" y="1143000"/>
          <a:ext cx="4191000" cy="4800600"/>
        </p:xfrm>
        <a:graphic>
          <a:graphicData uri="http://schemas.openxmlformats.org/drawingml/2006/table">
            <a:tbl>
              <a:tblPr/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ACALL addr11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LCALL addr16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RET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RETI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AJMP addr11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LJMP addr16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SJMP rel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JMP @A+DPTR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JZ </a:t>
                      </a:r>
                      <a:r>
                        <a:rPr kumimoji="0" 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rel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77564" name="Group 28"/>
          <p:cNvGraphicFramePr>
            <a:graphicFrameLocks noGrp="1"/>
          </p:cNvGraphicFramePr>
          <p:nvPr/>
        </p:nvGraphicFramePr>
        <p:xfrm>
          <a:off x="4572000" y="1143000"/>
          <a:ext cx="4191000" cy="4267200"/>
        </p:xfrm>
        <a:graphic>
          <a:graphicData uri="http://schemas.openxmlformats.org/drawingml/2006/table">
            <a:tbl>
              <a:tblPr/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JNZ </a:t>
                      </a:r>
                      <a:r>
                        <a:rPr kumimoji="0" 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rel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CJNE A,direct,rel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CJNE A,#data,rel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CJNE Rn,#data,rel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CJNE @Ri,#data,rel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DJNZ Rn,rel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DJNZ direct,rel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NOP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8586345"/>
      </p:ext>
    </p:extLst>
  </p:cSld>
  <p:clrMapOvr>
    <a:masterClrMapping/>
  </p:clrMapOvr>
  <p:transition>
    <p:rand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4800" y="3124200"/>
            <a:ext cx="8458200" cy="71913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br>
              <a:rPr lang="en-US" sz="900" b="1" dirty="0"/>
            </a:br>
            <a:br>
              <a:rPr lang="en-US" sz="900" b="1" dirty="0"/>
            </a:br>
            <a:br>
              <a:rPr lang="en-US" sz="1800" b="1" u="sng" dirty="0"/>
            </a:br>
            <a:r>
              <a:rPr lang="en-US" sz="1800" b="1" u="sng" dirty="0"/>
              <a:t> </a:t>
            </a:r>
            <a:r>
              <a:rPr lang="en-US" sz="3600" b="1" u="sng" dirty="0">
                <a:latin typeface="Times New Roman" pitchFamily="18" charset="0"/>
                <a:cs typeface="Times New Roman" pitchFamily="18" charset="0"/>
              </a:rPr>
              <a:t>MUL &amp; DIV</a:t>
            </a:r>
            <a:r>
              <a:rPr lang="en-US" sz="1800" b="1" dirty="0"/>
              <a:t> </a:t>
            </a:r>
            <a:br>
              <a:rPr lang="en-US" sz="1800" b="1" dirty="0"/>
            </a:br>
            <a:br>
              <a:rPr lang="en-US" sz="2400" b="1" dirty="0"/>
            </a:br>
            <a:r>
              <a:rPr lang="en-US" sz="2800" b="1" u="sng" dirty="0">
                <a:latin typeface="Times New Roman" pitchFamily="18" charset="0"/>
                <a:cs typeface="Times New Roman" pitchFamily="18" charset="0"/>
              </a:rPr>
              <a:t>MUL	AB	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;B|A = A*B</a:t>
            </a:r>
            <a:br>
              <a:rPr lang="en-US" sz="24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MOV	A,#25H</a:t>
            </a:r>
            <a:br>
              <a:rPr lang="en-US" sz="24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MOV	B,#65H</a:t>
            </a:r>
            <a:br>
              <a:rPr lang="en-US" sz="24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MUL	AB		;25H*65H=0E99</a:t>
            </a:r>
            <a:br>
              <a:rPr lang="en-US" sz="24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				;B=0EH, A=99H</a:t>
            </a:r>
            <a:br>
              <a:rPr lang="en-US" sz="24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b="1" u="sng" dirty="0">
                <a:latin typeface="Times New Roman" pitchFamily="18" charset="0"/>
                <a:cs typeface="Times New Roman" pitchFamily="18" charset="0"/>
              </a:rPr>
              <a:t>DIV	AB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;A = A/B, B = A mod B</a:t>
            </a:r>
            <a:br>
              <a:rPr lang="en-US" sz="24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MOV	A,#25H</a:t>
            </a:r>
            <a:br>
              <a:rPr lang="en-US" sz="24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MOV	B,#10H</a:t>
            </a:r>
            <a:br>
              <a:rPr lang="en-US" sz="24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DIV	AB		;A=2, B=5</a:t>
            </a:r>
            <a:br>
              <a:rPr lang="en-US" sz="2400" b="1" dirty="0">
                <a:latin typeface="Times New Roman" pitchFamily="18" charset="0"/>
                <a:cs typeface="Times New Roman" pitchFamily="18" charset="0"/>
              </a:rPr>
            </a:br>
            <a:br>
              <a:rPr lang="en-US" sz="2400" b="1" dirty="0"/>
            </a:br>
            <a:br>
              <a:rPr lang="en-US" sz="2400" b="1" dirty="0"/>
            </a:br>
            <a:br>
              <a:rPr lang="en-US" sz="2400" b="1" dirty="0"/>
            </a:br>
            <a:br>
              <a:rPr lang="en-US" sz="2400" b="1" dirty="0"/>
            </a:b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005694050"/>
      </p:ext>
    </p:extLst>
  </p:cSld>
  <p:clrMapOvr>
    <a:masterClrMapping/>
  </p:clrMapOvr>
  <p:transition>
    <p:rand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61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4800" y="3200400"/>
            <a:ext cx="8458200" cy="71913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br>
              <a:rPr lang="en-US" sz="4000" u="sng" dirty="0"/>
            </a:br>
            <a:r>
              <a:rPr lang="en-US" sz="5300" b="1" u="sng" dirty="0"/>
              <a:t>Rotate</a:t>
            </a:r>
            <a:br>
              <a:rPr lang="en-US" sz="4000" u="sng" dirty="0"/>
            </a:br>
            <a:r>
              <a:rPr lang="en-US" sz="4000" u="sng" dirty="0"/>
              <a:t> </a:t>
            </a:r>
            <a:br>
              <a:rPr lang="en-US" sz="1400" dirty="0"/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EXAMPLE:</a:t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</a:t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RR:</a:t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RRC:</a:t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RL:</a:t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RLC:</a:t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endParaRPr lang="en-US" sz="1400" dirty="0"/>
          </a:p>
        </p:txBody>
      </p:sp>
      <p:graphicFrame>
        <p:nvGraphicFramePr>
          <p:cNvPr id="580634" name="Group 26"/>
          <p:cNvGraphicFramePr>
            <a:graphicFrameLocks noGrp="1"/>
          </p:cNvGraphicFramePr>
          <p:nvPr/>
        </p:nvGraphicFramePr>
        <p:xfrm>
          <a:off x="3048000" y="3063875"/>
          <a:ext cx="2808288" cy="517530"/>
        </p:xfrm>
        <a:graphic>
          <a:graphicData uri="http://schemas.openxmlformats.org/drawingml/2006/table">
            <a:tbl>
              <a:tblPr/>
              <a:tblGrid>
                <a:gridCol w="350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08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08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08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08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405" marB="454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0635" name="Group 27"/>
          <p:cNvGraphicFramePr>
            <a:graphicFrameLocks noGrp="1"/>
          </p:cNvGraphicFramePr>
          <p:nvPr/>
        </p:nvGraphicFramePr>
        <p:xfrm>
          <a:off x="3048000" y="3825875"/>
          <a:ext cx="2808288" cy="517530"/>
        </p:xfrm>
        <a:graphic>
          <a:graphicData uri="http://schemas.openxmlformats.org/drawingml/2006/table">
            <a:tbl>
              <a:tblPr/>
              <a:tblGrid>
                <a:gridCol w="350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08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08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08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08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405" marB="454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0655" name="Group 47"/>
          <p:cNvGraphicFramePr>
            <a:graphicFrameLocks noGrp="1"/>
          </p:cNvGraphicFramePr>
          <p:nvPr/>
        </p:nvGraphicFramePr>
        <p:xfrm>
          <a:off x="3048000" y="4664075"/>
          <a:ext cx="2808288" cy="517530"/>
        </p:xfrm>
        <a:graphic>
          <a:graphicData uri="http://schemas.openxmlformats.org/drawingml/2006/table">
            <a:tbl>
              <a:tblPr/>
              <a:tblGrid>
                <a:gridCol w="350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08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08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08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08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405" marB="454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0675" name="Group 67"/>
          <p:cNvGraphicFramePr>
            <a:graphicFrameLocks noGrp="1"/>
          </p:cNvGraphicFramePr>
          <p:nvPr/>
        </p:nvGraphicFramePr>
        <p:xfrm>
          <a:off x="3048000" y="5426075"/>
          <a:ext cx="2808288" cy="517530"/>
        </p:xfrm>
        <a:graphic>
          <a:graphicData uri="http://schemas.openxmlformats.org/drawingml/2006/table">
            <a:tbl>
              <a:tblPr/>
              <a:tblGrid>
                <a:gridCol w="350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08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08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08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08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405" marB="454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2787" name="AutoShape 87"/>
          <p:cNvSpPr>
            <a:spLocks noChangeArrowheads="1"/>
          </p:cNvSpPr>
          <p:nvPr/>
        </p:nvSpPr>
        <p:spPr bwMode="auto">
          <a:xfrm>
            <a:off x="6172200" y="3378200"/>
            <a:ext cx="576263" cy="431800"/>
          </a:xfrm>
          <a:prstGeom prst="curvedLeftArrow">
            <a:avLst>
              <a:gd name="adj1" fmla="val 20000"/>
              <a:gd name="adj2" fmla="val 40000"/>
              <a:gd name="adj3" fmla="val 44485"/>
            </a:avLst>
          </a:prstGeom>
          <a:solidFill>
            <a:srgbClr val="0000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72788" name="AutoShape 89"/>
          <p:cNvSpPr>
            <a:spLocks noChangeArrowheads="1"/>
          </p:cNvSpPr>
          <p:nvPr/>
        </p:nvSpPr>
        <p:spPr bwMode="auto">
          <a:xfrm>
            <a:off x="6084888" y="4038600"/>
            <a:ext cx="504825" cy="71438"/>
          </a:xfrm>
          <a:prstGeom prst="rightArrow">
            <a:avLst>
              <a:gd name="adj1" fmla="val 50000"/>
              <a:gd name="adj2" fmla="val 176665"/>
            </a:avLst>
          </a:prstGeom>
          <a:solidFill>
            <a:srgbClr val="000000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graphicFrame>
        <p:nvGraphicFramePr>
          <p:cNvPr id="580699" name="Group 91"/>
          <p:cNvGraphicFramePr>
            <a:graphicFrameLocks noGrp="1"/>
          </p:cNvGraphicFramePr>
          <p:nvPr/>
        </p:nvGraphicFramePr>
        <p:xfrm>
          <a:off x="6661150" y="3838575"/>
          <a:ext cx="360363" cy="504825"/>
        </p:xfrm>
        <a:graphic>
          <a:graphicData uri="http://schemas.openxmlformats.org/drawingml/2006/table">
            <a:tbl>
              <a:tblPr/>
              <a:tblGrid>
                <a:gridCol w="360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itchFamily="34" charset="0"/>
                          <a:cs typeface="Arial" pitchFamily="34" charset="0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2795" name="AutoShape 97"/>
          <p:cNvSpPr>
            <a:spLocks noChangeArrowheads="1"/>
          </p:cNvSpPr>
          <p:nvPr/>
        </p:nvSpPr>
        <p:spPr bwMode="auto">
          <a:xfrm>
            <a:off x="7164388" y="4140200"/>
            <a:ext cx="576262" cy="431800"/>
          </a:xfrm>
          <a:prstGeom prst="curvedLeftArrow">
            <a:avLst>
              <a:gd name="adj1" fmla="val 20000"/>
              <a:gd name="adj2" fmla="val 40000"/>
              <a:gd name="adj3" fmla="val 44485"/>
            </a:avLst>
          </a:prstGeom>
          <a:solidFill>
            <a:srgbClr val="0000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72796" name="AutoShape 98"/>
          <p:cNvSpPr>
            <a:spLocks noChangeArrowheads="1"/>
          </p:cNvSpPr>
          <p:nvPr/>
        </p:nvSpPr>
        <p:spPr bwMode="auto">
          <a:xfrm rot="10800000">
            <a:off x="2362200" y="3302000"/>
            <a:ext cx="576263" cy="431800"/>
          </a:xfrm>
          <a:prstGeom prst="curvedLeftArrow">
            <a:avLst>
              <a:gd name="adj1" fmla="val 20000"/>
              <a:gd name="adj2" fmla="val 40000"/>
              <a:gd name="adj3" fmla="val 44485"/>
            </a:avLst>
          </a:prstGeom>
          <a:solidFill>
            <a:srgbClr val="0000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72797" name="AutoShape 99"/>
          <p:cNvSpPr>
            <a:spLocks noChangeArrowheads="1"/>
          </p:cNvSpPr>
          <p:nvPr/>
        </p:nvSpPr>
        <p:spPr bwMode="auto">
          <a:xfrm rot="10800000">
            <a:off x="2286000" y="4064000"/>
            <a:ext cx="576263" cy="431800"/>
          </a:xfrm>
          <a:prstGeom prst="curvedLeftArrow">
            <a:avLst>
              <a:gd name="adj1" fmla="val 20000"/>
              <a:gd name="adj2" fmla="val 40000"/>
              <a:gd name="adj3" fmla="val 44485"/>
            </a:avLst>
          </a:prstGeom>
          <a:solidFill>
            <a:srgbClr val="0000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72798" name="AutoShape 100"/>
          <p:cNvSpPr>
            <a:spLocks noChangeArrowheads="1"/>
          </p:cNvSpPr>
          <p:nvPr/>
        </p:nvSpPr>
        <p:spPr bwMode="auto">
          <a:xfrm>
            <a:off x="2319338" y="4902200"/>
            <a:ext cx="576262" cy="431800"/>
          </a:xfrm>
          <a:prstGeom prst="curvedRightArrow">
            <a:avLst>
              <a:gd name="adj1" fmla="val 18282"/>
              <a:gd name="adj2" fmla="val 42069"/>
              <a:gd name="adj3" fmla="val 44485"/>
            </a:avLst>
          </a:prstGeom>
          <a:solidFill>
            <a:srgbClr val="0000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72799" name="AutoShape 101"/>
          <p:cNvSpPr>
            <a:spLocks noChangeArrowheads="1"/>
          </p:cNvSpPr>
          <p:nvPr/>
        </p:nvSpPr>
        <p:spPr bwMode="auto">
          <a:xfrm>
            <a:off x="2286000" y="5664200"/>
            <a:ext cx="576263" cy="431800"/>
          </a:xfrm>
          <a:prstGeom prst="curvedRightArrow">
            <a:avLst>
              <a:gd name="adj1" fmla="val 18282"/>
              <a:gd name="adj2" fmla="val 42069"/>
              <a:gd name="adj3" fmla="val 44485"/>
            </a:avLst>
          </a:prstGeom>
          <a:solidFill>
            <a:srgbClr val="0000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72800" name="AutoShape 102"/>
          <p:cNvSpPr>
            <a:spLocks noChangeArrowheads="1"/>
          </p:cNvSpPr>
          <p:nvPr/>
        </p:nvSpPr>
        <p:spPr bwMode="auto">
          <a:xfrm rot="10800000">
            <a:off x="5943600" y="4868863"/>
            <a:ext cx="576263" cy="431800"/>
          </a:xfrm>
          <a:prstGeom prst="curvedRightArrow">
            <a:avLst>
              <a:gd name="adj1" fmla="val 18282"/>
              <a:gd name="adj2" fmla="val 42069"/>
              <a:gd name="adj3" fmla="val 44485"/>
            </a:avLst>
          </a:prstGeom>
          <a:solidFill>
            <a:srgbClr val="0000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72801" name="AutoShape 103"/>
          <p:cNvSpPr>
            <a:spLocks noChangeArrowheads="1"/>
          </p:cNvSpPr>
          <p:nvPr/>
        </p:nvSpPr>
        <p:spPr bwMode="auto">
          <a:xfrm rot="10800000">
            <a:off x="7091363" y="5588000"/>
            <a:ext cx="576262" cy="431800"/>
          </a:xfrm>
          <a:prstGeom prst="curvedRightArrow">
            <a:avLst>
              <a:gd name="adj1" fmla="val 18282"/>
              <a:gd name="adj2" fmla="val 42069"/>
              <a:gd name="adj3" fmla="val 44485"/>
            </a:avLst>
          </a:prstGeom>
          <a:solidFill>
            <a:srgbClr val="0000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graphicFrame>
        <p:nvGraphicFramePr>
          <p:cNvPr id="580712" name="Group 104"/>
          <p:cNvGraphicFramePr>
            <a:graphicFrameLocks noGrp="1"/>
          </p:cNvGraphicFramePr>
          <p:nvPr/>
        </p:nvGraphicFramePr>
        <p:xfrm>
          <a:off x="6659563" y="5410200"/>
          <a:ext cx="360362" cy="503238"/>
        </p:xfrm>
        <a:graphic>
          <a:graphicData uri="http://schemas.openxmlformats.org/drawingml/2006/table">
            <a:tbl>
              <a:tblPr/>
              <a:tblGrid>
                <a:gridCol w="360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3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itchFamily="34" charset="0"/>
                          <a:cs typeface="Arial" pitchFamily="34" charset="0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2808" name="AutoShape 110"/>
          <p:cNvSpPr>
            <a:spLocks noChangeArrowheads="1"/>
          </p:cNvSpPr>
          <p:nvPr/>
        </p:nvSpPr>
        <p:spPr bwMode="auto">
          <a:xfrm>
            <a:off x="5943600" y="5638800"/>
            <a:ext cx="504825" cy="71438"/>
          </a:xfrm>
          <a:prstGeom prst="leftArrow">
            <a:avLst>
              <a:gd name="adj1" fmla="val 50000"/>
              <a:gd name="adj2" fmla="val 176665"/>
            </a:avLst>
          </a:prstGeom>
          <a:solidFill>
            <a:srgbClr val="000000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7340165"/>
      </p:ext>
    </p:extLst>
  </p:cSld>
  <p:clrMapOvr>
    <a:masterClrMapping/>
  </p:clrMapOvr>
  <p:transition>
    <p:rand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63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4800" y="3200400"/>
            <a:ext cx="8458200" cy="719138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3200" u="sng">
                <a:solidFill>
                  <a:schemeClr val="bg1"/>
                </a:solidFill>
              </a:rPr>
              <a:t>8051 INSTRUCTION SET</a:t>
            </a:r>
            <a:br>
              <a:rPr lang="en-US" sz="4000" u="sng">
                <a:solidFill>
                  <a:schemeClr val="bg1"/>
                </a:solidFill>
              </a:rPr>
            </a:br>
            <a:br>
              <a:rPr lang="en-US" sz="4000" u="sng">
                <a:solidFill>
                  <a:schemeClr val="bg1"/>
                </a:solidFill>
              </a:rPr>
            </a:br>
            <a:br>
              <a:rPr lang="en-US" sz="4000" u="sng">
                <a:solidFill>
                  <a:schemeClr val="bg1"/>
                </a:solidFill>
              </a:rPr>
            </a:br>
            <a:br>
              <a:rPr lang="en-US" sz="4000" u="sng">
                <a:solidFill>
                  <a:schemeClr val="bg1"/>
                </a:solidFill>
              </a:rPr>
            </a:br>
            <a:br>
              <a:rPr lang="en-US" sz="4000" u="sng">
                <a:solidFill>
                  <a:schemeClr val="bg1"/>
                </a:solidFill>
              </a:rPr>
            </a:br>
            <a:br>
              <a:rPr lang="en-US" sz="4000" u="sng">
                <a:solidFill>
                  <a:schemeClr val="bg1"/>
                </a:solidFill>
              </a:rPr>
            </a:br>
            <a:br>
              <a:rPr lang="en-US" sz="4000" u="sng">
                <a:solidFill>
                  <a:schemeClr val="bg1"/>
                </a:solidFill>
              </a:rPr>
            </a:br>
            <a:br>
              <a:rPr lang="en-US" sz="4000" u="sng">
                <a:solidFill>
                  <a:schemeClr val="bg1"/>
                </a:solidFill>
              </a:rPr>
            </a:br>
            <a:br>
              <a:rPr lang="en-US" sz="4000" u="sng">
                <a:solidFill>
                  <a:schemeClr val="bg1"/>
                </a:solidFill>
              </a:rPr>
            </a:br>
            <a:br>
              <a:rPr lang="en-US" sz="4000" u="sng">
                <a:solidFill>
                  <a:schemeClr val="bg1"/>
                </a:solidFill>
              </a:rPr>
            </a:br>
            <a:br>
              <a:rPr lang="en-US" sz="4000" u="sng">
                <a:solidFill>
                  <a:schemeClr val="bg1"/>
                </a:solidFill>
              </a:rPr>
            </a:br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73731" name="Rectangle 107"/>
          <p:cNvSpPr>
            <a:spLocks noChangeArrowheads="1"/>
          </p:cNvSpPr>
          <p:nvPr/>
        </p:nvSpPr>
        <p:spPr bwMode="auto">
          <a:xfrm>
            <a:off x="533400" y="914400"/>
            <a:ext cx="2743200" cy="520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en-US" altLang="en-US" sz="1200" b="1">
                <a:solidFill>
                  <a:srgbClr val="FF0066"/>
                </a:solidFill>
              </a:rPr>
              <a:t>ACALL</a:t>
            </a:r>
            <a:r>
              <a:rPr lang="en-US" altLang="en-US" sz="1200">
                <a:solidFill>
                  <a:srgbClr val="FF0066"/>
                </a:solidFill>
              </a:rPr>
              <a:t>: </a:t>
            </a:r>
            <a:r>
              <a:rPr lang="en-US" altLang="en-US" sz="1200"/>
              <a:t>Absolute Call</a:t>
            </a:r>
            <a:br>
              <a:rPr lang="en-US" altLang="en-US" sz="1200"/>
            </a:br>
            <a:endParaRPr lang="en-US" altLang="en-US" sz="1200"/>
          </a:p>
          <a:p>
            <a:r>
              <a:rPr lang="en-US" altLang="en-US" sz="1200" b="1">
                <a:solidFill>
                  <a:srgbClr val="FF0066"/>
                </a:solidFill>
              </a:rPr>
              <a:t>ADD, ADDC</a:t>
            </a:r>
            <a:r>
              <a:rPr lang="en-US" altLang="en-US" sz="1200">
                <a:solidFill>
                  <a:srgbClr val="FF0066"/>
                </a:solidFill>
              </a:rPr>
              <a:t>: </a:t>
            </a:r>
            <a:r>
              <a:rPr lang="en-US" altLang="en-US" sz="1200"/>
              <a:t>Add Acc. (With Carry)</a:t>
            </a:r>
            <a:br>
              <a:rPr lang="en-US" altLang="en-US" sz="1200"/>
            </a:br>
            <a:endParaRPr lang="en-US" altLang="en-US" sz="1200"/>
          </a:p>
          <a:p>
            <a:r>
              <a:rPr lang="en-US" altLang="en-US" sz="1200" b="1">
                <a:solidFill>
                  <a:srgbClr val="FF0066"/>
                </a:solidFill>
              </a:rPr>
              <a:t>AJMP</a:t>
            </a:r>
            <a:r>
              <a:rPr lang="en-US" altLang="en-US" sz="1200">
                <a:solidFill>
                  <a:srgbClr val="FF0066"/>
                </a:solidFill>
              </a:rPr>
              <a:t>: </a:t>
            </a:r>
            <a:r>
              <a:rPr lang="en-US" altLang="en-US" sz="1200"/>
              <a:t>Absolute Jump</a:t>
            </a:r>
            <a:br>
              <a:rPr lang="en-US" altLang="en-US" sz="1200"/>
            </a:br>
            <a:endParaRPr lang="en-US" altLang="en-US" sz="1200"/>
          </a:p>
          <a:p>
            <a:r>
              <a:rPr lang="en-US" altLang="en-US" sz="1200" b="1">
                <a:solidFill>
                  <a:srgbClr val="FF0066"/>
                </a:solidFill>
              </a:rPr>
              <a:t>ANL</a:t>
            </a:r>
            <a:r>
              <a:rPr lang="en-US" altLang="en-US" sz="1200">
                <a:solidFill>
                  <a:srgbClr val="FF0066"/>
                </a:solidFill>
              </a:rPr>
              <a:t>: </a:t>
            </a:r>
            <a:r>
              <a:rPr lang="en-US" altLang="en-US" sz="1200"/>
              <a:t>Bitwise AND</a:t>
            </a:r>
            <a:br>
              <a:rPr lang="en-US" altLang="en-US" sz="1200"/>
            </a:br>
            <a:endParaRPr lang="en-US" altLang="en-US" sz="1200"/>
          </a:p>
          <a:p>
            <a:r>
              <a:rPr lang="en-US" altLang="en-US" sz="1200" b="1">
                <a:solidFill>
                  <a:srgbClr val="FF0066"/>
                </a:solidFill>
              </a:rPr>
              <a:t>CJNE</a:t>
            </a:r>
            <a:r>
              <a:rPr lang="en-US" altLang="en-US" sz="1200">
                <a:solidFill>
                  <a:srgbClr val="FF0066"/>
                </a:solidFill>
              </a:rPr>
              <a:t>: </a:t>
            </a:r>
            <a:r>
              <a:rPr lang="en-US" altLang="en-US" sz="1200"/>
              <a:t>Compare &amp; Jump if Not Equal</a:t>
            </a:r>
            <a:br>
              <a:rPr lang="en-US" altLang="en-US" sz="1200">
                <a:solidFill>
                  <a:srgbClr val="FF0066"/>
                </a:solidFill>
              </a:rPr>
            </a:br>
            <a:endParaRPr lang="en-US" altLang="en-US" sz="1200">
              <a:solidFill>
                <a:srgbClr val="FF0066"/>
              </a:solidFill>
            </a:endParaRPr>
          </a:p>
          <a:p>
            <a:r>
              <a:rPr lang="en-US" altLang="en-US" sz="1200" b="1">
                <a:solidFill>
                  <a:srgbClr val="FF0066"/>
                </a:solidFill>
              </a:rPr>
              <a:t>CLR</a:t>
            </a:r>
            <a:r>
              <a:rPr lang="en-US" altLang="en-US" sz="1200">
                <a:solidFill>
                  <a:srgbClr val="FF0066"/>
                </a:solidFill>
              </a:rPr>
              <a:t>: </a:t>
            </a:r>
            <a:r>
              <a:rPr lang="en-US" altLang="en-US" sz="1200"/>
              <a:t>Clear Register</a:t>
            </a:r>
            <a:br>
              <a:rPr lang="en-US" altLang="en-US" sz="1200"/>
            </a:br>
            <a:endParaRPr lang="en-US" altLang="en-US" sz="1200"/>
          </a:p>
          <a:p>
            <a:r>
              <a:rPr lang="en-US" altLang="en-US" sz="1200" b="1">
                <a:solidFill>
                  <a:srgbClr val="FF0066"/>
                </a:solidFill>
              </a:rPr>
              <a:t>CPL</a:t>
            </a:r>
            <a:r>
              <a:rPr lang="en-US" altLang="en-US" sz="1200">
                <a:solidFill>
                  <a:srgbClr val="FF0066"/>
                </a:solidFill>
              </a:rPr>
              <a:t>: </a:t>
            </a:r>
            <a:r>
              <a:rPr lang="en-US" altLang="en-US" sz="1200"/>
              <a:t>Complement Register</a:t>
            </a:r>
            <a:br>
              <a:rPr lang="en-US" altLang="en-US" sz="1200"/>
            </a:br>
            <a:endParaRPr lang="en-US" altLang="en-US" sz="1200"/>
          </a:p>
          <a:p>
            <a:r>
              <a:rPr lang="en-US" altLang="en-US" sz="1200" b="1">
                <a:solidFill>
                  <a:srgbClr val="FF0066"/>
                </a:solidFill>
              </a:rPr>
              <a:t>DA</a:t>
            </a:r>
            <a:r>
              <a:rPr lang="en-US" altLang="en-US" sz="1200">
                <a:solidFill>
                  <a:srgbClr val="FF0066"/>
                </a:solidFill>
              </a:rPr>
              <a:t>: </a:t>
            </a:r>
            <a:r>
              <a:rPr lang="en-US" altLang="en-US" sz="1200"/>
              <a:t>Decimal Adjust</a:t>
            </a:r>
            <a:br>
              <a:rPr lang="en-US" altLang="en-US" sz="1200"/>
            </a:br>
            <a:endParaRPr lang="en-US" altLang="en-US" sz="1200"/>
          </a:p>
          <a:p>
            <a:r>
              <a:rPr lang="en-US" altLang="en-US" sz="1200" b="1">
                <a:solidFill>
                  <a:srgbClr val="FF0066"/>
                </a:solidFill>
              </a:rPr>
              <a:t>DEC</a:t>
            </a:r>
            <a:r>
              <a:rPr lang="en-US" altLang="en-US" sz="1200">
                <a:solidFill>
                  <a:srgbClr val="FF0066"/>
                </a:solidFill>
              </a:rPr>
              <a:t>: </a:t>
            </a:r>
            <a:r>
              <a:rPr lang="en-US" altLang="en-US" sz="1200"/>
              <a:t>Decrement Register</a:t>
            </a:r>
            <a:br>
              <a:rPr lang="en-US" altLang="en-US" sz="1200"/>
            </a:br>
            <a:endParaRPr lang="en-US" altLang="en-US" sz="1200"/>
          </a:p>
          <a:p>
            <a:r>
              <a:rPr lang="en-US" altLang="en-US" sz="1200" b="1">
                <a:solidFill>
                  <a:srgbClr val="FF0066"/>
                </a:solidFill>
              </a:rPr>
              <a:t>DIV</a:t>
            </a:r>
            <a:r>
              <a:rPr lang="en-US" altLang="en-US" sz="1200">
                <a:solidFill>
                  <a:srgbClr val="FF0066"/>
                </a:solidFill>
              </a:rPr>
              <a:t>: </a:t>
            </a:r>
            <a:r>
              <a:rPr lang="en-US" altLang="en-US" sz="1200"/>
              <a:t>Divide Accumulator by B</a:t>
            </a:r>
            <a:br>
              <a:rPr lang="en-US" altLang="en-US" sz="1200"/>
            </a:br>
            <a:endParaRPr lang="en-US" altLang="en-US" sz="1200"/>
          </a:p>
          <a:p>
            <a:r>
              <a:rPr lang="en-US" altLang="en-US" sz="1200" b="1">
                <a:solidFill>
                  <a:srgbClr val="FF0066"/>
                </a:solidFill>
              </a:rPr>
              <a:t>DJNZ</a:t>
            </a:r>
            <a:r>
              <a:rPr lang="en-US" altLang="en-US" sz="1200">
                <a:solidFill>
                  <a:srgbClr val="FF0066"/>
                </a:solidFill>
              </a:rPr>
              <a:t>: </a:t>
            </a:r>
            <a:r>
              <a:rPr lang="en-US" altLang="en-US" sz="1200"/>
              <a:t>Dec. Reg. &amp; Jump if Not Zero</a:t>
            </a:r>
            <a:br>
              <a:rPr lang="en-US" altLang="en-US" sz="1200">
                <a:solidFill>
                  <a:srgbClr val="FF0066"/>
                </a:solidFill>
              </a:rPr>
            </a:br>
            <a:endParaRPr lang="en-US" altLang="en-US" sz="1200">
              <a:solidFill>
                <a:srgbClr val="FF0066"/>
              </a:solidFill>
            </a:endParaRPr>
          </a:p>
          <a:p>
            <a:r>
              <a:rPr lang="en-US" altLang="en-US" sz="1200" b="1">
                <a:solidFill>
                  <a:srgbClr val="FF0066"/>
                </a:solidFill>
              </a:rPr>
              <a:t>INC</a:t>
            </a:r>
            <a:r>
              <a:rPr lang="en-US" altLang="en-US" sz="1200">
                <a:solidFill>
                  <a:srgbClr val="FF0066"/>
                </a:solidFill>
              </a:rPr>
              <a:t>: </a:t>
            </a:r>
            <a:r>
              <a:rPr lang="en-US" altLang="en-US" sz="1200"/>
              <a:t>Increment Register</a:t>
            </a:r>
            <a:br>
              <a:rPr lang="en-US" altLang="en-US" sz="1200"/>
            </a:br>
            <a:endParaRPr lang="en-US" altLang="en-US" sz="1200"/>
          </a:p>
          <a:p>
            <a:r>
              <a:rPr lang="en-US" altLang="en-US" sz="1200" b="1">
                <a:solidFill>
                  <a:srgbClr val="FF0066"/>
                </a:solidFill>
              </a:rPr>
              <a:t>JB</a:t>
            </a:r>
            <a:r>
              <a:rPr lang="en-US" altLang="en-US" sz="1200">
                <a:solidFill>
                  <a:srgbClr val="FF0066"/>
                </a:solidFill>
              </a:rPr>
              <a:t>: </a:t>
            </a:r>
            <a:r>
              <a:rPr lang="en-US" altLang="en-US" sz="1200"/>
              <a:t>Jump if Bit Set</a:t>
            </a:r>
            <a:br>
              <a:rPr lang="en-US" altLang="en-US" sz="1200"/>
            </a:br>
            <a:endParaRPr lang="en-US" altLang="en-US" sz="1200"/>
          </a:p>
          <a:p>
            <a:r>
              <a:rPr lang="en-US" altLang="en-US" sz="1200" b="1">
                <a:solidFill>
                  <a:srgbClr val="FF0066"/>
                </a:solidFill>
              </a:rPr>
              <a:t>JBC</a:t>
            </a:r>
            <a:r>
              <a:rPr lang="en-US" altLang="en-US" sz="1200">
                <a:solidFill>
                  <a:srgbClr val="FF0066"/>
                </a:solidFill>
              </a:rPr>
              <a:t>: </a:t>
            </a:r>
            <a:r>
              <a:rPr lang="en-US" altLang="en-US" sz="1200"/>
              <a:t>Jump if Bit Set and Clear Bit</a:t>
            </a:r>
            <a:br>
              <a:rPr lang="en-US" altLang="en-US" sz="1200"/>
            </a:br>
            <a:endParaRPr lang="en-US" altLang="en-US" sz="1200"/>
          </a:p>
        </p:txBody>
      </p:sp>
      <p:sp>
        <p:nvSpPr>
          <p:cNvPr id="73732" name="Rectangle 108"/>
          <p:cNvSpPr>
            <a:spLocks noChangeArrowheads="1"/>
          </p:cNvSpPr>
          <p:nvPr/>
        </p:nvSpPr>
        <p:spPr bwMode="auto">
          <a:xfrm>
            <a:off x="3276600" y="914400"/>
            <a:ext cx="2514600" cy="556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sz="1200" b="1" dirty="0">
                <a:solidFill>
                  <a:srgbClr val="FF0066"/>
                </a:solidFill>
              </a:rPr>
              <a:t>JC</a:t>
            </a:r>
            <a:r>
              <a:rPr lang="en-US" altLang="en-US" sz="1200" dirty="0">
                <a:solidFill>
                  <a:srgbClr val="FF0066"/>
                </a:solidFill>
              </a:rPr>
              <a:t>: </a:t>
            </a:r>
            <a:r>
              <a:rPr lang="en-US" altLang="en-US" sz="1200" dirty="0"/>
              <a:t>Jump if Carry Set</a:t>
            </a:r>
            <a:br>
              <a:rPr lang="en-US" altLang="en-US" sz="1200" dirty="0"/>
            </a:br>
            <a:endParaRPr lang="en-US" altLang="en-US" sz="1200" dirty="0"/>
          </a:p>
          <a:p>
            <a:r>
              <a:rPr lang="en-US" altLang="en-US" sz="1200" b="1" dirty="0">
                <a:solidFill>
                  <a:srgbClr val="FF0066"/>
                </a:solidFill>
              </a:rPr>
              <a:t>JMP</a:t>
            </a:r>
            <a:r>
              <a:rPr lang="en-US" altLang="en-US" sz="1200" dirty="0">
                <a:solidFill>
                  <a:srgbClr val="FF0066"/>
                </a:solidFill>
              </a:rPr>
              <a:t>: </a:t>
            </a:r>
            <a:r>
              <a:rPr lang="en-US" altLang="en-US" sz="1200" dirty="0"/>
              <a:t>Jump to Address</a:t>
            </a:r>
            <a:br>
              <a:rPr lang="en-US" altLang="en-US" sz="1200" dirty="0"/>
            </a:br>
            <a:endParaRPr lang="en-US" altLang="en-US" sz="1200" dirty="0"/>
          </a:p>
          <a:p>
            <a:r>
              <a:rPr lang="en-US" altLang="en-US" sz="1200" b="1" dirty="0">
                <a:solidFill>
                  <a:srgbClr val="FF0066"/>
                </a:solidFill>
              </a:rPr>
              <a:t>JNB</a:t>
            </a:r>
            <a:r>
              <a:rPr lang="en-US" altLang="en-US" sz="1200" dirty="0">
                <a:solidFill>
                  <a:srgbClr val="FF0066"/>
                </a:solidFill>
              </a:rPr>
              <a:t>: </a:t>
            </a:r>
            <a:r>
              <a:rPr lang="en-US" altLang="en-US" sz="1200" dirty="0"/>
              <a:t>Jump if Bit Not Set</a:t>
            </a:r>
            <a:br>
              <a:rPr lang="en-US" altLang="en-US" sz="1200" dirty="0"/>
            </a:br>
            <a:endParaRPr lang="en-US" altLang="en-US" sz="1200" dirty="0"/>
          </a:p>
          <a:p>
            <a:r>
              <a:rPr lang="en-US" altLang="en-US" sz="1200" b="1" dirty="0">
                <a:solidFill>
                  <a:srgbClr val="FF0066"/>
                </a:solidFill>
              </a:rPr>
              <a:t>JNC</a:t>
            </a:r>
            <a:r>
              <a:rPr lang="en-US" altLang="en-US" sz="1200" dirty="0">
                <a:solidFill>
                  <a:srgbClr val="FF0066"/>
                </a:solidFill>
              </a:rPr>
              <a:t>: </a:t>
            </a:r>
            <a:r>
              <a:rPr lang="en-US" altLang="en-US" sz="1200" dirty="0"/>
              <a:t>Jump if Carry Not Set</a:t>
            </a:r>
            <a:br>
              <a:rPr lang="en-US" altLang="en-US" sz="1200" dirty="0"/>
            </a:br>
            <a:endParaRPr lang="en-US" altLang="en-US" sz="1200" dirty="0"/>
          </a:p>
          <a:p>
            <a:r>
              <a:rPr lang="en-US" altLang="en-US" sz="1200" b="1" dirty="0">
                <a:solidFill>
                  <a:srgbClr val="FF0066"/>
                </a:solidFill>
              </a:rPr>
              <a:t>JNZ</a:t>
            </a:r>
            <a:r>
              <a:rPr lang="en-US" altLang="en-US" sz="1200" dirty="0">
                <a:solidFill>
                  <a:srgbClr val="FF0066"/>
                </a:solidFill>
              </a:rPr>
              <a:t>: </a:t>
            </a:r>
            <a:r>
              <a:rPr lang="en-US" altLang="en-US" sz="1200" dirty="0"/>
              <a:t>Jump if Acc. Not Zero</a:t>
            </a:r>
            <a:br>
              <a:rPr lang="en-US" altLang="en-US" sz="1200" dirty="0"/>
            </a:br>
            <a:endParaRPr lang="en-US" altLang="en-US" sz="1200" dirty="0"/>
          </a:p>
          <a:p>
            <a:r>
              <a:rPr lang="en-US" altLang="en-US" sz="1200" b="1" dirty="0">
                <a:solidFill>
                  <a:srgbClr val="FF0066"/>
                </a:solidFill>
              </a:rPr>
              <a:t>JZ</a:t>
            </a:r>
            <a:r>
              <a:rPr lang="en-US" altLang="en-US" sz="1200" dirty="0">
                <a:solidFill>
                  <a:srgbClr val="FF0066"/>
                </a:solidFill>
              </a:rPr>
              <a:t>: </a:t>
            </a:r>
            <a:r>
              <a:rPr lang="en-US" altLang="en-US" sz="1200" dirty="0"/>
              <a:t>Jump if Accumulator Zero</a:t>
            </a:r>
            <a:br>
              <a:rPr lang="en-US" altLang="en-US" sz="1200" dirty="0"/>
            </a:br>
            <a:endParaRPr lang="en-US" altLang="en-US" sz="1200" dirty="0"/>
          </a:p>
          <a:p>
            <a:r>
              <a:rPr lang="en-US" altLang="en-US" sz="1200" b="1" dirty="0">
                <a:solidFill>
                  <a:srgbClr val="FF0066"/>
                </a:solidFill>
              </a:rPr>
              <a:t>LCALL</a:t>
            </a:r>
            <a:r>
              <a:rPr lang="en-US" altLang="en-US" sz="1200" dirty="0">
                <a:solidFill>
                  <a:srgbClr val="FF0066"/>
                </a:solidFill>
              </a:rPr>
              <a:t>: </a:t>
            </a:r>
            <a:r>
              <a:rPr lang="en-US" altLang="en-US" sz="1200" dirty="0"/>
              <a:t>Long Call</a:t>
            </a:r>
            <a:br>
              <a:rPr lang="en-US" altLang="en-US" sz="1200" dirty="0"/>
            </a:br>
            <a:endParaRPr lang="en-US" altLang="en-US" sz="1200" dirty="0"/>
          </a:p>
          <a:p>
            <a:r>
              <a:rPr lang="en-US" altLang="en-US" sz="1200" b="1" dirty="0">
                <a:solidFill>
                  <a:srgbClr val="FF0066"/>
                </a:solidFill>
              </a:rPr>
              <a:t>LJMP</a:t>
            </a:r>
            <a:r>
              <a:rPr lang="en-US" altLang="en-US" sz="1200" dirty="0">
                <a:solidFill>
                  <a:srgbClr val="FF0066"/>
                </a:solidFill>
              </a:rPr>
              <a:t>: </a:t>
            </a:r>
            <a:r>
              <a:rPr lang="en-US" altLang="en-US" sz="1200" dirty="0"/>
              <a:t>Long Jump</a:t>
            </a:r>
            <a:br>
              <a:rPr lang="en-US" altLang="en-US" sz="1200" dirty="0"/>
            </a:br>
            <a:endParaRPr lang="en-US" altLang="en-US" sz="1200" dirty="0"/>
          </a:p>
          <a:p>
            <a:r>
              <a:rPr lang="en-US" altLang="en-US" sz="1200" b="1" dirty="0">
                <a:solidFill>
                  <a:srgbClr val="FF0066"/>
                </a:solidFill>
              </a:rPr>
              <a:t>MOV</a:t>
            </a:r>
            <a:r>
              <a:rPr lang="en-US" altLang="en-US" sz="1200" dirty="0">
                <a:solidFill>
                  <a:srgbClr val="FF0066"/>
                </a:solidFill>
              </a:rPr>
              <a:t>: </a:t>
            </a:r>
            <a:r>
              <a:rPr lang="en-US" altLang="en-US" sz="1200" dirty="0"/>
              <a:t>Move Memory</a:t>
            </a:r>
            <a:br>
              <a:rPr lang="en-US" altLang="en-US" sz="1200" dirty="0"/>
            </a:br>
            <a:endParaRPr lang="en-US" altLang="en-US" sz="1200" dirty="0"/>
          </a:p>
          <a:p>
            <a:r>
              <a:rPr lang="en-US" altLang="en-US" sz="1200" b="1" dirty="0">
                <a:solidFill>
                  <a:srgbClr val="FF0066"/>
                </a:solidFill>
              </a:rPr>
              <a:t>MOVC</a:t>
            </a:r>
            <a:r>
              <a:rPr lang="en-US" altLang="en-US" sz="1200" dirty="0">
                <a:solidFill>
                  <a:srgbClr val="FF0066"/>
                </a:solidFill>
              </a:rPr>
              <a:t>: </a:t>
            </a:r>
            <a:r>
              <a:rPr lang="en-US" altLang="en-US" sz="1200" dirty="0"/>
              <a:t>Move Code Memory</a:t>
            </a:r>
            <a:br>
              <a:rPr lang="en-US" altLang="en-US" sz="1200" dirty="0">
                <a:solidFill>
                  <a:srgbClr val="FF0066"/>
                </a:solidFill>
              </a:rPr>
            </a:br>
            <a:endParaRPr lang="en-US" altLang="en-US" sz="1200" dirty="0">
              <a:solidFill>
                <a:srgbClr val="FF0066"/>
              </a:solidFill>
            </a:endParaRPr>
          </a:p>
          <a:p>
            <a:r>
              <a:rPr lang="en-US" altLang="en-US" sz="1200" b="1" dirty="0">
                <a:solidFill>
                  <a:srgbClr val="FF0066"/>
                </a:solidFill>
              </a:rPr>
              <a:t>MOVX</a:t>
            </a:r>
            <a:r>
              <a:rPr lang="en-US" altLang="en-US" sz="1200" dirty="0">
                <a:solidFill>
                  <a:srgbClr val="FF0066"/>
                </a:solidFill>
              </a:rPr>
              <a:t>: </a:t>
            </a:r>
            <a:r>
              <a:rPr lang="en-US" altLang="en-US" sz="1200" dirty="0"/>
              <a:t>Move Extended Memory</a:t>
            </a:r>
            <a:br>
              <a:rPr lang="en-US" altLang="en-US" sz="1200" dirty="0"/>
            </a:br>
            <a:endParaRPr lang="en-US" altLang="en-US" sz="1200" dirty="0"/>
          </a:p>
          <a:p>
            <a:r>
              <a:rPr lang="en-US" altLang="en-US" sz="1200" b="1" dirty="0">
                <a:solidFill>
                  <a:srgbClr val="FF0066"/>
                </a:solidFill>
              </a:rPr>
              <a:t>MUL</a:t>
            </a:r>
            <a:r>
              <a:rPr lang="en-US" altLang="en-US" sz="1200" dirty="0">
                <a:solidFill>
                  <a:srgbClr val="FF0066"/>
                </a:solidFill>
              </a:rPr>
              <a:t>: </a:t>
            </a:r>
            <a:r>
              <a:rPr lang="en-US" altLang="en-US" sz="1200" dirty="0"/>
              <a:t>Multiply Accumulator by B</a:t>
            </a:r>
            <a:br>
              <a:rPr lang="en-US" altLang="en-US" sz="1200" dirty="0"/>
            </a:br>
            <a:endParaRPr lang="en-US" altLang="en-US" sz="1200" dirty="0"/>
          </a:p>
          <a:p>
            <a:r>
              <a:rPr lang="en-US" altLang="en-US" sz="1200" b="1" dirty="0">
                <a:solidFill>
                  <a:srgbClr val="FF0066"/>
                </a:solidFill>
              </a:rPr>
              <a:t>NOP</a:t>
            </a:r>
            <a:r>
              <a:rPr lang="en-US" altLang="en-US" sz="1200" dirty="0">
                <a:solidFill>
                  <a:srgbClr val="FF0066"/>
                </a:solidFill>
              </a:rPr>
              <a:t>: </a:t>
            </a:r>
            <a:r>
              <a:rPr lang="en-US" altLang="en-US" sz="1200" dirty="0"/>
              <a:t>No Operation</a:t>
            </a:r>
            <a:br>
              <a:rPr lang="en-US" altLang="en-US" sz="1200" dirty="0"/>
            </a:br>
            <a:endParaRPr lang="en-US" altLang="en-US" sz="1200" dirty="0"/>
          </a:p>
          <a:p>
            <a:r>
              <a:rPr lang="en-US" altLang="en-US" sz="1200" b="1" dirty="0">
                <a:solidFill>
                  <a:srgbClr val="FF0066"/>
                </a:solidFill>
              </a:rPr>
              <a:t>ORL</a:t>
            </a:r>
            <a:r>
              <a:rPr lang="en-US" altLang="en-US" sz="1200" dirty="0">
                <a:solidFill>
                  <a:srgbClr val="FF0066"/>
                </a:solidFill>
              </a:rPr>
              <a:t>: </a:t>
            </a:r>
            <a:r>
              <a:rPr lang="en-US" altLang="en-US" sz="1200" dirty="0"/>
              <a:t>Bitwise OR</a:t>
            </a:r>
            <a:br>
              <a:rPr lang="en-US" altLang="en-US" sz="1200" dirty="0"/>
            </a:br>
            <a:endParaRPr lang="en-US" altLang="en-US" sz="1200" dirty="0"/>
          </a:p>
          <a:p>
            <a:r>
              <a:rPr lang="en-US" altLang="en-US" sz="1200" b="1" dirty="0">
                <a:solidFill>
                  <a:srgbClr val="FF0066"/>
                </a:solidFill>
              </a:rPr>
              <a:t>POP</a:t>
            </a:r>
            <a:r>
              <a:rPr lang="en-US" altLang="en-US" sz="1200" dirty="0">
                <a:solidFill>
                  <a:srgbClr val="FF0066"/>
                </a:solidFill>
              </a:rPr>
              <a:t>: </a:t>
            </a:r>
            <a:r>
              <a:rPr lang="en-US" altLang="en-US" sz="1200" dirty="0"/>
              <a:t>Pop Value From Stack</a:t>
            </a:r>
            <a:br>
              <a:rPr lang="en-US" altLang="en-US" sz="1200" dirty="0"/>
            </a:br>
            <a:endParaRPr lang="en-US" altLang="en-US" sz="1200" dirty="0"/>
          </a:p>
        </p:txBody>
      </p:sp>
      <p:sp>
        <p:nvSpPr>
          <p:cNvPr id="73733" name="Rectangle 110"/>
          <p:cNvSpPr>
            <a:spLocks noChangeArrowheads="1"/>
          </p:cNvSpPr>
          <p:nvPr/>
        </p:nvSpPr>
        <p:spPr bwMode="auto">
          <a:xfrm>
            <a:off x="5715000" y="914400"/>
            <a:ext cx="2819400" cy="556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sz="1200" b="1">
                <a:solidFill>
                  <a:srgbClr val="FF0066"/>
                </a:solidFill>
              </a:rPr>
              <a:t>PUSH</a:t>
            </a:r>
            <a:r>
              <a:rPr lang="en-US" altLang="en-US" sz="1200">
                <a:solidFill>
                  <a:srgbClr val="FF0066"/>
                </a:solidFill>
              </a:rPr>
              <a:t>: </a:t>
            </a:r>
            <a:r>
              <a:rPr lang="en-US" altLang="en-US" sz="1200"/>
              <a:t>Push Value Onto Stack</a:t>
            </a:r>
            <a:br>
              <a:rPr lang="en-US" altLang="en-US" sz="1200"/>
            </a:br>
            <a:endParaRPr lang="en-US" altLang="en-US" sz="1200"/>
          </a:p>
          <a:p>
            <a:r>
              <a:rPr lang="en-US" altLang="en-US" sz="1200" b="1">
                <a:solidFill>
                  <a:srgbClr val="FF0066"/>
                </a:solidFill>
              </a:rPr>
              <a:t>RET</a:t>
            </a:r>
            <a:r>
              <a:rPr lang="en-US" altLang="en-US" sz="1200">
                <a:solidFill>
                  <a:srgbClr val="FF0066"/>
                </a:solidFill>
              </a:rPr>
              <a:t>: </a:t>
            </a:r>
            <a:r>
              <a:rPr lang="en-US" altLang="en-US" sz="1200"/>
              <a:t>Return From Subroutine</a:t>
            </a:r>
            <a:br>
              <a:rPr lang="en-US" altLang="en-US" sz="1200"/>
            </a:br>
            <a:endParaRPr lang="en-US" altLang="en-US" sz="1200"/>
          </a:p>
          <a:p>
            <a:r>
              <a:rPr lang="en-US" altLang="en-US" sz="1200" b="1">
                <a:solidFill>
                  <a:srgbClr val="FF0066"/>
                </a:solidFill>
              </a:rPr>
              <a:t>RETI</a:t>
            </a:r>
            <a:r>
              <a:rPr lang="en-US" altLang="en-US" sz="1200">
                <a:solidFill>
                  <a:srgbClr val="FF0066"/>
                </a:solidFill>
              </a:rPr>
              <a:t>: </a:t>
            </a:r>
            <a:r>
              <a:rPr lang="en-US" altLang="en-US" sz="1200"/>
              <a:t>Return From Interrupt</a:t>
            </a:r>
            <a:br>
              <a:rPr lang="en-US" altLang="en-US" sz="1200"/>
            </a:br>
            <a:endParaRPr lang="en-US" altLang="en-US" sz="1200"/>
          </a:p>
          <a:p>
            <a:r>
              <a:rPr lang="en-US" altLang="en-US" sz="1200" b="1">
                <a:solidFill>
                  <a:srgbClr val="FF0066"/>
                </a:solidFill>
              </a:rPr>
              <a:t>RL</a:t>
            </a:r>
            <a:r>
              <a:rPr lang="en-US" altLang="en-US" sz="1200">
                <a:solidFill>
                  <a:srgbClr val="FF0066"/>
                </a:solidFill>
              </a:rPr>
              <a:t>: </a:t>
            </a:r>
            <a:r>
              <a:rPr lang="en-US" altLang="en-US" sz="1200"/>
              <a:t>Rotate Accumulator Left</a:t>
            </a:r>
            <a:br>
              <a:rPr lang="en-US" altLang="en-US" sz="1200"/>
            </a:br>
            <a:endParaRPr lang="en-US" altLang="en-US" sz="1200"/>
          </a:p>
          <a:p>
            <a:r>
              <a:rPr lang="en-US" altLang="en-US" sz="1200" b="1">
                <a:solidFill>
                  <a:srgbClr val="FF0066"/>
                </a:solidFill>
              </a:rPr>
              <a:t>RLC</a:t>
            </a:r>
            <a:r>
              <a:rPr lang="en-US" altLang="en-US" sz="1200">
                <a:solidFill>
                  <a:srgbClr val="FF0066"/>
                </a:solidFill>
              </a:rPr>
              <a:t>: </a:t>
            </a:r>
            <a:r>
              <a:rPr lang="en-US" altLang="en-US" sz="1200"/>
              <a:t>Rotate Acc. Left Through Carry</a:t>
            </a:r>
            <a:br>
              <a:rPr lang="en-US" altLang="en-US" sz="1200"/>
            </a:br>
            <a:endParaRPr lang="en-US" altLang="en-US" sz="1200"/>
          </a:p>
          <a:p>
            <a:r>
              <a:rPr lang="en-US" altLang="en-US" sz="1200" b="1">
                <a:solidFill>
                  <a:srgbClr val="FF0066"/>
                </a:solidFill>
              </a:rPr>
              <a:t>RR</a:t>
            </a:r>
            <a:r>
              <a:rPr lang="en-US" altLang="en-US" sz="1200">
                <a:solidFill>
                  <a:srgbClr val="FF0066"/>
                </a:solidFill>
              </a:rPr>
              <a:t>: </a:t>
            </a:r>
            <a:r>
              <a:rPr lang="en-US" altLang="en-US" sz="1200"/>
              <a:t>Rotate Accumulator Right</a:t>
            </a:r>
            <a:br>
              <a:rPr lang="en-US" altLang="en-US" sz="1200"/>
            </a:br>
            <a:endParaRPr lang="en-US" altLang="en-US" sz="1200"/>
          </a:p>
          <a:p>
            <a:r>
              <a:rPr lang="en-US" altLang="en-US" sz="1200" b="1">
                <a:solidFill>
                  <a:srgbClr val="FF0066"/>
                </a:solidFill>
              </a:rPr>
              <a:t>RRC</a:t>
            </a:r>
            <a:r>
              <a:rPr lang="en-US" altLang="en-US" sz="1200">
                <a:solidFill>
                  <a:srgbClr val="FF0066"/>
                </a:solidFill>
              </a:rPr>
              <a:t>: </a:t>
            </a:r>
            <a:r>
              <a:rPr lang="en-US" altLang="en-US" sz="1200"/>
              <a:t>Rotate Acc. Right Through Carry</a:t>
            </a:r>
            <a:br>
              <a:rPr lang="en-US" altLang="en-US" sz="1200">
                <a:solidFill>
                  <a:srgbClr val="FF0066"/>
                </a:solidFill>
              </a:rPr>
            </a:br>
            <a:endParaRPr lang="en-US" altLang="en-US" sz="1200">
              <a:solidFill>
                <a:srgbClr val="FF0066"/>
              </a:solidFill>
            </a:endParaRPr>
          </a:p>
          <a:p>
            <a:r>
              <a:rPr lang="en-US" altLang="en-US" sz="1200" b="1">
                <a:solidFill>
                  <a:srgbClr val="FF0066"/>
                </a:solidFill>
              </a:rPr>
              <a:t>SETB</a:t>
            </a:r>
            <a:r>
              <a:rPr lang="en-US" altLang="en-US" sz="1200">
                <a:solidFill>
                  <a:srgbClr val="FF0066"/>
                </a:solidFill>
              </a:rPr>
              <a:t>: </a:t>
            </a:r>
            <a:r>
              <a:rPr lang="en-US" altLang="en-US" sz="1200"/>
              <a:t>Set Bit</a:t>
            </a:r>
            <a:br>
              <a:rPr lang="en-US" altLang="en-US" sz="1200"/>
            </a:br>
            <a:endParaRPr lang="en-US" altLang="en-US" sz="1200"/>
          </a:p>
          <a:p>
            <a:r>
              <a:rPr lang="en-US" altLang="en-US" sz="1200" b="1">
                <a:solidFill>
                  <a:srgbClr val="FF0066"/>
                </a:solidFill>
              </a:rPr>
              <a:t>SJMP</a:t>
            </a:r>
            <a:r>
              <a:rPr lang="en-US" altLang="en-US" sz="1200">
                <a:solidFill>
                  <a:srgbClr val="FF0066"/>
                </a:solidFill>
              </a:rPr>
              <a:t>: </a:t>
            </a:r>
            <a:r>
              <a:rPr lang="en-US" altLang="en-US" sz="1200"/>
              <a:t>Short Jump</a:t>
            </a:r>
            <a:br>
              <a:rPr lang="en-US" altLang="en-US" sz="1200"/>
            </a:br>
            <a:endParaRPr lang="en-US" altLang="en-US" sz="1200"/>
          </a:p>
          <a:p>
            <a:r>
              <a:rPr lang="en-US" altLang="en-US" sz="1200" b="1">
                <a:solidFill>
                  <a:srgbClr val="FF0066"/>
                </a:solidFill>
              </a:rPr>
              <a:t>SUBB</a:t>
            </a:r>
            <a:r>
              <a:rPr lang="en-US" altLang="en-US" sz="1200">
                <a:solidFill>
                  <a:srgbClr val="FF0066"/>
                </a:solidFill>
              </a:rPr>
              <a:t>: </a:t>
            </a:r>
            <a:r>
              <a:rPr lang="en-US" altLang="en-US" sz="1200"/>
              <a:t>Sub. From Acc. With Borrow</a:t>
            </a:r>
            <a:br>
              <a:rPr lang="en-US" altLang="en-US" sz="1200"/>
            </a:br>
            <a:endParaRPr lang="en-US" altLang="en-US" sz="1200"/>
          </a:p>
          <a:p>
            <a:r>
              <a:rPr lang="en-US" altLang="en-US" sz="1200" b="1">
                <a:solidFill>
                  <a:srgbClr val="FF0066"/>
                </a:solidFill>
              </a:rPr>
              <a:t>SWAP</a:t>
            </a:r>
            <a:r>
              <a:rPr lang="en-US" altLang="en-US" sz="1200">
                <a:solidFill>
                  <a:srgbClr val="FF0066"/>
                </a:solidFill>
              </a:rPr>
              <a:t>: </a:t>
            </a:r>
            <a:r>
              <a:rPr lang="en-US" altLang="en-US" sz="1200"/>
              <a:t>Swap Accumulator Nibbles</a:t>
            </a:r>
            <a:br>
              <a:rPr lang="en-US" altLang="en-US" sz="1200"/>
            </a:br>
            <a:endParaRPr lang="en-US" altLang="en-US" sz="1200"/>
          </a:p>
          <a:p>
            <a:r>
              <a:rPr lang="en-US" altLang="en-US" sz="1200" b="1">
                <a:solidFill>
                  <a:srgbClr val="FF0066"/>
                </a:solidFill>
              </a:rPr>
              <a:t>XCH</a:t>
            </a:r>
            <a:r>
              <a:rPr lang="en-US" altLang="en-US" sz="1200">
                <a:solidFill>
                  <a:srgbClr val="FF0066"/>
                </a:solidFill>
              </a:rPr>
              <a:t>: </a:t>
            </a:r>
            <a:r>
              <a:rPr lang="en-US" altLang="en-US" sz="1200"/>
              <a:t>Exchange Bytes</a:t>
            </a:r>
            <a:br>
              <a:rPr lang="en-US" altLang="en-US" sz="1200"/>
            </a:br>
            <a:endParaRPr lang="en-US" altLang="en-US" sz="1200"/>
          </a:p>
          <a:p>
            <a:r>
              <a:rPr lang="en-US" altLang="en-US" sz="1200" b="1">
                <a:solidFill>
                  <a:srgbClr val="FF0066"/>
                </a:solidFill>
              </a:rPr>
              <a:t>XCHD</a:t>
            </a:r>
            <a:r>
              <a:rPr lang="en-US" altLang="en-US" sz="1200">
                <a:solidFill>
                  <a:srgbClr val="FF0066"/>
                </a:solidFill>
              </a:rPr>
              <a:t>: </a:t>
            </a:r>
            <a:r>
              <a:rPr lang="en-US" altLang="en-US" sz="1200"/>
              <a:t>Exchange Digits</a:t>
            </a:r>
            <a:br>
              <a:rPr lang="en-US" altLang="en-US" sz="1200"/>
            </a:br>
            <a:endParaRPr lang="en-US" altLang="en-US" sz="1200"/>
          </a:p>
          <a:p>
            <a:r>
              <a:rPr lang="en-US" altLang="en-US" sz="1200" b="1">
                <a:solidFill>
                  <a:srgbClr val="FF0066"/>
                </a:solidFill>
              </a:rPr>
              <a:t>XRL</a:t>
            </a:r>
            <a:r>
              <a:rPr lang="en-US" altLang="en-US" sz="1200">
                <a:solidFill>
                  <a:srgbClr val="FF0066"/>
                </a:solidFill>
              </a:rPr>
              <a:t>: </a:t>
            </a:r>
            <a:r>
              <a:rPr lang="en-US" altLang="en-US" sz="1200"/>
              <a:t>Bitwise Exclusive OR</a:t>
            </a:r>
            <a:br>
              <a:rPr lang="en-US" altLang="en-US" sz="1200"/>
            </a:br>
            <a:endParaRPr lang="en-US" altLang="en-US" sz="1200"/>
          </a:p>
          <a:p>
            <a:r>
              <a:rPr lang="en-US" altLang="en-US" sz="1200" b="1">
                <a:solidFill>
                  <a:srgbClr val="FF0066"/>
                </a:solidFill>
              </a:rPr>
              <a:t>Undefined</a:t>
            </a:r>
            <a:r>
              <a:rPr lang="en-US" altLang="en-US" sz="1200">
                <a:solidFill>
                  <a:srgbClr val="FF0066"/>
                </a:solidFill>
              </a:rPr>
              <a:t>: </a:t>
            </a:r>
            <a:r>
              <a:rPr lang="en-US" altLang="en-US" sz="1200"/>
              <a:t>Undefined Instruction</a:t>
            </a:r>
            <a:br>
              <a:rPr lang="en-US" altLang="en-US" sz="1200"/>
            </a:br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764423145"/>
      </p:ext>
    </p:extLst>
  </p:cSld>
  <p:clrMapOvr>
    <a:masterClrMapping/>
  </p:clrMapOvr>
  <p:transition>
    <p:rand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1" dirty="0">
                <a:solidFill>
                  <a:srgbClr val="FF0000"/>
                </a:solidFill>
                <a:latin typeface="Times New Roman" pitchFamily="18" charset="0"/>
                <a:ea typeface="굴림" pitchFamily="34" charset="-127"/>
                <a:cs typeface="Times New Roman" pitchFamily="18" charset="0"/>
              </a:rPr>
              <a:t>TIMERS</a:t>
            </a:r>
            <a:endParaRPr lang="en-US" altLang="en-US" b="1" dirty="0">
              <a:solidFill>
                <a:srgbClr val="FF0000"/>
              </a:solidFill>
              <a:latin typeface="Times New Roman" pitchFamily="18" charset="0"/>
              <a:ea typeface="굴림" pitchFamily="34" charset="-127"/>
              <a:cs typeface="Times New Roman" pitchFamily="18" charset="0"/>
            </a:endParaRPr>
          </a:p>
        </p:txBody>
      </p:sp>
      <p:sp>
        <p:nvSpPr>
          <p:cNvPr id="59395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301625" y="1196975"/>
            <a:ext cx="8591550" cy="5189538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 typeface="Arial" charset="0"/>
              <a:buNone/>
              <a:defRPr/>
            </a:pPr>
            <a:r>
              <a:rPr lang="en-IN" altLang="en-US" sz="2200" dirty="0">
                <a:solidFill>
                  <a:srgbClr val="000000"/>
                </a:solidFill>
                <a:latin typeface="Times New Roman" pitchFamily="18" charset="0"/>
                <a:ea typeface="굴림" pitchFamily="34" charset="-127"/>
                <a:cs typeface="Times New Roman" pitchFamily="18" charset="0"/>
              </a:rPr>
              <a:t>The 8051 has two timers:	</a:t>
            </a:r>
          </a:p>
          <a:p>
            <a:pPr marL="457200" indent="-457200" eaLnBrk="1" hangingPunct="1">
              <a:lnSpc>
                <a:spcPct val="90000"/>
              </a:lnSpc>
              <a:buFont typeface="Arial" charset="0"/>
              <a:buAutoNum type="arabicPeriod"/>
              <a:defRPr/>
            </a:pPr>
            <a:r>
              <a:rPr lang="en-IN" altLang="en-US" sz="2200" dirty="0">
                <a:solidFill>
                  <a:srgbClr val="000000"/>
                </a:solidFill>
                <a:latin typeface="Times New Roman" pitchFamily="18" charset="0"/>
                <a:ea typeface="굴림" pitchFamily="34" charset="-127"/>
                <a:cs typeface="Times New Roman" pitchFamily="18" charset="0"/>
              </a:rPr>
              <a:t>TIMER 0</a:t>
            </a:r>
          </a:p>
          <a:p>
            <a:pPr marL="457200" indent="-457200" eaLnBrk="1" hangingPunct="1">
              <a:lnSpc>
                <a:spcPct val="90000"/>
              </a:lnSpc>
              <a:buFont typeface="Arial" charset="0"/>
              <a:buAutoNum type="arabicPeriod"/>
              <a:defRPr/>
            </a:pPr>
            <a:r>
              <a:rPr lang="en-IN" altLang="en-US" sz="2200" dirty="0">
                <a:solidFill>
                  <a:srgbClr val="000000"/>
                </a:solidFill>
                <a:latin typeface="Times New Roman" pitchFamily="18" charset="0"/>
                <a:ea typeface="굴림" pitchFamily="34" charset="-127"/>
                <a:cs typeface="Times New Roman" pitchFamily="18" charset="0"/>
              </a:rPr>
              <a:t>TIMER 1</a:t>
            </a:r>
          </a:p>
          <a:p>
            <a:pPr marL="457200" indent="-457200" eaLnBrk="1" hangingPunct="1">
              <a:lnSpc>
                <a:spcPct val="90000"/>
              </a:lnSpc>
              <a:buFont typeface="Arial" charset="0"/>
              <a:buAutoNum type="arabicPeriod"/>
              <a:defRPr/>
            </a:pPr>
            <a:endParaRPr lang="en-IN" altLang="en-US" sz="2200" dirty="0">
              <a:solidFill>
                <a:srgbClr val="000000"/>
              </a:solidFill>
              <a:latin typeface="Times New Roman" pitchFamily="18" charset="0"/>
              <a:ea typeface="굴림" pitchFamily="34" charset="-127"/>
              <a:cs typeface="Times New Roman" pitchFamily="18" charset="0"/>
            </a:endParaRPr>
          </a:p>
          <a:p>
            <a:pPr marL="457200" indent="-457200" eaLnBrk="1" hangingPunct="1">
              <a:lnSpc>
                <a:spcPct val="90000"/>
              </a:lnSpc>
              <a:buFont typeface="Arial" charset="0"/>
              <a:buAutoNum type="arabicPeriod"/>
              <a:defRPr/>
            </a:pPr>
            <a:endParaRPr lang="en-IN" altLang="en-US" sz="2200" dirty="0">
              <a:solidFill>
                <a:srgbClr val="000000"/>
              </a:solidFill>
              <a:latin typeface="Times New Roman" pitchFamily="18" charset="0"/>
              <a:ea typeface="굴림" pitchFamily="34" charset="-127"/>
              <a:cs typeface="Times New Roman" pitchFamily="18" charset="0"/>
            </a:endParaRPr>
          </a:p>
          <a:p>
            <a:pPr marL="457200" indent="-457200" eaLnBrk="1" hangingPunct="1">
              <a:lnSpc>
                <a:spcPct val="90000"/>
              </a:lnSpc>
              <a:buFont typeface="Arial" charset="0"/>
              <a:buAutoNum type="arabicPeriod"/>
              <a:defRPr/>
            </a:pPr>
            <a:endParaRPr lang="en-IN" altLang="en-US" sz="2200" dirty="0">
              <a:solidFill>
                <a:srgbClr val="000000"/>
              </a:solidFill>
              <a:latin typeface="Times New Roman" pitchFamily="18" charset="0"/>
              <a:ea typeface="굴림" pitchFamily="34" charset="-127"/>
              <a:cs typeface="Times New Roman" pitchFamily="18" charset="0"/>
            </a:endParaRPr>
          </a:p>
          <a:p>
            <a:pPr marL="0" indent="0" eaLnBrk="1" hangingPunct="1">
              <a:lnSpc>
                <a:spcPct val="90000"/>
              </a:lnSpc>
              <a:buFont typeface="Arial" charset="0"/>
              <a:buNone/>
              <a:defRPr/>
            </a:pPr>
            <a:r>
              <a:rPr lang="en-IN" altLang="en-US" sz="2200" dirty="0">
                <a:solidFill>
                  <a:srgbClr val="000000"/>
                </a:solidFill>
                <a:latin typeface="Times New Roman" pitchFamily="18" charset="0"/>
                <a:ea typeface="굴림" pitchFamily="34" charset="-127"/>
                <a:cs typeface="Times New Roman" pitchFamily="18" charset="0"/>
              </a:rPr>
              <a:t>TIMER 0</a:t>
            </a:r>
          </a:p>
          <a:p>
            <a:pPr marL="0" indent="0" eaLnBrk="1" hangingPunct="1">
              <a:lnSpc>
                <a:spcPct val="90000"/>
              </a:lnSpc>
              <a:buFont typeface="Arial" charset="0"/>
              <a:buNone/>
              <a:defRPr/>
            </a:pPr>
            <a:endParaRPr lang="en-IN" altLang="en-US" sz="2200" dirty="0">
              <a:solidFill>
                <a:srgbClr val="000000"/>
              </a:solidFill>
              <a:latin typeface="Times New Roman" pitchFamily="18" charset="0"/>
              <a:ea typeface="굴림" pitchFamily="34" charset="-127"/>
              <a:cs typeface="Times New Roman" pitchFamily="18" charset="0"/>
            </a:endParaRPr>
          </a:p>
          <a:p>
            <a:pPr marL="0" indent="0" eaLnBrk="1" hangingPunct="1">
              <a:lnSpc>
                <a:spcPct val="90000"/>
              </a:lnSpc>
              <a:buFont typeface="Arial" charset="0"/>
              <a:buNone/>
              <a:defRPr/>
            </a:pPr>
            <a:endParaRPr lang="en-IN" altLang="en-US" sz="2200" dirty="0">
              <a:solidFill>
                <a:srgbClr val="000000"/>
              </a:solidFill>
              <a:latin typeface="Times New Roman" pitchFamily="18" charset="0"/>
              <a:ea typeface="굴림" pitchFamily="34" charset="-127"/>
              <a:cs typeface="Times New Roman" pitchFamily="18" charset="0"/>
            </a:endParaRPr>
          </a:p>
          <a:p>
            <a:pPr marL="0" indent="0" eaLnBrk="1" hangingPunct="1">
              <a:lnSpc>
                <a:spcPct val="90000"/>
              </a:lnSpc>
              <a:buFont typeface="Arial" charset="0"/>
              <a:buNone/>
              <a:defRPr/>
            </a:pPr>
            <a:endParaRPr lang="en-IN" altLang="en-US" sz="2200" dirty="0">
              <a:solidFill>
                <a:srgbClr val="000000"/>
              </a:solidFill>
              <a:latin typeface="Times New Roman" pitchFamily="18" charset="0"/>
              <a:ea typeface="굴림" pitchFamily="34" charset="-127"/>
              <a:cs typeface="Times New Roman" pitchFamily="18" charset="0"/>
            </a:endParaRPr>
          </a:p>
          <a:p>
            <a:pPr marL="0" indent="0" eaLnBrk="1" hangingPunct="1">
              <a:lnSpc>
                <a:spcPct val="90000"/>
              </a:lnSpc>
              <a:buFont typeface="Arial" charset="0"/>
              <a:buNone/>
              <a:defRPr/>
            </a:pPr>
            <a:endParaRPr lang="en-IN" altLang="en-US" sz="2200" dirty="0">
              <a:solidFill>
                <a:srgbClr val="000000"/>
              </a:solidFill>
              <a:latin typeface="Times New Roman" pitchFamily="18" charset="0"/>
              <a:ea typeface="굴림" pitchFamily="34" charset="-127"/>
              <a:cs typeface="Times New Roman" pitchFamily="18" charset="0"/>
            </a:endParaRPr>
          </a:p>
          <a:p>
            <a:pPr marL="0" indent="0" eaLnBrk="1" hangingPunct="1">
              <a:lnSpc>
                <a:spcPct val="90000"/>
              </a:lnSpc>
              <a:buFont typeface="Arial" charset="0"/>
              <a:buNone/>
              <a:defRPr/>
            </a:pPr>
            <a:r>
              <a:rPr lang="en-IN" altLang="en-US" sz="2200" dirty="0">
                <a:solidFill>
                  <a:srgbClr val="000000"/>
                </a:solidFill>
                <a:latin typeface="Times New Roman" pitchFamily="18" charset="0"/>
                <a:ea typeface="굴림" pitchFamily="34" charset="-127"/>
                <a:cs typeface="Times New Roman" pitchFamily="18" charset="0"/>
              </a:rPr>
              <a:t>TIMER 1</a:t>
            </a:r>
            <a:endParaRPr lang="en-US" altLang="en-US" sz="22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499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75" y="2492375"/>
            <a:ext cx="6477000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8499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75" y="4365625"/>
            <a:ext cx="6391275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5979128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4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4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4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1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44450"/>
            <a:ext cx="6335712" cy="669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1404756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60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60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4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0550" y="3810000"/>
            <a:ext cx="3168650" cy="172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3" name="Rectangle 7"/>
          <p:cNvSpPr>
            <a:spLocks noGrp="1" noRot="1" noChangeArrowheads="1"/>
          </p:cNvSpPr>
          <p:nvPr>
            <p:ph type="title"/>
          </p:nvPr>
        </p:nvSpPr>
        <p:spPr>
          <a:xfrm>
            <a:off x="755650" y="12700"/>
            <a:ext cx="2879725" cy="765175"/>
          </a:xfrm>
        </p:spPr>
        <p:txBody>
          <a:bodyPr/>
          <a:lstStyle/>
          <a:p>
            <a:pPr eaLnBrk="1" hangingPunct="1"/>
            <a:r>
              <a:rPr lang="en-US" altLang="en-US" sz="3200" b="1">
                <a:solidFill>
                  <a:srgbClr val="FF0000"/>
                </a:solidFill>
              </a:rPr>
              <a:t>TMOD Register</a:t>
            </a:r>
            <a:endParaRPr lang="en-US" altLang="en-US" b="1">
              <a:solidFill>
                <a:srgbClr val="FF0000"/>
              </a:solidFill>
            </a:endParaRPr>
          </a:p>
        </p:txBody>
      </p:sp>
      <p:sp>
        <p:nvSpPr>
          <p:cNvPr id="87044" name="Rectangle 8"/>
          <p:cNvSpPr>
            <a:spLocks noGrp="1" noRot="1" noChangeArrowheads="1"/>
          </p:cNvSpPr>
          <p:nvPr>
            <p:ph idx="1"/>
          </p:nvPr>
        </p:nvSpPr>
        <p:spPr>
          <a:xfrm>
            <a:off x="449263" y="3016250"/>
            <a:ext cx="8243887" cy="360680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</a:rPr>
              <a:t>Gate : </a:t>
            </a:r>
            <a:r>
              <a:rPr lang="en-US" altLang="en-US" sz="2400" dirty="0">
                <a:solidFill>
                  <a:srgbClr val="000000"/>
                </a:solidFill>
              </a:rPr>
              <a:t>When set, timer  only runs while INT(0,1) is  high.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</a:rPr>
              <a:t>C/T :</a:t>
            </a:r>
            <a:r>
              <a:rPr lang="en-US" altLang="en-US" sz="2400" dirty="0">
                <a:solidFill>
                  <a:srgbClr val="000000"/>
                </a:solidFill>
              </a:rPr>
              <a:t> Counter/Timer select bit.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</a:rPr>
              <a:t>M1 : </a:t>
            </a:r>
            <a:r>
              <a:rPr lang="en-US" altLang="en-US" sz="2400" dirty="0">
                <a:solidFill>
                  <a:srgbClr val="000000"/>
                </a:solidFill>
              </a:rPr>
              <a:t>Mode bit 1</a:t>
            </a:r>
            <a:r>
              <a:rPr lang="en-US" altLang="en-US" dirty="0">
                <a:solidFill>
                  <a:srgbClr val="000000"/>
                </a:solidFill>
              </a:rPr>
              <a:t>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</a:rPr>
              <a:t>M0 : </a:t>
            </a:r>
            <a:r>
              <a:rPr lang="en-US" altLang="en-US" sz="2400" dirty="0">
                <a:solidFill>
                  <a:srgbClr val="000000"/>
                </a:solidFill>
              </a:rPr>
              <a:t>Mode bit 0.</a:t>
            </a:r>
          </a:p>
          <a:p>
            <a:pPr eaLnBrk="1" hangingPunct="1"/>
            <a:endParaRPr lang="en-US" altLang="en-US" sz="2400" dirty="0"/>
          </a:p>
        </p:txBody>
      </p:sp>
      <p:pic>
        <p:nvPicPr>
          <p:cNvPr id="87045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692150"/>
            <a:ext cx="7921625" cy="216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5230096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7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7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870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870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870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870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4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9"/>
          <p:cNvSpPr>
            <a:spLocks noGrp="1" noRot="1" noChangeArrowheads="1"/>
          </p:cNvSpPr>
          <p:nvPr>
            <p:ph type="title"/>
          </p:nvPr>
        </p:nvSpPr>
        <p:spPr>
          <a:xfrm>
            <a:off x="-15875" y="6350"/>
            <a:ext cx="7756525" cy="796925"/>
          </a:xfrm>
        </p:spPr>
        <p:txBody>
          <a:bodyPr/>
          <a:lstStyle/>
          <a:p>
            <a:pPr eaLnBrk="1" hangingPunct="1"/>
            <a:r>
              <a:rPr lang="en-US" altLang="en-US" sz="3200" b="1" dirty="0">
                <a:solidFill>
                  <a:srgbClr val="FF0000"/>
                </a:solidFill>
              </a:rPr>
              <a:t>TCON Register (BIT ADRESSABLE REG)</a:t>
            </a:r>
          </a:p>
        </p:txBody>
      </p:sp>
      <p:sp>
        <p:nvSpPr>
          <p:cNvPr id="64515" name="Rectangle 7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1547813" y="4221163"/>
            <a:ext cx="5256435" cy="1944141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 typeface="Arial" charset="0"/>
              <a:buNone/>
              <a:defRPr/>
            </a:pPr>
            <a:r>
              <a:rPr lang="en-US" altLang="en-US" sz="1400" dirty="0">
                <a:solidFill>
                  <a:srgbClr val="000000"/>
                </a:solidFill>
              </a:rPr>
              <a:t>TCON.7	-	TF1: Timer 1 overflow flag.</a:t>
            </a:r>
          </a:p>
          <a:p>
            <a:pPr marL="0" indent="0" eaLnBrk="1" hangingPunct="1">
              <a:lnSpc>
                <a:spcPct val="90000"/>
              </a:lnSpc>
              <a:buFont typeface="Arial" charset="0"/>
              <a:buNone/>
              <a:defRPr/>
            </a:pPr>
            <a:r>
              <a:rPr lang="en-US" altLang="en-US" sz="1400" dirty="0">
                <a:solidFill>
                  <a:srgbClr val="000000"/>
                </a:solidFill>
              </a:rPr>
              <a:t>TCON.6	-	TR1: Timer 1 run control bit.</a:t>
            </a:r>
          </a:p>
          <a:p>
            <a:pPr marL="0" indent="0" eaLnBrk="1" hangingPunct="1">
              <a:lnSpc>
                <a:spcPct val="90000"/>
              </a:lnSpc>
              <a:buFont typeface="Arial" charset="0"/>
              <a:buNone/>
              <a:defRPr/>
            </a:pPr>
            <a:r>
              <a:rPr lang="en-US" altLang="en-US" sz="1400" dirty="0">
                <a:solidFill>
                  <a:srgbClr val="000000"/>
                </a:solidFill>
              </a:rPr>
              <a:t>TCON.5	-	TF0: Timer 0 overflag.</a:t>
            </a:r>
          </a:p>
          <a:p>
            <a:pPr marL="0" indent="0" eaLnBrk="1" hangingPunct="1">
              <a:lnSpc>
                <a:spcPct val="90000"/>
              </a:lnSpc>
              <a:buFont typeface="Arial" charset="0"/>
              <a:buNone/>
              <a:defRPr/>
            </a:pPr>
            <a:r>
              <a:rPr lang="en-US" altLang="en-US" sz="1400" dirty="0">
                <a:solidFill>
                  <a:srgbClr val="000000"/>
                </a:solidFill>
              </a:rPr>
              <a:t>TCON.4	-	TR0: Timer 0 run control bit.</a:t>
            </a:r>
          </a:p>
          <a:p>
            <a:pPr marL="0" indent="0" eaLnBrk="1" hangingPunct="1">
              <a:lnSpc>
                <a:spcPct val="90000"/>
              </a:lnSpc>
              <a:buFont typeface="Arial" charset="0"/>
              <a:buNone/>
              <a:defRPr/>
            </a:pPr>
            <a:r>
              <a:rPr lang="en-US" altLang="en-US" sz="1400" dirty="0">
                <a:solidFill>
                  <a:srgbClr val="000000"/>
                </a:solidFill>
              </a:rPr>
              <a:t>TCON.3	-	IE1: External interrupt 1 edge flag.</a:t>
            </a:r>
          </a:p>
          <a:p>
            <a:pPr marL="0" indent="0" eaLnBrk="1" hangingPunct="1">
              <a:lnSpc>
                <a:spcPct val="90000"/>
              </a:lnSpc>
              <a:buFont typeface="Arial" charset="0"/>
              <a:buNone/>
              <a:defRPr/>
            </a:pPr>
            <a:r>
              <a:rPr lang="en-US" altLang="en-US" sz="1400" dirty="0">
                <a:solidFill>
                  <a:srgbClr val="000000"/>
                </a:solidFill>
              </a:rPr>
              <a:t>TCON.2	-	IT1: External interrupt 1 type flag.</a:t>
            </a:r>
          </a:p>
          <a:p>
            <a:pPr marL="0" indent="0" eaLnBrk="1" hangingPunct="1">
              <a:lnSpc>
                <a:spcPct val="90000"/>
              </a:lnSpc>
              <a:buFont typeface="Arial" charset="0"/>
              <a:buNone/>
              <a:defRPr/>
            </a:pPr>
            <a:r>
              <a:rPr lang="en-US" altLang="en-US" sz="1400" dirty="0">
                <a:solidFill>
                  <a:srgbClr val="000000"/>
                </a:solidFill>
              </a:rPr>
              <a:t>TCON.1	-	IE0: External interrupt 0 edge flag.</a:t>
            </a:r>
          </a:p>
          <a:p>
            <a:pPr marL="0" indent="0" eaLnBrk="1" hangingPunct="1">
              <a:lnSpc>
                <a:spcPct val="90000"/>
              </a:lnSpc>
              <a:buFont typeface="Arial" charset="0"/>
              <a:buNone/>
              <a:defRPr/>
            </a:pPr>
            <a:r>
              <a:rPr lang="en-US" altLang="en-US" sz="1400" dirty="0">
                <a:solidFill>
                  <a:srgbClr val="000000"/>
                </a:solidFill>
              </a:rPr>
              <a:t>TCON.0	-	IT0: External interrupt 0 type flag.  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altLang="en-US" sz="1800" dirty="0">
              <a:solidFill>
                <a:srgbClr val="000000"/>
              </a:solidFill>
            </a:endParaRPr>
          </a:p>
        </p:txBody>
      </p:sp>
      <p:pic>
        <p:nvPicPr>
          <p:cNvPr id="88069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92150"/>
            <a:ext cx="8086725" cy="321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2466897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80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80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80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80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4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4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4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4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6" grpId="0"/>
      <p:bldP spid="64515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FF0000"/>
                </a:solidFill>
                <a:latin typeface="Times New Roman" pitchFamily="18" charset="0"/>
                <a:ea typeface="굴림" pitchFamily="34" charset="-127"/>
                <a:cs typeface="Times New Roman" pitchFamily="18" charset="0"/>
              </a:rPr>
              <a:t>Concept of timer</a:t>
            </a:r>
          </a:p>
        </p:txBody>
      </p:sp>
      <p:pic>
        <p:nvPicPr>
          <p:cNvPr id="8909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8" y="2708920"/>
            <a:ext cx="7993062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8909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518" y="4005064"/>
            <a:ext cx="3727450" cy="234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8909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8328" y="4005064"/>
            <a:ext cx="3748088" cy="234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8909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1052736"/>
            <a:ext cx="5473700" cy="1584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79399266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9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9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9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9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89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0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FF0000"/>
                </a:solidFill>
                <a:latin typeface="Times New Roman" pitchFamily="18" charset="0"/>
                <a:ea typeface="굴림" pitchFamily="34" charset="-127"/>
                <a:cs typeface="Times New Roman" pitchFamily="18" charset="0"/>
              </a:rPr>
              <a:t>Mode 1 Programming</a:t>
            </a:r>
          </a:p>
        </p:txBody>
      </p:sp>
      <p:sp>
        <p:nvSpPr>
          <p:cNvPr id="59395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251520" y="1269206"/>
            <a:ext cx="8591550" cy="4464050"/>
          </a:xfrm>
        </p:spPr>
        <p:txBody>
          <a:bodyPr/>
          <a:lstStyle/>
          <a:p>
            <a:pPr marL="457200" indent="-457200" algn="just" eaLnBrk="1" hangingPunct="1">
              <a:lnSpc>
                <a:spcPct val="90000"/>
              </a:lnSpc>
              <a:buFont typeface="Arial" charset="0"/>
              <a:buAutoNum type="arabicPeriod"/>
              <a:defRPr/>
            </a:pPr>
            <a:r>
              <a:rPr lang="en-US" altLang="en-US" sz="2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Load the TMOD value register indicating which timer (Timer0 or Timer1) is to be used and which timer mode is selected.</a:t>
            </a:r>
          </a:p>
          <a:p>
            <a:pPr marL="457200" indent="-457200" algn="just" eaLnBrk="1" hangingPunct="1">
              <a:lnSpc>
                <a:spcPct val="90000"/>
              </a:lnSpc>
              <a:buFont typeface="Arial" charset="0"/>
              <a:buAutoNum type="arabicPeriod"/>
              <a:defRPr/>
            </a:pPr>
            <a:r>
              <a:rPr lang="en-US" altLang="en-US" sz="2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Load registers TL &amp; TH with initial count values.</a:t>
            </a:r>
          </a:p>
          <a:p>
            <a:pPr marL="457200" indent="-457200" algn="just" eaLnBrk="1" hangingPunct="1">
              <a:lnSpc>
                <a:spcPct val="90000"/>
              </a:lnSpc>
              <a:buFont typeface="Arial" charset="0"/>
              <a:buAutoNum type="arabicPeriod"/>
              <a:defRPr/>
            </a:pPr>
            <a:r>
              <a:rPr lang="en-US" altLang="en-US" sz="2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Start the timer</a:t>
            </a:r>
          </a:p>
          <a:p>
            <a:pPr marL="457200" indent="-457200" algn="just" eaLnBrk="1" hangingPunct="1">
              <a:lnSpc>
                <a:spcPct val="90000"/>
              </a:lnSpc>
              <a:buFont typeface="Arial" charset="0"/>
              <a:buAutoNum type="arabicPeriod"/>
              <a:defRPr/>
            </a:pPr>
            <a:r>
              <a:rPr lang="en-US" altLang="en-US" sz="2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Keep monitoring the timer flag(TF)</a:t>
            </a:r>
          </a:p>
          <a:p>
            <a:pPr marL="457200" indent="-457200" algn="just" eaLnBrk="1" hangingPunct="1">
              <a:lnSpc>
                <a:spcPct val="90000"/>
              </a:lnSpc>
              <a:buFont typeface="Arial" charset="0"/>
              <a:buAutoNum type="arabicPeriod"/>
              <a:defRPr/>
            </a:pPr>
            <a:r>
              <a:rPr lang="en-US" altLang="en-US" sz="2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Stop the timer.</a:t>
            </a:r>
          </a:p>
          <a:p>
            <a:pPr marL="457200" indent="-457200" algn="just" eaLnBrk="1" hangingPunct="1">
              <a:lnSpc>
                <a:spcPct val="90000"/>
              </a:lnSpc>
              <a:buFont typeface="Arial" charset="0"/>
              <a:buAutoNum type="arabicPeriod"/>
              <a:defRPr/>
            </a:pPr>
            <a:r>
              <a:rPr lang="en-US" altLang="en-US" sz="2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Clear TF for next round .</a:t>
            </a:r>
          </a:p>
          <a:p>
            <a:pPr marL="457200" indent="-457200" algn="just" eaLnBrk="1" hangingPunct="1">
              <a:lnSpc>
                <a:spcPct val="90000"/>
              </a:lnSpc>
              <a:buFont typeface="Arial" charset="0"/>
              <a:buAutoNum type="arabicPeriod"/>
              <a:defRPr/>
            </a:pPr>
            <a:r>
              <a:rPr lang="en-US" altLang="en-US" sz="2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Go back to step 2 to load TH &amp; TL again</a:t>
            </a:r>
          </a:p>
          <a:p>
            <a:pPr marL="0" indent="0" algn="just" eaLnBrk="1" hangingPunct="1">
              <a:lnSpc>
                <a:spcPct val="90000"/>
              </a:lnSpc>
              <a:buFont typeface="Arial" charset="0"/>
              <a:buNone/>
              <a:defRPr/>
            </a:pPr>
            <a:r>
              <a:rPr lang="en-US" altLang="en-US" sz="2200" b="1" u="sng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NOTE</a:t>
            </a:r>
            <a:r>
              <a:rPr lang="en-US" altLang="en-US" sz="2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 MODE 0 </a:t>
            </a:r>
            <a:r>
              <a:rPr lang="en-US" altLang="en-US" sz="2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is exactly like mode-1 except that it is 13-bit timer instead 16-bit. The 13-bit timer/counter can hold values between 0000H to 1FFFH in TH-TL.</a:t>
            </a:r>
            <a:endParaRPr lang="en-US" altLang="en-US" sz="2200" b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5176986"/>
            <a:ext cx="6381750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7921967"/>
      </p:ext>
    </p:extLst>
  </p:cSld>
  <p:clrMapOvr>
    <a:masterClrMapping/>
  </p:clrMapOvr>
  <p:transition>
    <p:random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FF0000"/>
                </a:solidFill>
                <a:latin typeface="Times New Roman" pitchFamily="18" charset="0"/>
                <a:ea typeface="굴림" pitchFamily="34" charset="-127"/>
                <a:cs typeface="Times New Roman" pitchFamily="18" charset="0"/>
              </a:rPr>
              <a:t>Mode 2 Programming</a:t>
            </a:r>
          </a:p>
        </p:txBody>
      </p:sp>
      <p:sp>
        <p:nvSpPr>
          <p:cNvPr id="91139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250825" y="1484313"/>
            <a:ext cx="8591550" cy="4608512"/>
          </a:xfrm>
        </p:spPr>
        <p:txBody>
          <a:bodyPr/>
          <a:lstStyle/>
          <a:p>
            <a:pPr marL="457200" indent="-457200" algn="just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n-US" altLang="en-US" sz="2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Load the TMOD value register indicating which timer (Timer0 or Timer1)is to be used, and select the timer mode (mode-2).</a:t>
            </a:r>
          </a:p>
          <a:p>
            <a:pPr marL="457200" indent="-457200" algn="just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n-US" altLang="en-US" sz="2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Load the TH register with the initial count value.</a:t>
            </a:r>
          </a:p>
          <a:p>
            <a:pPr marL="457200" indent="-457200" algn="just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n-US" altLang="en-US" sz="2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Start the timer.</a:t>
            </a:r>
          </a:p>
          <a:p>
            <a:pPr marL="457200" indent="-457200" algn="just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n-US" altLang="en-US" sz="2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Keep monitoring TF timer flag </a:t>
            </a:r>
          </a:p>
          <a:p>
            <a:pPr marL="457200" indent="-457200" algn="just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n-US" altLang="en-US" sz="2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After it becomes “1” then clear the TF flag</a:t>
            </a:r>
          </a:p>
          <a:p>
            <a:pPr marL="457200" indent="-457200" algn="just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n-US" altLang="en-US" sz="2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Go back to step 4 , since mode 2 is auto - reload</a:t>
            </a:r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5943" y="4365104"/>
            <a:ext cx="6448425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5027889"/>
      </p:ext>
    </p:extLst>
  </p:cSld>
  <p:clrMapOvr>
    <a:masterClrMapping/>
  </p:clrMapOvr>
  <p:transition>
    <p:random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68313" y="174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4000" b="1">
                <a:solidFill>
                  <a:srgbClr val="FF0000"/>
                </a:solidFill>
                <a:latin typeface="Times New Roman" pitchFamily="18" charset="0"/>
                <a:ea typeface="굴림" pitchFamily="34" charset="-127"/>
                <a:cs typeface="Times New Roman" pitchFamily="18" charset="0"/>
              </a:rPr>
              <a:t>Example program for Mode1</a:t>
            </a:r>
          </a:p>
        </p:txBody>
      </p:sp>
      <p:sp>
        <p:nvSpPr>
          <p:cNvPr id="92163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301625" y="1196975"/>
            <a:ext cx="8591550" cy="5189538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 typeface="Arial" charset="0"/>
              <a:buNone/>
            </a:pPr>
            <a:r>
              <a:rPr lang="en-US" altLang="en-US" sz="2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	ORG 0H</a:t>
            </a:r>
          </a:p>
          <a:p>
            <a:pPr marL="0" indent="0" eaLnBrk="1" hangingPunct="1">
              <a:lnSpc>
                <a:spcPct val="90000"/>
              </a:lnSpc>
              <a:buFont typeface="Arial" charset="0"/>
              <a:buNone/>
            </a:pPr>
            <a:r>
              <a:rPr lang="en-US" altLang="en-US" sz="2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		MOV TMOD,#00000001B</a:t>
            </a:r>
          </a:p>
          <a:p>
            <a:pPr marL="0" indent="0" eaLnBrk="1" hangingPunct="1">
              <a:lnSpc>
                <a:spcPct val="90000"/>
              </a:lnSpc>
              <a:buFont typeface="Arial" charset="0"/>
              <a:buNone/>
            </a:pPr>
            <a:r>
              <a:rPr lang="en-US" altLang="en-US" sz="2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BACK:		MOV TL0,#0F0H</a:t>
            </a:r>
          </a:p>
          <a:p>
            <a:pPr marL="0" indent="0" eaLnBrk="1" hangingPunct="1">
              <a:lnSpc>
                <a:spcPct val="90000"/>
              </a:lnSpc>
              <a:buFont typeface="Arial" charset="0"/>
              <a:buNone/>
            </a:pPr>
            <a:r>
              <a:rPr lang="en-US" altLang="en-US" sz="2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		MOV TH0,#0FFH</a:t>
            </a:r>
          </a:p>
          <a:p>
            <a:pPr marL="0" indent="0" eaLnBrk="1" hangingPunct="1">
              <a:lnSpc>
                <a:spcPct val="90000"/>
              </a:lnSpc>
              <a:buFont typeface="Arial" charset="0"/>
              <a:buNone/>
            </a:pPr>
            <a:r>
              <a:rPr lang="en-US" altLang="en-US" sz="2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		CPL P1.0</a:t>
            </a:r>
          </a:p>
          <a:p>
            <a:pPr marL="0" indent="0" eaLnBrk="1" hangingPunct="1">
              <a:lnSpc>
                <a:spcPct val="90000"/>
              </a:lnSpc>
              <a:buFont typeface="Arial" charset="0"/>
              <a:buNone/>
            </a:pPr>
            <a:r>
              <a:rPr lang="en-US" altLang="en-US" sz="2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		ACALL DELAY</a:t>
            </a:r>
          </a:p>
          <a:p>
            <a:pPr marL="0" indent="0" eaLnBrk="1" hangingPunct="1">
              <a:lnSpc>
                <a:spcPct val="90000"/>
              </a:lnSpc>
              <a:buFont typeface="Arial" charset="0"/>
              <a:buNone/>
            </a:pPr>
            <a:r>
              <a:rPr lang="en-US" altLang="en-US" sz="2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		SJMP BACK</a:t>
            </a:r>
          </a:p>
          <a:p>
            <a:pPr marL="0" indent="0" eaLnBrk="1" hangingPunct="1">
              <a:lnSpc>
                <a:spcPct val="90000"/>
              </a:lnSpc>
              <a:buFont typeface="Arial" charset="0"/>
              <a:buNone/>
            </a:pPr>
            <a:endParaRPr lang="en-US" altLang="en-US" sz="22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lnSpc>
                <a:spcPct val="90000"/>
              </a:lnSpc>
              <a:buFont typeface="Arial" charset="0"/>
              <a:buNone/>
            </a:pPr>
            <a:r>
              <a:rPr lang="en-US" altLang="en-US" sz="2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	DELAY:SETB TR0</a:t>
            </a:r>
          </a:p>
          <a:p>
            <a:pPr marL="0" indent="0" eaLnBrk="1" hangingPunct="1">
              <a:lnSpc>
                <a:spcPct val="90000"/>
              </a:lnSpc>
              <a:buFont typeface="Arial" charset="0"/>
              <a:buNone/>
            </a:pPr>
            <a:r>
              <a:rPr lang="en-US" altLang="en-US" sz="2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	HERE:	JNB TF0, HERE</a:t>
            </a:r>
          </a:p>
          <a:p>
            <a:pPr marL="0" indent="0" eaLnBrk="1" hangingPunct="1">
              <a:lnSpc>
                <a:spcPct val="90000"/>
              </a:lnSpc>
              <a:buFont typeface="Arial" charset="0"/>
              <a:buNone/>
            </a:pPr>
            <a:r>
              <a:rPr lang="en-US" altLang="en-US" sz="2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		CLR TR0</a:t>
            </a:r>
          </a:p>
          <a:p>
            <a:pPr marL="0" indent="0" eaLnBrk="1" hangingPunct="1">
              <a:lnSpc>
                <a:spcPct val="90000"/>
              </a:lnSpc>
              <a:buFont typeface="Arial" charset="0"/>
              <a:buNone/>
            </a:pPr>
            <a:r>
              <a:rPr lang="en-US" altLang="en-US" sz="2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		CLR TF0</a:t>
            </a:r>
          </a:p>
          <a:p>
            <a:pPr marL="0" indent="0" eaLnBrk="1" hangingPunct="1">
              <a:lnSpc>
                <a:spcPct val="90000"/>
              </a:lnSpc>
              <a:buFont typeface="Arial" charset="0"/>
              <a:buNone/>
            </a:pPr>
            <a:r>
              <a:rPr lang="en-US" altLang="en-US" sz="2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		RET</a:t>
            </a:r>
          </a:p>
          <a:p>
            <a:pPr marL="0" indent="0" eaLnBrk="1" hangingPunct="1">
              <a:lnSpc>
                <a:spcPct val="90000"/>
              </a:lnSpc>
              <a:buFont typeface="Arial" charset="0"/>
              <a:buNone/>
            </a:pPr>
            <a:r>
              <a:rPr lang="en-US" altLang="en-US" sz="2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	END</a:t>
            </a:r>
          </a:p>
        </p:txBody>
      </p:sp>
    </p:spTree>
    <p:extLst>
      <p:ext uri="{BB962C8B-B14F-4D97-AF65-F5344CB8AC3E}">
        <p14:creationId xmlns:p14="http://schemas.microsoft.com/office/powerpoint/2010/main" val="1099140323"/>
      </p:ext>
    </p:extLst>
  </p:cSld>
  <p:clrMapOvr>
    <a:masterClrMapping/>
  </p:clrMapOvr>
  <p:transition>
    <p:random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68313" y="47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b="1">
                <a:solidFill>
                  <a:srgbClr val="FF0000"/>
                </a:solidFill>
                <a:latin typeface="Times New Roman" pitchFamily="18" charset="0"/>
                <a:ea typeface="굴림" pitchFamily="34" charset="-127"/>
                <a:cs typeface="Times New Roman" pitchFamily="18" charset="0"/>
              </a:rPr>
              <a:t>Example program for Mode2</a:t>
            </a:r>
          </a:p>
        </p:txBody>
      </p:sp>
      <p:sp>
        <p:nvSpPr>
          <p:cNvPr id="93187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250825" y="1773238"/>
            <a:ext cx="8591550" cy="360045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 typeface="Arial" charset="0"/>
              <a:buNone/>
            </a:pPr>
            <a:r>
              <a:rPr lang="en-US" altLang="en-US" sz="2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	ORG 0H</a:t>
            </a:r>
          </a:p>
          <a:p>
            <a:pPr marL="0" indent="0" eaLnBrk="1" hangingPunct="1">
              <a:lnSpc>
                <a:spcPct val="90000"/>
              </a:lnSpc>
              <a:buFont typeface="Arial" charset="0"/>
              <a:buNone/>
            </a:pPr>
            <a:r>
              <a:rPr lang="en-US" altLang="en-US" sz="2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		MOV TMOD,#00100000B</a:t>
            </a:r>
          </a:p>
          <a:p>
            <a:pPr marL="0" indent="0" eaLnBrk="1" hangingPunct="1">
              <a:lnSpc>
                <a:spcPct val="90000"/>
              </a:lnSpc>
              <a:buFont typeface="Arial" charset="0"/>
              <a:buNone/>
            </a:pPr>
            <a:r>
              <a:rPr lang="en-US" altLang="en-US" sz="2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		MOV TH1, #05H</a:t>
            </a:r>
          </a:p>
          <a:p>
            <a:pPr marL="0" indent="0" eaLnBrk="1" hangingPunct="1">
              <a:lnSpc>
                <a:spcPct val="90000"/>
              </a:lnSpc>
              <a:buFont typeface="Arial" charset="0"/>
              <a:buNone/>
            </a:pPr>
            <a:r>
              <a:rPr lang="en-US" altLang="en-US" sz="2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		SETB TR1</a:t>
            </a:r>
          </a:p>
          <a:p>
            <a:pPr marL="0" indent="0" eaLnBrk="1" hangingPunct="1">
              <a:lnSpc>
                <a:spcPct val="90000"/>
              </a:lnSpc>
              <a:buFont typeface="Arial" charset="0"/>
              <a:buNone/>
            </a:pPr>
            <a:r>
              <a:rPr lang="en-US" altLang="en-US" sz="2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	HERE:	JNB TF1, HERE</a:t>
            </a:r>
          </a:p>
          <a:p>
            <a:pPr marL="0" indent="0" eaLnBrk="1" hangingPunct="1">
              <a:lnSpc>
                <a:spcPct val="90000"/>
              </a:lnSpc>
              <a:buFont typeface="Arial" charset="0"/>
              <a:buNone/>
            </a:pPr>
            <a:r>
              <a:rPr lang="en-US" altLang="en-US" sz="2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		CPL P2.0</a:t>
            </a:r>
          </a:p>
          <a:p>
            <a:pPr marL="0" indent="0" eaLnBrk="1" hangingPunct="1">
              <a:lnSpc>
                <a:spcPct val="90000"/>
              </a:lnSpc>
              <a:buFont typeface="Arial" charset="0"/>
              <a:buNone/>
            </a:pPr>
            <a:r>
              <a:rPr lang="en-US" altLang="en-US" sz="2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		CLR TF1</a:t>
            </a:r>
          </a:p>
          <a:p>
            <a:pPr marL="0" indent="0" eaLnBrk="1" hangingPunct="1">
              <a:lnSpc>
                <a:spcPct val="90000"/>
              </a:lnSpc>
              <a:buFont typeface="Arial" charset="0"/>
              <a:buNone/>
            </a:pPr>
            <a:r>
              <a:rPr lang="en-US" altLang="en-US" sz="2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		SJMP HERE</a:t>
            </a:r>
          </a:p>
          <a:p>
            <a:pPr marL="0" indent="0" eaLnBrk="1" hangingPunct="1">
              <a:lnSpc>
                <a:spcPct val="90000"/>
              </a:lnSpc>
              <a:buFont typeface="Arial" charset="0"/>
              <a:buNone/>
            </a:pPr>
            <a:r>
              <a:rPr lang="en-US" altLang="en-US" sz="2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	END</a:t>
            </a:r>
          </a:p>
        </p:txBody>
      </p:sp>
    </p:spTree>
    <p:extLst>
      <p:ext uri="{BB962C8B-B14F-4D97-AF65-F5344CB8AC3E}">
        <p14:creationId xmlns:p14="http://schemas.microsoft.com/office/powerpoint/2010/main" val="2811431492"/>
      </p:ext>
    </p:extLst>
  </p:cSld>
  <p:clrMapOvr>
    <a:masterClrMapping/>
  </p:clrMapOvr>
  <p:transition>
    <p:random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3932</TotalTime>
  <Words>2562</Words>
  <Application>Microsoft Office PowerPoint</Application>
  <PresentationFormat>On-screen Show (4:3)</PresentationFormat>
  <Paragraphs>418</Paragraphs>
  <Slides>56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8" baseType="lpstr">
      <vt:lpstr>Batang</vt:lpstr>
      <vt:lpstr>굴림</vt:lpstr>
      <vt:lpstr>PMingLiU</vt:lpstr>
      <vt:lpstr>SimSun</vt:lpstr>
      <vt:lpstr>Arial</vt:lpstr>
      <vt:lpstr>BioRhyme ExtraBold</vt:lpstr>
      <vt:lpstr>Calibri</vt:lpstr>
      <vt:lpstr>Impact</vt:lpstr>
      <vt:lpstr>Poppins</vt:lpstr>
      <vt:lpstr>Times New Roman</vt:lpstr>
      <vt:lpstr>Wingdings</vt:lpstr>
      <vt:lpstr>Office Theme</vt:lpstr>
      <vt:lpstr>PowerPoint Presentation</vt:lpstr>
      <vt:lpstr>PowerPoint Presentation</vt:lpstr>
      <vt:lpstr>The necessary tools for a microprocessor/controller</vt:lpstr>
      <vt:lpstr>Block Diagram of 8051</vt:lpstr>
      <vt:lpstr>Features of 8051 Microcontroller </vt:lpstr>
      <vt:lpstr>Architecture of 8051</vt:lpstr>
      <vt:lpstr>PowerPoint Presentation</vt:lpstr>
      <vt:lpstr>PowerPoint Presentation</vt:lpstr>
      <vt:lpstr>PowerPoint Presentation</vt:lpstr>
      <vt:lpstr>RESET Value of Some 8051 Registers:</vt:lpstr>
      <vt:lpstr> Registers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8051 Flag bits and the PSW register </vt:lpstr>
      <vt:lpstr>PowerPoint Presentation</vt:lpstr>
      <vt:lpstr>8051 Flag bits and the PSW register </vt:lpstr>
      <vt:lpstr>8051 PSW BANK SELECTION</vt:lpstr>
      <vt:lpstr>8051 PSW BANK SELECTION</vt:lpstr>
      <vt:lpstr>Stack in the 8051</vt:lpstr>
      <vt:lpstr>  Example of STACK operation:   MOV R6,#25H  MOV R1,#12H  MOV R4,#0F3H  PUSH 6  PUSH 1  PUSH 4               </vt:lpstr>
      <vt:lpstr> 8051- Addressing Modes Immediate Register Direct Register Indirect Indexed </vt:lpstr>
      <vt:lpstr>   Immediate Addressing Mode      MOV A,#65H     MOV A,#’A’     MOV R6,#65H     MOV DPTR,#2343H     MOV P1,#65H          </vt:lpstr>
      <vt:lpstr>Register Addressing Mode    MOV Rn, A  ;n=0,..,7  ADD  A, Rn  MOV DPL, R6   MOV     DPTR, A  MOV     Rm, Rn          </vt:lpstr>
      <vt:lpstr> Direct Addressing Mode   Although the entire of 128 bytes of RAM can be accessed using direct addressing mode, it is most often used to access RAM loc. 30 – 7FH.  MOV R0, 40H MOV 56H, A MOV A, 4  ; ≡ MOV A, R4 MOV 6, 2  ; copy R2 to R6     ; MOV  R6,R2 is invalid !  SFR register and their address  MOV 0E0H, #66H ; ≡ MOV A,#66H MOV 0F0H, R2 ; ≡ MOV B, R2 MOV 80H,A  ; ≡ MOV P1,A        </vt:lpstr>
      <vt:lpstr>  Register Indirect Addressing Mode  In this mode, register is used as a pointer to the data.  MOV  A,@Ri ; move content of RAM loc. Where address is held by Ri into A       ( i=0 or 1 ) MOV  @R1,B   In other word, the content of register R0 or R1 is sources or target in MOV, ADD and SUBB instructions. Example:  Write a program to copy a block of 10 bytes from RAM location starting at 40H to RAM location starting at 60H. Solution:  MOV   R0,#40H  ; source pointer  MOV   R1,#60H  ; destination pointer   MOV   R2,#10  ; counter  BACK:  MOV   A,@R0  MOV   @R1,A  INC    R0  INC    R1  DJNZ  R2,BACK            </vt:lpstr>
      <vt:lpstr>Indexed Addressing Mode And On-Chip ROM Access  This mode is widely used in accessing data elements of look-up table entries located in the program  (code) space ROM at the 8051  MOVC A,@A+DPTR A= content of address A +DPTR from ROM  Note:  Because the data elements are stored in the program (code ) space ROM of the 8051, it uses the instruction MOVC instead of MOV. The “C” means code.        </vt:lpstr>
      <vt:lpstr>Example Programs</vt:lpstr>
      <vt:lpstr>Example Programs</vt:lpstr>
      <vt:lpstr>Example Programs</vt:lpstr>
      <vt:lpstr>Example Programs</vt:lpstr>
      <vt:lpstr>8051- INSTRUCTION SET</vt:lpstr>
      <vt:lpstr>  Data transfer instructions:     </vt:lpstr>
      <vt:lpstr>  Data transfer instructions:     </vt:lpstr>
      <vt:lpstr>   Arithmetic instructions:     </vt:lpstr>
      <vt:lpstr>  Arithmetic instructions:     </vt:lpstr>
      <vt:lpstr>  Logical instructions:     </vt:lpstr>
      <vt:lpstr>  Logical instructions:     </vt:lpstr>
      <vt:lpstr>  Boolean Variable Manipulation instructions:     </vt:lpstr>
      <vt:lpstr>  Program branching instructions:     </vt:lpstr>
      <vt:lpstr>    MUL &amp; DIV   MUL AB  ;B|A = A*B  MOV A,#25H  MOV B,#65H  MUL AB  ;25H*65H=0E99      ;B=0EH, A=99H DIV AB  ;A = A/B, B = A mod B  MOV A,#25H  MOV B,#10H  DIV AB  ;A=2, B=5     </vt:lpstr>
      <vt:lpstr> Rotate   EXAMPLE:   RR:  RRC:  RL:  RLC:    </vt:lpstr>
      <vt:lpstr>8051 INSTRUCTION SET           </vt:lpstr>
      <vt:lpstr>TIMERS</vt:lpstr>
      <vt:lpstr>PowerPoint Presentation</vt:lpstr>
      <vt:lpstr>TMOD Register</vt:lpstr>
      <vt:lpstr>TCON Register (BIT ADRESSABLE REG)</vt:lpstr>
      <vt:lpstr>Concept of timer</vt:lpstr>
      <vt:lpstr>Mode 1 Programming</vt:lpstr>
      <vt:lpstr>Mode 2 Programming</vt:lpstr>
      <vt:lpstr>Example program for Mode1</vt:lpstr>
      <vt:lpstr>Example program for Mode2</vt:lpstr>
    </vt:vector>
  </TitlesOfParts>
  <Company>Tehran Univercity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Microcontroller 8051</dc:title>
  <dc:creator>hasanpur</dc:creator>
  <cp:lastModifiedBy>Dr. Prabakaran N</cp:lastModifiedBy>
  <cp:revision>559</cp:revision>
  <cp:lastPrinted>1601-01-01T00:00:00Z</cp:lastPrinted>
  <dcterms:created xsi:type="dcterms:W3CDTF">2003-06-01T05:29:53Z</dcterms:created>
  <dcterms:modified xsi:type="dcterms:W3CDTF">2025-07-03T06:19:35Z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7</vt:i4>
  </property>
</Properties>
</file>