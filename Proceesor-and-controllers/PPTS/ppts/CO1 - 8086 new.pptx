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6"/>
  </p:notesMasterIdLst>
  <p:handoutMasterIdLst>
    <p:handoutMasterId r:id="rId67"/>
  </p:handoutMasterIdLst>
  <p:sldIdLst>
    <p:sldId id="271" r:id="rId2"/>
    <p:sldId id="1228" r:id="rId3"/>
    <p:sldId id="1245" r:id="rId4"/>
    <p:sldId id="286" r:id="rId5"/>
    <p:sldId id="1233" r:id="rId6"/>
    <p:sldId id="1273" r:id="rId7"/>
    <p:sldId id="1274" r:id="rId8"/>
    <p:sldId id="1275" r:id="rId9"/>
    <p:sldId id="1276" r:id="rId10"/>
    <p:sldId id="1277" r:id="rId11"/>
    <p:sldId id="1278" r:id="rId12"/>
    <p:sldId id="1279" r:id="rId13"/>
    <p:sldId id="1280" r:id="rId14"/>
    <p:sldId id="1281" r:id="rId15"/>
    <p:sldId id="1282" r:id="rId16"/>
    <p:sldId id="1283" r:id="rId17"/>
    <p:sldId id="393" r:id="rId18"/>
    <p:sldId id="394" r:id="rId19"/>
    <p:sldId id="1284" r:id="rId20"/>
    <p:sldId id="1285" r:id="rId21"/>
    <p:sldId id="1286" r:id="rId22"/>
    <p:sldId id="1287" r:id="rId23"/>
    <p:sldId id="1288" r:id="rId24"/>
    <p:sldId id="1289" r:id="rId25"/>
    <p:sldId id="1290" r:id="rId26"/>
    <p:sldId id="1291" r:id="rId27"/>
    <p:sldId id="1292" r:id="rId28"/>
    <p:sldId id="1293" r:id="rId29"/>
    <p:sldId id="1294" r:id="rId30"/>
    <p:sldId id="1295" r:id="rId31"/>
    <p:sldId id="1296" r:id="rId32"/>
    <p:sldId id="1297" r:id="rId33"/>
    <p:sldId id="1298" r:id="rId34"/>
    <p:sldId id="1299" r:id="rId35"/>
    <p:sldId id="1300" r:id="rId36"/>
    <p:sldId id="1301" r:id="rId37"/>
    <p:sldId id="1302" r:id="rId38"/>
    <p:sldId id="1303" r:id="rId39"/>
    <p:sldId id="1304" r:id="rId40"/>
    <p:sldId id="1376" r:id="rId41"/>
    <p:sldId id="1305" r:id="rId42"/>
    <p:sldId id="1306" r:id="rId43"/>
    <p:sldId id="295" r:id="rId44"/>
    <p:sldId id="296" r:id="rId45"/>
    <p:sldId id="297" r:id="rId46"/>
    <p:sldId id="298" r:id="rId47"/>
    <p:sldId id="300" r:id="rId48"/>
    <p:sldId id="1307" r:id="rId49"/>
    <p:sldId id="1308" r:id="rId50"/>
    <p:sldId id="1309" r:id="rId51"/>
    <p:sldId id="1310" r:id="rId52"/>
    <p:sldId id="1311" r:id="rId53"/>
    <p:sldId id="1312" r:id="rId54"/>
    <p:sldId id="1313" r:id="rId55"/>
    <p:sldId id="1314" r:id="rId56"/>
    <p:sldId id="1315" r:id="rId57"/>
    <p:sldId id="1316" r:id="rId58"/>
    <p:sldId id="1317" r:id="rId59"/>
    <p:sldId id="1318" r:id="rId60"/>
    <p:sldId id="1319" r:id="rId61"/>
    <p:sldId id="1320" r:id="rId62"/>
    <p:sldId id="1321" r:id="rId63"/>
    <p:sldId id="1322" r:id="rId64"/>
    <p:sldId id="1323" r:id="rId65"/>
  </p:sldIdLst>
  <p:sldSz cx="9144000" cy="6858000" type="screen4x3"/>
  <p:notesSz cx="9601200" cy="7315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58F9E8C-0A85-4C74-BFCD-97BDB3FC2975}">
          <p14:sldIdLst>
            <p14:sldId id="271"/>
            <p14:sldId id="1228"/>
            <p14:sldId id="1245"/>
            <p14:sldId id="286"/>
            <p14:sldId id="1233"/>
            <p14:sldId id="1273"/>
            <p14:sldId id="1274"/>
            <p14:sldId id="1275"/>
            <p14:sldId id="1276"/>
            <p14:sldId id="1277"/>
            <p14:sldId id="1278"/>
            <p14:sldId id="1279"/>
            <p14:sldId id="1280"/>
            <p14:sldId id="1281"/>
            <p14:sldId id="1282"/>
            <p14:sldId id="1283"/>
            <p14:sldId id="393"/>
            <p14:sldId id="394"/>
            <p14:sldId id="1284"/>
            <p14:sldId id="1285"/>
            <p14:sldId id="1286"/>
            <p14:sldId id="1287"/>
            <p14:sldId id="1288"/>
            <p14:sldId id="1289"/>
            <p14:sldId id="1290"/>
            <p14:sldId id="1291"/>
            <p14:sldId id="1292"/>
            <p14:sldId id="1293"/>
            <p14:sldId id="1294"/>
            <p14:sldId id="1295"/>
            <p14:sldId id="1296"/>
            <p14:sldId id="1297"/>
            <p14:sldId id="1298"/>
            <p14:sldId id="1299"/>
            <p14:sldId id="1300"/>
            <p14:sldId id="1301"/>
            <p14:sldId id="1302"/>
            <p14:sldId id="1303"/>
            <p14:sldId id="1304"/>
            <p14:sldId id="1376"/>
            <p14:sldId id="1305"/>
            <p14:sldId id="1306"/>
            <p14:sldId id="295"/>
            <p14:sldId id="296"/>
            <p14:sldId id="297"/>
            <p14:sldId id="298"/>
            <p14:sldId id="300"/>
            <p14:sldId id="1307"/>
            <p14:sldId id="1308"/>
            <p14:sldId id="1309"/>
            <p14:sldId id="1310"/>
            <p14:sldId id="1311"/>
            <p14:sldId id="1312"/>
            <p14:sldId id="1313"/>
            <p14:sldId id="1314"/>
            <p14:sldId id="1315"/>
            <p14:sldId id="1316"/>
            <p14:sldId id="1317"/>
            <p14:sldId id="1318"/>
            <p14:sldId id="1319"/>
            <p14:sldId id="1320"/>
            <p14:sldId id="1321"/>
            <p14:sldId id="1322"/>
            <p14:sldId id="132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FF9900"/>
    <a:srgbClr val="990033"/>
    <a:srgbClr val="CCFF99"/>
    <a:srgbClr val="FF99CC"/>
    <a:srgbClr val="99FF66"/>
    <a:srgbClr val="FFCCFF"/>
    <a:srgbClr val="FF99FF"/>
    <a:srgbClr val="99FFCC"/>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536" y="7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438458" y="0"/>
            <a:ext cx="4160520" cy="365760"/>
          </a:xfrm>
          <a:prstGeom prst="rect">
            <a:avLst/>
          </a:prstGeom>
        </p:spPr>
        <p:txBody>
          <a:bodyPr vert="horz" lIns="91440" tIns="45720" rIns="91440" bIns="45720" rtlCol="0"/>
          <a:lstStyle>
            <a:lvl1pPr algn="r">
              <a:defRPr sz="1200"/>
            </a:lvl1pPr>
          </a:lstStyle>
          <a:p>
            <a:fld id="{EB02F3A7-3287-473E-9878-88F1FA1C4F21}" type="datetimeFigureOut">
              <a:rPr lang="en-US" smtClean="0"/>
              <a:pPr/>
              <a:t>8/3/2024</a:t>
            </a:fld>
            <a:endParaRPr lang="en-US"/>
          </a:p>
        </p:txBody>
      </p:sp>
      <p:sp>
        <p:nvSpPr>
          <p:cNvPr id="4" name="Footer Placeholder 3"/>
          <p:cNvSpPr>
            <a:spLocks noGrp="1"/>
          </p:cNvSpPr>
          <p:nvPr>
            <p:ph type="ftr" sz="quarter" idx="2"/>
          </p:nvPr>
        </p:nvSpPr>
        <p:spPr>
          <a:xfrm>
            <a:off x="0" y="6948171"/>
            <a:ext cx="4160520" cy="36576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438458" y="6948171"/>
            <a:ext cx="4160520" cy="365760"/>
          </a:xfrm>
          <a:prstGeom prst="rect">
            <a:avLst/>
          </a:prstGeom>
        </p:spPr>
        <p:txBody>
          <a:bodyPr vert="horz" lIns="91440" tIns="45720" rIns="91440" bIns="45720" rtlCol="0" anchor="b"/>
          <a:lstStyle>
            <a:lvl1pPr algn="r">
              <a:defRPr sz="1200"/>
            </a:lvl1pPr>
          </a:lstStyle>
          <a:p>
            <a:fld id="{58418193-B5E2-4693-84D6-D19E11D1025A}" type="slidenum">
              <a:rPr lang="en-US" smtClean="0"/>
              <a:pPr/>
              <a:t>‹#›</a:t>
            </a:fld>
            <a:endParaRPr lang="en-US"/>
          </a:p>
        </p:txBody>
      </p:sp>
    </p:spTree>
    <p:extLst>
      <p:ext uri="{BB962C8B-B14F-4D97-AF65-F5344CB8AC3E}">
        <p14:creationId xmlns:p14="http://schemas.microsoft.com/office/powerpoint/2010/main" val="9778817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438458" y="0"/>
            <a:ext cx="4160520" cy="365760"/>
          </a:xfrm>
          <a:prstGeom prst="rect">
            <a:avLst/>
          </a:prstGeom>
        </p:spPr>
        <p:txBody>
          <a:bodyPr vert="horz" lIns="91440" tIns="45720" rIns="91440" bIns="45720" rtlCol="0"/>
          <a:lstStyle>
            <a:lvl1pPr algn="r">
              <a:defRPr sz="1200"/>
            </a:lvl1pPr>
          </a:lstStyle>
          <a:p>
            <a:fld id="{3ACFE8BD-D62C-4981-974D-EABB634BAEC5}" type="datetimeFigureOut">
              <a:rPr lang="en-US" smtClean="0"/>
              <a:pPr/>
              <a:t>8/3/2024</a:t>
            </a:fld>
            <a:endParaRPr lang="en-US" dirty="0"/>
          </a:p>
        </p:txBody>
      </p:sp>
      <p:sp>
        <p:nvSpPr>
          <p:cNvPr id="4" name="Slide Image Placeholder 3"/>
          <p:cNvSpPr>
            <a:spLocks noGrp="1" noRot="1" noChangeAspect="1"/>
          </p:cNvSpPr>
          <p:nvPr>
            <p:ph type="sldImg" idx="2"/>
          </p:nvPr>
        </p:nvSpPr>
        <p:spPr>
          <a:xfrm>
            <a:off x="2971800" y="549275"/>
            <a:ext cx="3657600" cy="27432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60120" y="3474720"/>
            <a:ext cx="7680960" cy="329184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48171"/>
            <a:ext cx="4160520" cy="36576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438458" y="6948171"/>
            <a:ext cx="4160520" cy="365760"/>
          </a:xfrm>
          <a:prstGeom prst="rect">
            <a:avLst/>
          </a:prstGeom>
        </p:spPr>
        <p:txBody>
          <a:bodyPr vert="horz" lIns="91440" tIns="45720" rIns="91440" bIns="45720" rtlCol="0" anchor="b"/>
          <a:lstStyle>
            <a:lvl1pPr algn="r">
              <a:defRPr sz="1200"/>
            </a:lvl1pPr>
          </a:lstStyle>
          <a:p>
            <a:fld id="{D51EF0D4-BE3D-4F70-BEA1-EA1AD3D8A7C6}" type="slidenum">
              <a:rPr lang="en-US" smtClean="0"/>
              <a:pPr/>
              <a:t>‹#›</a:t>
            </a:fld>
            <a:endParaRPr lang="en-US" dirty="0"/>
          </a:p>
        </p:txBody>
      </p:sp>
    </p:spTree>
    <p:extLst>
      <p:ext uri="{BB962C8B-B14F-4D97-AF65-F5344CB8AC3E}">
        <p14:creationId xmlns:p14="http://schemas.microsoft.com/office/powerpoint/2010/main" val="3174677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6</a:t>
            </a:fld>
            <a:endParaRPr lang="en-US" dirty="0"/>
          </a:p>
        </p:txBody>
      </p:sp>
    </p:spTree>
    <p:extLst>
      <p:ext uri="{BB962C8B-B14F-4D97-AF65-F5344CB8AC3E}">
        <p14:creationId xmlns:p14="http://schemas.microsoft.com/office/powerpoint/2010/main" val="28644601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7</a:t>
            </a:fld>
            <a:endParaRPr lang="en-US" dirty="0"/>
          </a:p>
        </p:txBody>
      </p:sp>
    </p:spTree>
    <p:extLst>
      <p:ext uri="{BB962C8B-B14F-4D97-AF65-F5344CB8AC3E}">
        <p14:creationId xmlns:p14="http://schemas.microsoft.com/office/powerpoint/2010/main" val="973796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8</a:t>
            </a:fld>
            <a:endParaRPr lang="en-US" dirty="0"/>
          </a:p>
        </p:txBody>
      </p:sp>
    </p:spTree>
    <p:extLst>
      <p:ext uri="{BB962C8B-B14F-4D97-AF65-F5344CB8AC3E}">
        <p14:creationId xmlns:p14="http://schemas.microsoft.com/office/powerpoint/2010/main" val="29612722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9</a:t>
            </a:fld>
            <a:endParaRPr lang="en-US" dirty="0"/>
          </a:p>
        </p:txBody>
      </p:sp>
    </p:spTree>
    <p:extLst>
      <p:ext uri="{BB962C8B-B14F-4D97-AF65-F5344CB8AC3E}">
        <p14:creationId xmlns:p14="http://schemas.microsoft.com/office/powerpoint/2010/main" val="17363969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10</a:t>
            </a:fld>
            <a:endParaRPr lang="en-US" dirty="0"/>
          </a:p>
        </p:txBody>
      </p:sp>
    </p:spTree>
    <p:extLst>
      <p:ext uri="{BB962C8B-B14F-4D97-AF65-F5344CB8AC3E}">
        <p14:creationId xmlns:p14="http://schemas.microsoft.com/office/powerpoint/2010/main" val="4515389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11</a:t>
            </a:fld>
            <a:endParaRPr lang="en-US" dirty="0"/>
          </a:p>
        </p:txBody>
      </p:sp>
    </p:spTree>
    <p:extLst>
      <p:ext uri="{BB962C8B-B14F-4D97-AF65-F5344CB8AC3E}">
        <p14:creationId xmlns:p14="http://schemas.microsoft.com/office/powerpoint/2010/main" val="8648653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12</a:t>
            </a:fld>
            <a:endParaRPr lang="en-US" dirty="0"/>
          </a:p>
        </p:txBody>
      </p:sp>
    </p:spTree>
    <p:extLst>
      <p:ext uri="{BB962C8B-B14F-4D97-AF65-F5344CB8AC3E}">
        <p14:creationId xmlns:p14="http://schemas.microsoft.com/office/powerpoint/2010/main" val="4290463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13</a:t>
            </a:fld>
            <a:endParaRPr lang="en-US" dirty="0"/>
          </a:p>
        </p:txBody>
      </p:sp>
    </p:spTree>
    <p:extLst>
      <p:ext uri="{BB962C8B-B14F-4D97-AF65-F5344CB8AC3E}">
        <p14:creationId xmlns:p14="http://schemas.microsoft.com/office/powerpoint/2010/main" val="21517162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14</a:t>
            </a:fld>
            <a:endParaRPr lang="en-US" dirty="0"/>
          </a:p>
        </p:txBody>
      </p:sp>
    </p:spTree>
    <p:extLst>
      <p:ext uri="{BB962C8B-B14F-4D97-AF65-F5344CB8AC3E}">
        <p14:creationId xmlns:p14="http://schemas.microsoft.com/office/powerpoint/2010/main" val="20415687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15</a:t>
            </a:fld>
            <a:endParaRPr lang="en-US" dirty="0"/>
          </a:p>
        </p:txBody>
      </p:sp>
    </p:spTree>
    <p:extLst>
      <p:ext uri="{BB962C8B-B14F-4D97-AF65-F5344CB8AC3E}">
        <p14:creationId xmlns:p14="http://schemas.microsoft.com/office/powerpoint/2010/main" val="17124218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16</a:t>
            </a:fld>
            <a:endParaRPr lang="en-US" dirty="0"/>
          </a:p>
        </p:txBody>
      </p:sp>
    </p:spTree>
    <p:extLst>
      <p:ext uri="{BB962C8B-B14F-4D97-AF65-F5344CB8AC3E}">
        <p14:creationId xmlns:p14="http://schemas.microsoft.com/office/powerpoint/2010/main" val="6099208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19</a:t>
            </a:fld>
            <a:endParaRPr lang="en-US" dirty="0"/>
          </a:p>
        </p:txBody>
      </p:sp>
    </p:spTree>
    <p:extLst>
      <p:ext uri="{BB962C8B-B14F-4D97-AF65-F5344CB8AC3E}">
        <p14:creationId xmlns:p14="http://schemas.microsoft.com/office/powerpoint/2010/main" val="34241208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21</a:t>
            </a:fld>
            <a:endParaRPr lang="en-US" dirty="0"/>
          </a:p>
        </p:txBody>
      </p:sp>
    </p:spTree>
    <p:extLst>
      <p:ext uri="{BB962C8B-B14F-4D97-AF65-F5344CB8AC3E}">
        <p14:creationId xmlns:p14="http://schemas.microsoft.com/office/powerpoint/2010/main" val="20312776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22</a:t>
            </a:fld>
            <a:endParaRPr lang="en-US" dirty="0"/>
          </a:p>
        </p:txBody>
      </p:sp>
    </p:spTree>
    <p:extLst>
      <p:ext uri="{BB962C8B-B14F-4D97-AF65-F5344CB8AC3E}">
        <p14:creationId xmlns:p14="http://schemas.microsoft.com/office/powerpoint/2010/main" val="29296609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23</a:t>
            </a:fld>
            <a:endParaRPr lang="en-US" dirty="0"/>
          </a:p>
        </p:txBody>
      </p:sp>
    </p:spTree>
    <p:extLst>
      <p:ext uri="{BB962C8B-B14F-4D97-AF65-F5344CB8AC3E}">
        <p14:creationId xmlns:p14="http://schemas.microsoft.com/office/powerpoint/2010/main" val="37192210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24</a:t>
            </a:fld>
            <a:endParaRPr lang="en-US" dirty="0"/>
          </a:p>
        </p:txBody>
      </p:sp>
    </p:spTree>
    <p:extLst>
      <p:ext uri="{BB962C8B-B14F-4D97-AF65-F5344CB8AC3E}">
        <p14:creationId xmlns:p14="http://schemas.microsoft.com/office/powerpoint/2010/main" val="4922913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25</a:t>
            </a:fld>
            <a:endParaRPr lang="en-US" dirty="0"/>
          </a:p>
        </p:txBody>
      </p:sp>
    </p:spTree>
    <p:extLst>
      <p:ext uri="{BB962C8B-B14F-4D97-AF65-F5344CB8AC3E}">
        <p14:creationId xmlns:p14="http://schemas.microsoft.com/office/powerpoint/2010/main" val="25917696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26</a:t>
            </a:fld>
            <a:endParaRPr lang="en-US" dirty="0"/>
          </a:p>
        </p:txBody>
      </p:sp>
    </p:spTree>
    <p:extLst>
      <p:ext uri="{BB962C8B-B14F-4D97-AF65-F5344CB8AC3E}">
        <p14:creationId xmlns:p14="http://schemas.microsoft.com/office/powerpoint/2010/main" val="30467082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27</a:t>
            </a:fld>
            <a:endParaRPr lang="en-US" dirty="0"/>
          </a:p>
        </p:txBody>
      </p:sp>
    </p:spTree>
    <p:extLst>
      <p:ext uri="{BB962C8B-B14F-4D97-AF65-F5344CB8AC3E}">
        <p14:creationId xmlns:p14="http://schemas.microsoft.com/office/powerpoint/2010/main" val="1216646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28</a:t>
            </a:fld>
            <a:endParaRPr lang="en-US" dirty="0"/>
          </a:p>
        </p:txBody>
      </p:sp>
    </p:spTree>
    <p:extLst>
      <p:ext uri="{BB962C8B-B14F-4D97-AF65-F5344CB8AC3E}">
        <p14:creationId xmlns:p14="http://schemas.microsoft.com/office/powerpoint/2010/main" val="30493628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29</a:t>
            </a:fld>
            <a:endParaRPr lang="en-US" dirty="0"/>
          </a:p>
        </p:txBody>
      </p:sp>
    </p:spTree>
    <p:extLst>
      <p:ext uri="{BB962C8B-B14F-4D97-AF65-F5344CB8AC3E}">
        <p14:creationId xmlns:p14="http://schemas.microsoft.com/office/powerpoint/2010/main" val="26751359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30</a:t>
            </a:fld>
            <a:endParaRPr lang="en-US" dirty="0"/>
          </a:p>
        </p:txBody>
      </p:sp>
    </p:spTree>
    <p:extLst>
      <p:ext uri="{BB962C8B-B14F-4D97-AF65-F5344CB8AC3E}">
        <p14:creationId xmlns:p14="http://schemas.microsoft.com/office/powerpoint/2010/main" val="19930264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31</a:t>
            </a:fld>
            <a:endParaRPr lang="en-US" dirty="0"/>
          </a:p>
        </p:txBody>
      </p:sp>
    </p:spTree>
    <p:extLst>
      <p:ext uri="{BB962C8B-B14F-4D97-AF65-F5344CB8AC3E}">
        <p14:creationId xmlns:p14="http://schemas.microsoft.com/office/powerpoint/2010/main" val="20582310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32</a:t>
            </a:fld>
            <a:endParaRPr lang="en-US" dirty="0"/>
          </a:p>
        </p:txBody>
      </p:sp>
    </p:spTree>
    <p:extLst>
      <p:ext uri="{BB962C8B-B14F-4D97-AF65-F5344CB8AC3E}">
        <p14:creationId xmlns:p14="http://schemas.microsoft.com/office/powerpoint/2010/main" val="34170997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33</a:t>
            </a:fld>
            <a:endParaRPr lang="en-US" dirty="0"/>
          </a:p>
        </p:txBody>
      </p:sp>
    </p:spTree>
    <p:extLst>
      <p:ext uri="{BB962C8B-B14F-4D97-AF65-F5344CB8AC3E}">
        <p14:creationId xmlns:p14="http://schemas.microsoft.com/office/powerpoint/2010/main" val="29492683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34</a:t>
            </a:fld>
            <a:endParaRPr lang="en-US" dirty="0"/>
          </a:p>
        </p:txBody>
      </p:sp>
    </p:spTree>
    <p:extLst>
      <p:ext uri="{BB962C8B-B14F-4D97-AF65-F5344CB8AC3E}">
        <p14:creationId xmlns:p14="http://schemas.microsoft.com/office/powerpoint/2010/main" val="29465952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35</a:t>
            </a:fld>
            <a:endParaRPr lang="en-US" dirty="0"/>
          </a:p>
        </p:txBody>
      </p:sp>
    </p:spTree>
    <p:extLst>
      <p:ext uri="{BB962C8B-B14F-4D97-AF65-F5344CB8AC3E}">
        <p14:creationId xmlns:p14="http://schemas.microsoft.com/office/powerpoint/2010/main" val="14847662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36</a:t>
            </a:fld>
            <a:endParaRPr lang="en-US" dirty="0"/>
          </a:p>
        </p:txBody>
      </p:sp>
    </p:spTree>
    <p:extLst>
      <p:ext uri="{BB962C8B-B14F-4D97-AF65-F5344CB8AC3E}">
        <p14:creationId xmlns:p14="http://schemas.microsoft.com/office/powerpoint/2010/main" val="17569774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37</a:t>
            </a:fld>
            <a:endParaRPr lang="en-US" dirty="0"/>
          </a:p>
        </p:txBody>
      </p:sp>
    </p:spTree>
    <p:extLst>
      <p:ext uri="{BB962C8B-B14F-4D97-AF65-F5344CB8AC3E}">
        <p14:creationId xmlns:p14="http://schemas.microsoft.com/office/powerpoint/2010/main" val="29530821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39</a:t>
            </a:fld>
            <a:endParaRPr lang="en-US" dirty="0"/>
          </a:p>
        </p:txBody>
      </p:sp>
    </p:spTree>
    <p:extLst>
      <p:ext uri="{BB962C8B-B14F-4D97-AF65-F5344CB8AC3E}">
        <p14:creationId xmlns:p14="http://schemas.microsoft.com/office/powerpoint/2010/main" val="35164052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41</a:t>
            </a:fld>
            <a:endParaRPr lang="en-US" dirty="0"/>
          </a:p>
        </p:txBody>
      </p:sp>
    </p:spTree>
    <p:extLst>
      <p:ext uri="{BB962C8B-B14F-4D97-AF65-F5344CB8AC3E}">
        <p14:creationId xmlns:p14="http://schemas.microsoft.com/office/powerpoint/2010/main" val="41115747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42</a:t>
            </a:fld>
            <a:endParaRPr lang="en-US" dirty="0"/>
          </a:p>
        </p:txBody>
      </p:sp>
    </p:spTree>
    <p:extLst>
      <p:ext uri="{BB962C8B-B14F-4D97-AF65-F5344CB8AC3E}">
        <p14:creationId xmlns:p14="http://schemas.microsoft.com/office/powerpoint/2010/main" val="2223511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48</a:t>
            </a:fld>
            <a:endParaRPr lang="en-US" dirty="0"/>
          </a:p>
        </p:txBody>
      </p:sp>
    </p:spTree>
    <p:extLst>
      <p:ext uri="{BB962C8B-B14F-4D97-AF65-F5344CB8AC3E}">
        <p14:creationId xmlns:p14="http://schemas.microsoft.com/office/powerpoint/2010/main" val="10827198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49</a:t>
            </a:fld>
            <a:endParaRPr lang="en-US" dirty="0"/>
          </a:p>
        </p:txBody>
      </p:sp>
    </p:spTree>
    <p:extLst>
      <p:ext uri="{BB962C8B-B14F-4D97-AF65-F5344CB8AC3E}">
        <p14:creationId xmlns:p14="http://schemas.microsoft.com/office/powerpoint/2010/main" val="40394607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50</a:t>
            </a:fld>
            <a:endParaRPr lang="en-US" dirty="0"/>
          </a:p>
        </p:txBody>
      </p:sp>
    </p:spTree>
    <p:extLst>
      <p:ext uri="{BB962C8B-B14F-4D97-AF65-F5344CB8AC3E}">
        <p14:creationId xmlns:p14="http://schemas.microsoft.com/office/powerpoint/2010/main" val="15487801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1EF0D4-BE3D-4F70-BEA1-EA1AD3D8A7C6}" type="slidenum">
              <a:rPr lang="en-US" smtClean="0"/>
              <a:pPr/>
              <a:t>51</a:t>
            </a:fld>
            <a:endParaRPr lang="en-US" dirty="0"/>
          </a:p>
        </p:txBody>
      </p:sp>
    </p:spTree>
    <p:extLst>
      <p:ext uri="{BB962C8B-B14F-4D97-AF65-F5344CB8AC3E}">
        <p14:creationId xmlns:p14="http://schemas.microsoft.com/office/powerpoint/2010/main" val="24217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1EF0D4-BE3D-4F70-BEA1-EA1AD3D8A7C6}" type="slidenum">
              <a:rPr lang="en-US" smtClean="0"/>
              <a:pPr/>
              <a:t>52</a:t>
            </a:fld>
            <a:endParaRPr lang="en-US" dirty="0"/>
          </a:p>
        </p:txBody>
      </p:sp>
    </p:spTree>
    <p:extLst>
      <p:ext uri="{BB962C8B-B14F-4D97-AF65-F5344CB8AC3E}">
        <p14:creationId xmlns:p14="http://schemas.microsoft.com/office/powerpoint/2010/main" val="24217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53</a:t>
            </a:fld>
            <a:endParaRPr lang="en-US" dirty="0"/>
          </a:p>
        </p:txBody>
      </p:sp>
    </p:spTree>
    <p:extLst>
      <p:ext uri="{BB962C8B-B14F-4D97-AF65-F5344CB8AC3E}">
        <p14:creationId xmlns:p14="http://schemas.microsoft.com/office/powerpoint/2010/main" val="414474648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54</a:t>
            </a:fld>
            <a:endParaRPr lang="en-US" dirty="0"/>
          </a:p>
        </p:txBody>
      </p:sp>
    </p:spTree>
    <p:extLst>
      <p:ext uri="{BB962C8B-B14F-4D97-AF65-F5344CB8AC3E}">
        <p14:creationId xmlns:p14="http://schemas.microsoft.com/office/powerpoint/2010/main" val="32232930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1EF0D4-BE3D-4F70-BEA1-EA1AD3D8A7C6}" type="slidenum">
              <a:rPr lang="en-US" smtClean="0"/>
              <a:pPr/>
              <a:t>55</a:t>
            </a:fld>
            <a:endParaRPr lang="en-US" dirty="0"/>
          </a:p>
        </p:txBody>
      </p:sp>
    </p:spTree>
    <p:extLst>
      <p:ext uri="{BB962C8B-B14F-4D97-AF65-F5344CB8AC3E}">
        <p14:creationId xmlns:p14="http://schemas.microsoft.com/office/powerpoint/2010/main" val="424475532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1EF0D4-BE3D-4F70-BEA1-EA1AD3D8A7C6}" type="slidenum">
              <a:rPr lang="en-US" smtClean="0"/>
              <a:pPr/>
              <a:t>56</a:t>
            </a:fld>
            <a:endParaRPr lang="en-US" dirty="0"/>
          </a:p>
        </p:txBody>
      </p:sp>
    </p:spTree>
    <p:extLst>
      <p:ext uri="{BB962C8B-B14F-4D97-AF65-F5344CB8AC3E}">
        <p14:creationId xmlns:p14="http://schemas.microsoft.com/office/powerpoint/2010/main" val="242173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1EF0D4-BE3D-4F70-BEA1-EA1AD3D8A7C6}" type="slidenum">
              <a:rPr lang="en-US" smtClean="0"/>
              <a:pPr/>
              <a:t>57</a:t>
            </a:fld>
            <a:endParaRPr lang="en-US" dirty="0"/>
          </a:p>
        </p:txBody>
      </p:sp>
    </p:spTree>
    <p:extLst>
      <p:ext uri="{BB962C8B-B14F-4D97-AF65-F5344CB8AC3E}">
        <p14:creationId xmlns:p14="http://schemas.microsoft.com/office/powerpoint/2010/main" val="242173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1EF0D4-BE3D-4F70-BEA1-EA1AD3D8A7C6}" type="slidenum">
              <a:rPr lang="en-US" smtClean="0"/>
              <a:pPr/>
              <a:t>58</a:t>
            </a:fld>
            <a:endParaRPr lang="en-US" dirty="0"/>
          </a:p>
        </p:txBody>
      </p:sp>
    </p:spTree>
    <p:extLst>
      <p:ext uri="{BB962C8B-B14F-4D97-AF65-F5344CB8AC3E}">
        <p14:creationId xmlns:p14="http://schemas.microsoft.com/office/powerpoint/2010/main" val="24217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1EF0D4-BE3D-4F70-BEA1-EA1AD3D8A7C6}" type="slidenum">
              <a:rPr lang="en-US" smtClean="0"/>
              <a:pPr/>
              <a:t>59</a:t>
            </a:fld>
            <a:endParaRPr lang="en-US" dirty="0"/>
          </a:p>
        </p:txBody>
      </p:sp>
    </p:spTree>
    <p:extLst>
      <p:ext uri="{BB962C8B-B14F-4D97-AF65-F5344CB8AC3E}">
        <p14:creationId xmlns:p14="http://schemas.microsoft.com/office/powerpoint/2010/main" val="24217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1EF0D4-BE3D-4F70-BEA1-EA1AD3D8A7C6}" type="slidenum">
              <a:rPr lang="en-US" smtClean="0"/>
              <a:pPr/>
              <a:t>60</a:t>
            </a:fld>
            <a:endParaRPr lang="en-US" dirty="0"/>
          </a:p>
        </p:txBody>
      </p:sp>
    </p:spTree>
    <p:extLst>
      <p:ext uri="{BB962C8B-B14F-4D97-AF65-F5344CB8AC3E}">
        <p14:creationId xmlns:p14="http://schemas.microsoft.com/office/powerpoint/2010/main" val="24217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1EF0D4-BE3D-4F70-BEA1-EA1AD3D8A7C6}" type="slidenum">
              <a:rPr lang="en-US" smtClean="0"/>
              <a:pPr/>
              <a:t>61</a:t>
            </a:fld>
            <a:endParaRPr lang="en-US" dirty="0"/>
          </a:p>
        </p:txBody>
      </p:sp>
    </p:spTree>
    <p:extLst>
      <p:ext uri="{BB962C8B-B14F-4D97-AF65-F5344CB8AC3E}">
        <p14:creationId xmlns:p14="http://schemas.microsoft.com/office/powerpoint/2010/main" val="242173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1EF0D4-BE3D-4F70-BEA1-EA1AD3D8A7C6}" type="slidenum">
              <a:rPr lang="en-US" smtClean="0"/>
              <a:pPr/>
              <a:t>62</a:t>
            </a:fld>
            <a:endParaRPr lang="en-US" dirty="0"/>
          </a:p>
        </p:txBody>
      </p:sp>
    </p:spTree>
    <p:extLst>
      <p:ext uri="{BB962C8B-B14F-4D97-AF65-F5344CB8AC3E}">
        <p14:creationId xmlns:p14="http://schemas.microsoft.com/office/powerpoint/2010/main" val="24217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1EF0D4-BE3D-4F70-BEA1-EA1AD3D8A7C6}" type="slidenum">
              <a:rPr lang="en-US" smtClean="0"/>
              <a:pPr/>
              <a:t>63</a:t>
            </a:fld>
            <a:endParaRPr lang="en-US" dirty="0"/>
          </a:p>
        </p:txBody>
      </p:sp>
    </p:spTree>
    <p:extLst>
      <p:ext uri="{BB962C8B-B14F-4D97-AF65-F5344CB8AC3E}">
        <p14:creationId xmlns:p14="http://schemas.microsoft.com/office/powerpoint/2010/main" val="24217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1EF0D4-BE3D-4F70-BEA1-EA1AD3D8A7C6}" type="slidenum">
              <a:rPr lang="en-US" smtClean="0"/>
              <a:pPr/>
              <a:t>64</a:t>
            </a:fld>
            <a:endParaRPr lang="en-US" dirty="0"/>
          </a:p>
        </p:txBody>
      </p:sp>
    </p:spTree>
    <p:extLst>
      <p:ext uri="{BB962C8B-B14F-4D97-AF65-F5344CB8AC3E}">
        <p14:creationId xmlns:p14="http://schemas.microsoft.com/office/powerpoint/2010/main" val="2421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4AAE850C-AF93-4956-BF48-54E389529FC9}" type="datetime1">
              <a:rPr lang="en-US" smtClean="0"/>
              <a:pPr/>
              <a:t>8/3/2024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3559917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7CC5F7-AF58-4935-854F-1294D8480485}" type="datetime1">
              <a:rPr lang="en-US" smtClean="0"/>
              <a:pPr/>
              <a:t>8/3/2024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1793301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4573B3-9B98-4AD7-A970-0B8A65E9F455}" type="datetime1">
              <a:rPr lang="en-US" smtClean="0"/>
              <a:pPr/>
              <a:t>8/3/2024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1169944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84CF42-69A5-4F2A-9DCF-72FD5EDAD5B3}" type="datetime1">
              <a:rPr lang="en-US" smtClean="0"/>
              <a:pPr/>
              <a:t>8/3/2024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927147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5048530-A9A2-42A9-972D-2A40F4592579}" type="datetime1">
              <a:rPr lang="en-US" smtClean="0"/>
              <a:pPr/>
              <a:t>8/3/2024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270308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895600" y="110756"/>
            <a:ext cx="6019800" cy="48736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CD169FFB-2912-4B6A-A049-8F3BD1CC1E5A}" type="datetime1">
              <a:rPr lang="en-US" smtClean="0"/>
              <a:pPr/>
              <a:t>8/3/2024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5E6815B-E59C-4D87-B1F6-ECBDD22AF1DC}" type="slidenum">
              <a:rPr lang="en-US" smtClean="0"/>
              <a:pPr/>
              <a:t>‹#›</a:t>
            </a:fld>
            <a:endParaRPr lang="en-US" dirty="0"/>
          </a:p>
        </p:txBody>
      </p:sp>
      <p:pic>
        <p:nvPicPr>
          <p:cNvPr id="2051" name="Picture 3" descr="C:\Users\AMMU\Desktop\Border.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878905" y="-25052"/>
            <a:ext cx="7265095" cy="698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7556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DDC750-60AD-4FDC-BC50-E950272131C1}" type="datetime1">
              <a:rPr lang="en-US" smtClean="0"/>
              <a:pPr/>
              <a:t>8/3/2024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4113030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6FC14E-AC3E-4FE0-8224-6CB0D030CA8B}" type="datetime1">
              <a:rPr lang="en-US" smtClean="0"/>
              <a:pPr/>
              <a:t>8/3/2024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1516865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32CF68-A398-40A5-AE77-71E77434B9D5}" type="datetime1">
              <a:rPr lang="en-US" smtClean="0"/>
              <a:pPr/>
              <a:t>8/3/2024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1781286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1077206-DE01-4673-95B1-850E8293398C}" type="datetime1">
              <a:rPr lang="en-US" smtClean="0"/>
              <a:pPr/>
              <a:t>8/3/2024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767301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41FC94-5558-4295-BD29-57EEAEDAF123}" type="datetime1">
              <a:rPr lang="en-US" smtClean="0"/>
              <a:pPr/>
              <a:t>8/3/2024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34404039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1"/>
            <a:ext cx="4100513"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800"/>
              <a:buFont typeface="Arial"/>
              <a:buChar char="•"/>
              <a:defRPr sz="21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4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131812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67000" y="198438"/>
            <a:ext cx="6019800" cy="48736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143000"/>
            <a:ext cx="8229600" cy="51054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Verdana" pitchFamily="34" charset="0"/>
                <a:ea typeface="Verdana" pitchFamily="34" charset="0"/>
                <a:cs typeface="Verdana" pitchFamily="34" charset="0"/>
              </a:defRPr>
            </a:lvl1pPr>
          </a:lstStyle>
          <a:p>
            <a:fld id="{AFFD7ED8-47ED-49B8-A8ED-5D345B6B7BCC}" type="datetime1">
              <a:rPr lang="en-US" smtClean="0"/>
              <a:pPr/>
              <a:t>8/3/2024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Verdana" pitchFamily="34" charset="0"/>
                <a:ea typeface="Verdana" pitchFamily="34" charset="0"/>
                <a:cs typeface="Verdana" pitchFamily="34" charset="0"/>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Verdana" pitchFamily="34" charset="0"/>
                <a:ea typeface="Verdana" pitchFamily="34" charset="0"/>
                <a:cs typeface="Verdana" pitchFamily="34" charset="0"/>
              </a:defRPr>
            </a:lvl1pPr>
          </a:lstStyle>
          <a:p>
            <a:fld id="{85E6815B-E59C-4D87-B1F6-ECBDD22AF1DC}" type="slidenum">
              <a:rPr lang="en-US" smtClean="0"/>
              <a:pPr/>
              <a:t>‹#›</a:t>
            </a:fld>
            <a:endParaRPr lang="en-US" dirty="0"/>
          </a:p>
        </p:txBody>
      </p:sp>
    </p:spTree>
    <p:extLst>
      <p:ext uri="{BB962C8B-B14F-4D97-AF65-F5344CB8AC3E}">
        <p14:creationId xmlns:p14="http://schemas.microsoft.com/office/powerpoint/2010/main" val="37544101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spcBef>
          <a:spcPct val="0"/>
        </a:spcBef>
        <a:buNone/>
        <a:defRPr sz="2000" b="1" kern="1200">
          <a:solidFill>
            <a:srgbClr val="FF0066"/>
          </a:solidFill>
          <a:latin typeface="Verdana" pitchFamily="34" charset="0"/>
          <a:ea typeface="Verdana" pitchFamily="34" charset="0"/>
          <a:cs typeface="Verdana"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35.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9.png"/><Relationship Id="rId7"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0.png"/><Relationship Id="rId9" Type="http://schemas.openxmlformats.org/officeDocument/2006/relationships/image" Target="../media/image41.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360.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11.tiff"/><Relationship Id="rId5" Type="http://schemas.openxmlformats.org/officeDocument/2006/relationships/image" Target="../media/image10.png"/><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2.tiff"/><Relationship Id="rId5" Type="http://schemas.openxmlformats.org/officeDocument/2006/relationships/image" Target="../media/image10.png"/><Relationship Id="rId4" Type="http://schemas.openxmlformats.org/officeDocument/2006/relationships/image" Target="../media/image46.png"/></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50.png"/><Relationship Id="rId5" Type="http://schemas.openxmlformats.org/officeDocument/2006/relationships/image" Target="../media/image13.png"/><Relationship Id="rId4" Type="http://schemas.openxmlformats.org/officeDocument/2006/relationships/image" Target="../media/image48.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19.png"/><Relationship Id="rId4" Type="http://schemas.openxmlformats.org/officeDocument/2006/relationships/image" Target="../media/image21.gif"/></Relationships>
</file>

<file path=ppt/slides/_rels/slide24.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21.gif"/></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image" Target="../media/image22.png"/><Relationship Id="rId4" Type="http://schemas.openxmlformats.org/officeDocument/2006/relationships/image" Target="../media/image56.png"/></Relationships>
</file>

<file path=ppt/slides/_rels/slide35.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7.tiff"/><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55.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41.xml"/><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5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8175" y="110489"/>
            <a:ext cx="9144000" cy="6637022"/>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350"/>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830082"/>
            <a:ext cx="4590531" cy="5136379"/>
          </a:xfrm>
          <a:prstGeom prst="rect">
            <a:avLst/>
          </a:prstGeom>
          <a:noFill/>
          <a:ln>
            <a:noFill/>
          </a:ln>
        </p:spPr>
      </p:pic>
      <p:sp>
        <p:nvSpPr>
          <p:cNvPr id="476" name="Google Shape;476;p16"/>
          <p:cNvSpPr txBox="1"/>
          <p:nvPr/>
        </p:nvSpPr>
        <p:spPr>
          <a:xfrm>
            <a:off x="2819400" y="3047421"/>
            <a:ext cx="6511205" cy="2516043"/>
          </a:xfrm>
          <a:prstGeom prst="rect">
            <a:avLst/>
          </a:prstGeom>
          <a:noFill/>
          <a:ln>
            <a:noFill/>
          </a:ln>
        </p:spPr>
        <p:txBody>
          <a:bodyPr spcFirstLastPara="1" wrap="square" lIns="68569" tIns="34275" rIns="68569" bIns="34275" anchor="t" anchorCtr="0">
            <a:spAutoFit/>
          </a:bodyPr>
          <a:lstStyle/>
          <a:p>
            <a:pPr algn="ctr"/>
            <a:r>
              <a:rPr lang="en-US" sz="2400" b="1" cap="all" dirty="0">
                <a:ln/>
                <a:solidFill>
                  <a:srgbClr val="C00000"/>
                </a:solidFill>
                <a:cs typeface="Poppins" panose="00000500000000000000" pitchFamily="2" charset="0"/>
                <a:sym typeface="BioRhyme ExtraBold"/>
              </a:rPr>
              <a:t>COURSE: </a:t>
            </a:r>
          </a:p>
          <a:p>
            <a:pPr algn="ctr"/>
            <a:r>
              <a:rPr lang="en-US" sz="2100" b="1" cap="all" dirty="0">
                <a:ln/>
                <a:solidFill>
                  <a:srgbClr val="C00000"/>
                </a:solidFill>
                <a:cs typeface="Poppins" panose="00000500000000000000" pitchFamily="2" charset="0"/>
                <a:sym typeface="BioRhyme ExtraBold"/>
              </a:rPr>
              <a:t>Processors and Controllers</a:t>
            </a:r>
          </a:p>
          <a:p>
            <a:pPr algn="ctr"/>
            <a:endParaRPr lang="en-US" sz="2400" b="1" cap="all" dirty="0">
              <a:ln/>
              <a:solidFill>
                <a:srgbClr val="C00000"/>
              </a:solidFill>
              <a:cs typeface="Poppins" panose="00000500000000000000" pitchFamily="2" charset="0"/>
              <a:sym typeface="BioRhyme ExtraBold"/>
            </a:endParaRPr>
          </a:p>
          <a:p>
            <a:pPr algn="ctr"/>
            <a:r>
              <a:rPr lang="en-US" sz="2400" b="1" cap="all" dirty="0">
                <a:ln/>
                <a:solidFill>
                  <a:srgbClr val="C00000"/>
                </a:solidFill>
                <a:cs typeface="Poppins" panose="00000500000000000000" pitchFamily="2" charset="0"/>
                <a:sym typeface="BioRhyme ExtraBold"/>
              </a:rPr>
              <a:t>COURSE CODE:23EC2106R</a:t>
            </a:r>
          </a:p>
          <a:p>
            <a:pPr algn="ctr"/>
            <a:endParaRPr lang="en-US" sz="1500" b="1" dirty="0">
              <a:solidFill>
                <a:schemeClr val="bg1">
                  <a:lumMod val="50000"/>
                </a:schemeClr>
              </a:solidFill>
              <a:ea typeface="BioRhyme ExtraBold"/>
              <a:cs typeface="Poppins" panose="00000500000000000000" pitchFamily="2" charset="0"/>
              <a:sym typeface="BioRhyme ExtraBold"/>
            </a:endParaRPr>
          </a:p>
          <a:p>
            <a:pPr algn="ctr"/>
            <a:r>
              <a:rPr lang="en-US" sz="2100" b="1" dirty="0">
                <a:solidFill>
                  <a:schemeClr val="bg1">
                    <a:lumMod val="50000"/>
                  </a:schemeClr>
                </a:solidFill>
                <a:ea typeface="BioRhyme ExtraBold"/>
                <a:cs typeface="Poppins" panose="00000500000000000000" pitchFamily="2" charset="0"/>
                <a:sym typeface="BioRhyme ExtraBold"/>
              </a:rPr>
              <a:t>Topic: </a:t>
            </a:r>
          </a:p>
          <a:p>
            <a:pPr algn="ctr"/>
            <a:r>
              <a:rPr lang="en-US" sz="3000" b="1" cap="all" dirty="0">
                <a:ln/>
                <a:solidFill>
                  <a:srgbClr val="C00000"/>
                </a:solidFill>
                <a:cs typeface="Poppins" panose="00000500000000000000" pitchFamily="2" charset="0"/>
              </a:rPr>
              <a:t>CO1-8086 </a:t>
            </a:r>
            <a:endParaRPr lang="en-US" sz="3000" b="1" dirty="0">
              <a:solidFill>
                <a:srgbClr val="C00000"/>
              </a:solidFill>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4674937" y="1551293"/>
            <a:ext cx="3428054" cy="50874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75" name="Google Shape;475;p16"/>
          <p:cNvSpPr txBox="1"/>
          <p:nvPr/>
        </p:nvSpPr>
        <p:spPr>
          <a:xfrm>
            <a:off x="4598706" y="1473206"/>
            <a:ext cx="3446585" cy="992549"/>
          </a:xfrm>
          <a:prstGeom prst="rect">
            <a:avLst/>
          </a:prstGeom>
          <a:noFill/>
          <a:ln>
            <a:noFill/>
          </a:ln>
          <a:effectLst/>
        </p:spPr>
        <p:txBody>
          <a:bodyPr spcFirstLastPara="1" wrap="square" lIns="68569" tIns="34275" rIns="68569" bIns="34275" anchor="t" anchorCtr="0">
            <a:spAutoFit/>
          </a:bodyPr>
          <a:lstStyle/>
          <a:p>
            <a:pPr algn="ctr"/>
            <a:r>
              <a:rPr lang="en-US" sz="3000" b="1" dirty="0">
                <a:solidFill>
                  <a:srgbClr val="C00000"/>
                </a:solidFill>
                <a:cs typeface="Poppins" pitchFamily="2" charset="77"/>
              </a:rPr>
              <a:t>Department of ECE </a:t>
            </a:r>
          </a:p>
        </p:txBody>
      </p:sp>
      <p:sp>
        <p:nvSpPr>
          <p:cNvPr id="33" name="Rectangle 32">
            <a:extLst>
              <a:ext uri="{FF2B5EF4-FFF2-40B4-BE49-F238E27FC236}">
                <a16:creationId xmlns:a16="http://schemas.microsoft.com/office/drawing/2014/main" id="{A2BDCC77-0491-FC57-401C-380586D8ED1D}"/>
              </a:ext>
            </a:extLst>
          </p:cNvPr>
          <p:cNvSpPr/>
          <p:nvPr/>
        </p:nvSpPr>
        <p:spPr>
          <a:xfrm>
            <a:off x="0" y="5966461"/>
            <a:ext cx="9144000" cy="3428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5" name="Rectangle 34">
            <a:extLst>
              <a:ext uri="{FF2B5EF4-FFF2-40B4-BE49-F238E27FC236}">
                <a16:creationId xmlns:a16="http://schemas.microsoft.com/office/drawing/2014/main" id="{38D9C68F-2EE2-5410-B640-4F43BF92A6C1}"/>
              </a:ext>
            </a:extLst>
          </p:cNvPr>
          <p:cNvSpPr/>
          <p:nvPr/>
        </p:nvSpPr>
        <p:spPr>
          <a:xfrm>
            <a:off x="0" y="857251"/>
            <a:ext cx="9144000" cy="3428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7" name="Picture 2" descr="KL Deemed to be University Logo"/>
          <p:cNvPicPr>
            <a:picLocks noChangeAspect="1" noChangeArrowheads="1"/>
          </p:cNvPicPr>
          <p:nvPr/>
        </p:nvPicPr>
        <p:blipFill>
          <a:blip r:embed="rId4"/>
          <a:srcRect/>
          <a:stretch>
            <a:fillRect/>
          </a:stretch>
        </p:blipFill>
        <p:spPr bwMode="auto">
          <a:xfrm>
            <a:off x="167028" y="918709"/>
            <a:ext cx="1882397" cy="7961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B1615E-5C18-4402-AF24-A34F971FA7A7}"/>
              </a:ext>
            </a:extLst>
          </p:cNvPr>
          <p:cNvSpPr/>
          <p:nvPr/>
        </p:nvSpPr>
        <p:spPr>
          <a:xfrm>
            <a:off x="0" y="0"/>
            <a:ext cx="9144000" cy="685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730CFB4D-2FBD-4267-B1F1-53B527CDF924}"/>
              </a:ext>
            </a:extLst>
          </p:cNvPr>
          <p:cNvSpPr/>
          <p:nvPr/>
        </p:nvSpPr>
        <p:spPr>
          <a:xfrm>
            <a:off x="76200" y="762000"/>
            <a:ext cx="8991600" cy="586739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5" name="TextBox 4">
            <a:extLst>
              <a:ext uri="{FF2B5EF4-FFF2-40B4-BE49-F238E27FC236}">
                <a16:creationId xmlns:a16="http://schemas.microsoft.com/office/drawing/2014/main" id="{91A541D5-67DF-49E5-8FD3-0760922CB910}"/>
              </a:ext>
            </a:extLst>
          </p:cNvPr>
          <p:cNvSpPr txBox="1"/>
          <p:nvPr/>
        </p:nvSpPr>
        <p:spPr>
          <a:xfrm>
            <a:off x="1409700" y="114453"/>
            <a:ext cx="6324600" cy="523220"/>
          </a:xfrm>
          <a:prstGeom prst="rect">
            <a:avLst/>
          </a:prstGeom>
          <a:noFill/>
        </p:spPr>
        <p:txBody>
          <a:bodyPr wrap="square" rtlCol="0">
            <a:spAutoFit/>
          </a:bodyPr>
          <a:lstStyle/>
          <a:p>
            <a:pPr algn="ctr"/>
            <a:r>
              <a:rPr lang="en-IN" sz="2800" b="1" dirty="0"/>
              <a:t>Computer System and Languages</a:t>
            </a:r>
          </a:p>
        </p:txBody>
      </p:sp>
      <p:pic>
        <p:nvPicPr>
          <p:cNvPr id="1026" name="Picture 2" descr="C Tutorials - Computer Languages in C Programming Language">
            <a:extLst>
              <a:ext uri="{FF2B5EF4-FFF2-40B4-BE49-F238E27FC236}">
                <a16:creationId xmlns:a16="http://schemas.microsoft.com/office/drawing/2014/main" id="{3B147018-4E3B-4A99-AE1F-A1066BB2AB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29" y="3739464"/>
            <a:ext cx="8991600" cy="300408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omputer Programming Lanugage-Basics">
            <a:extLst>
              <a:ext uri="{FF2B5EF4-FFF2-40B4-BE49-F238E27FC236}">
                <a16:creationId xmlns:a16="http://schemas.microsoft.com/office/drawing/2014/main" id="{A3A54C16-C69F-4487-AB59-DD60047BF5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214" y="1066800"/>
            <a:ext cx="8952786" cy="2770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2490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030"/>
                                        </p:tgtEl>
                                        <p:attrNameLst>
                                          <p:attrName>style.visibility</p:attrName>
                                        </p:attrNameLst>
                                      </p:cBhvr>
                                      <p:to>
                                        <p:strVal val="visible"/>
                                      </p:to>
                                    </p:set>
                                    <p:animEffect transition="in" filter="barn(inVertical)">
                                      <p:cBhvr>
                                        <p:cTn id="13" dur="500"/>
                                        <p:tgtEl>
                                          <p:spTgt spid="1030"/>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1026"/>
                                        </p:tgtEl>
                                        <p:attrNameLst>
                                          <p:attrName>style.visibility</p:attrName>
                                        </p:attrNameLst>
                                      </p:cBhvr>
                                      <p:to>
                                        <p:strVal val="visible"/>
                                      </p:to>
                                    </p:set>
                                    <p:animEffect transition="in" filter="barn(inVertical)">
                                      <p:cBhvr>
                                        <p:cTn id="18"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1B987-B9BC-4379-A3B2-C22D53F7A98C}"/>
              </a:ext>
            </a:extLst>
          </p:cNvPr>
          <p:cNvSpPr>
            <a:spLocks noGrp="1"/>
          </p:cNvSpPr>
          <p:nvPr>
            <p:ph type="title"/>
          </p:nvPr>
        </p:nvSpPr>
        <p:spPr>
          <a:xfrm>
            <a:off x="1143000" y="381000"/>
            <a:ext cx="6477000" cy="1371600"/>
          </a:xfrm>
        </p:spPr>
        <p:txBody>
          <a:bodyPr>
            <a:noAutofit/>
          </a:bodyPr>
          <a:lstStyle/>
          <a:p>
            <a:pPr algn="ctr"/>
            <a:r>
              <a:rPr lang="en-US" sz="2400" dirty="0">
                <a:solidFill>
                  <a:srgbClr val="FF0000"/>
                </a:solidFill>
                <a:latin typeface="arial" panose="020B0604020202020204" pitchFamily="34" charset="0"/>
              </a:rPr>
              <a:t>To start your Learn in embedded domain, you need to have the following skills.</a:t>
            </a:r>
            <a:br>
              <a:rPr lang="en-US" sz="2400" dirty="0">
                <a:solidFill>
                  <a:srgbClr val="FF0000"/>
                </a:solidFill>
                <a:latin typeface="arial" panose="020B0604020202020204" pitchFamily="34" charset="0"/>
              </a:rPr>
            </a:br>
            <a:endParaRPr lang="en-IN" sz="2400" dirty="0">
              <a:solidFill>
                <a:srgbClr val="FF0000"/>
              </a:solidFill>
            </a:endParaRPr>
          </a:p>
        </p:txBody>
      </p:sp>
      <p:sp>
        <p:nvSpPr>
          <p:cNvPr id="4" name="Slide Number Placeholder 3">
            <a:extLst>
              <a:ext uri="{FF2B5EF4-FFF2-40B4-BE49-F238E27FC236}">
                <a16:creationId xmlns:a16="http://schemas.microsoft.com/office/drawing/2014/main" id="{31D68CEB-D47E-40C2-B734-E36188933BC3}"/>
              </a:ext>
            </a:extLst>
          </p:cNvPr>
          <p:cNvSpPr>
            <a:spLocks noGrp="1"/>
          </p:cNvSpPr>
          <p:nvPr>
            <p:ph type="sldNum" sz="quarter" idx="12"/>
          </p:nvPr>
        </p:nvSpPr>
        <p:spPr/>
        <p:txBody>
          <a:bodyPr/>
          <a:lstStyle/>
          <a:p>
            <a:fld id="{85E6815B-E59C-4D87-B1F6-ECBDD22AF1DC}" type="slidenum">
              <a:rPr lang="en-US" smtClean="0"/>
              <a:pPr/>
              <a:t>3</a:t>
            </a:fld>
            <a:endParaRPr lang="en-US" dirty="0"/>
          </a:p>
        </p:txBody>
      </p:sp>
      <p:sp>
        <p:nvSpPr>
          <p:cNvPr id="5" name="Rectangle 4">
            <a:extLst>
              <a:ext uri="{FF2B5EF4-FFF2-40B4-BE49-F238E27FC236}">
                <a16:creationId xmlns:a16="http://schemas.microsoft.com/office/drawing/2014/main" id="{5C5A588E-2B01-4F5D-B554-A7EE1D83E837}"/>
              </a:ext>
            </a:extLst>
          </p:cNvPr>
          <p:cNvSpPr/>
          <p:nvPr/>
        </p:nvSpPr>
        <p:spPr>
          <a:xfrm>
            <a:off x="152400" y="1320507"/>
            <a:ext cx="2647950" cy="4216539"/>
          </a:xfrm>
          <a:prstGeom prst="rect">
            <a:avLst/>
          </a:prstGeom>
        </p:spPr>
        <p:txBody>
          <a:bodyPr wrap="square">
            <a:spAutoFit/>
          </a:bodyPr>
          <a:lstStyle/>
          <a:p>
            <a:pPr algn="just">
              <a:buFont typeface="+mj-lt"/>
              <a:buAutoNum type="arabicPeriod"/>
            </a:pPr>
            <a:r>
              <a:rPr lang="en-US" sz="2800" dirty="0">
                <a:solidFill>
                  <a:srgbClr val="222222"/>
                </a:solidFill>
                <a:latin typeface="Times New Roman" panose="02020603050405020304" pitchFamily="18" charset="0"/>
                <a:cs typeface="Times New Roman" panose="02020603050405020304" pitchFamily="18" charset="0"/>
              </a:rPr>
              <a:t> </a:t>
            </a:r>
            <a:r>
              <a:rPr lang="en-US" sz="2400" dirty="0">
                <a:solidFill>
                  <a:srgbClr val="222222"/>
                </a:solidFill>
                <a:latin typeface="Times New Roman" panose="02020603050405020304" pitchFamily="18" charset="0"/>
                <a:cs typeface="Times New Roman" panose="02020603050405020304" pitchFamily="18" charset="0"/>
              </a:rPr>
              <a:t>Embedded Systems are the electronic systems that contain a microprocessor or a microcontroller.</a:t>
            </a:r>
          </a:p>
          <a:p>
            <a:pPr algn="just"/>
            <a:r>
              <a:rPr lang="en-US" sz="2400" dirty="0">
                <a:solidFill>
                  <a:srgbClr val="222222"/>
                </a:solidFill>
                <a:latin typeface="Times New Roman" panose="02020603050405020304" pitchFamily="18" charset="0"/>
                <a:cs typeface="Times New Roman" panose="02020603050405020304" pitchFamily="18" charset="0"/>
              </a:rPr>
              <a:t>2. Working on Assembly language Programs for Target devices like 8086 and 8051.</a:t>
            </a:r>
            <a:endParaRPr lang="en-US" sz="2400" b="0" i="0" dirty="0">
              <a:solidFill>
                <a:srgbClr val="222222"/>
              </a:solidFill>
              <a:effectLst/>
              <a:latin typeface="Times New Roman" panose="02020603050405020304" pitchFamily="18" charset="0"/>
              <a:cs typeface="Times New Roman" panose="02020603050405020304" pitchFamily="18" charset="0"/>
            </a:endParaRPr>
          </a:p>
        </p:txBody>
      </p:sp>
      <p:pic>
        <p:nvPicPr>
          <p:cNvPr id="6" name="Picture 2" descr="Block Diagram of Microcontroller and Microprocessor | Download ...">
            <a:extLst>
              <a:ext uri="{FF2B5EF4-FFF2-40B4-BE49-F238E27FC236}">
                <a16:creationId xmlns:a16="http://schemas.microsoft.com/office/drawing/2014/main" id="{B8CA78E6-24ED-45BC-9A6A-0AB33B663B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0350" y="1320507"/>
            <a:ext cx="6191250" cy="5419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2402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arn(inVertical)">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down)">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pPr algn="just"/>
            <a:r>
              <a:rPr lang="en-IN" sz="2400" b="1" u="sng" dirty="0"/>
              <a:t>Features of 8086</a:t>
            </a:r>
          </a:p>
        </p:txBody>
      </p:sp>
      <p:sp>
        <p:nvSpPr>
          <p:cNvPr id="3" name="Content Placeholder 2"/>
          <p:cNvSpPr>
            <a:spLocks noGrp="1"/>
          </p:cNvSpPr>
          <p:nvPr>
            <p:ph idx="1"/>
          </p:nvPr>
        </p:nvSpPr>
        <p:spPr>
          <a:xfrm>
            <a:off x="228600" y="914400"/>
            <a:ext cx="8686800" cy="5638800"/>
          </a:xfrm>
        </p:spPr>
        <p:txBody>
          <a:bodyPr>
            <a:normAutofit fontScale="92500" lnSpcReduction="10000"/>
          </a:bodyPr>
          <a:lstStyle/>
          <a:p>
            <a:pPr marL="457200" indent="-457200" algn="just">
              <a:buAutoNum type="arabicPeriod"/>
            </a:pPr>
            <a:endParaRPr lang="en-IN" sz="2000" dirty="0"/>
          </a:p>
          <a:p>
            <a:pPr marL="457200" indent="-457200" algn="just">
              <a:buAutoNum type="arabicPeriod"/>
            </a:pPr>
            <a:r>
              <a:rPr lang="en-IN" sz="2000" dirty="0"/>
              <a:t>The 8086 is a 16-bit processor. It means ALU, its internal registers &amp; most of its instructions are designed to work with 16-bit data.</a:t>
            </a:r>
          </a:p>
          <a:p>
            <a:pPr marL="457200" indent="-457200" algn="just">
              <a:buAutoNum type="arabicPeriod"/>
            </a:pPr>
            <a:r>
              <a:rPr lang="en-IN" sz="2000" dirty="0"/>
              <a:t>The 8086 has a </a:t>
            </a:r>
            <a:r>
              <a:rPr lang="en-IN" sz="2000" b="1" dirty="0"/>
              <a:t>16-bit data bus.</a:t>
            </a:r>
          </a:p>
          <a:p>
            <a:pPr marL="457200" indent="-457200" algn="just">
              <a:buAutoNum type="arabicPeriod"/>
            </a:pPr>
            <a:r>
              <a:rPr lang="en-IN" sz="2000" dirty="0"/>
              <a:t>The 8086 has a </a:t>
            </a:r>
            <a:r>
              <a:rPr lang="en-IN" sz="2000" b="1" dirty="0"/>
              <a:t>20-bit address bus </a:t>
            </a:r>
            <a:r>
              <a:rPr lang="en-IN" sz="2000" dirty="0"/>
              <a:t> so it can have a maximum of 1MB of memory. It has 16-bit I/O address so it can access up to 64K I/O ports.</a:t>
            </a:r>
          </a:p>
          <a:p>
            <a:pPr marL="457200" indent="-457200" algn="just">
              <a:buAutoNum type="arabicPeriod"/>
            </a:pPr>
            <a:r>
              <a:rPr lang="en-IN" sz="2000" dirty="0"/>
              <a:t>The data bus and 16-bit lower order address bus is multiplexed.</a:t>
            </a:r>
          </a:p>
          <a:p>
            <a:pPr marL="457200" indent="-457200" algn="just">
              <a:buAutoNum type="arabicPeriod"/>
            </a:pPr>
            <a:r>
              <a:rPr lang="en-IN" sz="2000" dirty="0"/>
              <a:t>The 8086 has Fourteen 16-bit registers.</a:t>
            </a:r>
          </a:p>
          <a:p>
            <a:pPr marL="457200" indent="-457200" algn="just">
              <a:buAutoNum type="arabicPeriod"/>
            </a:pPr>
            <a:r>
              <a:rPr lang="en-IN" sz="2000" dirty="0"/>
              <a:t>The 8086 requires a clock with 33% duty cycle for its internal timing. Its clock speed is 5MHz, 8MHz or 10MHz.</a:t>
            </a:r>
          </a:p>
          <a:p>
            <a:pPr marL="457200" indent="-457200" algn="just">
              <a:buAutoNum type="arabicPeriod"/>
            </a:pPr>
            <a:r>
              <a:rPr lang="en-IN" sz="2000" dirty="0"/>
              <a:t>The 8086 has a powerful instruction set with a range of addressing modes. It can perform bit , byte , word &amp; block operations.</a:t>
            </a:r>
          </a:p>
          <a:p>
            <a:pPr marL="457200" indent="-457200" algn="just">
              <a:buAutoNum type="arabicPeriod"/>
            </a:pPr>
            <a:r>
              <a:rPr lang="en-IN" sz="2000" dirty="0"/>
              <a:t>The 8086 has two mode of operations </a:t>
            </a:r>
            <a:r>
              <a:rPr lang="en-IN" sz="2000" b="1" dirty="0"/>
              <a:t>Minimum</a:t>
            </a:r>
            <a:r>
              <a:rPr lang="en-IN" sz="2000" dirty="0"/>
              <a:t> &amp; </a:t>
            </a:r>
            <a:r>
              <a:rPr lang="en-IN" sz="2000" b="1" dirty="0"/>
              <a:t>Maximum. </a:t>
            </a:r>
            <a:r>
              <a:rPr lang="en-IN" sz="2000" dirty="0"/>
              <a:t>In minimum mode it works as a single microprocessor. Where as in maximum mode it work in </a:t>
            </a:r>
            <a:r>
              <a:rPr lang="en-IN" sz="2000" b="1" dirty="0"/>
              <a:t>Multiprocessor</a:t>
            </a:r>
            <a:r>
              <a:rPr lang="en-IN" sz="2000" dirty="0"/>
              <a:t> configuration.</a:t>
            </a:r>
          </a:p>
          <a:p>
            <a:pPr marL="457200" indent="-457200" algn="just">
              <a:buAutoNum type="arabicPeriod"/>
            </a:pPr>
            <a:endParaRPr lang="en-IN" sz="2000" dirty="0"/>
          </a:p>
          <a:p>
            <a:pPr marL="457200" indent="-457200" algn="just">
              <a:buAutoNum type="arabicPeriod"/>
            </a:pPr>
            <a:endParaRPr lang="en-IN" sz="2000" dirty="0"/>
          </a:p>
        </p:txBody>
      </p:sp>
    </p:spTree>
    <p:extLst>
      <p:ext uri="{BB962C8B-B14F-4D97-AF65-F5344CB8AC3E}">
        <p14:creationId xmlns:p14="http://schemas.microsoft.com/office/powerpoint/2010/main" val="154086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97DF42E-271E-4AFC-B726-9DEB3E211391}"/>
              </a:ext>
            </a:extLst>
          </p:cNvPr>
          <p:cNvSpPr>
            <a:spLocks noGrp="1"/>
          </p:cNvSpPr>
          <p:nvPr>
            <p:ph type="sldNum" sz="quarter" idx="12"/>
          </p:nvPr>
        </p:nvSpPr>
        <p:spPr/>
        <p:txBody>
          <a:bodyPr/>
          <a:lstStyle/>
          <a:p>
            <a:fld id="{85E6815B-E59C-4D87-B1F6-ECBDD22AF1DC}" type="slidenum">
              <a:rPr lang="en-US" smtClean="0"/>
              <a:pPr/>
              <a:t>5</a:t>
            </a:fld>
            <a:endParaRPr lang="en-US" dirty="0"/>
          </a:p>
        </p:txBody>
      </p:sp>
      <p:sp>
        <p:nvSpPr>
          <p:cNvPr id="7" name="Title 1">
            <a:extLst>
              <a:ext uri="{FF2B5EF4-FFF2-40B4-BE49-F238E27FC236}">
                <a16:creationId xmlns:a16="http://schemas.microsoft.com/office/drawing/2014/main" id="{3784CC86-5CC6-4997-9786-C425ABCB9DBE}"/>
              </a:ext>
            </a:extLst>
          </p:cNvPr>
          <p:cNvSpPr txBox="1">
            <a:spLocks/>
          </p:cNvSpPr>
          <p:nvPr/>
        </p:nvSpPr>
        <p:spPr>
          <a:xfrm>
            <a:off x="685800" y="67755"/>
            <a:ext cx="7772400" cy="92284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000" b="1" kern="1200">
                <a:solidFill>
                  <a:srgbClr val="FF0066"/>
                </a:solidFill>
                <a:latin typeface="Verdana" pitchFamily="34" charset="0"/>
                <a:ea typeface="Verdana" pitchFamily="34" charset="0"/>
                <a:cs typeface="Verdana" pitchFamily="34" charset="0"/>
              </a:defRPr>
            </a:lvl1pPr>
          </a:lstStyle>
          <a:p>
            <a:pPr algn="ctr"/>
            <a:r>
              <a:rPr lang="en-US" sz="3600" dirty="0">
                <a:latin typeface="Rockwell Extra Bold" pitchFamily="18" charset="0"/>
              </a:rPr>
              <a:t>8086 Microprocessor</a:t>
            </a:r>
          </a:p>
        </p:txBody>
      </p:sp>
      <p:pic>
        <p:nvPicPr>
          <p:cNvPr id="2" name="Picture 1">
            <a:extLst>
              <a:ext uri="{FF2B5EF4-FFF2-40B4-BE49-F238E27FC236}">
                <a16:creationId xmlns:a16="http://schemas.microsoft.com/office/drawing/2014/main" id="{45CFE105-B4DD-4B07-A3CC-7F8A21AC2EBB}"/>
              </a:ext>
            </a:extLst>
          </p:cNvPr>
          <p:cNvPicPr>
            <a:picLocks noChangeAspect="1"/>
          </p:cNvPicPr>
          <p:nvPr/>
        </p:nvPicPr>
        <p:blipFill>
          <a:blip r:embed="rId2"/>
          <a:stretch>
            <a:fillRect/>
          </a:stretch>
        </p:blipFill>
        <p:spPr>
          <a:xfrm>
            <a:off x="4876800" y="1511105"/>
            <a:ext cx="3843997" cy="4356295"/>
          </a:xfrm>
          <a:prstGeom prst="rect">
            <a:avLst/>
          </a:prstGeom>
        </p:spPr>
      </p:pic>
      <p:pic>
        <p:nvPicPr>
          <p:cNvPr id="3" name="Picture 2">
            <a:extLst>
              <a:ext uri="{FF2B5EF4-FFF2-40B4-BE49-F238E27FC236}">
                <a16:creationId xmlns:a16="http://schemas.microsoft.com/office/drawing/2014/main" id="{C8BBBF68-39CA-47F4-9F4E-EFD844E6226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6241" y="824608"/>
            <a:ext cx="4389120" cy="5729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54324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latin typeface="Octapost NBP" pitchFamily="2" charset="0"/>
              </a:rPr>
              <a:t>Pins  and  signals</a:t>
            </a:r>
          </a:p>
        </p:txBody>
      </p:sp>
    </p:spTree>
    <p:extLst>
      <p:ext uri="{BB962C8B-B14F-4D97-AF65-F5344CB8AC3E}">
        <p14:creationId xmlns:p14="http://schemas.microsoft.com/office/powerpoint/2010/main" val="270092751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296551" y="1752600"/>
            <a:ext cx="1385248" cy="936992"/>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425924" y="1447800"/>
            <a:ext cx="1205552" cy="3311856"/>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Pins and Signals</a:t>
            </a:r>
          </a:p>
        </p:txBody>
      </p:sp>
      <p:sp>
        <p:nvSpPr>
          <p:cNvPr id="44" name="Slide Number Placeholder 43"/>
          <p:cNvSpPr>
            <a:spLocks noGrp="1"/>
          </p:cNvSpPr>
          <p:nvPr>
            <p:ph type="sldNum" sz="quarter" idx="12"/>
          </p:nvPr>
        </p:nvSpPr>
        <p:spPr/>
        <p:txBody>
          <a:bodyPr/>
          <a:lstStyle/>
          <a:p>
            <a:fld id="{85E6815B-E59C-4D87-B1F6-ECBDD22AF1DC}" type="slidenum">
              <a:rPr lang="en-US" smtClean="0"/>
              <a:pPr/>
              <a:t>7</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46" name="Rectangle 45"/>
          <p:cNvSpPr/>
          <p:nvPr/>
        </p:nvSpPr>
        <p:spPr>
          <a:xfrm>
            <a:off x="5791456" y="188879"/>
            <a:ext cx="2077813" cy="338554"/>
          </a:xfrm>
          <a:prstGeom prst="rect">
            <a:avLst/>
          </a:prstGeom>
          <a:solidFill>
            <a:srgbClr val="99CCFF"/>
          </a:solidFill>
        </p:spPr>
        <p:txBody>
          <a:bodyPr wrap="none">
            <a:spAutoFit/>
          </a:bodyPr>
          <a:lstStyle/>
          <a:p>
            <a:r>
              <a:rPr lang="en-US" sz="1600" b="1" dirty="0">
                <a:solidFill>
                  <a:srgbClr val="FF0000"/>
                </a:solidFill>
                <a:latin typeface="Verdana" pitchFamily="34" charset="0"/>
                <a:ea typeface="Verdana" pitchFamily="34" charset="0"/>
                <a:cs typeface="Verdana" pitchFamily="34" charset="0"/>
              </a:rPr>
              <a:t>Common signals</a:t>
            </a:r>
          </a:p>
        </p:txBody>
      </p:sp>
      <p:sp>
        <p:nvSpPr>
          <p:cNvPr id="47" name="Rectangle 46"/>
          <p:cNvSpPr/>
          <p:nvPr/>
        </p:nvSpPr>
        <p:spPr>
          <a:xfrm>
            <a:off x="4491111" y="1207268"/>
            <a:ext cx="4343400" cy="3293209"/>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AD</a:t>
            </a:r>
            <a:r>
              <a:rPr lang="en-US" b="1" baseline="-25000" dirty="0">
                <a:latin typeface="Verdana" pitchFamily="34" charset="0"/>
                <a:ea typeface="Verdana" pitchFamily="34" charset="0"/>
                <a:cs typeface="Verdana" pitchFamily="34" charset="0"/>
              </a:rPr>
              <a:t>0</a:t>
            </a:r>
            <a:r>
              <a:rPr lang="en-US" b="1" dirty="0">
                <a:latin typeface="Verdana" pitchFamily="34" charset="0"/>
                <a:ea typeface="Verdana" pitchFamily="34" charset="0"/>
                <a:cs typeface="Verdana" pitchFamily="34" charset="0"/>
              </a:rPr>
              <a:t>-AD</a:t>
            </a:r>
            <a:r>
              <a:rPr lang="en-US" b="1" baseline="-25000" dirty="0">
                <a:latin typeface="Verdana" pitchFamily="34" charset="0"/>
                <a:ea typeface="Verdana" pitchFamily="34" charset="0"/>
                <a:cs typeface="Verdana" pitchFamily="34" charset="0"/>
              </a:rPr>
              <a:t>15</a:t>
            </a:r>
            <a:r>
              <a:rPr lang="en-US" b="1" dirty="0">
                <a:latin typeface="Verdana" pitchFamily="34" charset="0"/>
                <a:ea typeface="Verdana" pitchFamily="34" charset="0"/>
                <a:cs typeface="Verdana" pitchFamily="34" charset="0"/>
              </a:rPr>
              <a:t> (Bidirectional)</a:t>
            </a:r>
            <a:r>
              <a:rPr lang="en-US" dirty="0">
                <a:latin typeface="Verdana" pitchFamily="34" charset="0"/>
                <a:ea typeface="Verdana" pitchFamily="34" charset="0"/>
                <a:cs typeface="Verdana" pitchFamily="34" charset="0"/>
              </a:rPr>
              <a:t> </a:t>
            </a:r>
            <a:endParaRPr lang="en-US" b="1" dirty="0">
              <a:latin typeface="Verdana" pitchFamily="34" charset="0"/>
              <a:ea typeface="Verdana" pitchFamily="34" charset="0"/>
              <a:cs typeface="Verdana" pitchFamily="34" charset="0"/>
            </a:endParaRPr>
          </a:p>
          <a:p>
            <a:pPr algn="just"/>
            <a:endParaRPr lang="en-US" b="1" dirty="0">
              <a:latin typeface="Verdana" pitchFamily="34" charset="0"/>
              <a:ea typeface="Verdana" pitchFamily="34" charset="0"/>
              <a:cs typeface="Verdana" pitchFamily="34" charset="0"/>
            </a:endParaRPr>
          </a:p>
          <a:p>
            <a:pPr algn="ctr"/>
            <a:r>
              <a:rPr lang="en-US" sz="1600" b="1" dirty="0">
                <a:solidFill>
                  <a:srgbClr val="FF0066"/>
                </a:solidFill>
                <a:latin typeface="Verdana" pitchFamily="34" charset="0"/>
                <a:ea typeface="Verdana" pitchFamily="34" charset="0"/>
                <a:cs typeface="Verdana" pitchFamily="34" charset="0"/>
              </a:rPr>
              <a:t>Address/Data bus</a:t>
            </a:r>
          </a:p>
          <a:p>
            <a:pPr algn="just"/>
            <a:endParaRPr lang="en-US" sz="1600"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Low order address bus; these are multiplexed with data. </a:t>
            </a: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When AD lines are used to transmit memory address the symbol A is used instead of AD, for example A</a:t>
            </a:r>
            <a:r>
              <a:rPr lang="en-US" sz="1400" b="1" baseline="-25000" dirty="0">
                <a:latin typeface="Verdana" pitchFamily="34" charset="0"/>
                <a:ea typeface="Verdana" pitchFamily="34" charset="0"/>
                <a:cs typeface="Verdana" pitchFamily="34" charset="0"/>
              </a:rPr>
              <a:t>0</a:t>
            </a:r>
            <a:r>
              <a:rPr lang="en-US" sz="1400" b="1" dirty="0">
                <a:latin typeface="Verdana" pitchFamily="34" charset="0"/>
                <a:ea typeface="Verdana" pitchFamily="34" charset="0"/>
                <a:cs typeface="Verdana" pitchFamily="34" charset="0"/>
              </a:rPr>
              <a:t>-A</a:t>
            </a:r>
            <a:r>
              <a:rPr lang="en-US" sz="1400" b="1" baseline="-25000" dirty="0">
                <a:latin typeface="Verdana" pitchFamily="34" charset="0"/>
                <a:ea typeface="Verdana" pitchFamily="34" charset="0"/>
                <a:cs typeface="Verdana" pitchFamily="34" charset="0"/>
              </a:rPr>
              <a:t>15</a:t>
            </a:r>
            <a:r>
              <a:rPr lang="en-US" sz="1400" b="1" dirty="0">
                <a:latin typeface="Verdana" pitchFamily="34" charset="0"/>
                <a:ea typeface="Verdana" pitchFamily="34" charset="0"/>
                <a:cs typeface="Verdana" pitchFamily="34" charset="0"/>
              </a:rPr>
              <a:t>. </a:t>
            </a: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When data are transmitted over AD lines the symbol D is used in place of AD, for example D</a:t>
            </a:r>
            <a:r>
              <a:rPr lang="en-US" sz="1400" b="1" baseline="-25000" dirty="0">
                <a:latin typeface="Verdana" pitchFamily="34" charset="0"/>
                <a:ea typeface="Verdana" pitchFamily="34" charset="0"/>
                <a:cs typeface="Verdana" pitchFamily="34" charset="0"/>
              </a:rPr>
              <a:t>0</a:t>
            </a:r>
            <a:r>
              <a:rPr lang="en-US" sz="1400" b="1" dirty="0">
                <a:latin typeface="Verdana" pitchFamily="34" charset="0"/>
                <a:ea typeface="Verdana" pitchFamily="34" charset="0"/>
                <a:cs typeface="Verdana" pitchFamily="34" charset="0"/>
              </a:rPr>
              <a:t>-D</a:t>
            </a:r>
            <a:r>
              <a:rPr lang="en-US" sz="1400" b="1" baseline="-25000" dirty="0">
                <a:latin typeface="Verdana" pitchFamily="34" charset="0"/>
                <a:ea typeface="Verdana" pitchFamily="34" charset="0"/>
                <a:cs typeface="Verdana" pitchFamily="34" charset="0"/>
              </a:rPr>
              <a:t>7</a:t>
            </a:r>
            <a:r>
              <a:rPr lang="en-US" sz="1400" b="1" dirty="0">
                <a:latin typeface="Verdana" pitchFamily="34" charset="0"/>
                <a:ea typeface="Verdana" pitchFamily="34" charset="0"/>
                <a:cs typeface="Verdana" pitchFamily="34" charset="0"/>
              </a:rPr>
              <a:t>, D</a:t>
            </a:r>
            <a:r>
              <a:rPr lang="en-US" sz="1400" b="1" baseline="-25000" dirty="0">
                <a:latin typeface="Verdana" pitchFamily="34" charset="0"/>
                <a:ea typeface="Verdana" pitchFamily="34" charset="0"/>
                <a:cs typeface="Verdana" pitchFamily="34" charset="0"/>
              </a:rPr>
              <a:t>8</a:t>
            </a:r>
            <a:r>
              <a:rPr lang="en-US" sz="1400" b="1" dirty="0">
                <a:latin typeface="Verdana" pitchFamily="34" charset="0"/>
                <a:ea typeface="Verdana" pitchFamily="34" charset="0"/>
                <a:cs typeface="Verdana" pitchFamily="34" charset="0"/>
              </a:rPr>
              <a:t>-D</a:t>
            </a:r>
            <a:r>
              <a:rPr lang="en-US" sz="1400" b="1" baseline="-25000" dirty="0">
                <a:latin typeface="Verdana" pitchFamily="34" charset="0"/>
                <a:ea typeface="Verdana" pitchFamily="34" charset="0"/>
                <a:cs typeface="Verdana" pitchFamily="34" charset="0"/>
              </a:rPr>
              <a:t>15</a:t>
            </a:r>
            <a:r>
              <a:rPr lang="en-US" sz="1400" b="1" dirty="0">
                <a:latin typeface="Verdana" pitchFamily="34" charset="0"/>
                <a:ea typeface="Verdana" pitchFamily="34" charset="0"/>
                <a:cs typeface="Verdana" pitchFamily="34" charset="0"/>
              </a:rPr>
              <a:t> or D</a:t>
            </a:r>
            <a:r>
              <a:rPr lang="en-US" sz="1400" b="1" baseline="-25000" dirty="0">
                <a:latin typeface="Verdana" pitchFamily="34" charset="0"/>
                <a:ea typeface="Verdana" pitchFamily="34" charset="0"/>
                <a:cs typeface="Verdana" pitchFamily="34" charset="0"/>
              </a:rPr>
              <a:t>0</a:t>
            </a:r>
            <a:r>
              <a:rPr lang="en-US" sz="1400" b="1" dirty="0">
                <a:latin typeface="Verdana" pitchFamily="34" charset="0"/>
                <a:ea typeface="Verdana" pitchFamily="34" charset="0"/>
                <a:cs typeface="Verdana" pitchFamily="34" charset="0"/>
              </a:rPr>
              <a:t>-D</a:t>
            </a:r>
            <a:r>
              <a:rPr lang="en-US" sz="1400" b="1" baseline="-25000" dirty="0">
                <a:latin typeface="Verdana" pitchFamily="34" charset="0"/>
                <a:ea typeface="Verdana" pitchFamily="34" charset="0"/>
                <a:cs typeface="Verdana" pitchFamily="34" charset="0"/>
              </a:rPr>
              <a:t>15</a:t>
            </a:r>
            <a:r>
              <a:rPr lang="en-US" sz="1400" b="1" dirty="0">
                <a:latin typeface="Verdana" pitchFamily="34" charset="0"/>
                <a:ea typeface="Verdana" pitchFamily="34" charset="0"/>
                <a:cs typeface="Verdana" pitchFamily="34" charset="0"/>
              </a:rPr>
              <a:t>.</a:t>
            </a:r>
          </a:p>
        </p:txBody>
      </p:sp>
      <p:sp>
        <p:nvSpPr>
          <p:cNvPr id="10" name="Rectangle 9"/>
          <p:cNvSpPr/>
          <p:nvPr/>
        </p:nvSpPr>
        <p:spPr>
          <a:xfrm>
            <a:off x="4648200" y="5109627"/>
            <a:ext cx="4343400" cy="1046440"/>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A</a:t>
            </a:r>
            <a:r>
              <a:rPr lang="en-US" b="1" baseline="-25000" dirty="0">
                <a:latin typeface="Verdana" pitchFamily="34" charset="0"/>
                <a:ea typeface="Verdana" pitchFamily="34" charset="0"/>
                <a:cs typeface="Verdana" pitchFamily="34" charset="0"/>
              </a:rPr>
              <a:t>16</a:t>
            </a:r>
            <a:r>
              <a:rPr lang="en-US" b="1" dirty="0">
                <a:latin typeface="Verdana" pitchFamily="34" charset="0"/>
                <a:ea typeface="Verdana" pitchFamily="34" charset="0"/>
                <a:cs typeface="Verdana" pitchFamily="34" charset="0"/>
              </a:rPr>
              <a:t>/S</a:t>
            </a:r>
            <a:r>
              <a:rPr lang="en-US" b="1" baseline="-25000" dirty="0">
                <a:latin typeface="Verdana" pitchFamily="34" charset="0"/>
                <a:ea typeface="Verdana" pitchFamily="34" charset="0"/>
                <a:cs typeface="Verdana" pitchFamily="34" charset="0"/>
              </a:rPr>
              <a:t>3</a:t>
            </a:r>
            <a:r>
              <a:rPr lang="en-US" b="1" dirty="0">
                <a:latin typeface="Verdana" pitchFamily="34" charset="0"/>
                <a:ea typeface="Verdana" pitchFamily="34" charset="0"/>
                <a:cs typeface="Verdana" pitchFamily="34" charset="0"/>
              </a:rPr>
              <a:t>, A</a:t>
            </a:r>
            <a:r>
              <a:rPr lang="en-US" b="1" baseline="-25000" dirty="0">
                <a:latin typeface="Verdana" pitchFamily="34" charset="0"/>
                <a:ea typeface="Verdana" pitchFamily="34" charset="0"/>
                <a:cs typeface="Verdana" pitchFamily="34" charset="0"/>
              </a:rPr>
              <a:t>17</a:t>
            </a:r>
            <a:r>
              <a:rPr lang="en-US" b="1" dirty="0">
                <a:latin typeface="Verdana" pitchFamily="34" charset="0"/>
                <a:ea typeface="Verdana" pitchFamily="34" charset="0"/>
                <a:cs typeface="Verdana" pitchFamily="34" charset="0"/>
              </a:rPr>
              <a:t>/S</a:t>
            </a:r>
            <a:r>
              <a:rPr lang="en-US" b="1" baseline="-25000" dirty="0">
                <a:latin typeface="Verdana" pitchFamily="34" charset="0"/>
                <a:ea typeface="Verdana" pitchFamily="34" charset="0"/>
                <a:cs typeface="Verdana" pitchFamily="34" charset="0"/>
              </a:rPr>
              <a:t>4</a:t>
            </a:r>
            <a:r>
              <a:rPr lang="en-US" b="1" dirty="0">
                <a:latin typeface="Verdana" pitchFamily="34" charset="0"/>
                <a:ea typeface="Verdana" pitchFamily="34" charset="0"/>
                <a:cs typeface="Verdana" pitchFamily="34" charset="0"/>
              </a:rPr>
              <a:t>, A</a:t>
            </a:r>
            <a:r>
              <a:rPr lang="en-US" b="1" baseline="-25000" dirty="0">
                <a:latin typeface="Verdana" pitchFamily="34" charset="0"/>
                <a:ea typeface="Verdana" pitchFamily="34" charset="0"/>
                <a:cs typeface="Verdana" pitchFamily="34" charset="0"/>
              </a:rPr>
              <a:t>18</a:t>
            </a:r>
            <a:r>
              <a:rPr lang="en-US" b="1" dirty="0">
                <a:latin typeface="Verdana" pitchFamily="34" charset="0"/>
                <a:ea typeface="Verdana" pitchFamily="34" charset="0"/>
                <a:cs typeface="Verdana" pitchFamily="34" charset="0"/>
              </a:rPr>
              <a:t>/S</a:t>
            </a:r>
            <a:r>
              <a:rPr lang="en-US" b="1" baseline="-25000" dirty="0">
                <a:latin typeface="Verdana" pitchFamily="34" charset="0"/>
                <a:ea typeface="Verdana" pitchFamily="34" charset="0"/>
                <a:cs typeface="Verdana" pitchFamily="34" charset="0"/>
              </a:rPr>
              <a:t>5</a:t>
            </a:r>
            <a:r>
              <a:rPr lang="en-US" b="1" dirty="0">
                <a:latin typeface="Verdana" pitchFamily="34" charset="0"/>
                <a:ea typeface="Verdana" pitchFamily="34" charset="0"/>
                <a:cs typeface="Verdana" pitchFamily="34" charset="0"/>
              </a:rPr>
              <a:t>, A</a:t>
            </a:r>
            <a:r>
              <a:rPr lang="en-US" b="1" baseline="-25000" dirty="0">
                <a:latin typeface="Verdana" pitchFamily="34" charset="0"/>
                <a:ea typeface="Verdana" pitchFamily="34" charset="0"/>
                <a:cs typeface="Verdana" pitchFamily="34" charset="0"/>
              </a:rPr>
              <a:t>19</a:t>
            </a:r>
            <a:r>
              <a:rPr lang="en-US" b="1" dirty="0">
                <a:latin typeface="Verdana" pitchFamily="34" charset="0"/>
                <a:ea typeface="Verdana" pitchFamily="34" charset="0"/>
                <a:cs typeface="Verdana" pitchFamily="34" charset="0"/>
              </a:rPr>
              <a:t>/S</a:t>
            </a:r>
            <a:r>
              <a:rPr lang="en-US" b="1" baseline="-25000" dirty="0">
                <a:latin typeface="Verdana" pitchFamily="34" charset="0"/>
                <a:ea typeface="Verdana" pitchFamily="34" charset="0"/>
                <a:cs typeface="Verdana" pitchFamily="34" charset="0"/>
              </a:rPr>
              <a:t>6</a:t>
            </a:r>
            <a:r>
              <a:rPr lang="en-US" dirty="0">
                <a:latin typeface="Verdana" pitchFamily="34" charset="0"/>
                <a:ea typeface="Verdana" pitchFamily="34" charset="0"/>
                <a:cs typeface="Verdana" pitchFamily="34" charset="0"/>
              </a:rPr>
              <a:t> </a:t>
            </a:r>
          </a:p>
          <a:p>
            <a:pPr algn="ctr"/>
            <a:endParaRPr lang="en-US" sz="16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High order address bus. These are multiplexed with status signals</a:t>
            </a:r>
          </a:p>
        </p:txBody>
      </p:sp>
      <p:pic>
        <p:nvPicPr>
          <p:cNvPr id="5" name="Picture 4">
            <a:extLst>
              <a:ext uri="{FF2B5EF4-FFF2-40B4-BE49-F238E27FC236}">
                <a16:creationId xmlns:a16="http://schemas.microsoft.com/office/drawing/2014/main" id="{C0DB08EA-7898-4434-AAD4-15F608C988B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991" y="1012228"/>
            <a:ext cx="4389120" cy="5729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88648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45"/>
                                        </p:tgtEl>
                                        <p:attrNameLst>
                                          <p:attrName>style.visibility</p:attrName>
                                        </p:attrNameLst>
                                      </p:cBhvr>
                                      <p:to>
                                        <p:strVal val="visible"/>
                                      </p:to>
                                    </p:set>
                                  </p:childTnLst>
                                </p:cTn>
                              </p:par>
                              <p:par>
                                <p:cTn id="9" presetID="1" presetClass="exit" presetSubtype="0" fill="hold" grpId="0" nodeType="withEffect">
                                  <p:stCondLst>
                                    <p:cond delay="0"/>
                                  </p:stCondLst>
                                  <p:childTnLst>
                                    <p:set>
                                      <p:cBhvr>
                                        <p:cTn id="10" dur="1" fill="hold">
                                          <p:stCondLst>
                                            <p:cond delay="0"/>
                                          </p:stCondLst>
                                        </p:cTn>
                                        <p:tgtEl>
                                          <p:spTgt spid="45"/>
                                        </p:tgtEl>
                                        <p:attrNameLst>
                                          <p:attrName>style.visibility</p:attrName>
                                        </p:attrNameLst>
                                      </p:cBhvr>
                                      <p:to>
                                        <p:strVal val="hidden"/>
                                      </p:to>
                                    </p:se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45" grpId="0" animBg="1"/>
      <p:bldP spid="45" grpId="1" animBg="1"/>
      <p:bldP spid="47"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2196152" y="2918192"/>
            <a:ext cx="1385248" cy="254912"/>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Pins and Signals</a:t>
            </a:r>
          </a:p>
        </p:txBody>
      </p:sp>
      <p:sp>
        <p:nvSpPr>
          <p:cNvPr id="44" name="Slide Number Placeholder 43"/>
          <p:cNvSpPr>
            <a:spLocks noGrp="1"/>
          </p:cNvSpPr>
          <p:nvPr>
            <p:ph type="sldNum" sz="quarter" idx="12"/>
          </p:nvPr>
        </p:nvSpPr>
        <p:spPr/>
        <p:txBody>
          <a:bodyPr/>
          <a:lstStyle/>
          <a:p>
            <a:fld id="{85E6815B-E59C-4D87-B1F6-ECBDD22AF1DC}" type="slidenum">
              <a:rPr lang="en-US" smtClean="0"/>
              <a:pPr/>
              <a:t>8</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46" name="Rectangle 45"/>
          <p:cNvSpPr/>
          <p:nvPr/>
        </p:nvSpPr>
        <p:spPr>
          <a:xfrm>
            <a:off x="5791456" y="188879"/>
            <a:ext cx="2077813" cy="338554"/>
          </a:xfrm>
          <a:prstGeom prst="rect">
            <a:avLst/>
          </a:prstGeom>
          <a:solidFill>
            <a:srgbClr val="99CCFF"/>
          </a:solidFill>
        </p:spPr>
        <p:txBody>
          <a:bodyPr wrap="none">
            <a:spAutoFit/>
          </a:bodyPr>
          <a:lstStyle/>
          <a:p>
            <a:r>
              <a:rPr lang="en-US" sz="1600" b="1" dirty="0">
                <a:solidFill>
                  <a:srgbClr val="FF0000"/>
                </a:solidFill>
                <a:latin typeface="Verdana" pitchFamily="34" charset="0"/>
                <a:ea typeface="Verdana" pitchFamily="34" charset="0"/>
                <a:cs typeface="Verdana" pitchFamily="34" charset="0"/>
              </a:rPr>
              <a:t>Common signals</a:t>
            </a:r>
          </a:p>
        </p:txBody>
      </p:sp>
      <p:sp>
        <p:nvSpPr>
          <p:cNvPr id="47" name="Rectangle 46"/>
          <p:cNvSpPr/>
          <p:nvPr/>
        </p:nvSpPr>
        <p:spPr>
          <a:xfrm>
            <a:off x="4648200" y="800993"/>
            <a:ext cx="4343400" cy="2215991"/>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BHE (Active Low)/S</a:t>
            </a:r>
            <a:r>
              <a:rPr lang="en-US" b="1" baseline="-25000" dirty="0">
                <a:latin typeface="Verdana" pitchFamily="34" charset="0"/>
                <a:ea typeface="Verdana" pitchFamily="34" charset="0"/>
                <a:cs typeface="Verdana" pitchFamily="34" charset="0"/>
              </a:rPr>
              <a:t>7</a:t>
            </a:r>
            <a:r>
              <a:rPr lang="en-US" b="1" dirty="0">
                <a:latin typeface="Verdana" pitchFamily="34" charset="0"/>
                <a:ea typeface="Verdana" pitchFamily="34" charset="0"/>
                <a:cs typeface="Verdana" pitchFamily="34" charset="0"/>
              </a:rPr>
              <a:t> (Output)  </a:t>
            </a:r>
          </a:p>
          <a:p>
            <a:pPr algn="ctr"/>
            <a:endParaRPr lang="en-US" sz="1600" b="1" dirty="0">
              <a:solidFill>
                <a:srgbClr val="FF0066"/>
              </a:solidFill>
              <a:latin typeface="Verdana" pitchFamily="34" charset="0"/>
              <a:ea typeface="Verdana" pitchFamily="34" charset="0"/>
              <a:cs typeface="Verdana" pitchFamily="34" charset="0"/>
            </a:endParaRPr>
          </a:p>
          <a:p>
            <a:pPr algn="ctr"/>
            <a:r>
              <a:rPr lang="en-US" sz="1600" b="1" dirty="0">
                <a:solidFill>
                  <a:srgbClr val="FF0066"/>
                </a:solidFill>
                <a:latin typeface="Verdana" pitchFamily="34" charset="0"/>
                <a:ea typeface="Verdana" pitchFamily="34" charset="0"/>
                <a:cs typeface="Verdana" pitchFamily="34" charset="0"/>
              </a:rPr>
              <a:t>Bus High Enable/Status </a:t>
            </a:r>
          </a:p>
          <a:p>
            <a:pPr algn="just"/>
            <a:endParaRPr lang="en-US"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It is used to enable data onto the most significant half of data bus, D</a:t>
            </a:r>
            <a:r>
              <a:rPr lang="en-US" sz="1400" b="1" baseline="-25000" dirty="0">
                <a:latin typeface="Verdana" pitchFamily="34" charset="0"/>
                <a:ea typeface="Verdana" pitchFamily="34" charset="0"/>
                <a:cs typeface="Verdana" pitchFamily="34" charset="0"/>
              </a:rPr>
              <a:t>8</a:t>
            </a:r>
            <a:r>
              <a:rPr lang="en-US" sz="1400" b="1" dirty="0">
                <a:latin typeface="Verdana" pitchFamily="34" charset="0"/>
                <a:ea typeface="Verdana" pitchFamily="34" charset="0"/>
                <a:cs typeface="Verdana" pitchFamily="34" charset="0"/>
              </a:rPr>
              <a:t>-D</a:t>
            </a:r>
            <a:r>
              <a:rPr lang="en-US" sz="1400" b="1" baseline="-25000" dirty="0">
                <a:latin typeface="Verdana" pitchFamily="34" charset="0"/>
                <a:ea typeface="Verdana" pitchFamily="34" charset="0"/>
                <a:cs typeface="Verdana" pitchFamily="34" charset="0"/>
              </a:rPr>
              <a:t>15</a:t>
            </a:r>
            <a:r>
              <a:rPr lang="en-US" sz="1400" b="1" dirty="0">
                <a:latin typeface="Verdana" pitchFamily="34" charset="0"/>
                <a:ea typeface="Verdana" pitchFamily="34" charset="0"/>
                <a:cs typeface="Verdana" pitchFamily="34" charset="0"/>
              </a:rPr>
              <a:t>. 8-bit device connected to upper half of the data bus use BHE (Active Low) signal. It is multiplexed with status signal S</a:t>
            </a:r>
            <a:r>
              <a:rPr lang="en-US" sz="1400" b="1" baseline="-25000" dirty="0">
                <a:latin typeface="Verdana" pitchFamily="34" charset="0"/>
                <a:ea typeface="Verdana" pitchFamily="34" charset="0"/>
                <a:cs typeface="Verdana" pitchFamily="34" charset="0"/>
              </a:rPr>
              <a:t>7</a:t>
            </a:r>
            <a:r>
              <a:rPr lang="en-US" sz="1400" b="1" dirty="0">
                <a:latin typeface="Verdana" pitchFamily="34" charset="0"/>
                <a:ea typeface="Verdana" pitchFamily="34" charset="0"/>
                <a:cs typeface="Verdana" pitchFamily="34" charset="0"/>
              </a:rPr>
              <a:t>. </a:t>
            </a:r>
          </a:p>
        </p:txBody>
      </p:sp>
      <p:sp>
        <p:nvSpPr>
          <p:cNvPr id="10" name="Rectangle 9"/>
          <p:cNvSpPr/>
          <p:nvPr/>
        </p:nvSpPr>
        <p:spPr>
          <a:xfrm>
            <a:off x="4648200" y="3276362"/>
            <a:ext cx="4343400" cy="1600438"/>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 MN/ MX  </a:t>
            </a:r>
          </a:p>
          <a:p>
            <a:pPr algn="ctr"/>
            <a:endParaRPr lang="en-US" b="1" dirty="0">
              <a:latin typeface="Verdana" pitchFamily="34" charset="0"/>
              <a:ea typeface="Verdana" pitchFamily="34" charset="0"/>
              <a:cs typeface="Verdana" pitchFamily="34" charset="0"/>
            </a:endParaRPr>
          </a:p>
          <a:p>
            <a:pPr algn="ctr"/>
            <a:r>
              <a:rPr lang="en-US" sz="1600" b="1" dirty="0">
                <a:solidFill>
                  <a:srgbClr val="FF0066"/>
                </a:solidFill>
                <a:latin typeface="Verdana" pitchFamily="34" charset="0"/>
                <a:ea typeface="Verdana" pitchFamily="34" charset="0"/>
                <a:cs typeface="Verdana" pitchFamily="34" charset="0"/>
              </a:rPr>
              <a:t>MINIMUM / MAXIMUM </a:t>
            </a:r>
          </a:p>
          <a:p>
            <a:endParaRPr lang="en-US"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This pin signal indicates  what mode the processor is to operate in. </a:t>
            </a:r>
          </a:p>
        </p:txBody>
      </p:sp>
      <p:sp>
        <p:nvSpPr>
          <p:cNvPr id="14" name="Rectangle 13"/>
          <p:cNvSpPr/>
          <p:nvPr/>
        </p:nvSpPr>
        <p:spPr>
          <a:xfrm>
            <a:off x="4648200" y="5108138"/>
            <a:ext cx="4343400" cy="1292662"/>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 RD (Read) (Active Low) </a:t>
            </a:r>
          </a:p>
          <a:p>
            <a:pPr algn="ctr"/>
            <a:endParaRPr lang="en-US" dirty="0">
              <a:latin typeface="Verdana" pitchFamily="34" charset="0"/>
              <a:ea typeface="Verdana" pitchFamily="34" charset="0"/>
              <a:cs typeface="Verdana" pitchFamily="34" charset="0"/>
            </a:endParaRPr>
          </a:p>
          <a:p>
            <a:pPr algn="ctr"/>
            <a:r>
              <a:rPr lang="en-US" sz="1400" b="1" dirty="0">
                <a:latin typeface="Verdana" pitchFamily="34" charset="0"/>
                <a:ea typeface="Verdana" pitchFamily="34" charset="0"/>
                <a:cs typeface="Verdana" pitchFamily="34" charset="0"/>
              </a:rPr>
              <a:t>The signal is used for read operation. </a:t>
            </a:r>
          </a:p>
          <a:p>
            <a:pPr algn="ctr"/>
            <a:r>
              <a:rPr lang="en-US" sz="1400" b="1" dirty="0">
                <a:latin typeface="Verdana" pitchFamily="34" charset="0"/>
                <a:ea typeface="Verdana" pitchFamily="34" charset="0"/>
                <a:cs typeface="Verdana" pitchFamily="34" charset="0"/>
              </a:rPr>
              <a:t>It is an output signal. </a:t>
            </a:r>
          </a:p>
          <a:p>
            <a:pPr algn="ctr"/>
            <a:r>
              <a:rPr lang="en-US" sz="1400" b="1" dirty="0">
                <a:latin typeface="Verdana" pitchFamily="34" charset="0"/>
                <a:ea typeface="Verdana" pitchFamily="34" charset="0"/>
                <a:cs typeface="Verdana" pitchFamily="34" charset="0"/>
              </a:rPr>
              <a:t>It is active when low.</a:t>
            </a:r>
          </a:p>
        </p:txBody>
      </p:sp>
      <p:pic>
        <p:nvPicPr>
          <p:cNvPr id="4" name="Picture 3">
            <a:extLst>
              <a:ext uri="{FF2B5EF4-FFF2-40B4-BE49-F238E27FC236}">
                <a16:creationId xmlns:a16="http://schemas.microsoft.com/office/drawing/2014/main" id="{87ECA7C7-2B95-4602-A6C7-F21F8400575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991" y="1012228"/>
            <a:ext cx="4389120" cy="5729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78275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1" nodeType="clickEffect">
                                  <p:stCondLst>
                                    <p:cond delay="0"/>
                                  </p:stCondLst>
                                  <p:childTnLst>
                                    <p:animMotion origin="layout" path="M 1.38889E-6 -7.67808E-7 L 1.38889E-6 0.03377 " pathEditMode="relative" rAng="0" ptsTypes="AA">
                                      <p:cBhvr>
                                        <p:cTn id="14" dur="500" fill="hold"/>
                                        <p:tgtEl>
                                          <p:spTgt spid="48"/>
                                        </p:tgtEl>
                                        <p:attrNameLst>
                                          <p:attrName>ppt_x</p:attrName>
                                          <p:attrName>ppt_y</p:attrName>
                                        </p:attrNameLst>
                                      </p:cBhvr>
                                      <p:rCtr x="0" y="1688"/>
                                    </p:animMotion>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path" presetSubtype="0" accel="50000" decel="50000" fill="hold" grpId="2" nodeType="clickEffect">
                                  <p:stCondLst>
                                    <p:cond delay="0"/>
                                  </p:stCondLst>
                                  <p:childTnLst>
                                    <p:animMotion origin="layout" path="M 1.38889E-6 0.03377 L 1.38889E-6 0.06707 " pathEditMode="relative" rAng="0" ptsTypes="AA">
                                      <p:cBhvr>
                                        <p:cTn id="21" dur="500" fill="hold"/>
                                        <p:tgtEl>
                                          <p:spTgt spid="48"/>
                                        </p:tgtEl>
                                        <p:attrNameLst>
                                          <p:attrName>ppt_x</p:attrName>
                                          <p:attrName>ppt_y</p:attrName>
                                        </p:attrNameLst>
                                      </p:cBhvr>
                                      <p:rCtr x="0" y="1665"/>
                                    </p:animMotion>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8" grpId="1" animBg="1"/>
      <p:bldP spid="48" grpId="2" animBg="1"/>
      <p:bldP spid="47" grpId="0" animBg="1"/>
      <p:bldP spid="10"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2196152" y="3340136"/>
            <a:ext cx="1385248" cy="254912"/>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Pins and Signals</a:t>
            </a:r>
          </a:p>
        </p:txBody>
      </p:sp>
      <p:sp>
        <p:nvSpPr>
          <p:cNvPr id="44" name="Slide Number Placeholder 43"/>
          <p:cNvSpPr>
            <a:spLocks noGrp="1"/>
          </p:cNvSpPr>
          <p:nvPr>
            <p:ph type="sldNum" sz="quarter" idx="12"/>
          </p:nvPr>
        </p:nvSpPr>
        <p:spPr/>
        <p:txBody>
          <a:bodyPr/>
          <a:lstStyle/>
          <a:p>
            <a:fld id="{85E6815B-E59C-4D87-B1F6-ECBDD22AF1DC}" type="slidenum">
              <a:rPr lang="en-US" smtClean="0"/>
              <a:pPr/>
              <a:t>9</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46" name="Rectangle 45"/>
          <p:cNvSpPr/>
          <p:nvPr/>
        </p:nvSpPr>
        <p:spPr>
          <a:xfrm>
            <a:off x="5791456" y="188879"/>
            <a:ext cx="2077813" cy="338554"/>
          </a:xfrm>
          <a:prstGeom prst="rect">
            <a:avLst/>
          </a:prstGeom>
          <a:solidFill>
            <a:srgbClr val="99CCFF"/>
          </a:solidFill>
        </p:spPr>
        <p:txBody>
          <a:bodyPr wrap="none">
            <a:spAutoFit/>
          </a:bodyPr>
          <a:lstStyle/>
          <a:p>
            <a:r>
              <a:rPr lang="en-US" sz="1600" b="1" dirty="0">
                <a:solidFill>
                  <a:srgbClr val="FF0000"/>
                </a:solidFill>
                <a:latin typeface="Verdana" pitchFamily="34" charset="0"/>
                <a:ea typeface="Verdana" pitchFamily="34" charset="0"/>
                <a:cs typeface="Verdana" pitchFamily="34" charset="0"/>
              </a:rPr>
              <a:t>Common signals</a:t>
            </a:r>
          </a:p>
        </p:txBody>
      </p:sp>
      <mc:AlternateContent xmlns:mc="http://schemas.openxmlformats.org/markup-compatibility/2006" xmlns:a14="http://schemas.microsoft.com/office/drawing/2010/main">
        <mc:Choice Requires="a14">
          <p:sp>
            <p:nvSpPr>
              <p:cNvPr id="47" name="Rectangle 46"/>
              <p:cNvSpPr/>
              <p:nvPr/>
            </p:nvSpPr>
            <p:spPr>
              <a:xfrm>
                <a:off x="4648200" y="800993"/>
                <a:ext cx="4343400" cy="3016660"/>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TEST</a:t>
                </a:r>
              </a:p>
              <a:p>
                <a:pPr algn="just"/>
                <a:endParaRPr lang="en-US" b="1" dirty="0">
                  <a:latin typeface="Verdana" pitchFamily="34" charset="0"/>
                  <a:ea typeface="Verdana" pitchFamily="34" charset="0"/>
                  <a:cs typeface="Verdana" pitchFamily="34" charset="0"/>
                </a:endParaRPr>
              </a:p>
              <a:p>
                <a:pPr algn="just"/>
                <a14:m>
                  <m:oMath xmlns:m="http://schemas.openxmlformats.org/officeDocument/2006/math">
                    <m:acc>
                      <m:accPr>
                        <m:chr m:val="̅"/>
                        <m:ctrlPr>
                          <a:rPr lang="en-US" sz="1400" b="1" i="1">
                            <a:latin typeface="Cambria Math" panose="02040503050406030204" pitchFamily="18" charset="0"/>
                            <a:ea typeface="Verdana" pitchFamily="34" charset="0"/>
                            <a:cs typeface="Verdana" pitchFamily="34" charset="0"/>
                          </a:rPr>
                        </m:ctrlPr>
                      </m:accPr>
                      <m:e>
                        <m:r>
                          <a:rPr lang="en-US" sz="1400" b="1">
                            <a:latin typeface="Cambria Math"/>
                            <a:ea typeface="Verdana" pitchFamily="34" charset="0"/>
                            <a:cs typeface="Verdana" pitchFamily="34" charset="0"/>
                          </a:rPr>
                          <m:t>𝐓𝐄𝐒𝐓</m:t>
                        </m:r>
                      </m:e>
                    </m:acc>
                  </m:oMath>
                </a14:m>
                <a:r>
                  <a:rPr lang="en-US" sz="1400" b="1" dirty="0">
                    <a:latin typeface="Verdana" pitchFamily="34" charset="0"/>
                    <a:ea typeface="Verdana" pitchFamily="34" charset="0"/>
                    <a:cs typeface="Verdana" pitchFamily="34" charset="0"/>
                  </a:rPr>
                  <a:t>input is tested by the ‘WAIT’ instruction. </a:t>
                </a: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8086 will enter a wait state after execution of the WAIT instruction and will resume execution only when the </a:t>
                </a:r>
                <a14:m>
                  <m:oMath xmlns:m="http://schemas.openxmlformats.org/officeDocument/2006/math">
                    <m:acc>
                      <m:accPr>
                        <m:chr m:val="̅"/>
                        <m:ctrlPr>
                          <a:rPr lang="en-US" sz="1400" b="1" i="1" smtClean="0">
                            <a:latin typeface="Cambria Math" panose="02040503050406030204" pitchFamily="18" charset="0"/>
                            <a:ea typeface="Verdana" pitchFamily="34" charset="0"/>
                            <a:cs typeface="Verdana" pitchFamily="34" charset="0"/>
                          </a:rPr>
                        </m:ctrlPr>
                      </m:accPr>
                      <m:e>
                        <m:r>
                          <a:rPr lang="en-US" sz="1400" b="1" i="0" smtClean="0">
                            <a:latin typeface="Cambria Math"/>
                            <a:ea typeface="Verdana" pitchFamily="34" charset="0"/>
                            <a:cs typeface="Verdana" pitchFamily="34" charset="0"/>
                          </a:rPr>
                          <m:t>𝐓𝐄𝐒𝐓</m:t>
                        </m:r>
                      </m:e>
                    </m:acc>
                  </m:oMath>
                </a14:m>
                <a:r>
                  <a:rPr lang="en-US" sz="1400" b="1" dirty="0">
                    <a:latin typeface="Verdana" pitchFamily="34" charset="0"/>
                    <a:ea typeface="Verdana" pitchFamily="34" charset="0"/>
                    <a:cs typeface="Verdana" pitchFamily="34" charset="0"/>
                  </a:rPr>
                  <a:t> is made low by an active hardware.</a:t>
                </a: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This is used to synchronize an external activity to the processor internal operation.</a:t>
                </a:r>
              </a:p>
            </p:txBody>
          </p:sp>
        </mc:Choice>
        <mc:Fallback xmlns="">
          <p:sp>
            <p:nvSpPr>
              <p:cNvPr id="47" name="Rectangle 46"/>
              <p:cNvSpPr>
                <a:spLocks noRot="1" noChangeAspect="1" noMove="1" noResize="1" noEditPoints="1" noAdjustHandles="1" noChangeArrowheads="1" noChangeShapeType="1" noTextEdit="1"/>
              </p:cNvSpPr>
              <p:nvPr/>
            </p:nvSpPr>
            <p:spPr>
              <a:xfrm>
                <a:off x="4648200" y="800993"/>
                <a:ext cx="4343400" cy="3016660"/>
              </a:xfrm>
              <a:prstGeom prst="rect">
                <a:avLst/>
              </a:prstGeom>
              <a:blipFill>
                <a:blip r:embed="rId4"/>
                <a:stretch>
                  <a:fillRect l="-139" t="-600" b="-600"/>
                </a:stretch>
              </a:blipFill>
              <a:ln w="28575">
                <a:solidFill>
                  <a:schemeClr val="accent6">
                    <a:lumMod val="75000"/>
                  </a:schemeClr>
                </a:solidFill>
              </a:ln>
            </p:spPr>
            <p:txBody>
              <a:bodyPr/>
              <a:lstStyle/>
              <a:p>
                <a:r>
                  <a:rPr lang="en-IN">
                    <a:noFill/>
                  </a:rPr>
                  <a:t> </a:t>
                </a:r>
              </a:p>
            </p:txBody>
          </p:sp>
        </mc:Fallback>
      </mc:AlternateContent>
      <p:sp>
        <p:nvSpPr>
          <p:cNvPr id="10" name="Rectangle 9"/>
          <p:cNvSpPr/>
          <p:nvPr/>
        </p:nvSpPr>
        <p:spPr>
          <a:xfrm>
            <a:off x="4648200" y="3981033"/>
            <a:ext cx="4343400" cy="2800767"/>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 READY </a:t>
            </a:r>
          </a:p>
          <a:p>
            <a:endParaRPr lang="en-US"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This is the acknowledgement from the slow device or memory that they have completed the data transfer. </a:t>
            </a: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The signal made available by the devices is synchronized by the 8284A clock generator to provide ready input to the 8086. </a:t>
            </a: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The signal is active high.</a:t>
            </a:r>
          </a:p>
        </p:txBody>
      </p:sp>
      <p:pic>
        <p:nvPicPr>
          <p:cNvPr id="4" name="Picture 3">
            <a:extLst>
              <a:ext uri="{FF2B5EF4-FFF2-40B4-BE49-F238E27FC236}">
                <a16:creationId xmlns:a16="http://schemas.microsoft.com/office/drawing/2014/main" id="{8B53E1D7-33D0-439A-9721-8F11B679012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1991" y="1012228"/>
            <a:ext cx="4389120" cy="5729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55034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1.38889E-6 2.11841E-6 L 1.38889E-6 0.29417 " pathEditMode="relative" rAng="0" ptsTypes="AA">
                                      <p:cBhvr>
                                        <p:cTn id="6" dur="500" fill="hold"/>
                                        <p:tgtEl>
                                          <p:spTgt spid="48"/>
                                        </p:tgtEl>
                                        <p:attrNameLst>
                                          <p:attrName>ppt_x</p:attrName>
                                          <p:attrName>ppt_y</p:attrName>
                                        </p:attrNameLst>
                                      </p:cBhvr>
                                      <p:rCtr x="0" y="14709"/>
                                    </p:animMotion>
                                  </p:childTnLst>
                                </p:cTn>
                              </p:par>
                              <p:par>
                                <p:cTn id="7" presetID="10"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animEffect transition="in" filter="fade">
                                      <p:cBhvr>
                                        <p:cTn id="9" dur="500"/>
                                        <p:tgtEl>
                                          <p:spTgt spid="47"/>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decel="50000" fill="hold" grpId="1" nodeType="clickEffect">
                                  <p:stCondLst>
                                    <p:cond delay="0"/>
                                  </p:stCondLst>
                                  <p:childTnLst>
                                    <p:animMotion origin="layout" path="M 1.38889E-6 0.29417 L 0.00087 0.32747 " pathEditMode="relative" rAng="0" ptsTypes="AA">
                                      <p:cBhvr>
                                        <p:cTn id="13" dur="500" fill="hold"/>
                                        <p:tgtEl>
                                          <p:spTgt spid="48"/>
                                        </p:tgtEl>
                                        <p:attrNameLst>
                                          <p:attrName>ppt_x</p:attrName>
                                          <p:attrName>ppt_y</p:attrName>
                                        </p:attrNameLst>
                                      </p:cBhvr>
                                      <p:rCtr x="35" y="1665"/>
                                    </p:animMotion>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8" grpId="1" animBg="1"/>
      <p:bldP spid="47"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2196152" y="5563584"/>
            <a:ext cx="1385248" cy="254912"/>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Pins and Signals</a:t>
            </a:r>
          </a:p>
        </p:txBody>
      </p:sp>
      <p:sp>
        <p:nvSpPr>
          <p:cNvPr id="44" name="Slide Number Placeholder 43"/>
          <p:cNvSpPr>
            <a:spLocks noGrp="1"/>
          </p:cNvSpPr>
          <p:nvPr>
            <p:ph type="sldNum" sz="quarter" idx="12"/>
          </p:nvPr>
        </p:nvSpPr>
        <p:spPr/>
        <p:txBody>
          <a:bodyPr/>
          <a:lstStyle/>
          <a:p>
            <a:fld id="{85E6815B-E59C-4D87-B1F6-ECBDD22AF1DC}" type="slidenum">
              <a:rPr lang="en-US" smtClean="0"/>
              <a:pPr/>
              <a:t>10</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46" name="Rectangle 45"/>
          <p:cNvSpPr/>
          <p:nvPr/>
        </p:nvSpPr>
        <p:spPr>
          <a:xfrm>
            <a:off x="5791456" y="188879"/>
            <a:ext cx="2077813" cy="338554"/>
          </a:xfrm>
          <a:prstGeom prst="rect">
            <a:avLst/>
          </a:prstGeom>
          <a:solidFill>
            <a:srgbClr val="99CCFF"/>
          </a:solidFill>
        </p:spPr>
        <p:txBody>
          <a:bodyPr wrap="none">
            <a:spAutoFit/>
          </a:bodyPr>
          <a:lstStyle/>
          <a:p>
            <a:r>
              <a:rPr lang="en-US" sz="1600" b="1" dirty="0">
                <a:solidFill>
                  <a:srgbClr val="FF0000"/>
                </a:solidFill>
                <a:latin typeface="Verdana" pitchFamily="34" charset="0"/>
                <a:ea typeface="Verdana" pitchFamily="34" charset="0"/>
                <a:cs typeface="Verdana" pitchFamily="34" charset="0"/>
              </a:rPr>
              <a:t>Common signals</a:t>
            </a:r>
          </a:p>
        </p:txBody>
      </p:sp>
      <p:sp>
        <p:nvSpPr>
          <p:cNvPr id="47" name="Rectangle 46"/>
          <p:cNvSpPr/>
          <p:nvPr/>
        </p:nvSpPr>
        <p:spPr>
          <a:xfrm>
            <a:off x="4648200" y="800993"/>
            <a:ext cx="4343400" cy="1723549"/>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RESET (Input)</a:t>
            </a:r>
            <a:r>
              <a:rPr lang="en-US" dirty="0">
                <a:latin typeface="Verdana" pitchFamily="34" charset="0"/>
                <a:ea typeface="Verdana" pitchFamily="34" charset="0"/>
                <a:cs typeface="Verdana" pitchFamily="34" charset="0"/>
              </a:rPr>
              <a:t>  </a:t>
            </a:r>
          </a:p>
          <a:p>
            <a:endParaRPr lang="en-US"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Causes the processor to immediately terminate its present  activity. </a:t>
            </a: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The signal must be active HIGH for at least four clock cycles.</a:t>
            </a:r>
          </a:p>
        </p:txBody>
      </p:sp>
      <p:sp>
        <p:nvSpPr>
          <p:cNvPr id="10" name="Rectangle 9"/>
          <p:cNvSpPr/>
          <p:nvPr/>
        </p:nvSpPr>
        <p:spPr>
          <a:xfrm>
            <a:off x="4648200" y="2606695"/>
            <a:ext cx="4343400" cy="1508105"/>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CLK</a:t>
            </a:r>
          </a:p>
          <a:p>
            <a:pPr algn="ctr"/>
            <a:endParaRPr lang="en-US"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The clock input provides the basic timing for processor operation and bus control activity. Its an asymmetric square wave with 33% duty cycle.</a:t>
            </a:r>
          </a:p>
        </p:txBody>
      </p:sp>
      <p:sp>
        <p:nvSpPr>
          <p:cNvPr id="11" name="Rectangle 10"/>
          <p:cNvSpPr/>
          <p:nvPr/>
        </p:nvSpPr>
        <p:spPr>
          <a:xfrm>
            <a:off x="4648200" y="4191000"/>
            <a:ext cx="4343400" cy="2585323"/>
          </a:xfrm>
          <a:prstGeom prst="rect">
            <a:avLst/>
          </a:prstGeom>
          <a:ln w="28575">
            <a:solidFill>
              <a:schemeClr val="accent6">
                <a:lumMod val="75000"/>
              </a:schemeClr>
            </a:solidFill>
          </a:ln>
        </p:spPr>
        <p:txBody>
          <a:bodyPr wrap="square">
            <a:spAutoFit/>
          </a:bodyPr>
          <a:lstStyle/>
          <a:p>
            <a:pPr algn="ctr"/>
            <a:r>
              <a:rPr lang="en-US" b="1" dirty="0">
                <a:latin typeface="Verdana" pitchFamily="34" charset="0"/>
                <a:ea typeface="Verdana" pitchFamily="34" charset="0"/>
                <a:cs typeface="Verdana" pitchFamily="34" charset="0"/>
              </a:rPr>
              <a:t>INTR Interrupt Request  </a:t>
            </a:r>
          </a:p>
          <a:p>
            <a:endParaRPr lang="en-US"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This is a triggered input. This is sampled during the last clock cycles of each instruction to determine the availability of the request. If any interrupt request is pending, the processor enters the interrupt acknowledge cycle. </a:t>
            </a: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This signal is active high and internally synchronized.</a:t>
            </a:r>
          </a:p>
        </p:txBody>
      </p:sp>
      <p:pic>
        <p:nvPicPr>
          <p:cNvPr id="4" name="Picture 3">
            <a:extLst>
              <a:ext uri="{FF2B5EF4-FFF2-40B4-BE49-F238E27FC236}">
                <a16:creationId xmlns:a16="http://schemas.microsoft.com/office/drawing/2014/main" id="{41CE3C42-2FD9-41B9-976D-EEB6C8F9F8F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991" y="1012228"/>
            <a:ext cx="4389120" cy="5729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76544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1.38889E-6 -3.43201E-6 L 1.38889E-6 0.03677 " pathEditMode="relative" rAng="0" ptsTypes="AA">
                                      <p:cBhvr>
                                        <p:cTn id="6" dur="500" fill="hold"/>
                                        <p:tgtEl>
                                          <p:spTgt spid="48"/>
                                        </p:tgtEl>
                                        <p:attrNameLst>
                                          <p:attrName>ppt_x</p:attrName>
                                          <p:attrName>ppt_y</p:attrName>
                                        </p:attrNameLst>
                                      </p:cBhvr>
                                      <p:rCtr x="0" y="1827"/>
                                    </p:animMotion>
                                  </p:childTnLst>
                                </p:cTn>
                              </p:par>
                              <p:par>
                                <p:cTn id="7" presetID="10"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animEffect transition="in" filter="fade">
                                      <p:cBhvr>
                                        <p:cTn id="9" dur="500"/>
                                        <p:tgtEl>
                                          <p:spTgt spid="47"/>
                                        </p:tgtEl>
                                      </p:cBhvr>
                                    </p:animEffect>
                                  </p:childTnLst>
                                </p:cTn>
                              </p:par>
                            </p:childTnLst>
                          </p:cTn>
                        </p:par>
                      </p:childTnLst>
                    </p:cTn>
                  </p:par>
                  <p:par>
                    <p:cTn id="10" fill="hold">
                      <p:stCondLst>
                        <p:cond delay="indefinite"/>
                      </p:stCondLst>
                      <p:childTnLst>
                        <p:par>
                          <p:cTn id="11" fill="hold">
                            <p:stCondLst>
                              <p:cond delay="0"/>
                            </p:stCondLst>
                            <p:childTnLst>
                              <p:par>
                                <p:cTn id="12" presetID="35" presetClass="path" presetSubtype="0" accel="50000" decel="50000" fill="hold" grpId="1" nodeType="clickEffect">
                                  <p:stCondLst>
                                    <p:cond delay="0"/>
                                  </p:stCondLst>
                                  <p:childTnLst>
                                    <p:animMotion origin="layout" path="M 1.38889E-6 0.03677 L -0.25 0.03677 " pathEditMode="relative" rAng="0" ptsTypes="AA">
                                      <p:cBhvr>
                                        <p:cTn id="13" dur="500" fill="hold"/>
                                        <p:tgtEl>
                                          <p:spTgt spid="48"/>
                                        </p:tgtEl>
                                        <p:attrNameLst>
                                          <p:attrName>ppt_x</p:attrName>
                                          <p:attrName>ppt_y</p:attrName>
                                        </p:attrNameLst>
                                      </p:cBhvr>
                                      <p:rCtr x="-12500" y="0"/>
                                    </p:animMotion>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64" presetClass="path" presetSubtype="0" accel="50000" decel="50000" fill="hold" grpId="2" nodeType="withEffect">
                                  <p:stCondLst>
                                    <p:cond delay="0"/>
                                  </p:stCondLst>
                                  <p:childTnLst>
                                    <p:animMotion origin="layout" path="M -0.25 0.03677 L -0.25 0.00347 " pathEditMode="relative" rAng="0" ptsTypes="AA">
                                      <p:cBhvr>
                                        <p:cTn id="20" dur="500" fill="hold"/>
                                        <p:tgtEl>
                                          <p:spTgt spid="48"/>
                                        </p:tgtEl>
                                        <p:attrNameLst>
                                          <p:attrName>ppt_x</p:attrName>
                                          <p:attrName>ppt_y</p:attrName>
                                        </p:attrNameLst>
                                      </p:cBhvr>
                                      <p:rCtr x="0" y="-1665"/>
                                    </p:animMotion>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64" presetClass="path" presetSubtype="0" accel="50000" decel="50000" fill="hold" grpId="3" nodeType="withEffect">
                                  <p:stCondLst>
                                    <p:cond delay="0"/>
                                  </p:stCondLst>
                                  <p:childTnLst>
                                    <p:animMotion origin="layout" path="M -0.25 0.00347 L -0.25 -0.02983 " pathEditMode="relative" rAng="0" ptsTypes="AA">
                                      <p:cBhvr>
                                        <p:cTn id="27" dur="500" fill="hold"/>
                                        <p:tgtEl>
                                          <p:spTgt spid="48"/>
                                        </p:tgtEl>
                                        <p:attrNameLst>
                                          <p:attrName>ppt_x</p:attrName>
                                          <p:attrName>ppt_y</p:attrName>
                                        </p:attrNameLst>
                                      </p:cBhvr>
                                      <p:rCtr x="0" y="-1665"/>
                                    </p:animMotion>
                                  </p:childTnLst>
                                </p:cTn>
                              </p:par>
                            </p:childTnLst>
                          </p:cTn>
                        </p:par>
                      </p:childTnLst>
                    </p:cTn>
                  </p:par>
                  <p:par>
                    <p:cTn id="28" fill="hold">
                      <p:stCondLst>
                        <p:cond delay="indefinite"/>
                      </p:stCondLst>
                      <p:childTnLst>
                        <p:par>
                          <p:cTn id="29" fill="hold">
                            <p:stCondLst>
                              <p:cond delay="0"/>
                            </p:stCondLst>
                            <p:childTnLst>
                              <p:par>
                                <p:cTn id="30" presetID="64" presetClass="path" presetSubtype="0" accel="50000" decel="50000" fill="hold" grpId="4" nodeType="clickEffect">
                                  <p:stCondLst>
                                    <p:cond delay="0"/>
                                  </p:stCondLst>
                                  <p:childTnLst>
                                    <p:animMotion origin="layout" path="M -0.25 -0.02983 L -0.25 -0.06313 " pathEditMode="relative" rAng="0" ptsTypes="AA">
                                      <p:cBhvr>
                                        <p:cTn id="31" dur="500" fill="hold"/>
                                        <p:tgtEl>
                                          <p:spTgt spid="48"/>
                                        </p:tgtEl>
                                        <p:attrNameLst>
                                          <p:attrName>ppt_x</p:attrName>
                                          <p:attrName>ppt_y</p:attrName>
                                        </p:attrNameLst>
                                      </p:cBhvr>
                                      <p:rCtr x="0" y="-1665"/>
                                    </p:animMotion>
                                  </p:childTnLst>
                                </p:cTn>
                              </p:par>
                            </p:childTnLst>
                          </p:cTn>
                        </p:par>
                      </p:childTnLst>
                    </p:cTn>
                  </p:par>
                  <p:par>
                    <p:cTn id="32" fill="hold">
                      <p:stCondLst>
                        <p:cond delay="indefinite"/>
                      </p:stCondLst>
                      <p:childTnLst>
                        <p:par>
                          <p:cTn id="33" fill="hold">
                            <p:stCondLst>
                              <p:cond delay="0"/>
                            </p:stCondLst>
                            <p:childTnLst>
                              <p:par>
                                <p:cTn id="34" presetID="56" presetClass="path" presetSubtype="0" accel="50000" decel="50000" fill="hold" grpId="5" nodeType="clickEffect">
                                  <p:stCondLst>
                                    <p:cond delay="0"/>
                                  </p:stCondLst>
                                  <p:childTnLst>
                                    <p:animMotion origin="layout" path="M -0.25 -0.06521 L -0.00747 -0.57585 " pathEditMode="relative" rAng="0" ptsTypes="AA">
                                      <p:cBhvr>
                                        <p:cTn id="35" dur="500" fill="hold"/>
                                        <p:tgtEl>
                                          <p:spTgt spid="48"/>
                                        </p:tgtEl>
                                        <p:attrNameLst>
                                          <p:attrName>ppt_x</p:attrName>
                                          <p:attrName>ppt_y</p:attrName>
                                        </p:attrNameLst>
                                      </p:cBhvr>
                                      <p:rCtr x="12118" y="-2553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8" grpId="1" animBg="1"/>
      <p:bldP spid="48" grpId="2" animBg="1"/>
      <p:bldP spid="48" grpId="3" animBg="1"/>
      <p:bldP spid="48" grpId="4" animBg="1"/>
      <p:bldP spid="48" grpId="5" animBg="1"/>
      <p:bldP spid="47" grpId="0" animBg="1"/>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114800" y="990600"/>
            <a:ext cx="4572000" cy="881877"/>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Pins and Signals</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11</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pic>
        <p:nvPicPr>
          <p:cNvPr id="4098" name="Picture 2" descr="C:\Users\AMMU\Desktop\Microprocessor\8086.png"/>
          <p:cNvPicPr>
            <a:picLocks noChangeAspect="1" noChangeArrowheads="1"/>
          </p:cNvPicPr>
          <p:nvPr/>
        </p:nvPicPr>
        <p:blipFill rotWithShape="1">
          <a:blip r:embed="rId3">
            <a:extLst>
              <a:ext uri="{28A0092B-C50C-407E-A947-70E740481C1C}">
                <a14:useLocalDpi xmlns:a14="http://schemas.microsoft.com/office/drawing/2010/main" val="0"/>
              </a:ext>
            </a:extLst>
          </a:blip>
          <a:srcRect l="1" r="46893"/>
          <a:stretch/>
        </p:blipFill>
        <p:spPr bwMode="auto">
          <a:xfrm>
            <a:off x="33837" y="1868506"/>
            <a:ext cx="3014163" cy="415129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0" y="1752600"/>
            <a:ext cx="3200400" cy="1586552"/>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1541" y="5391150"/>
            <a:ext cx="3200400" cy="8382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541" y="3752848"/>
            <a:ext cx="1830341" cy="1638301"/>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6003507" y="138752"/>
            <a:ext cx="2249334" cy="400110"/>
          </a:xfrm>
          <a:prstGeom prst="rect">
            <a:avLst/>
          </a:prstGeom>
          <a:noFill/>
        </p:spPr>
        <p:txBody>
          <a:bodyPr wrap="none" rtlCol="0">
            <a:spAutoFit/>
          </a:bodyPr>
          <a:lstStyle/>
          <a:p>
            <a:r>
              <a:rPr lang="en-US" sz="2000" b="1" dirty="0">
                <a:latin typeface="Verdana" pitchFamily="34" charset="0"/>
                <a:ea typeface="Verdana" pitchFamily="34" charset="0"/>
                <a:cs typeface="Verdana" pitchFamily="34" charset="0"/>
              </a:rPr>
              <a:t>Min/ Max Pins</a:t>
            </a:r>
          </a:p>
        </p:txBody>
      </p:sp>
      <p:sp>
        <p:nvSpPr>
          <p:cNvPr id="6" name="Rectangle 5"/>
          <p:cNvSpPr/>
          <p:nvPr/>
        </p:nvSpPr>
        <p:spPr>
          <a:xfrm>
            <a:off x="4114800" y="1066800"/>
            <a:ext cx="4572000" cy="5047536"/>
          </a:xfrm>
          <a:prstGeom prst="rect">
            <a:avLst/>
          </a:prstGeom>
        </p:spPr>
        <p:txBody>
          <a:bodyPr>
            <a:spAutoFit/>
          </a:bodyPr>
          <a:lstStyle/>
          <a:p>
            <a:pPr algn="just"/>
            <a:r>
              <a:rPr lang="en-US" sz="1400" b="1" dirty="0">
                <a:latin typeface="Verdana" pitchFamily="34" charset="0"/>
                <a:ea typeface="Verdana" pitchFamily="34" charset="0"/>
                <a:cs typeface="Verdana" pitchFamily="34" charset="0"/>
              </a:rPr>
              <a:t>The 8086 microprocessor can work in two  modes of  operations : </a:t>
            </a:r>
            <a:r>
              <a:rPr lang="en-US" sz="1400" b="1" dirty="0">
                <a:solidFill>
                  <a:srgbClr val="FF0066"/>
                </a:solidFill>
                <a:latin typeface="Verdana" pitchFamily="34" charset="0"/>
                <a:ea typeface="Verdana" pitchFamily="34" charset="0"/>
                <a:cs typeface="Verdana" pitchFamily="34" charset="0"/>
              </a:rPr>
              <a:t>Minimum mode </a:t>
            </a:r>
            <a:r>
              <a:rPr lang="en-US" sz="1400" b="1" dirty="0">
                <a:latin typeface="Verdana" pitchFamily="34" charset="0"/>
                <a:ea typeface="Verdana" pitchFamily="34" charset="0"/>
                <a:cs typeface="Verdana" pitchFamily="34" charset="0"/>
              </a:rPr>
              <a:t>and </a:t>
            </a:r>
            <a:r>
              <a:rPr lang="en-US" sz="1400" b="1" dirty="0">
                <a:solidFill>
                  <a:srgbClr val="FF0066"/>
                </a:solidFill>
                <a:latin typeface="Verdana" pitchFamily="34" charset="0"/>
                <a:ea typeface="Verdana" pitchFamily="34" charset="0"/>
                <a:cs typeface="Verdana" pitchFamily="34" charset="0"/>
              </a:rPr>
              <a:t>Maximum mode</a:t>
            </a:r>
            <a:r>
              <a:rPr lang="en-US" sz="1400" b="1" dirty="0">
                <a:latin typeface="Verdana" pitchFamily="34" charset="0"/>
                <a:ea typeface="Verdana" pitchFamily="34" charset="0"/>
                <a:cs typeface="Verdana" pitchFamily="34" charset="0"/>
              </a:rPr>
              <a:t>. </a:t>
            </a:r>
          </a:p>
          <a:p>
            <a:pPr algn="just"/>
            <a:endParaRPr lang="en-US" sz="1400" b="1" dirty="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In the </a:t>
            </a:r>
            <a:r>
              <a:rPr lang="en-US" sz="1400" b="1" u="sng" dirty="0">
                <a:latin typeface="Verdana" pitchFamily="34" charset="0"/>
                <a:ea typeface="Verdana" pitchFamily="34" charset="0"/>
                <a:cs typeface="Verdana" pitchFamily="34" charset="0"/>
              </a:rPr>
              <a:t>minimum mode</a:t>
            </a:r>
            <a:r>
              <a:rPr lang="en-US" sz="1400" b="1" dirty="0">
                <a:latin typeface="Verdana" pitchFamily="34" charset="0"/>
                <a:ea typeface="Verdana" pitchFamily="34" charset="0"/>
                <a:cs typeface="Verdana" pitchFamily="34" charset="0"/>
              </a:rPr>
              <a:t> of operation the microprocessor </a:t>
            </a:r>
            <a:r>
              <a:rPr lang="en-US" sz="1400" b="1" u="sng" dirty="0">
                <a:latin typeface="Verdana" pitchFamily="34" charset="0"/>
                <a:ea typeface="Verdana" pitchFamily="34" charset="0"/>
                <a:cs typeface="Verdana" pitchFamily="34" charset="0"/>
              </a:rPr>
              <a:t>do not </a:t>
            </a:r>
            <a:r>
              <a:rPr lang="en-US" sz="1400" b="1" dirty="0">
                <a:latin typeface="Verdana" pitchFamily="34" charset="0"/>
                <a:ea typeface="Verdana" pitchFamily="34" charset="0"/>
                <a:cs typeface="Verdana" pitchFamily="34" charset="0"/>
              </a:rPr>
              <a:t>associate with any co-processors   and can not be used for multiprocessor   systems. </a:t>
            </a:r>
          </a:p>
          <a:p>
            <a:pPr algn="just"/>
            <a:endParaRPr lang="en-US" sz="1400" b="1" dirty="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In the </a:t>
            </a:r>
            <a:r>
              <a:rPr lang="en-US" sz="1400" b="1" u="sng" dirty="0">
                <a:latin typeface="Verdana" pitchFamily="34" charset="0"/>
                <a:ea typeface="Verdana" pitchFamily="34" charset="0"/>
                <a:cs typeface="Verdana" pitchFamily="34" charset="0"/>
              </a:rPr>
              <a:t>maximum mode</a:t>
            </a:r>
            <a:r>
              <a:rPr lang="en-US" sz="1400" b="1" dirty="0">
                <a:latin typeface="Verdana" pitchFamily="34" charset="0"/>
                <a:ea typeface="Verdana" pitchFamily="34" charset="0"/>
                <a:cs typeface="Verdana" pitchFamily="34" charset="0"/>
              </a:rPr>
              <a:t> the 8086 </a:t>
            </a:r>
            <a:r>
              <a:rPr lang="en-US" sz="1400" b="1" u="sng" dirty="0">
                <a:latin typeface="Verdana" pitchFamily="34" charset="0"/>
                <a:ea typeface="Verdana" pitchFamily="34" charset="0"/>
                <a:cs typeface="Verdana" pitchFamily="34" charset="0"/>
              </a:rPr>
              <a:t>can work</a:t>
            </a:r>
            <a:r>
              <a:rPr lang="en-US" sz="1400" b="1" dirty="0">
                <a:latin typeface="Verdana" pitchFamily="34" charset="0"/>
                <a:ea typeface="Verdana" pitchFamily="34" charset="0"/>
                <a:cs typeface="Verdana" pitchFamily="34" charset="0"/>
              </a:rPr>
              <a:t> in multi-processor or co-processor   configuration. </a:t>
            </a:r>
          </a:p>
          <a:p>
            <a:pPr algn="just"/>
            <a:endParaRPr lang="en-US" sz="1400" b="1" dirty="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Minimum  or maximum mode operations  are decided by the pin MN/ MX(Active low). </a:t>
            </a:r>
          </a:p>
          <a:p>
            <a:pPr algn="just"/>
            <a:endParaRPr lang="en-US" sz="1400" b="1" dirty="0">
              <a:latin typeface="Verdana" pitchFamily="34" charset="0"/>
              <a:ea typeface="Verdana" pitchFamily="34" charset="0"/>
              <a:cs typeface="Verdana" pitchFamily="34" charset="0"/>
            </a:endParaRP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When this pin is </a:t>
            </a:r>
            <a:r>
              <a:rPr lang="en-US" sz="1400" b="1" u="sng" dirty="0">
                <a:latin typeface="Verdana" pitchFamily="34" charset="0"/>
                <a:ea typeface="Verdana" pitchFamily="34" charset="0"/>
                <a:cs typeface="Verdana" pitchFamily="34" charset="0"/>
              </a:rPr>
              <a:t>high</a:t>
            </a:r>
            <a:r>
              <a:rPr lang="en-US" sz="1400" b="1" dirty="0">
                <a:latin typeface="Verdana" pitchFamily="34" charset="0"/>
                <a:ea typeface="Verdana" pitchFamily="34" charset="0"/>
                <a:cs typeface="Verdana" pitchFamily="34" charset="0"/>
              </a:rPr>
              <a:t> 8086 operates in </a:t>
            </a:r>
            <a:r>
              <a:rPr lang="en-US" sz="1400" b="1" u="sng" dirty="0">
                <a:latin typeface="Verdana" pitchFamily="34" charset="0"/>
                <a:ea typeface="Verdana" pitchFamily="34" charset="0"/>
                <a:cs typeface="Verdana" pitchFamily="34" charset="0"/>
              </a:rPr>
              <a:t>minimum mode</a:t>
            </a:r>
            <a:r>
              <a:rPr lang="en-US" sz="1400" b="1" dirty="0">
                <a:latin typeface="Verdana" pitchFamily="34" charset="0"/>
                <a:ea typeface="Verdana" pitchFamily="34" charset="0"/>
                <a:cs typeface="Verdana" pitchFamily="34" charset="0"/>
              </a:rPr>
              <a:t>  otherwise it operates in Maximum mode.</a:t>
            </a:r>
          </a:p>
        </p:txBody>
      </p:sp>
      <p:sp>
        <p:nvSpPr>
          <p:cNvPr id="21" name="Rectangle 20"/>
          <p:cNvSpPr/>
          <p:nvPr/>
        </p:nvSpPr>
        <p:spPr>
          <a:xfrm>
            <a:off x="1351129" y="3557872"/>
            <a:ext cx="1890215" cy="16228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0" y="3352800"/>
            <a:ext cx="1022294" cy="367352"/>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27068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4"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42" presetClass="path" presetSubtype="0" accel="50000" decel="50000" fill="hold" grpId="0" nodeType="clickEffect">
                                  <p:stCondLst>
                                    <p:cond delay="0"/>
                                  </p:stCondLst>
                                  <p:childTnLst>
                                    <p:animMotion origin="layout" path="M 0 -3.14524E-6 L 0 0.16883 " pathEditMode="relative" rAng="0" ptsTypes="AA">
                                      <p:cBhvr>
                                        <p:cTn id="12" dur="500" fill="hold"/>
                                        <p:tgtEl>
                                          <p:spTgt spid="7"/>
                                        </p:tgtEl>
                                        <p:attrNameLst>
                                          <p:attrName>ppt_x</p:attrName>
                                          <p:attrName>ppt_y</p:attrName>
                                        </p:attrNameLst>
                                      </p:cBhvr>
                                      <p:rCtr x="0" y="8441"/>
                                    </p:animMotion>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grpId="1" nodeType="clickEffect">
                                  <p:stCondLst>
                                    <p:cond delay="0"/>
                                  </p:stCondLst>
                                  <p:childTnLst>
                                    <p:animMotion origin="layout" path="M 0 0.16883 L 0 0.34644 " pathEditMode="relative" rAng="0" ptsTypes="AA">
                                      <p:cBhvr>
                                        <p:cTn id="16" dur="500" fill="hold"/>
                                        <p:tgtEl>
                                          <p:spTgt spid="7"/>
                                        </p:tgtEl>
                                        <p:attrNameLst>
                                          <p:attrName>ppt_x</p:attrName>
                                          <p:attrName>ppt_y</p:attrName>
                                        </p:attrNameLst>
                                      </p:cBhvr>
                                      <p:rCtr x="0" y="8881"/>
                                    </p:animMotion>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grpId="2" nodeType="clickEffect">
                                  <p:stCondLst>
                                    <p:cond delay="0"/>
                                  </p:stCondLst>
                                  <p:childTnLst>
                                    <p:animMotion origin="layout" path="M 0 0.34644 L 0 0.47965 " pathEditMode="relative" rAng="0" ptsTypes="AA">
                                      <p:cBhvr>
                                        <p:cTn id="20" dur="500" fill="hold"/>
                                        <p:tgtEl>
                                          <p:spTgt spid="7"/>
                                        </p:tgtEl>
                                        <p:attrNameLst>
                                          <p:attrName>ppt_x</p:attrName>
                                          <p:attrName>ppt_y</p:attrName>
                                        </p:attrNameLst>
                                      </p:cBhvr>
                                      <p:rCtr x="0" y="6660"/>
                                    </p:animMotion>
                                  </p:childTnLst>
                                </p:cTn>
                              </p:par>
                            </p:childTnLst>
                          </p:cTn>
                        </p:par>
                      </p:childTnLst>
                    </p:cTn>
                  </p:par>
                  <p:par>
                    <p:cTn id="21" fill="hold">
                      <p:stCondLst>
                        <p:cond delay="indefinite"/>
                      </p:stCondLst>
                      <p:childTnLst>
                        <p:par>
                          <p:cTn id="22" fill="hold">
                            <p:stCondLst>
                              <p:cond delay="0"/>
                            </p:stCondLst>
                            <p:childTnLst>
                              <p:par>
                                <p:cTn id="23" presetID="42" presetClass="path" presetSubtype="0" accel="50000" decel="50000" fill="hold" grpId="3" nodeType="clickEffect">
                                  <p:stCondLst>
                                    <p:cond delay="0"/>
                                  </p:stCondLst>
                                  <p:childTnLst>
                                    <p:animMotion origin="layout" path="M 0 0.47965 L 0 0.62396 " pathEditMode="relative" rAng="0" ptsTypes="AA">
                                      <p:cBhvr>
                                        <p:cTn id="24" dur="500" fill="hold"/>
                                        <p:tgtEl>
                                          <p:spTgt spid="7"/>
                                        </p:tgtEl>
                                        <p:attrNameLst>
                                          <p:attrName>ppt_x</p:attrName>
                                          <p:attrName>ppt_y</p:attrName>
                                        </p:attrNameLst>
                                      </p:cBhvr>
                                      <p:rCtr x="0" y="721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7" grpId="3" animBg="1"/>
      <p:bldP spid="7" grpId="4" animBg="1"/>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p:cNvSpPr/>
          <p:nvPr/>
        </p:nvSpPr>
        <p:spPr>
          <a:xfrm>
            <a:off x="1698172" y="4539344"/>
            <a:ext cx="1295400" cy="242084"/>
          </a:xfrm>
          <a:prstGeom prst="rect">
            <a:avLst/>
          </a:prstGeom>
          <a:solidFill>
            <a:srgbClr val="99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Pins and Signals</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12</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pic>
        <p:nvPicPr>
          <p:cNvPr id="4098" name="Picture 2" descr="C:\Users\AMMU\Desktop\Microprocessor\8086.png"/>
          <p:cNvPicPr>
            <a:picLocks noChangeAspect="1" noChangeArrowheads="1"/>
          </p:cNvPicPr>
          <p:nvPr/>
        </p:nvPicPr>
        <p:blipFill rotWithShape="1">
          <a:blip r:embed="rId3">
            <a:extLst>
              <a:ext uri="{28A0092B-C50C-407E-A947-70E740481C1C}">
                <a14:useLocalDpi xmlns:a14="http://schemas.microsoft.com/office/drawing/2010/main" val="0"/>
              </a:ext>
            </a:extLst>
          </a:blip>
          <a:srcRect l="1" r="46893"/>
          <a:stretch/>
        </p:blipFill>
        <p:spPr bwMode="auto">
          <a:xfrm>
            <a:off x="33837" y="1868506"/>
            <a:ext cx="3014163" cy="415129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5" name="TextBox 44"/>
              <p:cNvSpPr txBox="1"/>
              <p:nvPr/>
            </p:nvSpPr>
            <p:spPr>
              <a:xfrm>
                <a:off x="3429000" y="762000"/>
                <a:ext cx="5334000" cy="1384995"/>
              </a:xfrm>
              <a:prstGeom prst="rect">
                <a:avLst/>
              </a:prstGeom>
              <a:solidFill>
                <a:srgbClr val="FFFFCC"/>
              </a:solidFill>
            </p:spPr>
            <p:txBody>
              <a:bodyPr wrap="square" rtlCol="0">
                <a:spAutoFit/>
              </a:bodyPr>
              <a:lstStyle/>
              <a:p>
                <a:pPr algn="ctr"/>
                <a:r>
                  <a:rPr lang="en-US" sz="1400" b="1" dirty="0">
                    <a:latin typeface="Verdana" pitchFamily="34" charset="0"/>
                    <a:ea typeface="Verdana" pitchFamily="34" charset="0"/>
                    <a:cs typeface="Verdana" pitchFamily="34" charset="0"/>
                  </a:rPr>
                  <a:t>Pins 24 -31</a:t>
                </a:r>
              </a:p>
              <a:p>
                <a:pPr algn="ctr"/>
                <a:endParaRPr lang="en-US" sz="1400" b="1" dirty="0">
                  <a:latin typeface="Verdana" pitchFamily="34" charset="0"/>
                  <a:ea typeface="Verdana" pitchFamily="34" charset="0"/>
                  <a:cs typeface="Verdana" pitchFamily="34" charset="0"/>
                </a:endParaRPr>
              </a:p>
              <a:p>
                <a:pPr algn="ctr"/>
                <a:r>
                  <a:rPr lang="en-US" sz="1400" b="1" dirty="0">
                    <a:latin typeface="Verdana" pitchFamily="34" charset="0"/>
                    <a:ea typeface="Verdana" pitchFamily="34" charset="0"/>
                    <a:cs typeface="Verdana" pitchFamily="34" charset="0"/>
                  </a:rPr>
                  <a:t>For minimum mode operation, the MN/ </a:t>
                </a:r>
                <a14:m>
                  <m:oMath xmlns:m="http://schemas.openxmlformats.org/officeDocument/2006/math">
                    <m:acc>
                      <m:accPr>
                        <m:chr m:val="̅"/>
                        <m:ctrlPr>
                          <a:rPr lang="en-US" sz="1400" b="1" i="1" dirty="0" smtClean="0">
                            <a:latin typeface="Cambria Math" panose="02040503050406030204" pitchFamily="18" charset="0"/>
                          </a:rPr>
                        </m:ctrlPr>
                      </m:accPr>
                      <m:e>
                        <m:r>
                          <a:rPr lang="en-US" sz="1400" b="1" i="0" dirty="0" smtClean="0">
                            <a:latin typeface="Cambria Math"/>
                          </a:rPr>
                          <m:t>𝐌𝐗</m:t>
                        </m:r>
                      </m:e>
                    </m:acc>
                  </m:oMath>
                </a14:m>
                <a:r>
                  <a:rPr lang="en-US" sz="1400" b="1" dirty="0">
                    <a:latin typeface="Verdana" pitchFamily="34" charset="0"/>
                    <a:ea typeface="Verdana" pitchFamily="34" charset="0"/>
                    <a:cs typeface="Verdana" pitchFamily="34" charset="0"/>
                  </a:rPr>
                  <a:t> is tied to VCC (logic high)</a:t>
                </a:r>
              </a:p>
              <a:p>
                <a:pPr algn="ctr"/>
                <a:endParaRPr lang="en-US" sz="1400" b="1" dirty="0">
                  <a:latin typeface="Verdana" pitchFamily="34" charset="0"/>
                  <a:ea typeface="Verdana" pitchFamily="34" charset="0"/>
                  <a:cs typeface="Verdana" pitchFamily="34" charset="0"/>
                </a:endParaRPr>
              </a:p>
              <a:p>
                <a:pPr algn="ctr"/>
                <a:r>
                  <a:rPr lang="en-US" sz="1400" b="1" dirty="0">
                    <a:latin typeface="Verdana" pitchFamily="34" charset="0"/>
                    <a:ea typeface="Verdana" pitchFamily="34" charset="0"/>
                    <a:cs typeface="Verdana" pitchFamily="34" charset="0"/>
                  </a:rPr>
                  <a:t>8086 itself generates all the bus control signals</a:t>
                </a:r>
              </a:p>
            </p:txBody>
          </p:sp>
        </mc:Choice>
        <mc:Fallback xmlns="">
          <p:sp>
            <p:nvSpPr>
              <p:cNvPr id="45" name="TextBox 44"/>
              <p:cNvSpPr txBox="1">
                <a:spLocks noRot="1" noChangeAspect="1" noMove="1" noResize="1" noEditPoints="1" noAdjustHandles="1" noChangeArrowheads="1" noChangeShapeType="1" noTextEdit="1"/>
              </p:cNvSpPr>
              <p:nvPr/>
            </p:nvSpPr>
            <p:spPr>
              <a:xfrm>
                <a:off x="3429000" y="762000"/>
                <a:ext cx="5334000" cy="1384995"/>
              </a:xfrm>
              <a:prstGeom prst="rect">
                <a:avLst/>
              </a:prstGeom>
              <a:blipFill>
                <a:blip r:embed="rId4"/>
                <a:stretch>
                  <a:fillRect t="-881" b="-35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47" name="Table 46"/>
              <p:cNvGraphicFramePr>
                <a:graphicFrameLocks noGrp="1"/>
              </p:cNvGraphicFramePr>
              <p:nvPr/>
            </p:nvGraphicFramePr>
            <p:xfrm>
              <a:off x="3385457" y="2377440"/>
              <a:ext cx="5529943" cy="64008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r>
                            <a:rPr lang="en-US" sz="1200" i="0" dirty="0">
                              <a:solidFill>
                                <a:srgbClr val="FF0066"/>
                              </a:solidFill>
                              <a:latin typeface="Verdana" pitchFamily="34" charset="0"/>
                              <a:ea typeface="Verdana" pitchFamily="34" charset="0"/>
                              <a:cs typeface="Verdana" pitchFamily="34" charset="0"/>
                            </a:rPr>
                            <a:t>DT/</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𝐑</m:t>
                                  </m:r>
                                </m:e>
                              </m:acc>
                            </m:oMath>
                          </a14:m>
                          <a:endParaRPr lang="en-US" sz="1200" i="0" dirty="0">
                            <a:solidFill>
                              <a:sysClr val="windowText" lastClr="000000"/>
                            </a:solidFill>
                            <a:latin typeface="Verdana" pitchFamily="34" charset="0"/>
                            <a:ea typeface="Verdana" pitchFamily="34" charset="0"/>
                            <a:cs typeface="Verdana" pitchFamily="34" charset="0"/>
                          </a:endParaRPr>
                        </a:p>
                      </a:txBody>
                      <a:tcPr>
                        <a:noFill/>
                      </a:tcPr>
                    </a:tc>
                    <a:tc>
                      <a:txBody>
                        <a:bodyPr/>
                        <a:lstStyle/>
                        <a:p>
                          <a:r>
                            <a:rPr lang="en-US" sz="1200" dirty="0">
                              <a:solidFill>
                                <a:sysClr val="windowText" lastClr="000000"/>
                              </a:solidFill>
                              <a:latin typeface="Verdana" pitchFamily="34" charset="0"/>
                              <a:ea typeface="Verdana" pitchFamily="34" charset="0"/>
                              <a:cs typeface="Verdana" pitchFamily="34" charset="0"/>
                            </a:rPr>
                            <a:t>(</a:t>
                          </a:r>
                          <a:r>
                            <a:rPr lang="en-US" sz="1200" dirty="0">
                              <a:solidFill>
                                <a:srgbClr val="FF0066"/>
                              </a:solidFill>
                              <a:latin typeface="Verdana" pitchFamily="34" charset="0"/>
                              <a:ea typeface="Verdana" pitchFamily="34" charset="0"/>
                              <a:cs typeface="Verdana" pitchFamily="34" charset="0"/>
                            </a:rPr>
                            <a:t>Data Transmit/ Receive</a:t>
                          </a:r>
                          <a:r>
                            <a:rPr lang="en-US" sz="1200" dirty="0">
                              <a:solidFill>
                                <a:sysClr val="windowText" lastClr="000000"/>
                              </a:solidFill>
                              <a:latin typeface="Verdana" pitchFamily="34" charset="0"/>
                              <a:ea typeface="Verdana" pitchFamily="34" charset="0"/>
                              <a:cs typeface="Verdana" pitchFamily="34" charset="0"/>
                            </a:rPr>
                            <a:t>) Output signal from the processor to control the direction of data flow through the data transceivers</a:t>
                          </a:r>
                        </a:p>
                      </a:txBody>
                      <a:tcPr>
                        <a:noFill/>
                      </a:tcPr>
                    </a:tc>
                    <a:extLst>
                      <a:ext uri="{0D108BD9-81ED-4DB2-BD59-A6C34878D82A}">
                        <a16:rowId xmlns:a16="http://schemas.microsoft.com/office/drawing/2014/main" val="10000"/>
                      </a:ext>
                    </a:extLst>
                  </a:tr>
                </a:tbl>
              </a:graphicData>
            </a:graphic>
          </p:graphicFrame>
        </mc:Choice>
        <mc:Fallback xmlns="">
          <p:graphicFrame>
            <p:nvGraphicFramePr>
              <p:cNvPr id="47" name="Table 46"/>
              <p:cNvGraphicFramePr>
                <a:graphicFrameLocks noGrp="1"/>
              </p:cNvGraphicFramePr>
              <p:nvPr/>
            </p:nvGraphicFramePr>
            <p:xfrm>
              <a:off x="3385457" y="2377440"/>
              <a:ext cx="5529943" cy="64008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640080">
                    <a:tc>
                      <a:txBody>
                        <a:bodyPr/>
                        <a:lstStyle/>
                        <a:p>
                          <a:endParaRPr lang="en-US"/>
                        </a:p>
                      </a:txBody>
                      <a:tcPr>
                        <a:blipFill>
                          <a:blip r:embed="rId5"/>
                          <a:stretch>
                            <a:fillRect l="-649" t="-1905" r="-492208" b="-7619"/>
                          </a:stretch>
                        </a:blipFill>
                      </a:tcPr>
                    </a:tc>
                    <a:tc>
                      <a:txBody>
                        <a:bodyPr/>
                        <a:lstStyle/>
                        <a:p>
                          <a:r>
                            <a:rPr lang="en-US" sz="1200" dirty="0">
                              <a:solidFill>
                                <a:sysClr val="windowText" lastClr="000000"/>
                              </a:solidFill>
                              <a:latin typeface="Verdana" pitchFamily="34" charset="0"/>
                              <a:ea typeface="Verdana" pitchFamily="34" charset="0"/>
                              <a:cs typeface="Verdana" pitchFamily="34" charset="0"/>
                            </a:rPr>
                            <a:t>(</a:t>
                          </a:r>
                          <a:r>
                            <a:rPr lang="en-US" sz="1200" dirty="0">
                              <a:solidFill>
                                <a:srgbClr val="FF0066"/>
                              </a:solidFill>
                              <a:latin typeface="Verdana" pitchFamily="34" charset="0"/>
                              <a:ea typeface="Verdana" pitchFamily="34" charset="0"/>
                              <a:cs typeface="Verdana" pitchFamily="34" charset="0"/>
                            </a:rPr>
                            <a:t>Data Transmit/ Receive</a:t>
                          </a:r>
                          <a:r>
                            <a:rPr lang="en-US" sz="1200" dirty="0">
                              <a:solidFill>
                                <a:sysClr val="windowText" lastClr="000000"/>
                              </a:solidFill>
                              <a:latin typeface="Verdana" pitchFamily="34" charset="0"/>
                              <a:ea typeface="Verdana" pitchFamily="34" charset="0"/>
                              <a:cs typeface="Verdana" pitchFamily="34" charset="0"/>
                            </a:rPr>
                            <a:t>) Output signal from the processor to control the direction of data flow through the data transceivers</a:t>
                          </a:r>
                        </a:p>
                      </a:txBody>
                      <a:tcPr>
                        <a:noFill/>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9" name="Table 48"/>
              <p:cNvGraphicFramePr>
                <a:graphicFrameLocks noGrp="1"/>
              </p:cNvGraphicFramePr>
              <p:nvPr/>
            </p:nvGraphicFramePr>
            <p:xfrm>
              <a:off x="3385457" y="3215640"/>
              <a:ext cx="5529943" cy="45720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𝐃𝐄𝐍</m:t>
                                    </m:r>
                                  </m:e>
                                </m:acc>
                              </m:oMath>
                            </m:oMathPara>
                          </a14:m>
                          <a:endParaRPr lang="en-US" sz="1200" i="0" dirty="0">
                            <a:solidFill>
                              <a:srgbClr val="FF0066"/>
                            </a:solidFill>
                            <a:latin typeface="Verdana" pitchFamily="34" charset="0"/>
                            <a:ea typeface="Verdana" pitchFamily="34" charset="0"/>
                            <a:cs typeface="Verdana" pitchFamily="34" charset="0"/>
                          </a:endParaRPr>
                        </a:p>
                      </a:txBody>
                      <a:tcPr>
                        <a:noFill/>
                      </a:tcPr>
                    </a:tc>
                    <a:tc>
                      <a:txBody>
                        <a:bodyPr/>
                        <a:lstStyle/>
                        <a:p>
                          <a:r>
                            <a:rPr lang="en-US" sz="1200" dirty="0">
                              <a:solidFill>
                                <a:sysClr val="windowText" lastClr="000000"/>
                              </a:solidFill>
                              <a:latin typeface="Verdana" pitchFamily="34" charset="0"/>
                              <a:ea typeface="Verdana" pitchFamily="34" charset="0"/>
                              <a:cs typeface="Verdana" pitchFamily="34" charset="0"/>
                            </a:rPr>
                            <a:t>(</a:t>
                          </a:r>
                          <a:r>
                            <a:rPr lang="en-US" sz="1200" dirty="0">
                              <a:solidFill>
                                <a:srgbClr val="FF0066"/>
                              </a:solidFill>
                              <a:latin typeface="Verdana" pitchFamily="34" charset="0"/>
                              <a:ea typeface="Verdana" pitchFamily="34" charset="0"/>
                              <a:cs typeface="Verdana" pitchFamily="34" charset="0"/>
                            </a:rPr>
                            <a:t>Data Enable</a:t>
                          </a:r>
                          <a:r>
                            <a:rPr lang="en-US" sz="1200" dirty="0">
                              <a:solidFill>
                                <a:sysClr val="windowText" lastClr="000000"/>
                              </a:solidFill>
                              <a:latin typeface="Verdana" pitchFamily="34" charset="0"/>
                              <a:ea typeface="Verdana" pitchFamily="34" charset="0"/>
                              <a:cs typeface="Verdana" pitchFamily="34" charset="0"/>
                            </a:rPr>
                            <a:t>) Output signal</a:t>
                          </a:r>
                          <a:r>
                            <a:rPr lang="en-US" sz="1200" baseline="0" dirty="0">
                              <a:solidFill>
                                <a:sysClr val="windowText" lastClr="000000"/>
                              </a:solidFill>
                              <a:latin typeface="Verdana" pitchFamily="34" charset="0"/>
                              <a:ea typeface="Verdana" pitchFamily="34" charset="0"/>
                              <a:cs typeface="Verdana" pitchFamily="34" charset="0"/>
                            </a:rPr>
                            <a:t> from the processor used as out put enable for the transceivers</a:t>
                          </a:r>
                          <a:endParaRPr lang="en-US" sz="1200" dirty="0">
                            <a:solidFill>
                              <a:sysClr val="windowText" lastClr="000000"/>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mc:Choice>
        <mc:Fallback xmlns="">
          <p:graphicFrame>
            <p:nvGraphicFramePr>
              <p:cNvPr id="49" name="Table 48"/>
              <p:cNvGraphicFramePr>
                <a:graphicFrameLocks noGrp="1"/>
              </p:cNvGraphicFramePr>
              <p:nvPr/>
            </p:nvGraphicFramePr>
            <p:xfrm>
              <a:off x="3385457" y="3215640"/>
              <a:ext cx="5529943" cy="45720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457200">
                    <a:tc>
                      <a:txBody>
                        <a:bodyPr/>
                        <a:lstStyle/>
                        <a:p>
                          <a:endParaRPr lang="en-US"/>
                        </a:p>
                      </a:txBody>
                      <a:tcPr>
                        <a:blipFill>
                          <a:blip r:embed="rId6"/>
                          <a:stretch>
                            <a:fillRect l="-649" t="-1316" r="-492208" b="-9211"/>
                          </a:stretch>
                        </a:blipFill>
                      </a:tcPr>
                    </a:tc>
                    <a:tc>
                      <a:txBody>
                        <a:bodyPr/>
                        <a:lstStyle/>
                        <a:p>
                          <a:r>
                            <a:rPr lang="en-US" sz="1200" dirty="0">
                              <a:solidFill>
                                <a:sysClr val="windowText" lastClr="000000"/>
                              </a:solidFill>
                              <a:latin typeface="Verdana" pitchFamily="34" charset="0"/>
                              <a:ea typeface="Verdana" pitchFamily="34" charset="0"/>
                              <a:cs typeface="Verdana" pitchFamily="34" charset="0"/>
                            </a:rPr>
                            <a:t>(</a:t>
                          </a:r>
                          <a:r>
                            <a:rPr lang="en-US" sz="1200" dirty="0">
                              <a:solidFill>
                                <a:srgbClr val="FF0066"/>
                              </a:solidFill>
                              <a:latin typeface="Verdana" pitchFamily="34" charset="0"/>
                              <a:ea typeface="Verdana" pitchFamily="34" charset="0"/>
                              <a:cs typeface="Verdana" pitchFamily="34" charset="0"/>
                            </a:rPr>
                            <a:t>Data Enable</a:t>
                          </a:r>
                          <a:r>
                            <a:rPr lang="en-US" sz="1200" dirty="0">
                              <a:solidFill>
                                <a:sysClr val="windowText" lastClr="000000"/>
                              </a:solidFill>
                              <a:latin typeface="Verdana" pitchFamily="34" charset="0"/>
                              <a:ea typeface="Verdana" pitchFamily="34" charset="0"/>
                              <a:cs typeface="Verdana" pitchFamily="34" charset="0"/>
                            </a:rPr>
                            <a:t>) Output signal</a:t>
                          </a:r>
                          <a:r>
                            <a:rPr lang="en-US" sz="1200" baseline="0" dirty="0">
                              <a:solidFill>
                                <a:sysClr val="windowText" lastClr="000000"/>
                              </a:solidFill>
                              <a:latin typeface="Verdana" pitchFamily="34" charset="0"/>
                              <a:ea typeface="Verdana" pitchFamily="34" charset="0"/>
                              <a:cs typeface="Verdana" pitchFamily="34" charset="0"/>
                            </a:rPr>
                            <a:t> from the processor used as out put enable for the transceivers</a:t>
                          </a:r>
                          <a:endParaRPr lang="en-US" sz="1200" dirty="0">
                            <a:solidFill>
                              <a:sysClr val="windowText" lastClr="000000"/>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mc:Fallback>
      </mc:AlternateContent>
      <p:graphicFrame>
        <p:nvGraphicFramePr>
          <p:cNvPr id="50" name="Table 49"/>
          <p:cNvGraphicFramePr>
            <a:graphicFrameLocks noGrp="1"/>
          </p:cNvGraphicFramePr>
          <p:nvPr/>
        </p:nvGraphicFramePr>
        <p:xfrm>
          <a:off x="3385457" y="3855720"/>
          <a:ext cx="5529943" cy="45720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r>
                        <a:rPr lang="en-US" sz="1200" i="0" dirty="0">
                          <a:solidFill>
                            <a:srgbClr val="FF0066"/>
                          </a:solidFill>
                          <a:latin typeface="Verdana" pitchFamily="34" charset="0"/>
                          <a:ea typeface="Verdana" pitchFamily="34" charset="0"/>
                          <a:cs typeface="Verdana" pitchFamily="34" charset="0"/>
                        </a:rPr>
                        <a:t>ALE</a:t>
                      </a:r>
                    </a:p>
                  </a:txBody>
                  <a:tcPr>
                    <a:noFill/>
                  </a:tcPr>
                </a:tc>
                <a:tc>
                  <a:txBody>
                    <a:bodyPr/>
                    <a:lstStyle/>
                    <a:p>
                      <a:r>
                        <a:rPr lang="en-US" sz="1200" dirty="0">
                          <a:solidFill>
                            <a:sysClr val="windowText" lastClr="000000"/>
                          </a:solidFill>
                          <a:latin typeface="Verdana" pitchFamily="34" charset="0"/>
                          <a:ea typeface="Verdana" pitchFamily="34" charset="0"/>
                          <a:cs typeface="Verdana" pitchFamily="34" charset="0"/>
                        </a:rPr>
                        <a:t>(</a:t>
                      </a:r>
                      <a:r>
                        <a:rPr lang="en-US" sz="1200" dirty="0">
                          <a:solidFill>
                            <a:srgbClr val="FF0066"/>
                          </a:solidFill>
                          <a:latin typeface="Verdana" pitchFamily="34" charset="0"/>
                          <a:ea typeface="Verdana" pitchFamily="34" charset="0"/>
                          <a:cs typeface="Verdana" pitchFamily="34" charset="0"/>
                        </a:rPr>
                        <a:t>Address Latch Enable</a:t>
                      </a:r>
                      <a:r>
                        <a:rPr lang="en-US" sz="1200" dirty="0">
                          <a:solidFill>
                            <a:schemeClr val="tx1"/>
                          </a:solidFill>
                          <a:latin typeface="Verdana" pitchFamily="34" charset="0"/>
                          <a:ea typeface="Verdana" pitchFamily="34" charset="0"/>
                          <a:cs typeface="Verdana" pitchFamily="34" charset="0"/>
                        </a:rPr>
                        <a:t>) Used</a:t>
                      </a:r>
                      <a:r>
                        <a:rPr lang="en-US" sz="1200" baseline="0" dirty="0">
                          <a:solidFill>
                            <a:schemeClr val="tx1"/>
                          </a:solidFill>
                          <a:latin typeface="Verdana" pitchFamily="34" charset="0"/>
                          <a:ea typeface="Verdana" pitchFamily="34" charset="0"/>
                          <a:cs typeface="Verdana" pitchFamily="34" charset="0"/>
                        </a:rPr>
                        <a:t> to </a:t>
                      </a:r>
                      <a:r>
                        <a:rPr lang="en-US" sz="1200" baseline="0" dirty="0" err="1">
                          <a:solidFill>
                            <a:schemeClr val="tx1"/>
                          </a:solidFill>
                          <a:latin typeface="Verdana" pitchFamily="34" charset="0"/>
                          <a:ea typeface="Verdana" pitchFamily="34" charset="0"/>
                          <a:cs typeface="Verdana" pitchFamily="34" charset="0"/>
                        </a:rPr>
                        <a:t>demultiplex</a:t>
                      </a:r>
                      <a:r>
                        <a:rPr lang="en-US" sz="1200" baseline="0" dirty="0">
                          <a:solidFill>
                            <a:schemeClr val="tx1"/>
                          </a:solidFill>
                          <a:latin typeface="Verdana" pitchFamily="34" charset="0"/>
                          <a:ea typeface="Verdana" pitchFamily="34" charset="0"/>
                          <a:cs typeface="Verdana" pitchFamily="34" charset="0"/>
                        </a:rPr>
                        <a:t> the address and data lines using external latches</a:t>
                      </a:r>
                      <a:endParaRPr lang="en-US" sz="1200" dirty="0">
                        <a:solidFill>
                          <a:schemeClr val="tx1"/>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51" name="Table 50"/>
              <p:cNvGraphicFramePr>
                <a:graphicFrameLocks noGrp="1"/>
              </p:cNvGraphicFramePr>
              <p:nvPr/>
            </p:nvGraphicFramePr>
            <p:xfrm>
              <a:off x="3385457" y="4465320"/>
              <a:ext cx="5529943" cy="64008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r>
                            <a:rPr lang="en-US" sz="1200" i="0" dirty="0">
                              <a:solidFill>
                                <a:srgbClr val="FF0066"/>
                              </a:solidFill>
                              <a:latin typeface="Verdana" pitchFamily="34" charset="0"/>
                              <a:ea typeface="Verdana" pitchFamily="34" charset="0"/>
                              <a:cs typeface="Verdana" pitchFamily="34" charset="0"/>
                            </a:rPr>
                            <a:t>M/</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𝐈𝐎</m:t>
                                  </m:r>
                                </m:e>
                              </m:acc>
                            </m:oMath>
                          </a14:m>
                          <a:endParaRPr lang="en-US" sz="1200" i="0" dirty="0">
                            <a:solidFill>
                              <a:srgbClr val="FF0066"/>
                            </a:solidFill>
                            <a:latin typeface="Verdana" pitchFamily="34" charset="0"/>
                            <a:ea typeface="Verdana" pitchFamily="34" charset="0"/>
                            <a:cs typeface="Verdana" pitchFamily="34" charset="0"/>
                          </a:endParaRPr>
                        </a:p>
                      </a:txBody>
                      <a:tcP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ysClr val="windowText" lastClr="000000"/>
                              </a:solidFill>
                              <a:latin typeface="Verdana" pitchFamily="34" charset="0"/>
                              <a:ea typeface="Verdana" pitchFamily="34" charset="0"/>
                              <a:cs typeface="Verdana" pitchFamily="34" charset="0"/>
                            </a:rPr>
                            <a:t>Used to differentiate</a:t>
                          </a:r>
                          <a:r>
                            <a:rPr lang="en-US" sz="1200" baseline="0" dirty="0">
                              <a:solidFill>
                                <a:sysClr val="windowText" lastClr="000000"/>
                              </a:solidFill>
                              <a:latin typeface="Verdana" pitchFamily="34" charset="0"/>
                              <a:ea typeface="Verdana" pitchFamily="34" charset="0"/>
                              <a:cs typeface="Verdana" pitchFamily="34" charset="0"/>
                            </a:rPr>
                            <a:t> memory access and I/O access. For memory reference instructions, it is </a:t>
                          </a:r>
                          <a:r>
                            <a:rPr lang="en-US" sz="1200" baseline="0" dirty="0">
                              <a:solidFill>
                                <a:srgbClr val="FF0066"/>
                              </a:solidFill>
                              <a:latin typeface="Verdana" pitchFamily="34" charset="0"/>
                              <a:ea typeface="Verdana" pitchFamily="34" charset="0"/>
                              <a:cs typeface="Verdana" pitchFamily="34" charset="0"/>
                            </a:rPr>
                            <a:t>high</a:t>
                          </a:r>
                          <a:r>
                            <a:rPr lang="en-US" sz="1200" baseline="0" dirty="0">
                              <a:solidFill>
                                <a:sysClr val="windowText" lastClr="000000"/>
                              </a:solidFill>
                              <a:latin typeface="Verdana" pitchFamily="34" charset="0"/>
                              <a:ea typeface="Verdana" pitchFamily="34" charset="0"/>
                              <a:cs typeface="Verdana" pitchFamily="34" charset="0"/>
                            </a:rPr>
                            <a:t>. For IN and OUT instructions, it is </a:t>
                          </a:r>
                          <a:r>
                            <a:rPr lang="en-US" sz="1200" baseline="0" dirty="0">
                              <a:solidFill>
                                <a:srgbClr val="FF0066"/>
                              </a:solidFill>
                              <a:latin typeface="Verdana" pitchFamily="34" charset="0"/>
                              <a:ea typeface="Verdana" pitchFamily="34" charset="0"/>
                              <a:cs typeface="Verdana" pitchFamily="34" charset="0"/>
                            </a:rPr>
                            <a:t>low</a:t>
                          </a:r>
                          <a:r>
                            <a:rPr lang="en-US" sz="1200" baseline="0" dirty="0">
                              <a:solidFill>
                                <a:sysClr val="windowText" lastClr="000000"/>
                              </a:solidFill>
                              <a:latin typeface="Verdana" pitchFamily="34" charset="0"/>
                              <a:ea typeface="Verdana" pitchFamily="34" charset="0"/>
                              <a:cs typeface="Verdana" pitchFamily="34" charset="0"/>
                            </a:rPr>
                            <a:t>. </a:t>
                          </a:r>
                          <a:endParaRPr lang="en-US" sz="1200" dirty="0">
                            <a:solidFill>
                              <a:schemeClr val="tx1"/>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mc:Choice>
        <mc:Fallback xmlns="">
          <p:graphicFrame>
            <p:nvGraphicFramePr>
              <p:cNvPr id="51" name="Table 50"/>
              <p:cNvGraphicFramePr>
                <a:graphicFrameLocks noGrp="1"/>
              </p:cNvGraphicFramePr>
              <p:nvPr/>
            </p:nvGraphicFramePr>
            <p:xfrm>
              <a:off x="3385457" y="4465320"/>
              <a:ext cx="5529943" cy="64008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640080">
                    <a:tc>
                      <a:txBody>
                        <a:bodyPr/>
                        <a:lstStyle/>
                        <a:p>
                          <a:endParaRPr lang="en-US"/>
                        </a:p>
                      </a:txBody>
                      <a:tcPr>
                        <a:blipFill>
                          <a:blip r:embed="rId7"/>
                          <a:stretch>
                            <a:fillRect l="-649" t="-943" r="-492208" b="-6604"/>
                          </a:stretch>
                        </a:blip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ysClr val="windowText" lastClr="000000"/>
                              </a:solidFill>
                              <a:latin typeface="Verdana" pitchFamily="34" charset="0"/>
                              <a:ea typeface="Verdana" pitchFamily="34" charset="0"/>
                              <a:cs typeface="Verdana" pitchFamily="34" charset="0"/>
                            </a:rPr>
                            <a:t>Used to differentiate</a:t>
                          </a:r>
                          <a:r>
                            <a:rPr lang="en-US" sz="1200" baseline="0" dirty="0">
                              <a:solidFill>
                                <a:sysClr val="windowText" lastClr="000000"/>
                              </a:solidFill>
                              <a:latin typeface="Verdana" pitchFamily="34" charset="0"/>
                              <a:ea typeface="Verdana" pitchFamily="34" charset="0"/>
                              <a:cs typeface="Verdana" pitchFamily="34" charset="0"/>
                            </a:rPr>
                            <a:t> memory access and I/O access. For memory reference instructions, it is </a:t>
                          </a:r>
                          <a:r>
                            <a:rPr lang="en-US" sz="1200" baseline="0" dirty="0">
                              <a:solidFill>
                                <a:srgbClr val="FF0066"/>
                              </a:solidFill>
                              <a:latin typeface="Verdana" pitchFamily="34" charset="0"/>
                              <a:ea typeface="Verdana" pitchFamily="34" charset="0"/>
                              <a:cs typeface="Verdana" pitchFamily="34" charset="0"/>
                            </a:rPr>
                            <a:t>high</a:t>
                          </a:r>
                          <a:r>
                            <a:rPr lang="en-US" sz="1200" baseline="0" dirty="0">
                              <a:solidFill>
                                <a:sysClr val="windowText" lastClr="000000"/>
                              </a:solidFill>
                              <a:latin typeface="Verdana" pitchFamily="34" charset="0"/>
                              <a:ea typeface="Verdana" pitchFamily="34" charset="0"/>
                              <a:cs typeface="Verdana" pitchFamily="34" charset="0"/>
                            </a:rPr>
                            <a:t>. For IN and OUT instructions, it is </a:t>
                          </a:r>
                          <a:r>
                            <a:rPr lang="en-US" sz="1200" baseline="0" dirty="0">
                              <a:solidFill>
                                <a:srgbClr val="FF0066"/>
                              </a:solidFill>
                              <a:latin typeface="Verdana" pitchFamily="34" charset="0"/>
                              <a:ea typeface="Verdana" pitchFamily="34" charset="0"/>
                              <a:cs typeface="Verdana" pitchFamily="34" charset="0"/>
                            </a:rPr>
                            <a:t>low</a:t>
                          </a:r>
                          <a:r>
                            <a:rPr lang="en-US" sz="1200" baseline="0" dirty="0">
                              <a:solidFill>
                                <a:sysClr val="windowText" lastClr="000000"/>
                              </a:solidFill>
                              <a:latin typeface="Verdana" pitchFamily="34" charset="0"/>
                              <a:ea typeface="Verdana" pitchFamily="34" charset="0"/>
                              <a:cs typeface="Verdana" pitchFamily="34" charset="0"/>
                            </a:rPr>
                            <a:t>. </a:t>
                          </a:r>
                          <a:endParaRPr lang="en-US" sz="1200" dirty="0">
                            <a:solidFill>
                              <a:schemeClr val="tx1"/>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2" name="Table 51"/>
              <p:cNvGraphicFramePr>
                <a:graphicFrameLocks noGrp="1"/>
              </p:cNvGraphicFramePr>
              <p:nvPr/>
            </p:nvGraphicFramePr>
            <p:xfrm>
              <a:off x="3385457" y="5227320"/>
              <a:ext cx="5529943" cy="45720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𝐖𝐑</m:t>
                                    </m:r>
                                  </m:e>
                                </m:acc>
                              </m:oMath>
                            </m:oMathPara>
                          </a14:m>
                          <a:endParaRPr lang="en-US" sz="1200" i="0" dirty="0">
                            <a:solidFill>
                              <a:srgbClr val="FF0066"/>
                            </a:solidFill>
                            <a:latin typeface="Verdana" pitchFamily="34" charset="0"/>
                            <a:ea typeface="Verdana" pitchFamily="34" charset="0"/>
                            <a:cs typeface="Verdana" pitchFamily="34" charset="0"/>
                          </a:endParaRPr>
                        </a:p>
                      </a:txBody>
                      <a:tcPr>
                        <a:noFill/>
                      </a:tcPr>
                    </a:tc>
                    <a:tc>
                      <a:txBody>
                        <a:bodyPr/>
                        <a:lstStyle/>
                        <a:p>
                          <a:r>
                            <a:rPr lang="en-US" sz="1200" baseline="0" dirty="0">
                              <a:solidFill>
                                <a:sysClr val="windowText" lastClr="000000"/>
                              </a:solidFill>
                              <a:latin typeface="Verdana" pitchFamily="34" charset="0"/>
                              <a:ea typeface="Verdana" pitchFamily="34" charset="0"/>
                              <a:cs typeface="Verdana" pitchFamily="34" charset="0"/>
                            </a:rPr>
                            <a:t>Write control signal; asserted </a:t>
                          </a:r>
                          <a:r>
                            <a:rPr lang="en-US" sz="1200" baseline="0" dirty="0">
                              <a:solidFill>
                                <a:srgbClr val="FF0066"/>
                              </a:solidFill>
                              <a:latin typeface="Verdana" pitchFamily="34" charset="0"/>
                              <a:ea typeface="Verdana" pitchFamily="34" charset="0"/>
                              <a:cs typeface="Verdana" pitchFamily="34" charset="0"/>
                            </a:rPr>
                            <a:t>low</a:t>
                          </a:r>
                          <a:r>
                            <a:rPr lang="en-US" sz="1200" baseline="0" dirty="0">
                              <a:solidFill>
                                <a:sysClr val="windowText" lastClr="000000"/>
                              </a:solidFill>
                              <a:latin typeface="Verdana" pitchFamily="34" charset="0"/>
                              <a:ea typeface="Verdana" pitchFamily="34" charset="0"/>
                              <a:cs typeface="Verdana" pitchFamily="34" charset="0"/>
                            </a:rPr>
                            <a:t> Whenever processor writes data to memory or I/O port</a:t>
                          </a:r>
                          <a:endParaRPr lang="en-US" sz="1200" dirty="0">
                            <a:solidFill>
                              <a:schemeClr val="tx1"/>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mc:Choice>
        <mc:Fallback xmlns="">
          <p:graphicFrame>
            <p:nvGraphicFramePr>
              <p:cNvPr id="52" name="Table 51"/>
              <p:cNvGraphicFramePr>
                <a:graphicFrameLocks noGrp="1"/>
              </p:cNvGraphicFramePr>
              <p:nvPr/>
            </p:nvGraphicFramePr>
            <p:xfrm>
              <a:off x="3385457" y="5227320"/>
              <a:ext cx="5529943" cy="45720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457200">
                    <a:tc>
                      <a:txBody>
                        <a:bodyPr/>
                        <a:lstStyle/>
                        <a:p>
                          <a:endParaRPr lang="en-US"/>
                        </a:p>
                      </a:txBody>
                      <a:tcPr>
                        <a:blipFill>
                          <a:blip r:embed="rId8"/>
                          <a:stretch>
                            <a:fillRect l="-649" t="-1316" r="-492208" b="-9211"/>
                          </a:stretch>
                        </a:blipFill>
                      </a:tcPr>
                    </a:tc>
                    <a:tc>
                      <a:txBody>
                        <a:bodyPr/>
                        <a:lstStyle/>
                        <a:p>
                          <a:r>
                            <a:rPr lang="en-US" sz="1200" baseline="0" dirty="0">
                              <a:solidFill>
                                <a:sysClr val="windowText" lastClr="000000"/>
                              </a:solidFill>
                              <a:latin typeface="Verdana" pitchFamily="34" charset="0"/>
                              <a:ea typeface="Verdana" pitchFamily="34" charset="0"/>
                              <a:cs typeface="Verdana" pitchFamily="34" charset="0"/>
                            </a:rPr>
                            <a:t>Write control signal; asserted </a:t>
                          </a:r>
                          <a:r>
                            <a:rPr lang="en-US" sz="1200" baseline="0" dirty="0">
                              <a:solidFill>
                                <a:srgbClr val="FF0066"/>
                              </a:solidFill>
                              <a:latin typeface="Verdana" pitchFamily="34" charset="0"/>
                              <a:ea typeface="Verdana" pitchFamily="34" charset="0"/>
                              <a:cs typeface="Verdana" pitchFamily="34" charset="0"/>
                            </a:rPr>
                            <a:t>low</a:t>
                          </a:r>
                          <a:r>
                            <a:rPr lang="en-US" sz="1200" baseline="0" dirty="0">
                              <a:solidFill>
                                <a:sysClr val="windowText" lastClr="000000"/>
                              </a:solidFill>
                              <a:latin typeface="Verdana" pitchFamily="34" charset="0"/>
                              <a:ea typeface="Verdana" pitchFamily="34" charset="0"/>
                              <a:cs typeface="Verdana" pitchFamily="34" charset="0"/>
                            </a:rPr>
                            <a:t> Whenever processor writes data to memory or I/O port</a:t>
                          </a:r>
                          <a:endParaRPr lang="en-US" sz="1200" dirty="0">
                            <a:solidFill>
                              <a:schemeClr val="tx1"/>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3" name="Table 52"/>
              <p:cNvGraphicFramePr>
                <a:graphicFrameLocks noGrp="1"/>
              </p:cNvGraphicFramePr>
              <p:nvPr/>
            </p:nvGraphicFramePr>
            <p:xfrm>
              <a:off x="3385457" y="5760720"/>
              <a:ext cx="5529943" cy="64008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𝐈𝐍𝐓𝐀</m:t>
                                    </m:r>
                                  </m:e>
                                </m:acc>
                              </m:oMath>
                            </m:oMathPara>
                          </a14:m>
                          <a:endParaRPr lang="en-US" sz="1200" i="0" dirty="0">
                            <a:solidFill>
                              <a:srgbClr val="FF0066"/>
                            </a:solidFill>
                            <a:latin typeface="Verdana" pitchFamily="34" charset="0"/>
                            <a:ea typeface="Verdana" pitchFamily="34" charset="0"/>
                            <a:cs typeface="Verdana" pitchFamily="34" charset="0"/>
                          </a:endParaRPr>
                        </a:p>
                      </a:txBody>
                      <a:tcPr>
                        <a:noFill/>
                      </a:tcPr>
                    </a:tc>
                    <a:tc>
                      <a:txBody>
                        <a:bodyPr/>
                        <a:lstStyle/>
                        <a:p>
                          <a:r>
                            <a:rPr lang="en-US" sz="1200" dirty="0">
                              <a:solidFill>
                                <a:sysClr val="windowText" lastClr="000000"/>
                              </a:solidFill>
                              <a:latin typeface="Verdana" pitchFamily="34" charset="0"/>
                              <a:ea typeface="Verdana" pitchFamily="34" charset="0"/>
                              <a:cs typeface="Verdana" pitchFamily="34" charset="0"/>
                            </a:rPr>
                            <a:t>(</a:t>
                          </a:r>
                          <a:r>
                            <a:rPr lang="en-US" sz="1200" dirty="0">
                              <a:solidFill>
                                <a:srgbClr val="FF0066"/>
                              </a:solidFill>
                              <a:latin typeface="Verdana" pitchFamily="34" charset="0"/>
                              <a:ea typeface="Verdana" pitchFamily="34" charset="0"/>
                              <a:cs typeface="Verdana" pitchFamily="34" charset="0"/>
                            </a:rPr>
                            <a:t>Interrupt Acknowledge</a:t>
                          </a:r>
                          <a:r>
                            <a:rPr lang="en-US" sz="1200" dirty="0">
                              <a:solidFill>
                                <a:schemeClr val="tx1"/>
                              </a:solidFill>
                              <a:latin typeface="Verdana" pitchFamily="34" charset="0"/>
                              <a:ea typeface="Verdana" pitchFamily="34" charset="0"/>
                              <a:cs typeface="Verdana" pitchFamily="34" charset="0"/>
                            </a:rPr>
                            <a:t>) When the interrupt request is accepted by the processor, the output is </a:t>
                          </a:r>
                          <a:r>
                            <a:rPr lang="en-US" sz="1200" dirty="0">
                              <a:solidFill>
                                <a:srgbClr val="FF0066"/>
                              </a:solidFill>
                              <a:latin typeface="Verdana" pitchFamily="34" charset="0"/>
                              <a:ea typeface="Verdana" pitchFamily="34" charset="0"/>
                              <a:cs typeface="Verdana" pitchFamily="34" charset="0"/>
                            </a:rPr>
                            <a:t>low </a:t>
                          </a:r>
                          <a:r>
                            <a:rPr lang="en-US" sz="1200" dirty="0">
                              <a:solidFill>
                                <a:schemeClr val="tx1"/>
                              </a:solidFill>
                              <a:latin typeface="Verdana" pitchFamily="34" charset="0"/>
                              <a:ea typeface="Verdana" pitchFamily="34" charset="0"/>
                              <a:cs typeface="Verdana" pitchFamily="34" charset="0"/>
                            </a:rPr>
                            <a:t>on this line.</a:t>
                          </a:r>
                        </a:p>
                      </a:txBody>
                      <a:tcPr>
                        <a:noFill/>
                      </a:tcPr>
                    </a:tc>
                    <a:extLst>
                      <a:ext uri="{0D108BD9-81ED-4DB2-BD59-A6C34878D82A}">
                        <a16:rowId xmlns:a16="http://schemas.microsoft.com/office/drawing/2014/main" val="10000"/>
                      </a:ext>
                    </a:extLst>
                  </a:tr>
                </a:tbl>
              </a:graphicData>
            </a:graphic>
          </p:graphicFrame>
        </mc:Choice>
        <mc:Fallback xmlns="">
          <p:graphicFrame>
            <p:nvGraphicFramePr>
              <p:cNvPr id="53" name="Table 52"/>
              <p:cNvGraphicFramePr>
                <a:graphicFrameLocks noGrp="1"/>
              </p:cNvGraphicFramePr>
              <p:nvPr/>
            </p:nvGraphicFramePr>
            <p:xfrm>
              <a:off x="3385457" y="5760720"/>
              <a:ext cx="5529943" cy="64008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640080">
                    <a:tc>
                      <a:txBody>
                        <a:bodyPr/>
                        <a:lstStyle/>
                        <a:p>
                          <a:endParaRPr lang="en-US"/>
                        </a:p>
                      </a:txBody>
                      <a:tcPr>
                        <a:blipFill>
                          <a:blip r:embed="rId9"/>
                          <a:stretch>
                            <a:fillRect l="-649" t="-1905" r="-492208" b="-7619"/>
                          </a:stretch>
                        </a:blipFill>
                      </a:tcPr>
                    </a:tc>
                    <a:tc>
                      <a:txBody>
                        <a:bodyPr/>
                        <a:lstStyle/>
                        <a:p>
                          <a:r>
                            <a:rPr lang="en-US" sz="1200" dirty="0">
                              <a:solidFill>
                                <a:sysClr val="windowText" lastClr="000000"/>
                              </a:solidFill>
                              <a:latin typeface="Verdana" pitchFamily="34" charset="0"/>
                              <a:ea typeface="Verdana" pitchFamily="34" charset="0"/>
                              <a:cs typeface="Verdana" pitchFamily="34" charset="0"/>
                            </a:rPr>
                            <a:t>(</a:t>
                          </a:r>
                          <a:r>
                            <a:rPr lang="en-US" sz="1200" dirty="0">
                              <a:solidFill>
                                <a:srgbClr val="FF0066"/>
                              </a:solidFill>
                              <a:latin typeface="Verdana" pitchFamily="34" charset="0"/>
                              <a:ea typeface="Verdana" pitchFamily="34" charset="0"/>
                              <a:cs typeface="Verdana" pitchFamily="34" charset="0"/>
                            </a:rPr>
                            <a:t>Interrupt Acknowledge</a:t>
                          </a:r>
                          <a:r>
                            <a:rPr lang="en-US" sz="1200" dirty="0">
                              <a:solidFill>
                                <a:schemeClr val="tx1"/>
                              </a:solidFill>
                              <a:latin typeface="Verdana" pitchFamily="34" charset="0"/>
                              <a:ea typeface="Verdana" pitchFamily="34" charset="0"/>
                              <a:cs typeface="Verdana" pitchFamily="34" charset="0"/>
                            </a:rPr>
                            <a:t>) When the interrupt request is accepted by the processor, the output is </a:t>
                          </a:r>
                          <a:r>
                            <a:rPr lang="en-US" sz="1200" dirty="0">
                              <a:solidFill>
                                <a:srgbClr val="FF0066"/>
                              </a:solidFill>
                              <a:latin typeface="Verdana" pitchFamily="34" charset="0"/>
                              <a:ea typeface="Verdana" pitchFamily="34" charset="0"/>
                              <a:cs typeface="Verdana" pitchFamily="34" charset="0"/>
                            </a:rPr>
                            <a:t>low </a:t>
                          </a:r>
                          <a:r>
                            <a:rPr lang="en-US" sz="1200" dirty="0">
                              <a:solidFill>
                                <a:schemeClr val="tx1"/>
                              </a:solidFill>
                              <a:latin typeface="Verdana" pitchFamily="34" charset="0"/>
                              <a:ea typeface="Verdana" pitchFamily="34" charset="0"/>
                              <a:cs typeface="Verdana" pitchFamily="34" charset="0"/>
                            </a:rPr>
                            <a:t>on this line.</a:t>
                          </a:r>
                        </a:p>
                      </a:txBody>
                      <a:tcPr>
                        <a:noFill/>
                      </a:tcPr>
                    </a:tc>
                    <a:extLst>
                      <a:ext uri="{0D108BD9-81ED-4DB2-BD59-A6C34878D82A}">
                        <a16:rowId xmlns:a16="http://schemas.microsoft.com/office/drawing/2014/main" val="10000"/>
                      </a:ext>
                    </a:extLst>
                  </a:tr>
                </a:tbl>
              </a:graphicData>
            </a:graphic>
          </p:graphicFrame>
        </mc:Fallback>
      </mc:AlternateContent>
      <p:sp>
        <p:nvSpPr>
          <p:cNvPr id="4" name="Rectangle 3"/>
          <p:cNvSpPr/>
          <p:nvPr/>
        </p:nvSpPr>
        <p:spPr>
          <a:xfrm>
            <a:off x="0" y="1600200"/>
            <a:ext cx="3200400" cy="21336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1541" y="5391150"/>
            <a:ext cx="3200400" cy="8382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541" y="3752848"/>
            <a:ext cx="1830341" cy="1638301"/>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5791456" y="188879"/>
            <a:ext cx="2906565" cy="338554"/>
          </a:xfrm>
          <a:prstGeom prst="rect">
            <a:avLst/>
          </a:prstGeom>
          <a:solidFill>
            <a:srgbClr val="99FFCC"/>
          </a:solidFill>
        </p:spPr>
        <p:txBody>
          <a:bodyPr wrap="none">
            <a:spAutoFit/>
          </a:bodyPr>
          <a:lstStyle/>
          <a:p>
            <a:r>
              <a:rPr lang="en-US" sz="1600" b="1" dirty="0">
                <a:solidFill>
                  <a:srgbClr val="FF0000"/>
                </a:solidFill>
                <a:latin typeface="Verdana" pitchFamily="34" charset="0"/>
                <a:ea typeface="Verdana" pitchFamily="34" charset="0"/>
                <a:cs typeface="Verdana" pitchFamily="34" charset="0"/>
              </a:rPr>
              <a:t>Minimum mode signals</a:t>
            </a:r>
          </a:p>
        </p:txBody>
      </p:sp>
    </p:spTree>
    <p:extLst>
      <p:ext uri="{BB962C8B-B14F-4D97-AF65-F5344CB8AC3E}">
        <p14:creationId xmlns:p14="http://schemas.microsoft.com/office/powerpoint/2010/main" val="2228875349"/>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10" presetClass="entr" presetSubtype="0" fill="hold"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fade">
                                      <p:cBhvr>
                                        <p:cTn id="15" dur="500"/>
                                        <p:tgtEl>
                                          <p:spTgt spid="49"/>
                                        </p:tgtEl>
                                      </p:cBhvr>
                                    </p:animEffect>
                                  </p:childTnLst>
                                </p:cTn>
                              </p:par>
                              <p:par>
                                <p:cTn id="16" presetID="42" presetClass="path" presetSubtype="0" accel="50000" decel="50000" fill="hold" grpId="1" nodeType="withEffect">
                                  <p:stCondLst>
                                    <p:cond delay="0"/>
                                  </p:stCondLst>
                                  <p:childTnLst>
                                    <p:animMotion origin="layout" path="M 2.77778E-6 1.85185E-6 L 2.77778E-6 0.03171 " pathEditMode="relative" rAng="0" ptsTypes="AA">
                                      <p:cBhvr>
                                        <p:cTn id="17" dur="500" fill="hold"/>
                                        <p:tgtEl>
                                          <p:spTgt spid="44"/>
                                        </p:tgtEl>
                                        <p:attrNameLst>
                                          <p:attrName>ppt_x</p:attrName>
                                          <p:attrName>ppt_y</p:attrName>
                                        </p:attrNameLst>
                                      </p:cBhvr>
                                      <p:rCtr x="0" y="1574"/>
                                    </p:animMotion>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500"/>
                                        <p:tgtEl>
                                          <p:spTgt spid="50"/>
                                        </p:tgtEl>
                                      </p:cBhvr>
                                    </p:animEffect>
                                  </p:childTnLst>
                                </p:cTn>
                              </p:par>
                              <p:par>
                                <p:cTn id="23" presetID="42" presetClass="path" presetSubtype="0" accel="50000" decel="50000" fill="hold" grpId="2" nodeType="withEffect">
                                  <p:stCondLst>
                                    <p:cond delay="0"/>
                                  </p:stCondLst>
                                  <p:childTnLst>
                                    <p:animMotion origin="layout" path="M 2.77778E-6 0.03171 L 2.77778E-6 0.06342 " pathEditMode="relative" rAng="0" ptsTypes="AA">
                                      <p:cBhvr>
                                        <p:cTn id="24" dur="500" fill="hold"/>
                                        <p:tgtEl>
                                          <p:spTgt spid="44"/>
                                        </p:tgtEl>
                                        <p:attrNameLst>
                                          <p:attrName>ppt_x</p:attrName>
                                          <p:attrName>ppt_y</p:attrName>
                                        </p:attrNameLst>
                                      </p:cBhvr>
                                      <p:rCtr x="0" y="1574"/>
                                    </p:animMotion>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1"/>
                                        </p:tgtEl>
                                        <p:attrNameLst>
                                          <p:attrName>style.visibility</p:attrName>
                                        </p:attrNameLst>
                                      </p:cBhvr>
                                      <p:to>
                                        <p:strVal val="visible"/>
                                      </p:to>
                                    </p:set>
                                    <p:animEffect transition="in" filter="fade">
                                      <p:cBhvr>
                                        <p:cTn id="29" dur="500"/>
                                        <p:tgtEl>
                                          <p:spTgt spid="51"/>
                                        </p:tgtEl>
                                      </p:cBhvr>
                                    </p:animEffect>
                                  </p:childTnLst>
                                </p:cTn>
                              </p:par>
                              <p:par>
                                <p:cTn id="30" presetID="64" presetClass="path" presetSubtype="0" accel="50000" decel="50000" fill="hold" grpId="3" nodeType="withEffect">
                                  <p:stCondLst>
                                    <p:cond delay="0"/>
                                  </p:stCondLst>
                                  <p:childTnLst>
                                    <p:animMotion origin="layout" path="M 2.77778E-6 0.06412 L 2.77778E-6 -0.03588 " pathEditMode="relative" rAng="0" ptsTypes="AA">
                                      <p:cBhvr>
                                        <p:cTn id="31" dur="500" fill="hold"/>
                                        <p:tgtEl>
                                          <p:spTgt spid="44"/>
                                        </p:tgtEl>
                                        <p:attrNameLst>
                                          <p:attrName>ppt_x</p:attrName>
                                          <p:attrName>ppt_y</p:attrName>
                                        </p:attrNameLst>
                                      </p:cBhvr>
                                      <p:rCtr x="0" y="-5000"/>
                                    </p:animMotion>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2"/>
                                        </p:tgtEl>
                                        <p:attrNameLst>
                                          <p:attrName>style.visibility</p:attrName>
                                        </p:attrNameLst>
                                      </p:cBhvr>
                                      <p:to>
                                        <p:strVal val="visible"/>
                                      </p:to>
                                    </p:set>
                                    <p:animEffect transition="in" filter="fade">
                                      <p:cBhvr>
                                        <p:cTn id="36" dur="500"/>
                                        <p:tgtEl>
                                          <p:spTgt spid="52"/>
                                        </p:tgtEl>
                                      </p:cBhvr>
                                    </p:animEffect>
                                  </p:childTnLst>
                                </p:cTn>
                              </p:par>
                              <p:par>
                                <p:cTn id="37" presetID="64" presetClass="path" presetSubtype="0" accel="50000" decel="50000" fill="hold" grpId="4" nodeType="withEffect">
                                  <p:stCondLst>
                                    <p:cond delay="0"/>
                                  </p:stCondLst>
                                  <p:childTnLst>
                                    <p:animMotion origin="layout" path="M 2.77778E-6 -0.03496 L 2.77778E-6 -0.0581 " pathEditMode="relative" rAng="0" ptsTypes="AA">
                                      <p:cBhvr>
                                        <p:cTn id="38" dur="500" fill="hold"/>
                                        <p:tgtEl>
                                          <p:spTgt spid="44"/>
                                        </p:tgtEl>
                                        <p:attrNameLst>
                                          <p:attrName>ppt_x</p:attrName>
                                          <p:attrName>ppt_y</p:attrName>
                                        </p:attrNameLst>
                                      </p:cBhvr>
                                      <p:rCtr x="0" y="-1157"/>
                                    </p:animMotion>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53"/>
                                        </p:tgtEl>
                                        <p:attrNameLst>
                                          <p:attrName>style.visibility</p:attrName>
                                        </p:attrNameLst>
                                      </p:cBhvr>
                                      <p:to>
                                        <p:strVal val="visible"/>
                                      </p:to>
                                    </p:set>
                                    <p:animEffect transition="in" filter="fade">
                                      <p:cBhvr>
                                        <p:cTn id="43" dur="500"/>
                                        <p:tgtEl>
                                          <p:spTgt spid="53"/>
                                        </p:tgtEl>
                                      </p:cBhvr>
                                    </p:animEffect>
                                  </p:childTnLst>
                                </p:cTn>
                              </p:par>
                              <p:par>
                                <p:cTn id="44" presetID="42" presetClass="path" presetSubtype="0" accel="50000" decel="50000" fill="hold" grpId="5" nodeType="withEffect">
                                  <p:stCondLst>
                                    <p:cond delay="0"/>
                                  </p:stCondLst>
                                  <p:childTnLst>
                                    <p:animMotion origin="layout" path="M 2.77778E-6 -0.05648 L 2.77778E-6 0.08819 " pathEditMode="relative" rAng="0" ptsTypes="AA">
                                      <p:cBhvr>
                                        <p:cTn id="45" dur="500" fill="hold"/>
                                        <p:tgtEl>
                                          <p:spTgt spid="44"/>
                                        </p:tgtEl>
                                        <p:attrNameLst>
                                          <p:attrName>ppt_x</p:attrName>
                                          <p:attrName>ppt_y</p:attrName>
                                        </p:attrNameLst>
                                      </p:cBhvr>
                                      <p:rCtr x="0" y="722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4" grpId="1" animBg="1"/>
      <p:bldP spid="44" grpId="2" animBg="1"/>
      <p:bldP spid="44" grpId="3" animBg="1"/>
      <p:bldP spid="44" grpId="4" animBg="1"/>
      <p:bldP spid="44" grpId="5"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p:cNvSpPr/>
          <p:nvPr/>
        </p:nvSpPr>
        <p:spPr>
          <a:xfrm>
            <a:off x="1698172" y="3733800"/>
            <a:ext cx="1295400" cy="242084"/>
          </a:xfrm>
          <a:prstGeom prst="rect">
            <a:avLst/>
          </a:prstGeom>
          <a:solidFill>
            <a:srgbClr val="99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Pins and Signals</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13</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pic>
        <p:nvPicPr>
          <p:cNvPr id="4098" name="Picture 2" descr="C:\Users\AMMU\Desktop\Microprocessor\8086.png"/>
          <p:cNvPicPr>
            <a:picLocks noChangeAspect="1" noChangeArrowheads="1"/>
          </p:cNvPicPr>
          <p:nvPr/>
        </p:nvPicPr>
        <p:blipFill rotWithShape="1">
          <a:blip r:embed="rId3">
            <a:extLst>
              <a:ext uri="{28A0092B-C50C-407E-A947-70E740481C1C}">
                <a14:useLocalDpi xmlns:a14="http://schemas.microsoft.com/office/drawing/2010/main" val="0"/>
              </a:ext>
            </a:extLst>
          </a:blip>
          <a:srcRect l="1" r="46893"/>
          <a:stretch/>
        </p:blipFill>
        <p:spPr bwMode="auto">
          <a:xfrm>
            <a:off x="33837" y="1868506"/>
            <a:ext cx="3014163" cy="415129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7" name="Table 46"/>
          <p:cNvGraphicFramePr>
            <a:graphicFrameLocks noGrp="1"/>
          </p:cNvGraphicFramePr>
          <p:nvPr/>
        </p:nvGraphicFramePr>
        <p:xfrm>
          <a:off x="3385457" y="2362200"/>
          <a:ext cx="5529943" cy="100584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r>
                        <a:rPr lang="en-US" sz="1200" i="0" dirty="0">
                          <a:solidFill>
                            <a:srgbClr val="FF0066"/>
                          </a:solidFill>
                          <a:latin typeface="Verdana" pitchFamily="34" charset="0"/>
                          <a:ea typeface="Verdana" pitchFamily="34" charset="0"/>
                          <a:cs typeface="Verdana" pitchFamily="34" charset="0"/>
                        </a:rPr>
                        <a:t>HOLD</a:t>
                      </a:r>
                      <a:endParaRPr lang="en-US" sz="1200" i="0" dirty="0">
                        <a:solidFill>
                          <a:sysClr val="windowText" lastClr="000000"/>
                        </a:solidFill>
                        <a:latin typeface="Verdana" pitchFamily="34" charset="0"/>
                        <a:ea typeface="Verdana" pitchFamily="34" charset="0"/>
                        <a:cs typeface="Verdana" pitchFamily="34" charset="0"/>
                      </a:endParaRPr>
                    </a:p>
                  </a:txBody>
                  <a:tcPr>
                    <a:noFill/>
                  </a:tcPr>
                </a:tc>
                <a:tc>
                  <a:txBody>
                    <a:bodyPr/>
                    <a:lstStyle/>
                    <a:p>
                      <a:r>
                        <a:rPr lang="en-US" sz="1200" dirty="0">
                          <a:solidFill>
                            <a:sysClr val="windowText" lastClr="000000"/>
                          </a:solidFill>
                          <a:latin typeface="Verdana" pitchFamily="34" charset="0"/>
                          <a:ea typeface="Verdana" pitchFamily="34" charset="0"/>
                          <a:cs typeface="Verdana" pitchFamily="34" charset="0"/>
                        </a:rPr>
                        <a:t>Input signal to the processor form the</a:t>
                      </a:r>
                      <a:r>
                        <a:rPr lang="en-US" sz="1200" baseline="0" dirty="0">
                          <a:solidFill>
                            <a:sysClr val="windowText" lastClr="000000"/>
                          </a:solidFill>
                          <a:latin typeface="Verdana" pitchFamily="34" charset="0"/>
                          <a:ea typeface="Verdana" pitchFamily="34" charset="0"/>
                          <a:cs typeface="Verdana" pitchFamily="34" charset="0"/>
                        </a:rPr>
                        <a:t> bus masters as a request to grant the control of the bus. </a:t>
                      </a:r>
                    </a:p>
                    <a:p>
                      <a:endParaRPr lang="en-US" sz="1200" baseline="0" dirty="0">
                        <a:solidFill>
                          <a:sysClr val="windowText" lastClr="000000"/>
                        </a:solidFill>
                        <a:latin typeface="Verdana" pitchFamily="34" charset="0"/>
                        <a:ea typeface="Verdana" pitchFamily="34" charset="0"/>
                        <a:cs typeface="Verdana" pitchFamily="34" charset="0"/>
                      </a:endParaRPr>
                    </a:p>
                    <a:p>
                      <a:r>
                        <a:rPr lang="en-US" sz="1200" baseline="0" dirty="0">
                          <a:solidFill>
                            <a:sysClr val="windowText" lastClr="000000"/>
                          </a:solidFill>
                          <a:latin typeface="Verdana" pitchFamily="34" charset="0"/>
                          <a:ea typeface="Verdana" pitchFamily="34" charset="0"/>
                          <a:cs typeface="Verdana" pitchFamily="34" charset="0"/>
                        </a:rPr>
                        <a:t>Usually used by the DMA controller to get the control of the bus.</a:t>
                      </a:r>
                      <a:endParaRPr lang="en-US" sz="1200" dirty="0">
                        <a:solidFill>
                          <a:sysClr val="windowText" lastClr="000000"/>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p:graphicFrame>
        <p:nvGraphicFramePr>
          <p:cNvPr id="49" name="Table 48"/>
          <p:cNvGraphicFramePr>
            <a:graphicFrameLocks noGrp="1"/>
          </p:cNvGraphicFramePr>
          <p:nvPr/>
        </p:nvGraphicFramePr>
        <p:xfrm>
          <a:off x="3385457" y="3764280"/>
          <a:ext cx="5529943" cy="118872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r>
                        <a:rPr lang="en-US" sz="1200" i="0" dirty="0">
                          <a:solidFill>
                            <a:srgbClr val="FF0066"/>
                          </a:solidFill>
                          <a:latin typeface="Verdana" pitchFamily="34" charset="0"/>
                          <a:ea typeface="Verdana" pitchFamily="34" charset="0"/>
                          <a:cs typeface="Verdana" pitchFamily="34" charset="0"/>
                        </a:rPr>
                        <a:t>HLDA</a:t>
                      </a:r>
                    </a:p>
                  </a:txBody>
                  <a:tcPr>
                    <a:noFill/>
                  </a:tcPr>
                </a:tc>
                <a:tc>
                  <a:txBody>
                    <a:bodyPr/>
                    <a:lstStyle/>
                    <a:p>
                      <a:r>
                        <a:rPr lang="en-US" sz="1200" dirty="0">
                          <a:solidFill>
                            <a:sysClr val="windowText" lastClr="000000"/>
                          </a:solidFill>
                          <a:latin typeface="Verdana" pitchFamily="34" charset="0"/>
                          <a:ea typeface="Verdana" pitchFamily="34" charset="0"/>
                          <a:cs typeface="Verdana" pitchFamily="34" charset="0"/>
                        </a:rPr>
                        <a:t>(</a:t>
                      </a:r>
                      <a:r>
                        <a:rPr lang="en-US" sz="1200" dirty="0">
                          <a:solidFill>
                            <a:srgbClr val="FF0066"/>
                          </a:solidFill>
                          <a:latin typeface="Verdana" pitchFamily="34" charset="0"/>
                          <a:ea typeface="Verdana" pitchFamily="34" charset="0"/>
                          <a:cs typeface="Verdana" pitchFamily="34" charset="0"/>
                        </a:rPr>
                        <a:t>Hold Acknowledge</a:t>
                      </a:r>
                      <a:r>
                        <a:rPr lang="en-US" sz="1200" dirty="0">
                          <a:solidFill>
                            <a:sysClr val="windowText" lastClr="000000"/>
                          </a:solidFill>
                          <a:latin typeface="Verdana" pitchFamily="34" charset="0"/>
                          <a:ea typeface="Verdana" pitchFamily="34" charset="0"/>
                          <a:cs typeface="Verdana" pitchFamily="34" charset="0"/>
                        </a:rPr>
                        <a:t>) Acknowledge</a:t>
                      </a:r>
                      <a:r>
                        <a:rPr lang="en-US" sz="1200" baseline="0" dirty="0">
                          <a:solidFill>
                            <a:sysClr val="windowText" lastClr="000000"/>
                          </a:solidFill>
                          <a:latin typeface="Verdana" pitchFamily="34" charset="0"/>
                          <a:ea typeface="Verdana" pitchFamily="34" charset="0"/>
                          <a:cs typeface="Verdana" pitchFamily="34" charset="0"/>
                        </a:rPr>
                        <a:t> signal by the processor to the bus master requesting the control of the bus through HOLD.</a:t>
                      </a:r>
                    </a:p>
                    <a:p>
                      <a:endParaRPr lang="en-US" sz="1200" baseline="0" dirty="0">
                        <a:solidFill>
                          <a:sysClr val="windowText" lastClr="000000"/>
                        </a:solidFill>
                        <a:latin typeface="Verdana" pitchFamily="34" charset="0"/>
                        <a:ea typeface="Verdana" pitchFamily="34" charset="0"/>
                        <a:cs typeface="Verdana" pitchFamily="34" charset="0"/>
                      </a:endParaRPr>
                    </a:p>
                    <a:p>
                      <a:r>
                        <a:rPr lang="en-US" sz="1200" dirty="0">
                          <a:solidFill>
                            <a:sysClr val="windowText" lastClr="000000"/>
                          </a:solidFill>
                          <a:latin typeface="Verdana" pitchFamily="34" charset="0"/>
                          <a:ea typeface="Verdana" pitchFamily="34" charset="0"/>
                          <a:cs typeface="Verdana" pitchFamily="34" charset="0"/>
                        </a:rPr>
                        <a:t>The acknowledge</a:t>
                      </a:r>
                      <a:r>
                        <a:rPr lang="en-US" sz="1200" baseline="0" dirty="0">
                          <a:solidFill>
                            <a:sysClr val="windowText" lastClr="000000"/>
                          </a:solidFill>
                          <a:latin typeface="Verdana" pitchFamily="34" charset="0"/>
                          <a:ea typeface="Verdana" pitchFamily="34" charset="0"/>
                          <a:cs typeface="Verdana" pitchFamily="34" charset="0"/>
                        </a:rPr>
                        <a:t> is asserted high, when the processor accepts HOLD.</a:t>
                      </a:r>
                      <a:endParaRPr lang="en-US" sz="1200" dirty="0">
                        <a:solidFill>
                          <a:sysClr val="windowText" lastClr="000000"/>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p:sp>
        <p:nvSpPr>
          <p:cNvPr id="10" name="Rectangle 9"/>
          <p:cNvSpPr/>
          <p:nvPr/>
        </p:nvSpPr>
        <p:spPr>
          <a:xfrm>
            <a:off x="0" y="1600200"/>
            <a:ext cx="3200400" cy="21336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541" y="5391150"/>
            <a:ext cx="3200400" cy="8382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541" y="3752848"/>
            <a:ext cx="1830341" cy="1638301"/>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791456" y="188879"/>
            <a:ext cx="2906565" cy="338554"/>
          </a:xfrm>
          <a:prstGeom prst="rect">
            <a:avLst/>
          </a:prstGeom>
          <a:solidFill>
            <a:srgbClr val="99FFCC"/>
          </a:solidFill>
        </p:spPr>
        <p:txBody>
          <a:bodyPr wrap="none">
            <a:spAutoFit/>
          </a:bodyPr>
          <a:lstStyle/>
          <a:p>
            <a:r>
              <a:rPr lang="en-US" sz="1600" b="1" dirty="0">
                <a:solidFill>
                  <a:srgbClr val="FF0000"/>
                </a:solidFill>
                <a:latin typeface="Verdana" pitchFamily="34" charset="0"/>
                <a:ea typeface="Verdana" pitchFamily="34" charset="0"/>
                <a:cs typeface="Verdana" pitchFamily="34" charset="0"/>
              </a:rPr>
              <a:t>Minimum mode signals</a:t>
            </a:r>
          </a:p>
        </p:txBody>
      </p:sp>
      <mc:AlternateContent xmlns:mc="http://schemas.openxmlformats.org/markup-compatibility/2006" xmlns:a14="http://schemas.microsoft.com/office/drawing/2010/main">
        <mc:Choice Requires="a14">
          <p:sp>
            <p:nvSpPr>
              <p:cNvPr id="15" name="TextBox 14"/>
              <p:cNvSpPr txBox="1"/>
              <p:nvPr/>
            </p:nvSpPr>
            <p:spPr>
              <a:xfrm>
                <a:off x="3429000" y="762000"/>
                <a:ext cx="5334000" cy="1384995"/>
              </a:xfrm>
              <a:prstGeom prst="rect">
                <a:avLst/>
              </a:prstGeom>
              <a:solidFill>
                <a:srgbClr val="FFFFCC"/>
              </a:solidFill>
            </p:spPr>
            <p:txBody>
              <a:bodyPr wrap="square" rtlCol="0">
                <a:spAutoFit/>
              </a:bodyPr>
              <a:lstStyle/>
              <a:p>
                <a:pPr algn="ctr"/>
                <a:r>
                  <a:rPr lang="en-US" sz="1400" b="1" dirty="0">
                    <a:latin typeface="Verdana" pitchFamily="34" charset="0"/>
                    <a:ea typeface="Verdana" pitchFamily="34" charset="0"/>
                    <a:cs typeface="Verdana" pitchFamily="34" charset="0"/>
                  </a:rPr>
                  <a:t>Pins 24 -31</a:t>
                </a:r>
              </a:p>
              <a:p>
                <a:pPr algn="ctr"/>
                <a:endParaRPr lang="en-US" sz="1400" b="1" dirty="0">
                  <a:latin typeface="Verdana" pitchFamily="34" charset="0"/>
                  <a:ea typeface="Verdana" pitchFamily="34" charset="0"/>
                  <a:cs typeface="Verdana" pitchFamily="34" charset="0"/>
                </a:endParaRPr>
              </a:p>
              <a:p>
                <a:pPr algn="ctr"/>
                <a:r>
                  <a:rPr lang="en-US" sz="1400" b="1" dirty="0">
                    <a:latin typeface="Verdana" pitchFamily="34" charset="0"/>
                    <a:ea typeface="Verdana" pitchFamily="34" charset="0"/>
                    <a:cs typeface="Verdana" pitchFamily="34" charset="0"/>
                  </a:rPr>
                  <a:t>For minimum mode operation, the MN/ </a:t>
                </a:r>
                <a14:m>
                  <m:oMath xmlns:m="http://schemas.openxmlformats.org/officeDocument/2006/math">
                    <m:acc>
                      <m:accPr>
                        <m:chr m:val="̅"/>
                        <m:ctrlPr>
                          <a:rPr lang="en-US" sz="1400" b="1" i="1" dirty="0" smtClean="0">
                            <a:latin typeface="Cambria Math" panose="02040503050406030204" pitchFamily="18" charset="0"/>
                          </a:rPr>
                        </m:ctrlPr>
                      </m:accPr>
                      <m:e>
                        <m:r>
                          <a:rPr lang="en-US" sz="1400" b="1" i="0" dirty="0" smtClean="0">
                            <a:latin typeface="Cambria Math"/>
                          </a:rPr>
                          <m:t>𝐌𝐗</m:t>
                        </m:r>
                      </m:e>
                    </m:acc>
                  </m:oMath>
                </a14:m>
                <a:r>
                  <a:rPr lang="en-US" sz="1400" b="1" dirty="0">
                    <a:latin typeface="Verdana" pitchFamily="34" charset="0"/>
                    <a:ea typeface="Verdana" pitchFamily="34" charset="0"/>
                    <a:cs typeface="Verdana" pitchFamily="34" charset="0"/>
                  </a:rPr>
                  <a:t> is tied to VCC (logic high)</a:t>
                </a:r>
              </a:p>
              <a:p>
                <a:pPr algn="ctr"/>
                <a:endParaRPr lang="en-US" sz="1400" b="1" dirty="0">
                  <a:latin typeface="Verdana" pitchFamily="34" charset="0"/>
                  <a:ea typeface="Verdana" pitchFamily="34" charset="0"/>
                  <a:cs typeface="Verdana" pitchFamily="34" charset="0"/>
                </a:endParaRPr>
              </a:p>
              <a:p>
                <a:pPr algn="ctr"/>
                <a:r>
                  <a:rPr lang="en-US" sz="1400" b="1" dirty="0">
                    <a:latin typeface="Verdana" pitchFamily="34" charset="0"/>
                    <a:ea typeface="Verdana" pitchFamily="34" charset="0"/>
                    <a:cs typeface="Verdana" pitchFamily="34" charset="0"/>
                  </a:rPr>
                  <a:t>8086 itself generates all the bus control signals</a:t>
                </a:r>
              </a:p>
            </p:txBody>
          </p:sp>
        </mc:Choice>
        <mc:Fallback xmlns="">
          <p:sp>
            <p:nvSpPr>
              <p:cNvPr id="15" name="TextBox 14"/>
              <p:cNvSpPr txBox="1">
                <a:spLocks noRot="1" noChangeAspect="1" noMove="1" noResize="1" noEditPoints="1" noAdjustHandles="1" noChangeArrowheads="1" noChangeShapeType="1" noTextEdit="1"/>
              </p:cNvSpPr>
              <p:nvPr/>
            </p:nvSpPr>
            <p:spPr>
              <a:xfrm>
                <a:off x="3429000" y="762000"/>
                <a:ext cx="5334000" cy="1384995"/>
              </a:xfrm>
              <a:prstGeom prst="rect">
                <a:avLst/>
              </a:prstGeom>
              <a:blipFill>
                <a:blip r:embed="rId4"/>
                <a:stretch>
                  <a:fillRect t="-881" b="-3524"/>
                </a:stretch>
              </a:blipFill>
            </p:spPr>
            <p:txBody>
              <a:bodyPr/>
              <a:lstStyle/>
              <a:p>
                <a:r>
                  <a:rPr lang="en-IN">
                    <a:noFill/>
                  </a:rPr>
                  <a:t> </a:t>
                </a:r>
              </a:p>
            </p:txBody>
          </p:sp>
        </mc:Fallback>
      </mc:AlternateContent>
    </p:spTree>
    <p:extLst>
      <p:ext uri="{BB962C8B-B14F-4D97-AF65-F5344CB8AC3E}">
        <p14:creationId xmlns:p14="http://schemas.microsoft.com/office/powerpoint/2010/main" val="3062761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par>
                                <p:cTn id="8" presetID="42" presetClass="path" presetSubtype="0" accel="50000" decel="50000" fill="hold" grpId="0" nodeType="withEffect">
                                  <p:stCondLst>
                                    <p:cond delay="0"/>
                                  </p:stCondLst>
                                  <p:childTnLst>
                                    <p:animMotion origin="layout" path="M 2.77778E-6 0.00463 L 2.77778E-6 0.03148 " pathEditMode="relative" rAng="0" ptsTypes="AA">
                                      <p:cBhvr>
                                        <p:cTn id="9" dur="500" fill="hold"/>
                                        <p:tgtEl>
                                          <p:spTgt spid="44"/>
                                        </p:tgtEl>
                                        <p:attrNameLst>
                                          <p:attrName>ppt_x</p:attrName>
                                          <p:attrName>ppt_y</p:attrName>
                                        </p:attrNameLst>
                                      </p:cBhvr>
                                      <p:rCtr x="0" y="134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p:cNvSpPr/>
          <p:nvPr/>
        </p:nvSpPr>
        <p:spPr>
          <a:xfrm>
            <a:off x="1802130" y="4338891"/>
            <a:ext cx="1424940" cy="627902"/>
          </a:xfrm>
          <a:prstGeom prst="rect">
            <a:avLst/>
          </a:prstGeom>
          <a:solidFill>
            <a:srgbClr val="99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Pins and Signals</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14</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mc:AlternateContent xmlns:mc="http://schemas.openxmlformats.org/markup-compatibility/2006" xmlns:a14="http://schemas.microsoft.com/office/drawing/2010/main">
        <mc:Choice Requires="a14">
          <p:sp>
            <p:nvSpPr>
              <p:cNvPr id="45" name="TextBox 44"/>
              <p:cNvSpPr txBox="1"/>
              <p:nvPr/>
            </p:nvSpPr>
            <p:spPr>
              <a:xfrm>
                <a:off x="3429000" y="762000"/>
                <a:ext cx="5334000" cy="954107"/>
              </a:xfrm>
              <a:prstGeom prst="rect">
                <a:avLst/>
              </a:prstGeom>
              <a:solidFill>
                <a:srgbClr val="FFFFCC"/>
              </a:solidFill>
            </p:spPr>
            <p:txBody>
              <a:bodyPr wrap="square" rtlCol="0">
                <a:spAutoFit/>
              </a:bodyPr>
              <a:lstStyle/>
              <a:p>
                <a:pPr algn="ctr"/>
                <a:r>
                  <a:rPr lang="en-US" sz="1400" b="1" dirty="0">
                    <a:latin typeface="Verdana" pitchFamily="34" charset="0"/>
                    <a:ea typeface="Verdana" pitchFamily="34" charset="0"/>
                    <a:cs typeface="Verdana" pitchFamily="34" charset="0"/>
                  </a:rPr>
                  <a:t>During maximum mode operation, the MN/ </a:t>
                </a:r>
                <a14:m>
                  <m:oMath xmlns:m="http://schemas.openxmlformats.org/officeDocument/2006/math">
                    <m:acc>
                      <m:accPr>
                        <m:chr m:val="̅"/>
                        <m:ctrlPr>
                          <a:rPr lang="en-US" sz="1400" b="1" i="1" dirty="0" smtClean="0">
                            <a:latin typeface="Cambria Math" panose="02040503050406030204" pitchFamily="18" charset="0"/>
                          </a:rPr>
                        </m:ctrlPr>
                      </m:accPr>
                      <m:e>
                        <m:r>
                          <a:rPr lang="en-US" sz="1400" b="1" i="0" dirty="0" smtClean="0">
                            <a:latin typeface="Cambria Math"/>
                          </a:rPr>
                          <m:t>𝐌𝐗</m:t>
                        </m:r>
                      </m:e>
                    </m:acc>
                  </m:oMath>
                </a14:m>
                <a:r>
                  <a:rPr lang="en-US" sz="1400" b="1" dirty="0">
                    <a:latin typeface="Verdana" pitchFamily="34" charset="0"/>
                    <a:ea typeface="Verdana" pitchFamily="34" charset="0"/>
                    <a:cs typeface="Verdana" pitchFamily="34" charset="0"/>
                  </a:rPr>
                  <a:t> is grounded (logic low)</a:t>
                </a:r>
              </a:p>
              <a:p>
                <a:pPr algn="ctr"/>
                <a:endParaRPr lang="en-US" sz="1400" b="1" dirty="0">
                  <a:latin typeface="Verdana" pitchFamily="34" charset="0"/>
                  <a:ea typeface="Verdana" pitchFamily="34" charset="0"/>
                  <a:cs typeface="Verdana" pitchFamily="34" charset="0"/>
                </a:endParaRPr>
              </a:p>
              <a:p>
                <a:pPr algn="ctr"/>
                <a:r>
                  <a:rPr lang="en-US" sz="1400" b="1" dirty="0">
                    <a:latin typeface="Verdana" pitchFamily="34" charset="0"/>
                    <a:ea typeface="Verdana" pitchFamily="34" charset="0"/>
                    <a:cs typeface="Verdana" pitchFamily="34" charset="0"/>
                  </a:rPr>
                  <a:t>Pins 24 -31 are reassigned</a:t>
                </a:r>
              </a:p>
            </p:txBody>
          </p:sp>
        </mc:Choice>
        <mc:Fallback xmlns="">
          <p:sp>
            <p:nvSpPr>
              <p:cNvPr id="45" name="TextBox 44"/>
              <p:cNvSpPr txBox="1">
                <a:spLocks noRot="1" noChangeAspect="1" noMove="1" noResize="1" noEditPoints="1" noAdjustHandles="1" noChangeArrowheads="1" noChangeShapeType="1" noTextEdit="1"/>
              </p:cNvSpPr>
              <p:nvPr/>
            </p:nvSpPr>
            <p:spPr>
              <a:xfrm>
                <a:off x="3429000" y="762000"/>
                <a:ext cx="5334000" cy="954107"/>
              </a:xfrm>
              <a:prstGeom prst="rect">
                <a:avLst/>
              </a:prstGeom>
              <a:blipFill>
                <a:blip r:embed="rId3"/>
                <a:stretch>
                  <a:fillRect t="-1274" b="-509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47" name="Table 46"/>
              <p:cNvGraphicFramePr>
                <a:graphicFrameLocks noGrp="1"/>
              </p:cNvGraphicFramePr>
              <p:nvPr/>
            </p:nvGraphicFramePr>
            <p:xfrm>
              <a:off x="3385457" y="2133600"/>
              <a:ext cx="5529943" cy="64008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14:m>
                            <m:oMath xmlns:m="http://schemas.openxmlformats.org/officeDocument/2006/math">
                              <m:acc>
                                <m:accPr>
                                  <m:chr m:val="̅"/>
                                  <m:ctrlPr>
                                    <a:rPr lang="en-US" sz="1200" i="1" smtClean="0">
                                      <a:solidFill>
                                        <a:srgbClr val="FF0066"/>
                                      </a:solidFill>
                                      <a:latin typeface="Cambria Math" panose="02040503050406030204" pitchFamily="18" charset="0"/>
                                    </a:rPr>
                                  </m:ctrlPr>
                                </m:accPr>
                                <m:e>
                                  <m:sSub>
                                    <m:sSubPr>
                                      <m:ctrlPr>
                                        <a:rPr lang="en-US" sz="1200" i="1" smtClean="0">
                                          <a:solidFill>
                                            <a:srgbClr val="FF0066"/>
                                          </a:solidFill>
                                          <a:latin typeface="Cambria Math" panose="02040503050406030204" pitchFamily="18" charset="0"/>
                                        </a:rPr>
                                      </m:ctrlPr>
                                    </m:sSubPr>
                                    <m:e>
                                      <m:r>
                                        <a:rPr lang="en-US" sz="1200" b="1" i="1" smtClean="0">
                                          <a:solidFill>
                                            <a:srgbClr val="FF0066"/>
                                          </a:solidFill>
                                          <a:latin typeface="Cambria Math"/>
                                        </a:rPr>
                                        <m:t>𝑺</m:t>
                                      </m:r>
                                    </m:e>
                                    <m:sub>
                                      <m:r>
                                        <a:rPr lang="en-US" sz="1200" b="1" i="1" smtClean="0">
                                          <a:solidFill>
                                            <a:srgbClr val="FF0066"/>
                                          </a:solidFill>
                                          <a:latin typeface="Cambria Math"/>
                                        </a:rPr>
                                        <m:t>𝟎</m:t>
                                      </m:r>
                                    </m:sub>
                                  </m:sSub>
                                </m:e>
                              </m:acc>
                            </m:oMath>
                          </a14:m>
                          <a:r>
                            <a:rPr lang="en-US" sz="1200" i="0" dirty="0">
                              <a:solidFill>
                                <a:sysClr val="windowText" lastClr="000000"/>
                              </a:solidFill>
                              <a:latin typeface="Verdana" pitchFamily="34" charset="0"/>
                              <a:ea typeface="Verdana" pitchFamily="34" charset="0"/>
                              <a:cs typeface="Verdana" pitchFamily="34" charset="0"/>
                            </a:rPr>
                            <a:t>, </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sSub>
                                    <m:sSubPr>
                                      <m:ctrlPr>
                                        <a:rPr lang="en-US" sz="1200" i="1" smtClean="0">
                                          <a:solidFill>
                                            <a:srgbClr val="FF0066"/>
                                          </a:solidFill>
                                          <a:latin typeface="Cambria Math" panose="02040503050406030204" pitchFamily="18" charset="0"/>
                                        </a:rPr>
                                      </m:ctrlPr>
                                    </m:sSubPr>
                                    <m:e>
                                      <m:r>
                                        <a:rPr lang="en-US" sz="1200" b="1" i="1" smtClean="0">
                                          <a:solidFill>
                                            <a:srgbClr val="FF0066"/>
                                          </a:solidFill>
                                          <a:latin typeface="Cambria Math"/>
                                        </a:rPr>
                                        <m:t>𝑺</m:t>
                                      </m:r>
                                    </m:e>
                                    <m:sub>
                                      <m:r>
                                        <a:rPr lang="en-US" sz="1200" b="1" i="1" smtClean="0">
                                          <a:solidFill>
                                            <a:srgbClr val="FF0066"/>
                                          </a:solidFill>
                                          <a:latin typeface="Cambria Math"/>
                                        </a:rPr>
                                        <m:t>𝟏</m:t>
                                      </m:r>
                                    </m:sub>
                                  </m:sSub>
                                </m:e>
                              </m:acc>
                            </m:oMath>
                          </a14:m>
                          <a:r>
                            <a:rPr lang="en-US" sz="1200" i="0" dirty="0">
                              <a:solidFill>
                                <a:sysClr val="windowText" lastClr="000000"/>
                              </a:solidFill>
                              <a:latin typeface="Verdana" pitchFamily="34" charset="0"/>
                              <a:ea typeface="Verdana" pitchFamily="34" charset="0"/>
                              <a:cs typeface="Verdana" pitchFamily="34" charset="0"/>
                            </a:rPr>
                            <a:t>, </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sSub>
                                    <m:sSubPr>
                                      <m:ctrlPr>
                                        <a:rPr lang="en-US" sz="1200" i="1" smtClean="0">
                                          <a:solidFill>
                                            <a:srgbClr val="FF0066"/>
                                          </a:solidFill>
                                          <a:latin typeface="Cambria Math" panose="02040503050406030204" pitchFamily="18" charset="0"/>
                                        </a:rPr>
                                      </m:ctrlPr>
                                    </m:sSubPr>
                                    <m:e>
                                      <m:r>
                                        <a:rPr lang="en-US" sz="1200" b="1" i="1" smtClean="0">
                                          <a:solidFill>
                                            <a:srgbClr val="FF0066"/>
                                          </a:solidFill>
                                          <a:latin typeface="Cambria Math"/>
                                        </a:rPr>
                                        <m:t>𝑺</m:t>
                                      </m:r>
                                    </m:e>
                                    <m:sub>
                                      <m:r>
                                        <a:rPr lang="en-US" sz="1200" b="1" i="1" smtClean="0">
                                          <a:solidFill>
                                            <a:srgbClr val="FF0066"/>
                                          </a:solidFill>
                                          <a:latin typeface="Cambria Math"/>
                                        </a:rPr>
                                        <m:t>𝟐</m:t>
                                      </m:r>
                                    </m:sub>
                                  </m:sSub>
                                </m:e>
                              </m:acc>
                            </m:oMath>
                          </a14:m>
                          <a:endParaRPr lang="en-US" sz="1200" i="0" dirty="0">
                            <a:solidFill>
                              <a:sysClr val="windowText" lastClr="000000"/>
                            </a:solidFill>
                            <a:latin typeface="Verdana" pitchFamily="34" charset="0"/>
                            <a:ea typeface="Verdana" pitchFamily="34" charset="0"/>
                            <a:cs typeface="Verdana" pitchFamily="34" charset="0"/>
                          </a:endParaRPr>
                        </a:p>
                      </a:txBody>
                      <a:tcPr>
                        <a:noFill/>
                      </a:tcPr>
                    </a:tc>
                    <a:tc>
                      <a:txBody>
                        <a:bodyPr/>
                        <a:lstStyle/>
                        <a:p>
                          <a:r>
                            <a:rPr lang="en-US" sz="1200" dirty="0">
                              <a:solidFill>
                                <a:srgbClr val="FF0066"/>
                              </a:solidFill>
                              <a:latin typeface="Verdana" pitchFamily="34" charset="0"/>
                              <a:ea typeface="Verdana" pitchFamily="34" charset="0"/>
                              <a:cs typeface="Verdana" pitchFamily="34" charset="0"/>
                            </a:rPr>
                            <a:t>Status signals</a:t>
                          </a:r>
                          <a:r>
                            <a:rPr lang="en-US" sz="1200" dirty="0">
                              <a:solidFill>
                                <a:sysClr val="windowText" lastClr="000000"/>
                              </a:solidFill>
                              <a:latin typeface="Verdana" pitchFamily="34" charset="0"/>
                              <a:ea typeface="Verdana" pitchFamily="34" charset="0"/>
                              <a:cs typeface="Verdana" pitchFamily="34" charset="0"/>
                            </a:rPr>
                            <a:t>; used by the 8086 bus controller to generate bus timing and control signals. These are decoded</a:t>
                          </a:r>
                          <a:r>
                            <a:rPr lang="en-US" sz="1200" baseline="0" dirty="0">
                              <a:solidFill>
                                <a:sysClr val="windowText" lastClr="000000"/>
                              </a:solidFill>
                              <a:latin typeface="Verdana" pitchFamily="34" charset="0"/>
                              <a:ea typeface="Verdana" pitchFamily="34" charset="0"/>
                              <a:cs typeface="Verdana" pitchFamily="34" charset="0"/>
                            </a:rPr>
                            <a:t> as shown.</a:t>
                          </a:r>
                          <a:endParaRPr lang="en-US" sz="1200" dirty="0">
                            <a:solidFill>
                              <a:sysClr val="windowText" lastClr="000000"/>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mc:Choice>
        <mc:Fallback xmlns="">
          <p:graphicFrame>
            <p:nvGraphicFramePr>
              <p:cNvPr id="47" name="Table 46"/>
              <p:cNvGraphicFramePr>
                <a:graphicFrameLocks noGrp="1"/>
              </p:cNvGraphicFramePr>
              <p:nvPr/>
            </p:nvGraphicFramePr>
            <p:xfrm>
              <a:off x="3385457" y="2133600"/>
              <a:ext cx="5529943" cy="64008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640080">
                    <a:tc>
                      <a:txBody>
                        <a:bodyPr/>
                        <a:lstStyle/>
                        <a:p>
                          <a:endParaRPr lang="en-US"/>
                        </a:p>
                      </a:txBody>
                      <a:tcPr>
                        <a:blipFill>
                          <a:blip r:embed="rId4"/>
                          <a:stretch>
                            <a:fillRect l="-649" t="-1905" r="-492208" b="-7619"/>
                          </a:stretch>
                        </a:blipFill>
                      </a:tcPr>
                    </a:tc>
                    <a:tc>
                      <a:txBody>
                        <a:bodyPr/>
                        <a:lstStyle/>
                        <a:p>
                          <a:r>
                            <a:rPr lang="en-US" sz="1200" dirty="0">
                              <a:solidFill>
                                <a:srgbClr val="FF0066"/>
                              </a:solidFill>
                              <a:latin typeface="Verdana" pitchFamily="34" charset="0"/>
                              <a:ea typeface="Verdana" pitchFamily="34" charset="0"/>
                              <a:cs typeface="Verdana" pitchFamily="34" charset="0"/>
                            </a:rPr>
                            <a:t>Status signals</a:t>
                          </a:r>
                          <a:r>
                            <a:rPr lang="en-US" sz="1200" dirty="0">
                              <a:solidFill>
                                <a:sysClr val="windowText" lastClr="000000"/>
                              </a:solidFill>
                              <a:latin typeface="Verdana" pitchFamily="34" charset="0"/>
                              <a:ea typeface="Verdana" pitchFamily="34" charset="0"/>
                              <a:cs typeface="Verdana" pitchFamily="34" charset="0"/>
                            </a:rPr>
                            <a:t>; used by the 8086 bus controller to generate bus timing and control signals. These are decoded</a:t>
                          </a:r>
                          <a:r>
                            <a:rPr lang="en-US" sz="1200" baseline="0" dirty="0">
                              <a:solidFill>
                                <a:sysClr val="windowText" lastClr="000000"/>
                              </a:solidFill>
                              <a:latin typeface="Verdana" pitchFamily="34" charset="0"/>
                              <a:ea typeface="Verdana" pitchFamily="34" charset="0"/>
                              <a:cs typeface="Verdana" pitchFamily="34" charset="0"/>
                            </a:rPr>
                            <a:t> as shown.</a:t>
                          </a:r>
                          <a:endParaRPr lang="en-US" sz="1200" dirty="0">
                            <a:solidFill>
                              <a:sysClr val="windowText" lastClr="000000"/>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mc:Fallback>
      </mc:AlternateContent>
      <p:pic>
        <p:nvPicPr>
          <p:cNvPr id="1026" name="Picture 2" descr="C:\Users\APARNA\Desktop\Microprocessor\8086_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 y="1847850"/>
            <a:ext cx="3202599" cy="4171949"/>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1600200"/>
            <a:ext cx="3200400" cy="21336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541" y="5391150"/>
            <a:ext cx="3200400" cy="8382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541" y="3752848"/>
            <a:ext cx="1830341" cy="1638301"/>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descr="C:\Users\APARNA\Desktop\mm.ti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541837" y="2911474"/>
            <a:ext cx="3108325" cy="310832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5791456" y="188879"/>
            <a:ext cx="2895344" cy="338554"/>
          </a:xfrm>
          <a:prstGeom prst="rect">
            <a:avLst/>
          </a:prstGeom>
          <a:solidFill>
            <a:srgbClr val="FFC000"/>
          </a:solidFill>
        </p:spPr>
        <p:txBody>
          <a:bodyPr wrap="none">
            <a:spAutoFit/>
          </a:bodyPr>
          <a:lstStyle/>
          <a:p>
            <a:r>
              <a:rPr lang="en-US" sz="1600" b="1" dirty="0">
                <a:solidFill>
                  <a:srgbClr val="FF0000"/>
                </a:solidFill>
                <a:latin typeface="Verdana" pitchFamily="34" charset="0"/>
                <a:ea typeface="Verdana" pitchFamily="34" charset="0"/>
                <a:cs typeface="Verdana" pitchFamily="34" charset="0"/>
              </a:rPr>
              <a:t>Maximum mode signals</a:t>
            </a:r>
          </a:p>
        </p:txBody>
      </p:sp>
    </p:spTree>
    <p:extLst>
      <p:ext uri="{BB962C8B-B14F-4D97-AF65-F5344CB8AC3E}">
        <p14:creationId xmlns:p14="http://schemas.microsoft.com/office/powerpoint/2010/main" val="332730063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p:cNvSpPr/>
          <p:nvPr/>
        </p:nvSpPr>
        <p:spPr>
          <a:xfrm>
            <a:off x="1802130" y="4952999"/>
            <a:ext cx="1424940" cy="427877"/>
          </a:xfrm>
          <a:prstGeom prst="rect">
            <a:avLst/>
          </a:prstGeom>
          <a:solidFill>
            <a:srgbClr val="99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Pins and Signals</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15</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mc:AlternateContent xmlns:mc="http://schemas.openxmlformats.org/markup-compatibility/2006" xmlns:a14="http://schemas.microsoft.com/office/drawing/2010/main">
        <mc:Choice Requires="a14">
          <p:sp>
            <p:nvSpPr>
              <p:cNvPr id="45" name="TextBox 44"/>
              <p:cNvSpPr txBox="1"/>
              <p:nvPr/>
            </p:nvSpPr>
            <p:spPr>
              <a:xfrm>
                <a:off x="3429000" y="762000"/>
                <a:ext cx="5334000" cy="954107"/>
              </a:xfrm>
              <a:prstGeom prst="rect">
                <a:avLst/>
              </a:prstGeom>
              <a:solidFill>
                <a:srgbClr val="FFFFCC"/>
              </a:solidFill>
            </p:spPr>
            <p:txBody>
              <a:bodyPr wrap="square" rtlCol="0">
                <a:spAutoFit/>
              </a:bodyPr>
              <a:lstStyle/>
              <a:p>
                <a:pPr algn="ctr"/>
                <a:r>
                  <a:rPr lang="en-US" sz="1400" b="1" dirty="0">
                    <a:latin typeface="Verdana" pitchFamily="34" charset="0"/>
                    <a:ea typeface="Verdana" pitchFamily="34" charset="0"/>
                    <a:cs typeface="Verdana" pitchFamily="34" charset="0"/>
                  </a:rPr>
                  <a:t>During maximum mode operation, the MN/ </a:t>
                </a:r>
                <a14:m>
                  <m:oMath xmlns:m="http://schemas.openxmlformats.org/officeDocument/2006/math">
                    <m:acc>
                      <m:accPr>
                        <m:chr m:val="̅"/>
                        <m:ctrlPr>
                          <a:rPr lang="en-US" sz="1400" b="1" i="1" dirty="0" smtClean="0">
                            <a:latin typeface="Cambria Math" panose="02040503050406030204" pitchFamily="18" charset="0"/>
                          </a:rPr>
                        </m:ctrlPr>
                      </m:accPr>
                      <m:e>
                        <m:r>
                          <a:rPr lang="en-US" sz="1400" b="1" i="0" dirty="0" smtClean="0">
                            <a:latin typeface="Cambria Math"/>
                          </a:rPr>
                          <m:t>𝐌𝐗</m:t>
                        </m:r>
                      </m:e>
                    </m:acc>
                  </m:oMath>
                </a14:m>
                <a:r>
                  <a:rPr lang="en-US" sz="1400" b="1" dirty="0">
                    <a:latin typeface="Verdana" pitchFamily="34" charset="0"/>
                    <a:ea typeface="Verdana" pitchFamily="34" charset="0"/>
                    <a:cs typeface="Verdana" pitchFamily="34" charset="0"/>
                  </a:rPr>
                  <a:t> is grounded (logic low)</a:t>
                </a:r>
              </a:p>
              <a:p>
                <a:pPr algn="ctr"/>
                <a:endParaRPr lang="en-US" sz="1400" b="1" dirty="0">
                  <a:latin typeface="Verdana" pitchFamily="34" charset="0"/>
                  <a:ea typeface="Verdana" pitchFamily="34" charset="0"/>
                  <a:cs typeface="Verdana" pitchFamily="34" charset="0"/>
                </a:endParaRPr>
              </a:p>
              <a:p>
                <a:pPr algn="ctr"/>
                <a:r>
                  <a:rPr lang="en-US" sz="1400" b="1" dirty="0">
                    <a:latin typeface="Verdana" pitchFamily="34" charset="0"/>
                    <a:ea typeface="Verdana" pitchFamily="34" charset="0"/>
                    <a:cs typeface="Verdana" pitchFamily="34" charset="0"/>
                  </a:rPr>
                  <a:t>Pins 24 -31 are reassigned</a:t>
                </a:r>
              </a:p>
            </p:txBody>
          </p:sp>
        </mc:Choice>
        <mc:Fallback xmlns="">
          <p:sp>
            <p:nvSpPr>
              <p:cNvPr id="45" name="TextBox 44"/>
              <p:cNvSpPr txBox="1">
                <a:spLocks noRot="1" noChangeAspect="1" noMove="1" noResize="1" noEditPoints="1" noAdjustHandles="1" noChangeArrowheads="1" noChangeShapeType="1" noTextEdit="1"/>
              </p:cNvSpPr>
              <p:nvPr/>
            </p:nvSpPr>
            <p:spPr>
              <a:xfrm>
                <a:off x="3429000" y="762000"/>
                <a:ext cx="5334000" cy="954107"/>
              </a:xfrm>
              <a:prstGeom prst="rect">
                <a:avLst/>
              </a:prstGeom>
              <a:blipFill>
                <a:blip r:embed="rId3"/>
                <a:stretch>
                  <a:fillRect t="-1274" b="-509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47" name="Table 46"/>
              <p:cNvGraphicFramePr>
                <a:graphicFrameLocks noGrp="1"/>
              </p:cNvGraphicFramePr>
              <p:nvPr/>
            </p:nvGraphicFramePr>
            <p:xfrm>
              <a:off x="3385457" y="2133600"/>
              <a:ext cx="5529943" cy="155448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14:m>
                            <m:oMath xmlns:m="http://schemas.openxmlformats.org/officeDocument/2006/math">
                              <m:acc>
                                <m:accPr>
                                  <m:chr m:val="̅"/>
                                  <m:ctrlPr>
                                    <a:rPr lang="en-US" sz="1200" i="1" smtClean="0">
                                      <a:solidFill>
                                        <a:srgbClr val="FF0066"/>
                                      </a:solidFill>
                                      <a:latin typeface="Cambria Math" panose="02040503050406030204" pitchFamily="18" charset="0"/>
                                    </a:rPr>
                                  </m:ctrlPr>
                                </m:accPr>
                                <m:e>
                                  <m:sSub>
                                    <m:sSubPr>
                                      <m:ctrlPr>
                                        <a:rPr lang="en-US" sz="1200" i="1" smtClean="0">
                                          <a:solidFill>
                                            <a:srgbClr val="FF0066"/>
                                          </a:solidFill>
                                          <a:latin typeface="Cambria Math" panose="02040503050406030204" pitchFamily="18" charset="0"/>
                                        </a:rPr>
                                      </m:ctrlPr>
                                    </m:sSubPr>
                                    <m:e>
                                      <m:r>
                                        <a:rPr lang="en-US" sz="1200" b="1" i="1" smtClean="0">
                                          <a:solidFill>
                                            <a:srgbClr val="FF0066"/>
                                          </a:solidFill>
                                          <a:latin typeface="Cambria Math"/>
                                        </a:rPr>
                                        <m:t>𝑸𝑺</m:t>
                                      </m:r>
                                    </m:e>
                                    <m:sub>
                                      <m:r>
                                        <a:rPr lang="en-US" sz="1200" b="1" i="1" smtClean="0">
                                          <a:solidFill>
                                            <a:srgbClr val="FF0066"/>
                                          </a:solidFill>
                                          <a:latin typeface="Cambria Math"/>
                                        </a:rPr>
                                        <m:t>𝟎</m:t>
                                      </m:r>
                                    </m:sub>
                                  </m:sSub>
                                </m:e>
                              </m:acc>
                            </m:oMath>
                          </a14:m>
                          <a:r>
                            <a:rPr lang="en-US" sz="1200" i="0" dirty="0">
                              <a:solidFill>
                                <a:sysClr val="windowText" lastClr="000000"/>
                              </a:solidFill>
                              <a:latin typeface="Verdana" pitchFamily="34" charset="0"/>
                              <a:ea typeface="Verdana" pitchFamily="34" charset="0"/>
                              <a:cs typeface="Verdana" pitchFamily="34" charset="0"/>
                            </a:rPr>
                            <a:t>, </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1" smtClean="0">
                                      <a:solidFill>
                                        <a:srgbClr val="FF0066"/>
                                      </a:solidFill>
                                      <a:latin typeface="Cambria Math"/>
                                    </a:rPr>
                                    <m:t>𝑸</m:t>
                                  </m:r>
                                  <m:sSub>
                                    <m:sSubPr>
                                      <m:ctrlPr>
                                        <a:rPr lang="en-US" sz="1200" i="1" smtClean="0">
                                          <a:solidFill>
                                            <a:srgbClr val="FF0066"/>
                                          </a:solidFill>
                                          <a:latin typeface="Cambria Math" panose="02040503050406030204" pitchFamily="18" charset="0"/>
                                        </a:rPr>
                                      </m:ctrlPr>
                                    </m:sSubPr>
                                    <m:e>
                                      <m:r>
                                        <a:rPr lang="en-US" sz="1200" b="1" i="1" smtClean="0">
                                          <a:solidFill>
                                            <a:srgbClr val="FF0066"/>
                                          </a:solidFill>
                                          <a:latin typeface="Cambria Math"/>
                                        </a:rPr>
                                        <m:t>𝑺</m:t>
                                      </m:r>
                                    </m:e>
                                    <m:sub>
                                      <m:r>
                                        <a:rPr lang="en-US" sz="1200" b="1" i="1" smtClean="0">
                                          <a:solidFill>
                                            <a:srgbClr val="FF0066"/>
                                          </a:solidFill>
                                          <a:latin typeface="Cambria Math"/>
                                        </a:rPr>
                                        <m:t>𝟏</m:t>
                                      </m:r>
                                    </m:sub>
                                  </m:sSub>
                                </m:e>
                              </m:acc>
                            </m:oMath>
                          </a14:m>
                          <a:endParaRPr lang="en-US" sz="1200" i="0" dirty="0">
                            <a:solidFill>
                              <a:sysClr val="windowText" lastClr="000000"/>
                            </a:solidFill>
                            <a:latin typeface="Verdana" pitchFamily="34" charset="0"/>
                            <a:ea typeface="Verdana" pitchFamily="34" charset="0"/>
                            <a:cs typeface="Verdana" pitchFamily="34" charset="0"/>
                          </a:endParaRPr>
                        </a:p>
                      </a:txBody>
                      <a:tcPr>
                        <a:noFill/>
                      </a:tcPr>
                    </a:tc>
                    <a:tc>
                      <a:txBody>
                        <a:bodyPr/>
                        <a:lstStyle/>
                        <a:p>
                          <a:pPr algn="just"/>
                          <a:r>
                            <a:rPr lang="en-US" sz="1200" dirty="0">
                              <a:solidFill>
                                <a:sysClr val="windowText" lastClr="000000"/>
                              </a:solidFill>
                              <a:latin typeface="Verdana" pitchFamily="34" charset="0"/>
                              <a:ea typeface="Verdana" pitchFamily="34" charset="0"/>
                              <a:cs typeface="Verdana" pitchFamily="34" charset="0"/>
                            </a:rPr>
                            <a:t>(</a:t>
                          </a:r>
                          <a:r>
                            <a:rPr lang="en-US" sz="1200" dirty="0">
                              <a:solidFill>
                                <a:srgbClr val="FF0000"/>
                              </a:solidFill>
                              <a:latin typeface="Verdana" pitchFamily="34" charset="0"/>
                              <a:ea typeface="Verdana" pitchFamily="34" charset="0"/>
                              <a:cs typeface="Verdana" pitchFamily="34" charset="0"/>
                            </a:rPr>
                            <a:t>Queue Status</a:t>
                          </a:r>
                          <a:r>
                            <a:rPr lang="en-US" sz="1200" dirty="0">
                              <a:solidFill>
                                <a:sysClr val="windowText" lastClr="000000"/>
                              </a:solidFill>
                              <a:latin typeface="Verdana" pitchFamily="34" charset="0"/>
                              <a:ea typeface="Verdana" pitchFamily="34" charset="0"/>
                              <a:cs typeface="Verdana" pitchFamily="34" charset="0"/>
                            </a:rPr>
                            <a:t>) The processor provides the status of queue in these</a:t>
                          </a:r>
                          <a:r>
                            <a:rPr lang="en-US" sz="1200" baseline="0" dirty="0">
                              <a:solidFill>
                                <a:sysClr val="windowText" lastClr="000000"/>
                              </a:solidFill>
                              <a:latin typeface="Verdana" pitchFamily="34" charset="0"/>
                              <a:ea typeface="Verdana" pitchFamily="34" charset="0"/>
                              <a:cs typeface="Verdana" pitchFamily="34" charset="0"/>
                            </a:rPr>
                            <a:t> lines. </a:t>
                          </a:r>
                        </a:p>
                        <a:p>
                          <a:pPr algn="just"/>
                          <a:endParaRPr lang="en-US" sz="1200" baseline="0" dirty="0">
                            <a:solidFill>
                              <a:sysClr val="windowText" lastClr="000000"/>
                            </a:solidFill>
                            <a:latin typeface="Verdana" pitchFamily="34" charset="0"/>
                            <a:ea typeface="Verdana" pitchFamily="34" charset="0"/>
                            <a:cs typeface="Verdana" pitchFamily="34" charset="0"/>
                          </a:endParaRPr>
                        </a:p>
                        <a:p>
                          <a:pPr algn="just"/>
                          <a:r>
                            <a:rPr lang="en-US" sz="1200" baseline="0" dirty="0">
                              <a:solidFill>
                                <a:sysClr val="windowText" lastClr="000000"/>
                              </a:solidFill>
                              <a:latin typeface="Verdana" pitchFamily="34" charset="0"/>
                              <a:ea typeface="Verdana" pitchFamily="34" charset="0"/>
                              <a:cs typeface="Verdana" pitchFamily="34" charset="0"/>
                            </a:rPr>
                            <a:t>The queue status can be used by external device to track the internal status of the queue in 8086. </a:t>
                          </a:r>
                        </a:p>
                        <a:p>
                          <a:pPr algn="just"/>
                          <a:endParaRPr lang="en-US" sz="1200" baseline="0" dirty="0">
                            <a:solidFill>
                              <a:sysClr val="windowText" lastClr="000000"/>
                            </a:solidFill>
                            <a:latin typeface="Verdana" pitchFamily="34" charset="0"/>
                            <a:ea typeface="Verdana" pitchFamily="34" charset="0"/>
                            <a:cs typeface="Verdana" pitchFamily="34" charset="0"/>
                          </a:endParaRPr>
                        </a:p>
                        <a:p>
                          <a:pPr algn="just"/>
                          <a:r>
                            <a:rPr lang="en-US" sz="1200" baseline="0" dirty="0">
                              <a:solidFill>
                                <a:sysClr val="windowText" lastClr="000000"/>
                              </a:solidFill>
                              <a:latin typeface="Verdana" pitchFamily="34" charset="0"/>
                              <a:ea typeface="Verdana" pitchFamily="34" charset="0"/>
                              <a:cs typeface="Verdana" pitchFamily="34" charset="0"/>
                            </a:rPr>
                            <a:t>The output on QS</a:t>
                          </a:r>
                          <a:r>
                            <a:rPr lang="en-US" sz="1200" baseline="-25000" dirty="0">
                              <a:solidFill>
                                <a:sysClr val="windowText" lastClr="000000"/>
                              </a:solidFill>
                              <a:latin typeface="Verdana" pitchFamily="34" charset="0"/>
                              <a:ea typeface="Verdana" pitchFamily="34" charset="0"/>
                              <a:cs typeface="Verdana" pitchFamily="34" charset="0"/>
                            </a:rPr>
                            <a:t>0</a:t>
                          </a:r>
                          <a:r>
                            <a:rPr lang="en-US" sz="1200" baseline="0" dirty="0">
                              <a:solidFill>
                                <a:sysClr val="windowText" lastClr="000000"/>
                              </a:solidFill>
                              <a:latin typeface="Verdana" pitchFamily="34" charset="0"/>
                              <a:ea typeface="Verdana" pitchFamily="34" charset="0"/>
                              <a:cs typeface="Verdana" pitchFamily="34" charset="0"/>
                            </a:rPr>
                            <a:t> and QS</a:t>
                          </a:r>
                          <a:r>
                            <a:rPr lang="en-US" sz="1200" baseline="-25000" dirty="0">
                              <a:solidFill>
                                <a:sysClr val="windowText" lastClr="000000"/>
                              </a:solidFill>
                              <a:latin typeface="Verdana" pitchFamily="34" charset="0"/>
                              <a:ea typeface="Verdana" pitchFamily="34" charset="0"/>
                              <a:cs typeface="Verdana" pitchFamily="34" charset="0"/>
                            </a:rPr>
                            <a:t>1</a:t>
                          </a:r>
                          <a:r>
                            <a:rPr lang="en-US" sz="1200" baseline="0" dirty="0">
                              <a:solidFill>
                                <a:sysClr val="windowText" lastClr="000000"/>
                              </a:solidFill>
                              <a:latin typeface="Verdana" pitchFamily="34" charset="0"/>
                              <a:ea typeface="Verdana" pitchFamily="34" charset="0"/>
                              <a:cs typeface="Verdana" pitchFamily="34" charset="0"/>
                            </a:rPr>
                            <a:t> can be interpreted as shown in the table.</a:t>
                          </a:r>
                          <a:endParaRPr lang="en-US" sz="1200" dirty="0">
                            <a:solidFill>
                              <a:sysClr val="windowText" lastClr="000000"/>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mc:Choice>
        <mc:Fallback xmlns="">
          <p:graphicFrame>
            <p:nvGraphicFramePr>
              <p:cNvPr id="47" name="Table 46"/>
              <p:cNvGraphicFramePr>
                <a:graphicFrameLocks noGrp="1"/>
              </p:cNvGraphicFramePr>
              <p:nvPr/>
            </p:nvGraphicFramePr>
            <p:xfrm>
              <a:off x="3385457" y="2133600"/>
              <a:ext cx="5529943" cy="1554480"/>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1554480">
                    <a:tc>
                      <a:txBody>
                        <a:bodyPr/>
                        <a:lstStyle/>
                        <a:p>
                          <a:endParaRPr lang="en-US"/>
                        </a:p>
                      </a:txBody>
                      <a:tcPr>
                        <a:blipFill>
                          <a:blip r:embed="rId4"/>
                          <a:stretch>
                            <a:fillRect l="-649" t="-784" r="-492208" b="-3137"/>
                          </a:stretch>
                        </a:blipFill>
                      </a:tcPr>
                    </a:tc>
                    <a:tc>
                      <a:txBody>
                        <a:bodyPr/>
                        <a:lstStyle/>
                        <a:p>
                          <a:pPr algn="just"/>
                          <a:r>
                            <a:rPr lang="en-US" sz="1200" dirty="0">
                              <a:solidFill>
                                <a:sysClr val="windowText" lastClr="000000"/>
                              </a:solidFill>
                              <a:latin typeface="Verdana" pitchFamily="34" charset="0"/>
                              <a:ea typeface="Verdana" pitchFamily="34" charset="0"/>
                              <a:cs typeface="Verdana" pitchFamily="34" charset="0"/>
                            </a:rPr>
                            <a:t>(</a:t>
                          </a:r>
                          <a:r>
                            <a:rPr lang="en-US" sz="1200" dirty="0">
                              <a:solidFill>
                                <a:srgbClr val="FF0000"/>
                              </a:solidFill>
                              <a:latin typeface="Verdana" pitchFamily="34" charset="0"/>
                              <a:ea typeface="Verdana" pitchFamily="34" charset="0"/>
                              <a:cs typeface="Verdana" pitchFamily="34" charset="0"/>
                            </a:rPr>
                            <a:t>Queue Status</a:t>
                          </a:r>
                          <a:r>
                            <a:rPr lang="en-US" sz="1200" dirty="0">
                              <a:solidFill>
                                <a:sysClr val="windowText" lastClr="000000"/>
                              </a:solidFill>
                              <a:latin typeface="Verdana" pitchFamily="34" charset="0"/>
                              <a:ea typeface="Verdana" pitchFamily="34" charset="0"/>
                              <a:cs typeface="Verdana" pitchFamily="34" charset="0"/>
                            </a:rPr>
                            <a:t>) The processor provides the status of queue in these</a:t>
                          </a:r>
                          <a:r>
                            <a:rPr lang="en-US" sz="1200" baseline="0" dirty="0">
                              <a:solidFill>
                                <a:sysClr val="windowText" lastClr="000000"/>
                              </a:solidFill>
                              <a:latin typeface="Verdana" pitchFamily="34" charset="0"/>
                              <a:ea typeface="Verdana" pitchFamily="34" charset="0"/>
                              <a:cs typeface="Verdana" pitchFamily="34" charset="0"/>
                            </a:rPr>
                            <a:t> lines. </a:t>
                          </a:r>
                        </a:p>
                        <a:p>
                          <a:pPr algn="just"/>
                          <a:endParaRPr lang="en-US" sz="1200" baseline="0" dirty="0">
                            <a:solidFill>
                              <a:sysClr val="windowText" lastClr="000000"/>
                            </a:solidFill>
                            <a:latin typeface="Verdana" pitchFamily="34" charset="0"/>
                            <a:ea typeface="Verdana" pitchFamily="34" charset="0"/>
                            <a:cs typeface="Verdana" pitchFamily="34" charset="0"/>
                          </a:endParaRPr>
                        </a:p>
                        <a:p>
                          <a:pPr algn="just"/>
                          <a:r>
                            <a:rPr lang="en-US" sz="1200" baseline="0" dirty="0">
                              <a:solidFill>
                                <a:sysClr val="windowText" lastClr="000000"/>
                              </a:solidFill>
                              <a:latin typeface="Verdana" pitchFamily="34" charset="0"/>
                              <a:ea typeface="Verdana" pitchFamily="34" charset="0"/>
                              <a:cs typeface="Verdana" pitchFamily="34" charset="0"/>
                            </a:rPr>
                            <a:t>The queue status can be used by external device to track the internal status of the queue in 8086. </a:t>
                          </a:r>
                        </a:p>
                        <a:p>
                          <a:pPr algn="just"/>
                          <a:endParaRPr lang="en-US" sz="1200" baseline="0" dirty="0">
                            <a:solidFill>
                              <a:sysClr val="windowText" lastClr="000000"/>
                            </a:solidFill>
                            <a:latin typeface="Verdana" pitchFamily="34" charset="0"/>
                            <a:ea typeface="Verdana" pitchFamily="34" charset="0"/>
                            <a:cs typeface="Verdana" pitchFamily="34" charset="0"/>
                          </a:endParaRPr>
                        </a:p>
                        <a:p>
                          <a:pPr algn="just"/>
                          <a:r>
                            <a:rPr lang="en-US" sz="1200" baseline="0" dirty="0">
                              <a:solidFill>
                                <a:sysClr val="windowText" lastClr="000000"/>
                              </a:solidFill>
                              <a:latin typeface="Verdana" pitchFamily="34" charset="0"/>
                              <a:ea typeface="Verdana" pitchFamily="34" charset="0"/>
                              <a:cs typeface="Verdana" pitchFamily="34" charset="0"/>
                            </a:rPr>
                            <a:t>The output on QS</a:t>
                          </a:r>
                          <a:r>
                            <a:rPr lang="en-US" sz="1200" baseline="-25000" dirty="0">
                              <a:solidFill>
                                <a:sysClr val="windowText" lastClr="000000"/>
                              </a:solidFill>
                              <a:latin typeface="Verdana" pitchFamily="34" charset="0"/>
                              <a:ea typeface="Verdana" pitchFamily="34" charset="0"/>
                              <a:cs typeface="Verdana" pitchFamily="34" charset="0"/>
                            </a:rPr>
                            <a:t>0</a:t>
                          </a:r>
                          <a:r>
                            <a:rPr lang="en-US" sz="1200" baseline="0" dirty="0">
                              <a:solidFill>
                                <a:sysClr val="windowText" lastClr="000000"/>
                              </a:solidFill>
                              <a:latin typeface="Verdana" pitchFamily="34" charset="0"/>
                              <a:ea typeface="Verdana" pitchFamily="34" charset="0"/>
                              <a:cs typeface="Verdana" pitchFamily="34" charset="0"/>
                            </a:rPr>
                            <a:t> and QS</a:t>
                          </a:r>
                          <a:r>
                            <a:rPr lang="en-US" sz="1200" baseline="-25000" dirty="0">
                              <a:solidFill>
                                <a:sysClr val="windowText" lastClr="000000"/>
                              </a:solidFill>
                              <a:latin typeface="Verdana" pitchFamily="34" charset="0"/>
                              <a:ea typeface="Verdana" pitchFamily="34" charset="0"/>
                              <a:cs typeface="Verdana" pitchFamily="34" charset="0"/>
                            </a:rPr>
                            <a:t>1</a:t>
                          </a:r>
                          <a:r>
                            <a:rPr lang="en-US" sz="1200" baseline="0" dirty="0">
                              <a:solidFill>
                                <a:sysClr val="windowText" lastClr="000000"/>
                              </a:solidFill>
                              <a:latin typeface="Verdana" pitchFamily="34" charset="0"/>
                              <a:ea typeface="Verdana" pitchFamily="34" charset="0"/>
                              <a:cs typeface="Verdana" pitchFamily="34" charset="0"/>
                            </a:rPr>
                            <a:t> can be interpreted as shown in the table.</a:t>
                          </a:r>
                          <a:endParaRPr lang="en-US" sz="1200" dirty="0">
                            <a:solidFill>
                              <a:sysClr val="windowText" lastClr="000000"/>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mc:Fallback>
      </mc:AlternateContent>
      <p:pic>
        <p:nvPicPr>
          <p:cNvPr id="1026" name="Picture 2" descr="C:\Users\APARNA\Desktop\Microprocessor\8086_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 y="1847850"/>
            <a:ext cx="3202599" cy="4171949"/>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1600200"/>
            <a:ext cx="3200400" cy="21336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541" y="5391150"/>
            <a:ext cx="3200400" cy="8382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541" y="3752848"/>
            <a:ext cx="1830341" cy="1638301"/>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C:\Users\APARNA\Desktop\mm.ti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962400" y="3914775"/>
            <a:ext cx="4344504" cy="21050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791456" y="188879"/>
            <a:ext cx="2895344" cy="338554"/>
          </a:xfrm>
          <a:prstGeom prst="rect">
            <a:avLst/>
          </a:prstGeom>
          <a:solidFill>
            <a:srgbClr val="FFC000"/>
          </a:solidFill>
        </p:spPr>
        <p:txBody>
          <a:bodyPr wrap="none">
            <a:spAutoFit/>
          </a:bodyPr>
          <a:lstStyle/>
          <a:p>
            <a:r>
              <a:rPr lang="en-US" sz="1600" b="1" dirty="0">
                <a:solidFill>
                  <a:srgbClr val="FF0000"/>
                </a:solidFill>
                <a:latin typeface="Verdana" pitchFamily="34" charset="0"/>
                <a:ea typeface="Verdana" pitchFamily="34" charset="0"/>
                <a:cs typeface="Verdana" pitchFamily="34" charset="0"/>
              </a:rPr>
              <a:t>Maximum mode signals</a:t>
            </a:r>
          </a:p>
        </p:txBody>
      </p:sp>
    </p:spTree>
    <p:extLst>
      <p:ext uri="{BB962C8B-B14F-4D97-AF65-F5344CB8AC3E}">
        <p14:creationId xmlns:p14="http://schemas.microsoft.com/office/powerpoint/2010/main" val="5860129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1828800" y="4133851"/>
            <a:ext cx="1424940" cy="213938"/>
          </a:xfrm>
          <a:prstGeom prst="rect">
            <a:avLst/>
          </a:prstGeom>
          <a:solidFill>
            <a:srgbClr val="99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1802130" y="3725023"/>
            <a:ext cx="1424940" cy="427877"/>
          </a:xfrm>
          <a:prstGeom prst="rect">
            <a:avLst/>
          </a:prstGeom>
          <a:solidFill>
            <a:srgbClr val="99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Pins and Signals</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16</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mc:AlternateContent xmlns:mc="http://schemas.openxmlformats.org/markup-compatibility/2006" xmlns:a14="http://schemas.microsoft.com/office/drawing/2010/main">
        <mc:Choice Requires="a14">
          <p:sp>
            <p:nvSpPr>
              <p:cNvPr id="45" name="TextBox 44"/>
              <p:cNvSpPr txBox="1"/>
              <p:nvPr/>
            </p:nvSpPr>
            <p:spPr>
              <a:xfrm>
                <a:off x="3429000" y="762000"/>
                <a:ext cx="5334000" cy="954107"/>
              </a:xfrm>
              <a:prstGeom prst="rect">
                <a:avLst/>
              </a:prstGeom>
              <a:solidFill>
                <a:srgbClr val="FFFFCC"/>
              </a:solidFill>
            </p:spPr>
            <p:txBody>
              <a:bodyPr wrap="square" rtlCol="0">
                <a:spAutoFit/>
              </a:bodyPr>
              <a:lstStyle/>
              <a:p>
                <a:pPr algn="ctr"/>
                <a:r>
                  <a:rPr lang="en-US" sz="1400" b="1" dirty="0">
                    <a:latin typeface="Verdana" pitchFamily="34" charset="0"/>
                    <a:ea typeface="Verdana" pitchFamily="34" charset="0"/>
                    <a:cs typeface="Verdana" pitchFamily="34" charset="0"/>
                  </a:rPr>
                  <a:t>During maximum mode operation, the MN/ </a:t>
                </a:r>
                <a14:m>
                  <m:oMath xmlns:m="http://schemas.openxmlformats.org/officeDocument/2006/math">
                    <m:acc>
                      <m:accPr>
                        <m:chr m:val="̅"/>
                        <m:ctrlPr>
                          <a:rPr lang="en-US" sz="1400" b="1" i="1" dirty="0" smtClean="0">
                            <a:latin typeface="Cambria Math" panose="02040503050406030204" pitchFamily="18" charset="0"/>
                          </a:rPr>
                        </m:ctrlPr>
                      </m:accPr>
                      <m:e>
                        <m:r>
                          <a:rPr lang="en-US" sz="1400" b="1" i="0" dirty="0" smtClean="0">
                            <a:latin typeface="Cambria Math"/>
                          </a:rPr>
                          <m:t>𝐌𝐗</m:t>
                        </m:r>
                      </m:e>
                    </m:acc>
                  </m:oMath>
                </a14:m>
                <a:r>
                  <a:rPr lang="en-US" sz="1400" b="1" dirty="0">
                    <a:latin typeface="Verdana" pitchFamily="34" charset="0"/>
                    <a:ea typeface="Verdana" pitchFamily="34" charset="0"/>
                    <a:cs typeface="Verdana" pitchFamily="34" charset="0"/>
                  </a:rPr>
                  <a:t> is grounded (logic low)</a:t>
                </a:r>
              </a:p>
              <a:p>
                <a:pPr algn="ctr"/>
                <a:endParaRPr lang="en-US" sz="1400" b="1" dirty="0">
                  <a:latin typeface="Verdana" pitchFamily="34" charset="0"/>
                  <a:ea typeface="Verdana" pitchFamily="34" charset="0"/>
                  <a:cs typeface="Verdana" pitchFamily="34" charset="0"/>
                </a:endParaRPr>
              </a:p>
              <a:p>
                <a:pPr algn="ctr"/>
                <a:r>
                  <a:rPr lang="en-US" sz="1400" b="1" dirty="0">
                    <a:latin typeface="Verdana" pitchFamily="34" charset="0"/>
                    <a:ea typeface="Verdana" pitchFamily="34" charset="0"/>
                    <a:cs typeface="Verdana" pitchFamily="34" charset="0"/>
                  </a:rPr>
                  <a:t>Pins 24 -31 are reassigned</a:t>
                </a:r>
              </a:p>
            </p:txBody>
          </p:sp>
        </mc:Choice>
        <mc:Fallback xmlns="">
          <p:sp>
            <p:nvSpPr>
              <p:cNvPr id="45" name="TextBox 44"/>
              <p:cNvSpPr txBox="1">
                <a:spLocks noRot="1" noChangeAspect="1" noMove="1" noResize="1" noEditPoints="1" noAdjustHandles="1" noChangeArrowheads="1" noChangeShapeType="1" noTextEdit="1"/>
              </p:cNvSpPr>
              <p:nvPr/>
            </p:nvSpPr>
            <p:spPr>
              <a:xfrm>
                <a:off x="3429000" y="762000"/>
                <a:ext cx="5334000" cy="954107"/>
              </a:xfrm>
              <a:prstGeom prst="rect">
                <a:avLst/>
              </a:prstGeom>
              <a:blipFill>
                <a:blip r:embed="rId3"/>
                <a:stretch>
                  <a:fillRect t="-1274" b="-509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47" name="Table 46"/>
              <p:cNvGraphicFramePr>
                <a:graphicFrameLocks noGrp="1"/>
              </p:cNvGraphicFramePr>
              <p:nvPr/>
            </p:nvGraphicFramePr>
            <p:xfrm>
              <a:off x="3385457" y="2133600"/>
              <a:ext cx="5529943" cy="1554861"/>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14:m>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𝐑𝐐</m:t>
                                  </m:r>
                                </m:e>
                              </m:acc>
                              <m:r>
                                <a:rPr lang="en-US" sz="1200" b="1" i="0" smtClean="0">
                                  <a:solidFill>
                                    <a:srgbClr val="FF0066"/>
                                  </a:solidFill>
                                  <a:latin typeface="Cambria Math"/>
                                </a:rPr>
                                <m:t>/</m:t>
                              </m:r>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𝐆</m:t>
                                  </m:r>
                                  <m:sSub>
                                    <m:sSubPr>
                                      <m:ctrlPr>
                                        <a:rPr lang="en-US" sz="1200" b="1" i="1" smtClean="0">
                                          <a:solidFill>
                                            <a:srgbClr val="FF0066"/>
                                          </a:solidFill>
                                          <a:latin typeface="Cambria Math" panose="02040503050406030204" pitchFamily="18" charset="0"/>
                                        </a:rPr>
                                      </m:ctrlPr>
                                    </m:sSubPr>
                                    <m:e>
                                      <m:r>
                                        <a:rPr lang="en-US" sz="1200" b="1" i="0" smtClean="0">
                                          <a:solidFill>
                                            <a:srgbClr val="FF0066"/>
                                          </a:solidFill>
                                          <a:latin typeface="Cambria Math"/>
                                        </a:rPr>
                                        <m:t>𝐓</m:t>
                                      </m:r>
                                    </m:e>
                                    <m:sub>
                                      <m:r>
                                        <a:rPr lang="en-US" sz="1200" b="1" i="0" smtClean="0">
                                          <a:solidFill>
                                            <a:srgbClr val="FF0066"/>
                                          </a:solidFill>
                                          <a:latin typeface="Cambria Math"/>
                                        </a:rPr>
                                        <m:t>𝟎</m:t>
                                      </m:r>
                                    </m:sub>
                                  </m:sSub>
                                </m:e>
                              </m:acc>
                            </m:oMath>
                          </a14:m>
                          <a:r>
                            <a:rPr lang="en-US" sz="1200" i="0" dirty="0">
                              <a:solidFill>
                                <a:sysClr val="windowText" lastClr="000000"/>
                              </a:solidFill>
                              <a:latin typeface="Verdana" pitchFamily="34" charset="0"/>
                              <a:ea typeface="Verdana" pitchFamily="34" charset="0"/>
                              <a:cs typeface="Verdana" pitchFamily="34" charset="0"/>
                            </a:rPr>
                            <a:t>, </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𝐑𝐐</m:t>
                                  </m:r>
                                </m:e>
                              </m:acc>
                              <m:r>
                                <a:rPr lang="en-US" sz="1200" b="1" i="0" smtClean="0">
                                  <a:solidFill>
                                    <a:srgbClr val="FF0066"/>
                                  </a:solidFill>
                                  <a:latin typeface="Cambria Math"/>
                                </a:rPr>
                                <m:t>/</m:t>
                              </m:r>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𝐆</m:t>
                                  </m:r>
                                  <m:sSub>
                                    <m:sSubPr>
                                      <m:ctrlPr>
                                        <a:rPr lang="en-US" sz="1200" b="1" i="1" smtClean="0">
                                          <a:solidFill>
                                            <a:srgbClr val="FF0066"/>
                                          </a:solidFill>
                                          <a:latin typeface="Cambria Math" panose="02040503050406030204" pitchFamily="18" charset="0"/>
                                        </a:rPr>
                                      </m:ctrlPr>
                                    </m:sSubPr>
                                    <m:e>
                                      <m:r>
                                        <a:rPr lang="en-US" sz="1200" b="1" i="0" smtClean="0">
                                          <a:solidFill>
                                            <a:srgbClr val="FF0066"/>
                                          </a:solidFill>
                                          <a:latin typeface="Cambria Math"/>
                                        </a:rPr>
                                        <m:t>𝐓</m:t>
                                      </m:r>
                                    </m:e>
                                    <m:sub>
                                      <m:r>
                                        <a:rPr lang="en-US" sz="1200" b="1" i="0" smtClean="0">
                                          <a:solidFill>
                                            <a:srgbClr val="FF0066"/>
                                          </a:solidFill>
                                          <a:latin typeface="Cambria Math"/>
                                        </a:rPr>
                                        <m:t>𝟏</m:t>
                                      </m:r>
                                    </m:sub>
                                  </m:sSub>
                                </m:e>
                              </m:acc>
                            </m:oMath>
                          </a14:m>
                          <a:endParaRPr lang="en-US" sz="1200" i="0" dirty="0">
                            <a:solidFill>
                              <a:sysClr val="windowText" lastClr="000000"/>
                            </a:solidFill>
                            <a:latin typeface="Verdana" pitchFamily="34" charset="0"/>
                            <a:ea typeface="Verdana" pitchFamily="34" charset="0"/>
                            <a:cs typeface="Verdana" pitchFamily="34" charset="0"/>
                          </a:endParaRPr>
                        </a:p>
                      </a:txBody>
                      <a:tcPr>
                        <a:noFill/>
                      </a:tcPr>
                    </a:tc>
                    <a:tc>
                      <a:txBody>
                        <a:bodyPr/>
                        <a:lstStyle/>
                        <a:p>
                          <a:pPr algn="just"/>
                          <a:r>
                            <a:rPr lang="en-US" sz="1200" dirty="0">
                              <a:solidFill>
                                <a:sysClr val="windowText" lastClr="000000"/>
                              </a:solidFill>
                              <a:latin typeface="Verdana" pitchFamily="34" charset="0"/>
                              <a:ea typeface="Verdana" pitchFamily="34" charset="0"/>
                              <a:cs typeface="Verdana" pitchFamily="34" charset="0"/>
                            </a:rPr>
                            <a:t>(</a:t>
                          </a:r>
                          <a:r>
                            <a:rPr lang="en-US" sz="1200" dirty="0">
                              <a:solidFill>
                                <a:srgbClr val="FF0066"/>
                              </a:solidFill>
                              <a:latin typeface="Verdana" pitchFamily="34" charset="0"/>
                              <a:ea typeface="Verdana" pitchFamily="34" charset="0"/>
                              <a:cs typeface="Verdana" pitchFamily="34" charset="0"/>
                            </a:rPr>
                            <a:t>Bus Request/ Bus Grant</a:t>
                          </a:r>
                          <a:r>
                            <a:rPr lang="en-US" sz="1200" dirty="0">
                              <a:solidFill>
                                <a:sysClr val="windowText" lastClr="000000"/>
                              </a:solidFill>
                              <a:latin typeface="Verdana" pitchFamily="34" charset="0"/>
                              <a:ea typeface="Verdana" pitchFamily="34" charset="0"/>
                              <a:cs typeface="Verdana" pitchFamily="34" charset="0"/>
                            </a:rPr>
                            <a:t>) These requests are used by other local bus masters to force the processor to release the local bus</a:t>
                          </a:r>
                          <a:r>
                            <a:rPr lang="en-US" sz="1200" baseline="0" dirty="0">
                              <a:solidFill>
                                <a:sysClr val="windowText" lastClr="000000"/>
                              </a:solidFill>
                              <a:latin typeface="Verdana" pitchFamily="34" charset="0"/>
                              <a:ea typeface="Verdana" pitchFamily="34" charset="0"/>
                              <a:cs typeface="Verdana" pitchFamily="34" charset="0"/>
                            </a:rPr>
                            <a:t> at the end of the processor’s current bus cycle. </a:t>
                          </a:r>
                        </a:p>
                        <a:p>
                          <a:endParaRPr lang="en-US" sz="1200" baseline="0" dirty="0">
                            <a:solidFill>
                              <a:sysClr val="windowText" lastClr="000000"/>
                            </a:solidFill>
                            <a:latin typeface="Verdana" pitchFamily="34" charset="0"/>
                            <a:ea typeface="Verdana" pitchFamily="34" charset="0"/>
                            <a:cs typeface="Verdana" pitchFamily="34" charset="0"/>
                          </a:endParaRPr>
                        </a:p>
                        <a:p>
                          <a:r>
                            <a:rPr lang="en-US" sz="1200" baseline="0" dirty="0">
                              <a:solidFill>
                                <a:sysClr val="windowText" lastClr="000000"/>
                              </a:solidFill>
                              <a:latin typeface="Verdana" pitchFamily="34" charset="0"/>
                              <a:ea typeface="Verdana" pitchFamily="34" charset="0"/>
                              <a:cs typeface="Verdana" pitchFamily="34" charset="0"/>
                            </a:rPr>
                            <a:t>These pins are bidirectional. </a:t>
                          </a:r>
                        </a:p>
                        <a:p>
                          <a:endParaRPr lang="en-US" sz="1200" baseline="0" dirty="0">
                            <a:solidFill>
                              <a:sysClr val="windowText" lastClr="000000"/>
                            </a:solidFill>
                            <a:latin typeface="Verdana" pitchFamily="34" charset="0"/>
                            <a:ea typeface="Verdana" pitchFamily="34" charset="0"/>
                            <a:cs typeface="Verdana" pitchFamily="34" charset="0"/>
                          </a:endParaRPr>
                        </a:p>
                        <a:p>
                          <a:r>
                            <a:rPr lang="en-US" sz="1200" baseline="0" dirty="0">
                              <a:solidFill>
                                <a:sysClr val="windowText" lastClr="000000"/>
                              </a:solidFill>
                              <a:latin typeface="Verdana" pitchFamily="34" charset="0"/>
                              <a:ea typeface="Verdana" pitchFamily="34" charset="0"/>
                              <a:cs typeface="Verdana" pitchFamily="34" charset="0"/>
                            </a:rPr>
                            <a:t>The request on</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𝐆</m:t>
                                  </m:r>
                                  <m:sSub>
                                    <m:sSubPr>
                                      <m:ctrlPr>
                                        <a:rPr lang="en-US" sz="1200" b="1" i="1" smtClean="0">
                                          <a:solidFill>
                                            <a:srgbClr val="FF0066"/>
                                          </a:solidFill>
                                          <a:latin typeface="Cambria Math" panose="02040503050406030204" pitchFamily="18" charset="0"/>
                                        </a:rPr>
                                      </m:ctrlPr>
                                    </m:sSubPr>
                                    <m:e>
                                      <m:r>
                                        <a:rPr lang="en-US" sz="1200" b="1" i="0" smtClean="0">
                                          <a:solidFill>
                                            <a:srgbClr val="FF0066"/>
                                          </a:solidFill>
                                          <a:latin typeface="Cambria Math"/>
                                        </a:rPr>
                                        <m:t>𝐓</m:t>
                                      </m:r>
                                    </m:e>
                                    <m:sub>
                                      <m:r>
                                        <a:rPr lang="en-US" sz="1200" b="1" i="0" smtClean="0">
                                          <a:solidFill>
                                            <a:srgbClr val="FF0066"/>
                                          </a:solidFill>
                                          <a:latin typeface="Cambria Math"/>
                                        </a:rPr>
                                        <m:t>𝟎</m:t>
                                      </m:r>
                                    </m:sub>
                                  </m:sSub>
                                </m:e>
                              </m:acc>
                            </m:oMath>
                          </a14:m>
                          <a:r>
                            <a:rPr lang="en-US" sz="1200" dirty="0">
                              <a:solidFill>
                                <a:sysClr val="windowText" lastClr="000000"/>
                              </a:solidFill>
                              <a:latin typeface="Verdana" pitchFamily="34" charset="0"/>
                              <a:ea typeface="Verdana" pitchFamily="34" charset="0"/>
                              <a:cs typeface="Verdana" pitchFamily="34" charset="0"/>
                            </a:rPr>
                            <a:t> will have higher priority than</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𝐆</m:t>
                                  </m:r>
                                  <m:sSub>
                                    <m:sSubPr>
                                      <m:ctrlPr>
                                        <a:rPr lang="en-US" sz="1200" b="1" i="1" smtClean="0">
                                          <a:solidFill>
                                            <a:srgbClr val="FF0066"/>
                                          </a:solidFill>
                                          <a:latin typeface="Cambria Math" panose="02040503050406030204" pitchFamily="18" charset="0"/>
                                        </a:rPr>
                                      </m:ctrlPr>
                                    </m:sSubPr>
                                    <m:e>
                                      <m:r>
                                        <a:rPr lang="en-US" sz="1200" b="1" i="0" smtClean="0">
                                          <a:solidFill>
                                            <a:srgbClr val="FF0066"/>
                                          </a:solidFill>
                                          <a:latin typeface="Cambria Math"/>
                                        </a:rPr>
                                        <m:t>𝐓</m:t>
                                      </m:r>
                                    </m:e>
                                    <m:sub>
                                      <m:r>
                                        <a:rPr lang="en-US" sz="1200" b="1" i="0" smtClean="0">
                                          <a:solidFill>
                                            <a:srgbClr val="FF0066"/>
                                          </a:solidFill>
                                          <a:latin typeface="Cambria Math"/>
                                        </a:rPr>
                                        <m:t>𝟏</m:t>
                                      </m:r>
                                    </m:sub>
                                  </m:sSub>
                                </m:e>
                              </m:acc>
                            </m:oMath>
                          </a14:m>
                          <a:endParaRPr lang="en-US" sz="1200" i="0" dirty="0">
                            <a:solidFill>
                              <a:sysClr val="windowText" lastClr="000000"/>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mc:Choice>
        <mc:Fallback xmlns="">
          <p:graphicFrame>
            <p:nvGraphicFramePr>
              <p:cNvPr id="47" name="Table 46"/>
              <p:cNvGraphicFramePr>
                <a:graphicFrameLocks noGrp="1"/>
              </p:cNvGraphicFramePr>
              <p:nvPr/>
            </p:nvGraphicFramePr>
            <p:xfrm>
              <a:off x="3385457" y="2133600"/>
              <a:ext cx="5529943" cy="1554861"/>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1554861">
                    <a:tc>
                      <a:txBody>
                        <a:bodyPr/>
                        <a:lstStyle/>
                        <a:p>
                          <a:endParaRPr lang="en-US"/>
                        </a:p>
                      </a:txBody>
                      <a:tcPr>
                        <a:blipFill>
                          <a:blip r:embed="rId4"/>
                          <a:stretch>
                            <a:fillRect l="-649" t="-781" r="-492208" b="-2734"/>
                          </a:stretch>
                        </a:blipFill>
                      </a:tcPr>
                    </a:tc>
                    <a:tc>
                      <a:txBody>
                        <a:bodyPr/>
                        <a:lstStyle/>
                        <a:p>
                          <a:endParaRPr lang="en-US"/>
                        </a:p>
                      </a:txBody>
                      <a:tcPr>
                        <a:blipFill>
                          <a:blip r:embed="rId4"/>
                          <a:stretch>
                            <a:fillRect l="-20557" t="-781" r="-531" b="-2734"/>
                          </a:stretch>
                        </a:blipFill>
                      </a:tcPr>
                    </a:tc>
                    <a:extLst>
                      <a:ext uri="{0D108BD9-81ED-4DB2-BD59-A6C34878D82A}">
                        <a16:rowId xmlns:a16="http://schemas.microsoft.com/office/drawing/2014/main" val="10000"/>
                      </a:ext>
                    </a:extLst>
                  </a:tr>
                </a:tbl>
              </a:graphicData>
            </a:graphic>
          </p:graphicFrame>
        </mc:Fallback>
      </mc:AlternateContent>
      <p:pic>
        <p:nvPicPr>
          <p:cNvPr id="1026" name="Picture 2" descr="C:\Users\APARNA\Desktop\Microprocessor\8086_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 y="1847850"/>
            <a:ext cx="3202599" cy="4171949"/>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1600200"/>
            <a:ext cx="3200400" cy="21336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541" y="5391150"/>
            <a:ext cx="3200400" cy="838200"/>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541" y="3752848"/>
            <a:ext cx="1830341" cy="1638301"/>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graphicFrame>
            <p:nvGraphicFramePr>
              <p:cNvPr id="13" name="Table 12"/>
              <p:cNvGraphicFramePr>
                <a:graphicFrameLocks noGrp="1"/>
              </p:cNvGraphicFramePr>
              <p:nvPr/>
            </p:nvGraphicFramePr>
            <p:xfrm>
              <a:off x="3385457" y="4144899"/>
              <a:ext cx="5529943" cy="2103501"/>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𝐋𝐎𝐂𝐊</m:t>
                                    </m:r>
                                  </m:e>
                                </m:acc>
                              </m:oMath>
                            </m:oMathPara>
                          </a14:m>
                          <a:endParaRPr lang="en-US" sz="1200" i="0" dirty="0">
                            <a:solidFill>
                              <a:sysClr val="windowText" lastClr="000000"/>
                            </a:solidFill>
                            <a:latin typeface="Verdana" pitchFamily="34" charset="0"/>
                            <a:ea typeface="Verdana" pitchFamily="34" charset="0"/>
                            <a:cs typeface="Verdana" pitchFamily="34" charset="0"/>
                          </a:endParaRPr>
                        </a:p>
                      </a:txBody>
                      <a:tcPr>
                        <a:noFill/>
                      </a:tcPr>
                    </a:tc>
                    <a:tc>
                      <a:txBody>
                        <a:bodyPr/>
                        <a:lstStyle/>
                        <a:p>
                          <a:pPr algn="just"/>
                          <a:r>
                            <a:rPr lang="en-US" sz="1200" i="0" dirty="0">
                              <a:solidFill>
                                <a:sysClr val="windowText" lastClr="000000"/>
                              </a:solidFill>
                              <a:latin typeface="Verdana" pitchFamily="34" charset="0"/>
                              <a:ea typeface="Verdana" pitchFamily="34" charset="0"/>
                              <a:cs typeface="Verdana" pitchFamily="34" charset="0"/>
                            </a:rPr>
                            <a:t>An</a:t>
                          </a:r>
                          <a:r>
                            <a:rPr lang="en-US" sz="1200" i="0" baseline="0" dirty="0">
                              <a:solidFill>
                                <a:sysClr val="windowText" lastClr="000000"/>
                              </a:solidFill>
                              <a:latin typeface="Verdana" pitchFamily="34" charset="0"/>
                              <a:ea typeface="Verdana" pitchFamily="34" charset="0"/>
                              <a:cs typeface="Verdana" pitchFamily="34" charset="0"/>
                            </a:rPr>
                            <a:t> output signal activated by the LOCK prefix instruction.</a:t>
                          </a:r>
                        </a:p>
                        <a:p>
                          <a:pPr algn="just"/>
                          <a:endParaRPr lang="en-US" sz="1200" i="0" baseline="0" dirty="0">
                            <a:solidFill>
                              <a:sysClr val="windowText" lastClr="000000"/>
                            </a:solidFill>
                            <a:latin typeface="Verdana" pitchFamily="34" charset="0"/>
                            <a:ea typeface="Verdana" pitchFamily="34" charset="0"/>
                            <a:cs typeface="Verdana" pitchFamily="34" charset="0"/>
                          </a:endParaRPr>
                        </a:p>
                        <a:p>
                          <a:pPr algn="just"/>
                          <a:r>
                            <a:rPr lang="en-US" sz="1200" i="0" baseline="0" dirty="0">
                              <a:solidFill>
                                <a:sysClr val="windowText" lastClr="000000"/>
                              </a:solidFill>
                              <a:latin typeface="Verdana" pitchFamily="34" charset="0"/>
                              <a:ea typeface="Verdana" pitchFamily="34" charset="0"/>
                              <a:cs typeface="Verdana" pitchFamily="34" charset="0"/>
                            </a:rPr>
                            <a:t>Remains active until the completion of the instruction prefixed by LOCK.</a:t>
                          </a:r>
                        </a:p>
                        <a:p>
                          <a:pPr algn="just"/>
                          <a:endParaRPr lang="en-US" sz="1200" i="0" baseline="0" dirty="0">
                            <a:solidFill>
                              <a:sysClr val="windowText" lastClr="000000"/>
                            </a:solidFill>
                            <a:latin typeface="Verdana" pitchFamily="34" charset="0"/>
                            <a:ea typeface="Verdana" pitchFamily="34" charset="0"/>
                            <a:cs typeface="Verdana" pitchFamily="34" charset="0"/>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200" i="0" baseline="0" dirty="0">
                              <a:solidFill>
                                <a:sysClr val="windowText" lastClr="000000"/>
                              </a:solidFill>
                              <a:latin typeface="Verdana" pitchFamily="34" charset="0"/>
                              <a:ea typeface="Verdana" pitchFamily="34" charset="0"/>
                              <a:cs typeface="Verdana" pitchFamily="34" charset="0"/>
                            </a:rPr>
                            <a:t>The 8086 output low on the </a:t>
                          </a:r>
                          <a14:m>
                            <m:oMath xmlns:m="http://schemas.openxmlformats.org/officeDocument/2006/math">
                              <m:acc>
                                <m:accPr>
                                  <m:chr m:val="̅"/>
                                  <m:ctrlPr>
                                    <a:rPr lang="en-US" sz="1200" i="1" smtClean="0">
                                      <a:solidFill>
                                        <a:srgbClr val="FF0066"/>
                                      </a:solidFill>
                                      <a:latin typeface="Cambria Math" panose="02040503050406030204" pitchFamily="18" charset="0"/>
                                    </a:rPr>
                                  </m:ctrlPr>
                                </m:accPr>
                                <m:e>
                                  <m:r>
                                    <a:rPr lang="en-US" sz="1200" b="1" i="0" smtClean="0">
                                      <a:solidFill>
                                        <a:srgbClr val="FF0066"/>
                                      </a:solidFill>
                                      <a:latin typeface="Cambria Math"/>
                                    </a:rPr>
                                    <m:t>𝐋𝐎𝐂𝐊</m:t>
                                  </m:r>
                                </m:e>
                              </m:acc>
                            </m:oMath>
                          </a14:m>
                          <a:r>
                            <a:rPr lang="en-US" sz="1200" i="0" dirty="0">
                              <a:solidFill>
                                <a:sysClr val="windowText" lastClr="000000"/>
                              </a:solidFill>
                              <a:latin typeface="Verdana" pitchFamily="34" charset="0"/>
                              <a:ea typeface="Verdana" pitchFamily="34" charset="0"/>
                              <a:cs typeface="Verdana" pitchFamily="34" charset="0"/>
                            </a:rPr>
                            <a:t> pin while executing an instruction prefixed by LOCK to </a:t>
                          </a:r>
                          <a:r>
                            <a:rPr lang="en-US" sz="1200" i="0" u="sng" dirty="0">
                              <a:solidFill>
                                <a:sysClr val="windowText" lastClr="000000"/>
                              </a:solidFill>
                              <a:latin typeface="Verdana" pitchFamily="34" charset="0"/>
                              <a:ea typeface="Verdana" pitchFamily="34" charset="0"/>
                              <a:cs typeface="Verdana" pitchFamily="34" charset="0"/>
                            </a:rPr>
                            <a:t>prevent other bus masters from gaining control of the system bus.</a:t>
                          </a:r>
                        </a:p>
                        <a:p>
                          <a:endParaRPr lang="en-US" sz="1200" i="0" dirty="0">
                            <a:solidFill>
                              <a:sysClr val="windowText" lastClr="000000"/>
                            </a:solidFill>
                            <a:latin typeface="Verdana" pitchFamily="34" charset="0"/>
                            <a:ea typeface="Verdana" pitchFamily="34" charset="0"/>
                            <a:cs typeface="Verdana" pitchFamily="34" charset="0"/>
                          </a:endParaRPr>
                        </a:p>
                      </a:txBody>
                      <a:tcPr>
                        <a:noFill/>
                      </a:tcPr>
                    </a:tc>
                    <a:extLst>
                      <a:ext uri="{0D108BD9-81ED-4DB2-BD59-A6C34878D82A}">
                        <a16:rowId xmlns:a16="http://schemas.microsoft.com/office/drawing/2014/main" val="10000"/>
                      </a:ext>
                    </a:extLst>
                  </a:tr>
                </a:tbl>
              </a:graphicData>
            </a:graphic>
          </p:graphicFrame>
        </mc:Choice>
        <mc:Fallback xmlns="">
          <p:graphicFrame>
            <p:nvGraphicFramePr>
              <p:cNvPr id="13" name="Table 12"/>
              <p:cNvGraphicFramePr>
                <a:graphicFrameLocks noGrp="1"/>
              </p:cNvGraphicFramePr>
              <p:nvPr/>
            </p:nvGraphicFramePr>
            <p:xfrm>
              <a:off x="3385457" y="4144899"/>
              <a:ext cx="5529943" cy="2103501"/>
            </p:xfrm>
            <a:graphic>
              <a:graphicData uri="http://schemas.openxmlformats.org/drawingml/2006/table">
                <a:tbl>
                  <a:tblPr firstRow="1" bandRow="1">
                    <a:tableStyleId>{5C22544A-7EE6-4342-B048-85BDC9FD1C3A}</a:tableStyleId>
                  </a:tblPr>
                  <a:tblGrid>
                    <a:gridCol w="938115">
                      <a:extLst>
                        <a:ext uri="{9D8B030D-6E8A-4147-A177-3AD203B41FA5}">
                          <a16:colId xmlns:a16="http://schemas.microsoft.com/office/drawing/2014/main" val="20000"/>
                        </a:ext>
                      </a:extLst>
                    </a:gridCol>
                    <a:gridCol w="4591828">
                      <a:extLst>
                        <a:ext uri="{9D8B030D-6E8A-4147-A177-3AD203B41FA5}">
                          <a16:colId xmlns:a16="http://schemas.microsoft.com/office/drawing/2014/main" val="20001"/>
                        </a:ext>
                      </a:extLst>
                    </a:gridCol>
                  </a:tblGrid>
                  <a:tr h="2103501">
                    <a:tc>
                      <a:txBody>
                        <a:bodyPr/>
                        <a:lstStyle/>
                        <a:p>
                          <a:endParaRPr lang="en-US"/>
                        </a:p>
                      </a:txBody>
                      <a:tcPr>
                        <a:blipFill>
                          <a:blip r:embed="rId6"/>
                          <a:stretch>
                            <a:fillRect l="-649" t="-289" r="-492208" b="-1445"/>
                          </a:stretch>
                        </a:blipFill>
                      </a:tcPr>
                    </a:tc>
                    <a:tc>
                      <a:txBody>
                        <a:bodyPr/>
                        <a:lstStyle/>
                        <a:p>
                          <a:endParaRPr lang="en-US"/>
                        </a:p>
                      </a:txBody>
                      <a:tcPr>
                        <a:blipFill>
                          <a:blip r:embed="rId6"/>
                          <a:stretch>
                            <a:fillRect l="-20557" t="-289" r="-531" b="-1445"/>
                          </a:stretch>
                        </a:blipFill>
                      </a:tcPr>
                    </a:tc>
                    <a:extLst>
                      <a:ext uri="{0D108BD9-81ED-4DB2-BD59-A6C34878D82A}">
                        <a16:rowId xmlns:a16="http://schemas.microsoft.com/office/drawing/2014/main" val="10000"/>
                      </a:ext>
                    </a:extLst>
                  </a:tr>
                </a:tbl>
              </a:graphicData>
            </a:graphic>
          </p:graphicFrame>
        </mc:Fallback>
      </mc:AlternateContent>
      <p:sp>
        <p:nvSpPr>
          <p:cNvPr id="18" name="Rectangle 17"/>
          <p:cNvSpPr/>
          <p:nvPr/>
        </p:nvSpPr>
        <p:spPr>
          <a:xfrm>
            <a:off x="5791456" y="188879"/>
            <a:ext cx="2895344" cy="338554"/>
          </a:xfrm>
          <a:prstGeom prst="rect">
            <a:avLst/>
          </a:prstGeom>
          <a:solidFill>
            <a:srgbClr val="FFC000"/>
          </a:solidFill>
        </p:spPr>
        <p:txBody>
          <a:bodyPr wrap="none">
            <a:spAutoFit/>
          </a:bodyPr>
          <a:lstStyle/>
          <a:p>
            <a:r>
              <a:rPr lang="en-US" sz="1600" b="1" dirty="0">
                <a:solidFill>
                  <a:srgbClr val="FF0000"/>
                </a:solidFill>
                <a:latin typeface="Verdana" pitchFamily="34" charset="0"/>
                <a:ea typeface="Verdana" pitchFamily="34" charset="0"/>
                <a:cs typeface="Verdana" pitchFamily="34" charset="0"/>
              </a:rPr>
              <a:t>Maximum mode signals</a:t>
            </a:r>
          </a:p>
        </p:txBody>
      </p:sp>
    </p:spTree>
    <p:extLst>
      <p:ext uri="{BB962C8B-B14F-4D97-AF65-F5344CB8AC3E}">
        <p14:creationId xmlns:p14="http://schemas.microsoft.com/office/powerpoint/2010/main" val="4245909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 presetClass="exit" presetSubtype="0" fill="hold" grpId="0" nodeType="withEffect">
                                  <p:stCondLst>
                                    <p:cond delay="0"/>
                                  </p:stCondLst>
                                  <p:childTnLst>
                                    <p:set>
                                      <p:cBhvr>
                                        <p:cTn id="9" dur="1" fill="hold">
                                          <p:stCondLst>
                                            <p:cond delay="0"/>
                                          </p:stCondLst>
                                        </p:cTn>
                                        <p:tgtEl>
                                          <p:spTgt spid="44"/>
                                        </p:tgtEl>
                                        <p:attrNameLst>
                                          <p:attrName>style.visibility</p:attrName>
                                        </p:attrNameLst>
                                      </p:cBhvr>
                                      <p:to>
                                        <p:strVal val="hidden"/>
                                      </p:to>
                                    </p:set>
                                  </p:childTnLst>
                                </p:cTn>
                              </p:par>
                              <p:par>
                                <p:cTn id="10" presetID="10"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4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909" y="152400"/>
            <a:ext cx="8229600" cy="487362"/>
          </a:xfrm>
        </p:spPr>
        <p:txBody>
          <a:bodyPr>
            <a:noAutofit/>
          </a:bodyPr>
          <a:lstStyle/>
          <a:p>
            <a:r>
              <a:rPr lang="en-IN" sz="2400" b="1" u="sng" dirty="0"/>
              <a:t>Timing Diagram</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685800"/>
            <a:ext cx="8001000" cy="548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6401" y="6172258"/>
            <a:ext cx="6172199" cy="5333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94004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625" y="152400"/>
            <a:ext cx="8181975" cy="571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95400" y="5867400"/>
            <a:ext cx="6781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582637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latin typeface="Octapost NBP" pitchFamily="2" charset="0"/>
              </a:rPr>
              <a:t>Architecture</a:t>
            </a:r>
          </a:p>
        </p:txBody>
      </p:sp>
    </p:spTree>
    <p:extLst>
      <p:ext uri="{BB962C8B-B14F-4D97-AF65-F5344CB8AC3E}">
        <p14:creationId xmlns:p14="http://schemas.microsoft.com/office/powerpoint/2010/main" val="336019605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IN" sz="2400" b="1" u="sng" dirty="0"/>
              <a:t>8086 ARCHITECTURE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762000"/>
            <a:ext cx="8229600" cy="56064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506876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21</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18" name="TextBox 17"/>
          <p:cNvSpPr txBox="1"/>
          <p:nvPr/>
        </p:nvSpPr>
        <p:spPr>
          <a:xfrm>
            <a:off x="533400" y="5181600"/>
            <a:ext cx="3657600" cy="1292662"/>
          </a:xfrm>
          <a:prstGeom prst="rect">
            <a:avLst/>
          </a:prstGeom>
          <a:solidFill>
            <a:srgbClr val="99FF66"/>
          </a:solidFill>
        </p:spPr>
        <p:txBody>
          <a:bodyPr wrap="square" rtlCol="0">
            <a:spAutoFit/>
          </a:bodyPr>
          <a:lstStyle/>
          <a:p>
            <a:pPr algn="ctr"/>
            <a:r>
              <a:rPr lang="en-US" sz="1300" b="1" dirty="0">
                <a:solidFill>
                  <a:srgbClr val="FF0066"/>
                </a:solidFill>
                <a:latin typeface="Verdana" pitchFamily="34" charset="0"/>
                <a:ea typeface="Verdana" pitchFamily="34" charset="0"/>
                <a:cs typeface="Verdana" pitchFamily="34" charset="0"/>
              </a:rPr>
              <a:t>Execution Unit (EU)</a:t>
            </a:r>
          </a:p>
          <a:p>
            <a:pPr algn="ctr"/>
            <a:endParaRPr lang="en-US" sz="1300" b="1" dirty="0">
              <a:solidFill>
                <a:srgbClr val="FF0066"/>
              </a:solidFill>
              <a:latin typeface="Verdana" pitchFamily="34" charset="0"/>
              <a:ea typeface="Verdana" pitchFamily="34" charset="0"/>
              <a:cs typeface="Verdana" pitchFamily="34" charset="0"/>
            </a:endParaRPr>
          </a:p>
          <a:p>
            <a:pPr algn="ctr"/>
            <a:r>
              <a:rPr lang="en-US" sz="1300" b="1" dirty="0">
                <a:latin typeface="Verdana" pitchFamily="34" charset="0"/>
                <a:ea typeface="Verdana" pitchFamily="34" charset="0"/>
                <a:cs typeface="Verdana" pitchFamily="34" charset="0"/>
              </a:rPr>
              <a:t>EU executes instructions that have already been fetched by the BIU.</a:t>
            </a:r>
          </a:p>
          <a:p>
            <a:pPr algn="ctr"/>
            <a:endParaRPr lang="en-US" sz="1300" b="1" dirty="0">
              <a:latin typeface="Verdana" pitchFamily="34" charset="0"/>
              <a:ea typeface="Verdana" pitchFamily="34" charset="0"/>
              <a:cs typeface="Verdana" pitchFamily="34" charset="0"/>
            </a:endParaRPr>
          </a:p>
          <a:p>
            <a:pPr algn="ctr"/>
            <a:r>
              <a:rPr lang="en-US" sz="1300" b="1" dirty="0">
                <a:latin typeface="Verdana" pitchFamily="34" charset="0"/>
                <a:ea typeface="Verdana" pitchFamily="34" charset="0"/>
                <a:cs typeface="Verdana" pitchFamily="34" charset="0"/>
              </a:rPr>
              <a:t>BIU and EU functions separately.</a:t>
            </a:r>
          </a:p>
        </p:txBody>
      </p:sp>
      <p:sp>
        <p:nvSpPr>
          <p:cNvPr id="7" name="TextBox 6"/>
          <p:cNvSpPr txBox="1"/>
          <p:nvPr/>
        </p:nvSpPr>
        <p:spPr>
          <a:xfrm>
            <a:off x="4572000" y="5181600"/>
            <a:ext cx="3657600" cy="1292662"/>
          </a:xfrm>
          <a:prstGeom prst="rect">
            <a:avLst/>
          </a:prstGeom>
          <a:solidFill>
            <a:srgbClr val="99FF66"/>
          </a:solidFill>
        </p:spPr>
        <p:txBody>
          <a:bodyPr wrap="square" rtlCol="0">
            <a:spAutoFit/>
          </a:bodyPr>
          <a:lstStyle/>
          <a:p>
            <a:pPr algn="ctr"/>
            <a:r>
              <a:rPr lang="en-US" sz="1300" b="1" dirty="0">
                <a:solidFill>
                  <a:srgbClr val="FF0066"/>
                </a:solidFill>
                <a:latin typeface="Verdana" pitchFamily="34" charset="0"/>
                <a:ea typeface="Verdana" pitchFamily="34" charset="0"/>
                <a:cs typeface="Verdana" pitchFamily="34" charset="0"/>
              </a:rPr>
              <a:t>Bus Interface Unit (BIU)</a:t>
            </a:r>
          </a:p>
          <a:p>
            <a:pPr algn="ctr"/>
            <a:endParaRPr lang="en-US" sz="1300" b="1" dirty="0">
              <a:solidFill>
                <a:srgbClr val="FF0066"/>
              </a:solidFill>
              <a:latin typeface="Verdana" pitchFamily="34" charset="0"/>
              <a:ea typeface="Verdana" pitchFamily="34" charset="0"/>
              <a:cs typeface="Verdana" pitchFamily="34" charset="0"/>
            </a:endParaRPr>
          </a:p>
          <a:p>
            <a:pPr algn="ctr"/>
            <a:r>
              <a:rPr lang="en-US" sz="1300" b="1" dirty="0">
                <a:latin typeface="Verdana" pitchFamily="34" charset="0"/>
                <a:ea typeface="Verdana" pitchFamily="34" charset="0"/>
                <a:cs typeface="Verdana" pitchFamily="34" charset="0"/>
              </a:rPr>
              <a:t>BIU fetches instructions, reads data from memory and I/O ports, writes data to memory and I/ O ports.</a:t>
            </a:r>
          </a:p>
          <a:p>
            <a:pPr algn="ctr"/>
            <a:endParaRPr lang="en-US" sz="1300" b="1" dirty="0">
              <a:solidFill>
                <a:srgbClr val="FF0066"/>
              </a:solidFill>
              <a:latin typeface="Verdana" pitchFamily="34" charset="0"/>
              <a:ea typeface="Verdana" pitchFamily="34" charset="0"/>
              <a:cs typeface="Verdana" pitchFamily="34" charset="0"/>
            </a:endParaRPr>
          </a:p>
        </p:txBody>
      </p:sp>
      <p:pic>
        <p:nvPicPr>
          <p:cNvPr id="4" name="Picture 2" descr="C:\Users\AMMU\Desktop\Microprocessor\Internal Architecture.png"/>
          <p:cNvPicPr>
            <a:picLocks noChangeAspect="1" noChangeArrowheads="1"/>
          </p:cNvPicPr>
          <p:nvPr/>
        </p:nvPicPr>
        <p:blipFill rotWithShape="1">
          <a:blip r:embed="rId3">
            <a:extLst>
              <a:ext uri="{28A0092B-C50C-407E-A947-70E740481C1C}">
                <a14:useLocalDpi xmlns:a14="http://schemas.microsoft.com/office/drawing/2010/main" val="0"/>
              </a:ext>
            </a:extLst>
          </a:blip>
          <a:srcRect b="5908"/>
          <a:stretch/>
        </p:blipFill>
        <p:spPr bwMode="auto">
          <a:xfrm>
            <a:off x="1447800" y="685799"/>
            <a:ext cx="6324600" cy="4434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9380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22</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18" name="TextBox 17"/>
          <p:cNvSpPr txBox="1"/>
          <p:nvPr/>
        </p:nvSpPr>
        <p:spPr>
          <a:xfrm>
            <a:off x="5239608" y="152400"/>
            <a:ext cx="3657600" cy="369332"/>
          </a:xfrm>
          <a:prstGeom prst="rect">
            <a:avLst/>
          </a:prstGeom>
          <a:noFill/>
        </p:spPr>
        <p:txBody>
          <a:bodyPr wrap="square" rtlCol="0">
            <a:spAutoFit/>
          </a:bodyPr>
          <a:lstStyle/>
          <a:p>
            <a:pPr algn="ctr"/>
            <a:r>
              <a:rPr lang="en-US" b="1" dirty="0">
                <a:latin typeface="Verdana" pitchFamily="34" charset="0"/>
                <a:ea typeface="Verdana" pitchFamily="34" charset="0"/>
                <a:cs typeface="Verdana" pitchFamily="34" charset="0"/>
              </a:rPr>
              <a:t>Bus Interface Unit (BIU)</a:t>
            </a:r>
          </a:p>
        </p:txBody>
      </p:sp>
      <p:sp>
        <p:nvSpPr>
          <p:cNvPr id="6" name="Line Callout 2 5"/>
          <p:cNvSpPr/>
          <p:nvPr/>
        </p:nvSpPr>
        <p:spPr>
          <a:xfrm>
            <a:off x="6010701" y="824460"/>
            <a:ext cx="3048000" cy="685800"/>
          </a:xfrm>
          <a:prstGeom prst="borderCallout2">
            <a:avLst>
              <a:gd name="adj1" fmla="val 18750"/>
              <a:gd name="adj2" fmla="val -192"/>
              <a:gd name="adj3" fmla="val 18750"/>
              <a:gd name="adj4" fmla="val -16667"/>
              <a:gd name="adj5" fmla="val 90610"/>
              <a:gd name="adj6" fmla="val -60548"/>
            </a:avLst>
          </a:prstGeom>
          <a:solidFill>
            <a:srgbClr val="FF99FF"/>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Verdana" pitchFamily="34" charset="0"/>
                <a:ea typeface="Verdana" pitchFamily="34" charset="0"/>
                <a:cs typeface="Verdana" pitchFamily="34" charset="0"/>
              </a:rPr>
              <a:t>Dedicated Adder to generate 20 bit address</a:t>
            </a:r>
          </a:p>
        </p:txBody>
      </p:sp>
      <p:sp>
        <p:nvSpPr>
          <p:cNvPr id="13" name="Line Callout 2 12"/>
          <p:cNvSpPr/>
          <p:nvPr/>
        </p:nvSpPr>
        <p:spPr>
          <a:xfrm>
            <a:off x="6019800" y="1676400"/>
            <a:ext cx="3048000" cy="1676400"/>
          </a:xfrm>
          <a:prstGeom prst="borderCallout2">
            <a:avLst>
              <a:gd name="adj1" fmla="val 18750"/>
              <a:gd name="adj2" fmla="val -192"/>
              <a:gd name="adj3" fmla="val 18750"/>
              <a:gd name="adj4" fmla="val -16667"/>
              <a:gd name="adj5" fmla="val 54144"/>
              <a:gd name="adj6" fmla="val -58757"/>
            </a:avLst>
          </a:prstGeom>
          <a:solidFill>
            <a:srgbClr val="FF99FF"/>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Verdana" pitchFamily="34" charset="0"/>
                <a:ea typeface="Verdana" pitchFamily="34" charset="0"/>
                <a:cs typeface="Verdana" pitchFamily="34" charset="0"/>
              </a:rPr>
              <a:t>Four 16-bit segment registers</a:t>
            </a:r>
          </a:p>
          <a:p>
            <a:pPr algn="ctr"/>
            <a:endParaRPr lang="en-US" sz="1400" b="1" dirty="0">
              <a:solidFill>
                <a:schemeClr val="tx1"/>
              </a:solidFill>
              <a:latin typeface="Verdana" pitchFamily="34" charset="0"/>
              <a:ea typeface="Verdana" pitchFamily="34" charset="0"/>
              <a:cs typeface="Verdana" pitchFamily="34" charset="0"/>
            </a:endParaRPr>
          </a:p>
          <a:p>
            <a:pPr algn="ctr"/>
            <a:r>
              <a:rPr lang="en-US" sz="1400" b="1" dirty="0">
                <a:solidFill>
                  <a:schemeClr val="tx1"/>
                </a:solidFill>
                <a:latin typeface="Verdana" pitchFamily="34" charset="0"/>
                <a:ea typeface="Verdana" pitchFamily="34" charset="0"/>
                <a:cs typeface="Verdana" pitchFamily="34" charset="0"/>
              </a:rPr>
              <a:t>Code Segment (CS)</a:t>
            </a:r>
          </a:p>
          <a:p>
            <a:pPr algn="ctr"/>
            <a:r>
              <a:rPr lang="en-US" sz="1400" b="1" dirty="0">
                <a:solidFill>
                  <a:schemeClr val="tx1"/>
                </a:solidFill>
                <a:latin typeface="Verdana" pitchFamily="34" charset="0"/>
                <a:ea typeface="Verdana" pitchFamily="34" charset="0"/>
                <a:cs typeface="Verdana" pitchFamily="34" charset="0"/>
              </a:rPr>
              <a:t>Data Segment (DS)</a:t>
            </a:r>
          </a:p>
          <a:p>
            <a:pPr algn="ctr"/>
            <a:r>
              <a:rPr lang="en-US" sz="1400" b="1" dirty="0">
                <a:solidFill>
                  <a:schemeClr val="tx1"/>
                </a:solidFill>
                <a:latin typeface="Verdana" pitchFamily="34" charset="0"/>
                <a:ea typeface="Verdana" pitchFamily="34" charset="0"/>
                <a:cs typeface="Verdana" pitchFamily="34" charset="0"/>
              </a:rPr>
              <a:t>Stack Segment (SS)</a:t>
            </a:r>
          </a:p>
          <a:p>
            <a:pPr algn="ctr"/>
            <a:r>
              <a:rPr lang="en-US" sz="1400" b="1" dirty="0">
                <a:solidFill>
                  <a:schemeClr val="tx1"/>
                </a:solidFill>
                <a:latin typeface="Verdana" pitchFamily="34" charset="0"/>
                <a:ea typeface="Verdana" pitchFamily="34" charset="0"/>
                <a:cs typeface="Verdana" pitchFamily="34" charset="0"/>
              </a:rPr>
              <a:t>Extra Segment (ES)</a:t>
            </a:r>
          </a:p>
        </p:txBody>
      </p:sp>
      <p:pic>
        <p:nvPicPr>
          <p:cNvPr id="2050" name="Picture 2" descr="C:\Users\AMMU\Desktop\Microprocessor\Internal Architectur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95" y="685800"/>
            <a:ext cx="5765305" cy="42964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705600" y="6400800"/>
            <a:ext cx="1731564" cy="253916"/>
          </a:xfrm>
          <a:prstGeom prst="rect">
            <a:avLst/>
          </a:prstGeom>
          <a:noFill/>
        </p:spPr>
        <p:txBody>
          <a:bodyPr wrap="none" rtlCol="0">
            <a:spAutoFit/>
          </a:bodyPr>
          <a:lstStyle/>
          <a:p>
            <a:r>
              <a:rPr lang="en-US" sz="1050" dirty="0">
                <a:solidFill>
                  <a:schemeClr val="bg1">
                    <a:lumMod val="75000"/>
                  </a:schemeClr>
                </a:solidFill>
              </a:rPr>
              <a:t>Segment Registers &gt;&gt;</a:t>
            </a:r>
          </a:p>
        </p:txBody>
      </p:sp>
    </p:spTree>
    <p:extLst>
      <p:ext uri="{BB962C8B-B14F-4D97-AF65-F5344CB8AC3E}">
        <p14:creationId xmlns:p14="http://schemas.microsoft.com/office/powerpoint/2010/main" val="6924260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23</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18" name="TextBox 17"/>
          <p:cNvSpPr txBox="1"/>
          <p:nvPr/>
        </p:nvSpPr>
        <p:spPr>
          <a:xfrm>
            <a:off x="5239608" y="152400"/>
            <a:ext cx="3657600" cy="369332"/>
          </a:xfrm>
          <a:prstGeom prst="rect">
            <a:avLst/>
          </a:prstGeom>
          <a:noFill/>
        </p:spPr>
        <p:txBody>
          <a:bodyPr wrap="square" rtlCol="0">
            <a:spAutoFit/>
          </a:bodyPr>
          <a:lstStyle/>
          <a:p>
            <a:pPr algn="ctr"/>
            <a:r>
              <a:rPr lang="en-US" b="1" dirty="0">
                <a:latin typeface="Verdana" pitchFamily="34" charset="0"/>
                <a:ea typeface="Verdana" pitchFamily="34" charset="0"/>
                <a:cs typeface="Verdana" pitchFamily="34" charset="0"/>
              </a:rPr>
              <a:t>Bus Interface Unit (BIU)</a:t>
            </a:r>
          </a:p>
        </p:txBody>
      </p:sp>
      <p:pic>
        <p:nvPicPr>
          <p:cNvPr id="2051" name="Picture 3" descr="C:\Users\AMMU\Desktop\Microprocessor\Segmen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1141702"/>
            <a:ext cx="5087208" cy="297309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46437" y="1106269"/>
            <a:ext cx="1410963" cy="646331"/>
          </a:xfrm>
          <a:prstGeom prst="rect">
            <a:avLst/>
          </a:prstGeom>
          <a:noFill/>
        </p:spPr>
        <p:txBody>
          <a:bodyPr wrap="none" rtlCol="0">
            <a:spAutoFit/>
          </a:bodyPr>
          <a:lstStyle/>
          <a:p>
            <a:pPr algn="r"/>
            <a:r>
              <a:rPr lang="en-US" b="1" dirty="0">
                <a:latin typeface="Verdana" pitchFamily="34" charset="0"/>
                <a:ea typeface="Verdana" pitchFamily="34" charset="0"/>
                <a:cs typeface="Verdana" pitchFamily="34" charset="0"/>
              </a:rPr>
              <a:t>Segment </a:t>
            </a:r>
          </a:p>
          <a:p>
            <a:pPr algn="r"/>
            <a:r>
              <a:rPr lang="en-US" b="1" dirty="0">
                <a:latin typeface="Verdana" pitchFamily="34" charset="0"/>
                <a:ea typeface="Verdana" pitchFamily="34" charset="0"/>
                <a:cs typeface="Verdana" pitchFamily="34" charset="0"/>
              </a:rPr>
              <a:t>Registers</a:t>
            </a:r>
          </a:p>
        </p:txBody>
      </p:sp>
      <p:cxnSp>
        <p:nvCxnSpPr>
          <p:cNvPr id="7" name="Straight Connector 6"/>
          <p:cNvCxnSpPr/>
          <p:nvPr/>
        </p:nvCxnSpPr>
        <p:spPr>
          <a:xfrm>
            <a:off x="2033889" y="1219200"/>
            <a:ext cx="0" cy="29730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0" y="4800600"/>
            <a:ext cx="2561796" cy="954107"/>
          </a:xfrm>
          <a:prstGeom prst="rect">
            <a:avLst/>
          </a:prstGeom>
          <a:noFill/>
        </p:spPr>
        <p:txBody>
          <a:bodyPr wrap="square" rtlCol="0">
            <a:spAutoFit/>
          </a:bodyPr>
          <a:lstStyle/>
          <a:p>
            <a:pPr marL="285750" indent="-285750" algn="just">
              <a:buBlip>
                <a:blip r:embed="rId4"/>
              </a:buBlip>
            </a:pPr>
            <a:r>
              <a:rPr lang="en-US" sz="1400" b="1" dirty="0"/>
              <a:t>8086’s 1-megabyte memory is divided into segments of up to 64K bytes each.</a:t>
            </a:r>
          </a:p>
        </p:txBody>
      </p:sp>
      <p:sp>
        <p:nvSpPr>
          <p:cNvPr id="16" name="TextBox 15"/>
          <p:cNvSpPr txBox="1"/>
          <p:nvPr/>
        </p:nvSpPr>
        <p:spPr>
          <a:xfrm>
            <a:off x="6096000" y="4798326"/>
            <a:ext cx="2971800" cy="1600438"/>
          </a:xfrm>
          <a:prstGeom prst="rect">
            <a:avLst/>
          </a:prstGeom>
          <a:noFill/>
        </p:spPr>
        <p:txBody>
          <a:bodyPr wrap="square" rtlCol="0">
            <a:spAutoFit/>
          </a:bodyPr>
          <a:lstStyle/>
          <a:p>
            <a:pPr marL="285750" indent="-285750" algn="just">
              <a:buBlip>
                <a:blip r:embed="rId4"/>
              </a:buBlip>
            </a:pPr>
            <a:r>
              <a:rPr lang="en-US" sz="1400" b="1" dirty="0"/>
              <a:t>Programs obtain access to code and data in the segments by changing the segment register content to point to the desired segments.</a:t>
            </a:r>
          </a:p>
          <a:p>
            <a:pPr algn="just"/>
            <a:endParaRPr lang="en-US" sz="1400" b="1" dirty="0"/>
          </a:p>
        </p:txBody>
      </p:sp>
      <p:sp>
        <p:nvSpPr>
          <p:cNvPr id="17" name="TextBox 16"/>
          <p:cNvSpPr txBox="1"/>
          <p:nvPr/>
        </p:nvSpPr>
        <p:spPr>
          <a:xfrm>
            <a:off x="2729552" y="4800600"/>
            <a:ext cx="3166852" cy="1169551"/>
          </a:xfrm>
          <a:prstGeom prst="rect">
            <a:avLst/>
          </a:prstGeom>
          <a:noFill/>
        </p:spPr>
        <p:txBody>
          <a:bodyPr wrap="square" rtlCol="0">
            <a:spAutoFit/>
          </a:bodyPr>
          <a:lstStyle/>
          <a:p>
            <a:pPr marL="285750" indent="-285750" algn="just">
              <a:buBlip>
                <a:blip r:embed="rId4"/>
              </a:buBlip>
            </a:pPr>
            <a:r>
              <a:rPr lang="en-US" sz="1400" b="1" dirty="0"/>
              <a:t>The 8086 can directly address four segments (256 K bytes within the 1 M byte of memory) at a particular time.</a:t>
            </a:r>
          </a:p>
        </p:txBody>
      </p:sp>
      <p:pic>
        <p:nvPicPr>
          <p:cNvPr id="12" name="Picture 2" descr="C:\Users\AMMU\Desktop\Microprocessor\Internal Architecture.png"/>
          <p:cNvPicPr>
            <a:picLocks noChangeAspect="1" noChangeArrowheads="1"/>
          </p:cNvPicPr>
          <p:nvPr/>
        </p:nvPicPr>
        <p:blipFill rotWithShape="1">
          <a:blip r:embed="rId5">
            <a:extLst>
              <a:ext uri="{28A0092B-C50C-407E-A947-70E740481C1C}">
                <a14:useLocalDpi xmlns:a14="http://schemas.microsoft.com/office/drawing/2010/main" val="0"/>
              </a:ext>
            </a:extLst>
          </a:blip>
          <a:srcRect l="54250" t="29759" r="25865" b="35121"/>
          <a:stretch/>
        </p:blipFill>
        <p:spPr bwMode="auto">
          <a:xfrm>
            <a:off x="413897" y="2048582"/>
            <a:ext cx="1591559" cy="2094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2160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p:bldP spid="1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24</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18" name="TextBox 17"/>
          <p:cNvSpPr txBox="1"/>
          <p:nvPr/>
        </p:nvSpPr>
        <p:spPr>
          <a:xfrm>
            <a:off x="5239608" y="152400"/>
            <a:ext cx="3657600" cy="369332"/>
          </a:xfrm>
          <a:prstGeom prst="rect">
            <a:avLst/>
          </a:prstGeom>
          <a:noFill/>
        </p:spPr>
        <p:txBody>
          <a:bodyPr wrap="square" rtlCol="0">
            <a:spAutoFit/>
          </a:bodyPr>
          <a:lstStyle/>
          <a:p>
            <a:pPr algn="ctr"/>
            <a:r>
              <a:rPr lang="en-US" b="1" dirty="0">
                <a:latin typeface="Verdana" pitchFamily="34" charset="0"/>
                <a:ea typeface="Verdana" pitchFamily="34" charset="0"/>
                <a:cs typeface="Verdana" pitchFamily="34" charset="0"/>
              </a:rPr>
              <a:t>Bus Interface Unit (BIU)</a:t>
            </a:r>
          </a:p>
        </p:txBody>
      </p:sp>
      <p:sp>
        <p:nvSpPr>
          <p:cNvPr id="14" name="TextBox 13"/>
          <p:cNvSpPr txBox="1"/>
          <p:nvPr/>
        </p:nvSpPr>
        <p:spPr>
          <a:xfrm>
            <a:off x="646437" y="1106269"/>
            <a:ext cx="1410963" cy="646331"/>
          </a:xfrm>
          <a:prstGeom prst="rect">
            <a:avLst/>
          </a:prstGeom>
          <a:noFill/>
        </p:spPr>
        <p:txBody>
          <a:bodyPr wrap="none" rtlCol="0">
            <a:spAutoFit/>
          </a:bodyPr>
          <a:lstStyle/>
          <a:p>
            <a:pPr algn="r"/>
            <a:r>
              <a:rPr lang="en-US" b="1" dirty="0">
                <a:latin typeface="Verdana" pitchFamily="34" charset="0"/>
                <a:ea typeface="Verdana" pitchFamily="34" charset="0"/>
                <a:cs typeface="Verdana" pitchFamily="34" charset="0"/>
              </a:rPr>
              <a:t>Segment </a:t>
            </a:r>
          </a:p>
          <a:p>
            <a:pPr algn="r"/>
            <a:r>
              <a:rPr lang="en-US" b="1" dirty="0">
                <a:latin typeface="Verdana" pitchFamily="34" charset="0"/>
                <a:ea typeface="Verdana" pitchFamily="34" charset="0"/>
                <a:cs typeface="Verdana" pitchFamily="34" charset="0"/>
              </a:rPr>
              <a:t>Registers</a:t>
            </a:r>
          </a:p>
        </p:txBody>
      </p:sp>
      <p:cxnSp>
        <p:nvCxnSpPr>
          <p:cNvPr id="15" name="Straight Connector 14"/>
          <p:cNvCxnSpPr/>
          <p:nvPr/>
        </p:nvCxnSpPr>
        <p:spPr>
          <a:xfrm>
            <a:off x="2033889" y="1219200"/>
            <a:ext cx="0" cy="29730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500952" y="1110258"/>
            <a:ext cx="6396256" cy="3508653"/>
          </a:xfrm>
          <a:prstGeom prst="rect">
            <a:avLst/>
          </a:prstGeom>
          <a:noFill/>
        </p:spPr>
        <p:txBody>
          <a:bodyPr wrap="square" rtlCol="0">
            <a:spAutoFit/>
          </a:bodyPr>
          <a:lstStyle/>
          <a:p>
            <a:r>
              <a:rPr lang="en-US" b="1" dirty="0">
                <a:solidFill>
                  <a:srgbClr val="0070C0"/>
                </a:solidFill>
                <a:latin typeface="Verdana" pitchFamily="34" charset="0"/>
                <a:ea typeface="Verdana" pitchFamily="34" charset="0"/>
                <a:cs typeface="Verdana" pitchFamily="34" charset="0"/>
              </a:rPr>
              <a:t>Code Segment Register</a:t>
            </a:r>
          </a:p>
          <a:p>
            <a:endParaRPr lang="en-US" sz="800" b="1" dirty="0">
              <a:solidFill>
                <a:srgbClr val="0070C0"/>
              </a:solidFill>
              <a:latin typeface="Verdana" pitchFamily="34" charset="0"/>
              <a:ea typeface="Verdana" pitchFamily="34" charset="0"/>
              <a:cs typeface="Verdana" pitchFamily="34" charset="0"/>
            </a:endParaRPr>
          </a:p>
          <a:p>
            <a:endParaRPr lang="en-US" sz="800" b="1" dirty="0">
              <a:latin typeface="+mj-lt"/>
            </a:endParaRPr>
          </a:p>
          <a:p>
            <a:pPr marL="285750" indent="-285750">
              <a:buBlip>
                <a:blip r:embed="rId3"/>
              </a:buBlip>
            </a:pPr>
            <a:r>
              <a:rPr lang="en-US" sz="1400" b="1" dirty="0">
                <a:latin typeface="+mj-lt"/>
              </a:rPr>
              <a:t>16-bit</a:t>
            </a:r>
          </a:p>
          <a:p>
            <a:pPr marL="285750" indent="-285750">
              <a:buBlip>
                <a:blip r:embed="rId3"/>
              </a:buBlip>
            </a:pPr>
            <a:endParaRPr lang="en-US" sz="1400" b="1" dirty="0">
              <a:latin typeface="+mj-lt"/>
            </a:endParaRPr>
          </a:p>
          <a:p>
            <a:pPr marL="285750" indent="-285750">
              <a:buBlip>
                <a:blip r:embed="rId3"/>
              </a:buBlip>
            </a:pPr>
            <a:r>
              <a:rPr lang="en-US" sz="1400" b="1" dirty="0">
                <a:latin typeface="+mj-lt"/>
              </a:rPr>
              <a:t>CS contains the base or start of the current code segment; IP contains the distance or offset from this address to the next instruction byte to be fetched.</a:t>
            </a:r>
          </a:p>
          <a:p>
            <a:pPr marL="285750" indent="-285750">
              <a:buBlip>
                <a:blip r:embed="rId3"/>
              </a:buBlip>
            </a:pPr>
            <a:endParaRPr lang="en-US" sz="1400" b="1" dirty="0">
              <a:latin typeface="+mj-lt"/>
            </a:endParaRPr>
          </a:p>
          <a:p>
            <a:pPr marL="285750" indent="-285750">
              <a:buBlip>
                <a:blip r:embed="rId3"/>
              </a:buBlip>
            </a:pPr>
            <a:r>
              <a:rPr lang="en-US" sz="1400" b="1" dirty="0">
                <a:latin typeface="+mj-lt"/>
              </a:rPr>
              <a:t>BIU computes the 20-bit physical address by logically shifting the contents of CS 4-bits to the left and then adding the 16-bit contents of IP. </a:t>
            </a:r>
          </a:p>
          <a:p>
            <a:pPr marL="285750" indent="-285750">
              <a:buBlip>
                <a:blip r:embed="rId3"/>
              </a:buBlip>
            </a:pPr>
            <a:endParaRPr lang="en-US" sz="1400" b="1" dirty="0">
              <a:latin typeface="+mj-lt"/>
            </a:endParaRPr>
          </a:p>
          <a:p>
            <a:pPr marL="285750" indent="-285750">
              <a:buBlip>
                <a:blip r:embed="rId3"/>
              </a:buBlip>
            </a:pPr>
            <a:r>
              <a:rPr lang="en-US" sz="1400" b="1" dirty="0">
                <a:latin typeface="+mj-lt"/>
              </a:rPr>
              <a:t>That is, all instructions of a program are relative to the contents of the CS register multiplied by 16 and then offset is added provided by the IP.</a:t>
            </a:r>
          </a:p>
        </p:txBody>
      </p:sp>
      <p:pic>
        <p:nvPicPr>
          <p:cNvPr id="10" name="Picture 2" descr="C:\Users\AMMU\Desktop\Microprocessor\Register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65" y="4300483"/>
            <a:ext cx="2601036" cy="2557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52822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25</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18" name="TextBox 17"/>
          <p:cNvSpPr txBox="1"/>
          <p:nvPr/>
        </p:nvSpPr>
        <p:spPr>
          <a:xfrm>
            <a:off x="5239608" y="152400"/>
            <a:ext cx="3657600" cy="369332"/>
          </a:xfrm>
          <a:prstGeom prst="rect">
            <a:avLst/>
          </a:prstGeom>
          <a:noFill/>
        </p:spPr>
        <p:txBody>
          <a:bodyPr wrap="square" rtlCol="0">
            <a:spAutoFit/>
          </a:bodyPr>
          <a:lstStyle/>
          <a:p>
            <a:pPr algn="ctr"/>
            <a:r>
              <a:rPr lang="en-US" b="1" dirty="0">
                <a:latin typeface="Verdana" pitchFamily="34" charset="0"/>
                <a:ea typeface="Verdana" pitchFamily="34" charset="0"/>
                <a:cs typeface="Verdana" pitchFamily="34" charset="0"/>
              </a:rPr>
              <a:t>Bus Interface Unit (BIU)</a:t>
            </a:r>
          </a:p>
        </p:txBody>
      </p:sp>
      <p:sp>
        <p:nvSpPr>
          <p:cNvPr id="14" name="TextBox 13"/>
          <p:cNvSpPr txBox="1"/>
          <p:nvPr/>
        </p:nvSpPr>
        <p:spPr>
          <a:xfrm>
            <a:off x="646437" y="1106269"/>
            <a:ext cx="1410963" cy="646331"/>
          </a:xfrm>
          <a:prstGeom prst="rect">
            <a:avLst/>
          </a:prstGeom>
          <a:noFill/>
        </p:spPr>
        <p:txBody>
          <a:bodyPr wrap="none" rtlCol="0">
            <a:spAutoFit/>
          </a:bodyPr>
          <a:lstStyle/>
          <a:p>
            <a:pPr algn="r"/>
            <a:r>
              <a:rPr lang="en-US" b="1" dirty="0">
                <a:latin typeface="Verdana" pitchFamily="34" charset="0"/>
                <a:ea typeface="Verdana" pitchFamily="34" charset="0"/>
                <a:cs typeface="Verdana" pitchFamily="34" charset="0"/>
              </a:rPr>
              <a:t>Segment </a:t>
            </a:r>
          </a:p>
          <a:p>
            <a:pPr algn="r"/>
            <a:r>
              <a:rPr lang="en-US" b="1" dirty="0">
                <a:latin typeface="Verdana" pitchFamily="34" charset="0"/>
                <a:ea typeface="Verdana" pitchFamily="34" charset="0"/>
                <a:cs typeface="Verdana" pitchFamily="34" charset="0"/>
              </a:rPr>
              <a:t>Registers</a:t>
            </a:r>
          </a:p>
        </p:txBody>
      </p:sp>
      <p:cxnSp>
        <p:nvCxnSpPr>
          <p:cNvPr id="15" name="Straight Connector 14"/>
          <p:cNvCxnSpPr/>
          <p:nvPr/>
        </p:nvCxnSpPr>
        <p:spPr>
          <a:xfrm>
            <a:off x="2033889" y="1219200"/>
            <a:ext cx="0" cy="29730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500952" y="1110258"/>
            <a:ext cx="6396256" cy="2585323"/>
          </a:xfrm>
          <a:prstGeom prst="rect">
            <a:avLst/>
          </a:prstGeom>
          <a:noFill/>
        </p:spPr>
        <p:txBody>
          <a:bodyPr wrap="square" rtlCol="0">
            <a:spAutoFit/>
          </a:bodyPr>
          <a:lstStyle/>
          <a:p>
            <a:r>
              <a:rPr lang="en-US" b="1" dirty="0">
                <a:solidFill>
                  <a:srgbClr val="0070C0"/>
                </a:solidFill>
                <a:latin typeface="Verdana" pitchFamily="34" charset="0"/>
                <a:ea typeface="Verdana" pitchFamily="34" charset="0"/>
                <a:cs typeface="Verdana" pitchFamily="34" charset="0"/>
              </a:rPr>
              <a:t>Data Segment Register</a:t>
            </a:r>
          </a:p>
          <a:p>
            <a:endParaRPr lang="en-US" b="1" dirty="0">
              <a:solidFill>
                <a:srgbClr val="0070C0"/>
              </a:solidFill>
              <a:latin typeface="Verdana" pitchFamily="34" charset="0"/>
              <a:ea typeface="Verdana" pitchFamily="34" charset="0"/>
              <a:cs typeface="Verdana" pitchFamily="34" charset="0"/>
            </a:endParaRPr>
          </a:p>
          <a:p>
            <a:endParaRPr lang="en-US" sz="1400" b="1" dirty="0">
              <a:latin typeface="+mj-lt"/>
            </a:endParaRPr>
          </a:p>
          <a:p>
            <a:pPr marL="285750" indent="-285750">
              <a:buBlip>
                <a:blip r:embed="rId3"/>
              </a:buBlip>
            </a:pPr>
            <a:r>
              <a:rPr lang="en-US" sz="1400" b="1" dirty="0">
                <a:latin typeface="+mj-lt"/>
              </a:rPr>
              <a:t>16-bit</a:t>
            </a:r>
          </a:p>
          <a:p>
            <a:pPr marL="285750" indent="-285750">
              <a:buBlip>
                <a:blip r:embed="rId3"/>
              </a:buBlip>
            </a:pPr>
            <a:endParaRPr lang="en-US" sz="1400" b="1" dirty="0">
              <a:latin typeface="+mj-lt"/>
            </a:endParaRPr>
          </a:p>
          <a:p>
            <a:pPr marL="285750" indent="-285750">
              <a:buBlip>
                <a:blip r:embed="rId3"/>
              </a:buBlip>
            </a:pPr>
            <a:r>
              <a:rPr lang="en-US" sz="1400" b="1" dirty="0">
                <a:latin typeface="+mj-lt"/>
              </a:rPr>
              <a:t>Points to the current data segment; operands for most instructions are fetched from this segment.</a:t>
            </a:r>
          </a:p>
          <a:p>
            <a:pPr marL="285750" indent="-285750">
              <a:buBlip>
                <a:blip r:embed="rId3"/>
              </a:buBlip>
            </a:pPr>
            <a:endParaRPr lang="en-US" sz="1400" b="1" dirty="0">
              <a:latin typeface="+mj-lt"/>
            </a:endParaRPr>
          </a:p>
          <a:p>
            <a:pPr marL="285750" indent="-285750">
              <a:buBlip>
                <a:blip r:embed="rId3"/>
              </a:buBlip>
            </a:pPr>
            <a:r>
              <a:rPr lang="en-US" sz="1400" b="1" dirty="0">
                <a:latin typeface="+mj-lt"/>
              </a:rPr>
              <a:t>The 16-bit contents of the Source Index (SI) or Destination Index (DI) or a 16-bit displacement are used as offset for computing the 20-bit physical address.</a:t>
            </a:r>
          </a:p>
        </p:txBody>
      </p:sp>
      <p:pic>
        <p:nvPicPr>
          <p:cNvPr id="11" name="Picture 2" descr="C:\Users\AMMU\Desktop\Microprocessor\Register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65" y="4300483"/>
            <a:ext cx="2601036" cy="2557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2988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26</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18" name="TextBox 17"/>
          <p:cNvSpPr txBox="1"/>
          <p:nvPr/>
        </p:nvSpPr>
        <p:spPr>
          <a:xfrm>
            <a:off x="5239608" y="152400"/>
            <a:ext cx="3657600" cy="369332"/>
          </a:xfrm>
          <a:prstGeom prst="rect">
            <a:avLst/>
          </a:prstGeom>
          <a:noFill/>
        </p:spPr>
        <p:txBody>
          <a:bodyPr wrap="square" rtlCol="0">
            <a:spAutoFit/>
          </a:bodyPr>
          <a:lstStyle/>
          <a:p>
            <a:pPr algn="ctr"/>
            <a:r>
              <a:rPr lang="en-US" b="1" dirty="0">
                <a:latin typeface="Verdana" pitchFamily="34" charset="0"/>
                <a:ea typeface="Verdana" pitchFamily="34" charset="0"/>
                <a:cs typeface="Verdana" pitchFamily="34" charset="0"/>
              </a:rPr>
              <a:t>Bus Interface Unit (BIU)</a:t>
            </a:r>
          </a:p>
        </p:txBody>
      </p:sp>
      <p:sp>
        <p:nvSpPr>
          <p:cNvPr id="14" name="TextBox 13"/>
          <p:cNvSpPr txBox="1"/>
          <p:nvPr/>
        </p:nvSpPr>
        <p:spPr>
          <a:xfrm>
            <a:off x="646437" y="1106269"/>
            <a:ext cx="1410963" cy="646331"/>
          </a:xfrm>
          <a:prstGeom prst="rect">
            <a:avLst/>
          </a:prstGeom>
          <a:noFill/>
        </p:spPr>
        <p:txBody>
          <a:bodyPr wrap="none" rtlCol="0">
            <a:spAutoFit/>
          </a:bodyPr>
          <a:lstStyle/>
          <a:p>
            <a:pPr algn="r"/>
            <a:r>
              <a:rPr lang="en-US" b="1" dirty="0">
                <a:latin typeface="Verdana" pitchFamily="34" charset="0"/>
                <a:ea typeface="Verdana" pitchFamily="34" charset="0"/>
                <a:cs typeface="Verdana" pitchFamily="34" charset="0"/>
              </a:rPr>
              <a:t>Segment </a:t>
            </a:r>
          </a:p>
          <a:p>
            <a:pPr algn="r"/>
            <a:r>
              <a:rPr lang="en-US" b="1" dirty="0">
                <a:latin typeface="Verdana" pitchFamily="34" charset="0"/>
                <a:ea typeface="Verdana" pitchFamily="34" charset="0"/>
                <a:cs typeface="Verdana" pitchFamily="34" charset="0"/>
              </a:rPr>
              <a:t>Registers</a:t>
            </a:r>
          </a:p>
        </p:txBody>
      </p:sp>
      <p:cxnSp>
        <p:nvCxnSpPr>
          <p:cNvPr id="15" name="Straight Connector 14"/>
          <p:cNvCxnSpPr/>
          <p:nvPr/>
        </p:nvCxnSpPr>
        <p:spPr>
          <a:xfrm>
            <a:off x="2033889" y="1219200"/>
            <a:ext cx="0" cy="29730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500952" y="1110258"/>
            <a:ext cx="6396256" cy="2985433"/>
          </a:xfrm>
          <a:prstGeom prst="rect">
            <a:avLst/>
          </a:prstGeom>
          <a:noFill/>
        </p:spPr>
        <p:txBody>
          <a:bodyPr wrap="square" rtlCol="0">
            <a:spAutoFit/>
          </a:bodyPr>
          <a:lstStyle/>
          <a:p>
            <a:r>
              <a:rPr lang="en-US" b="1" dirty="0">
                <a:solidFill>
                  <a:srgbClr val="0070C0"/>
                </a:solidFill>
                <a:latin typeface="Verdana" pitchFamily="34" charset="0"/>
                <a:ea typeface="Verdana" pitchFamily="34" charset="0"/>
                <a:cs typeface="Verdana" pitchFamily="34" charset="0"/>
              </a:rPr>
              <a:t>Stack Segment Register</a:t>
            </a:r>
          </a:p>
          <a:p>
            <a:endParaRPr lang="en-US" sz="800" b="1" dirty="0">
              <a:solidFill>
                <a:srgbClr val="0070C0"/>
              </a:solidFill>
              <a:latin typeface="Verdana" pitchFamily="34" charset="0"/>
              <a:ea typeface="Verdana" pitchFamily="34" charset="0"/>
              <a:cs typeface="Verdana" pitchFamily="34" charset="0"/>
            </a:endParaRPr>
          </a:p>
          <a:p>
            <a:endParaRPr lang="en-US" sz="800" b="1" dirty="0">
              <a:latin typeface="+mj-lt"/>
            </a:endParaRPr>
          </a:p>
          <a:p>
            <a:pPr marL="285750" indent="-285750">
              <a:buBlip>
                <a:blip r:embed="rId3"/>
              </a:buBlip>
            </a:pPr>
            <a:r>
              <a:rPr lang="en-US" sz="1400" b="1" dirty="0">
                <a:latin typeface="+mj-lt"/>
              </a:rPr>
              <a:t>16-bit</a:t>
            </a:r>
          </a:p>
          <a:p>
            <a:pPr marL="285750" indent="-285750">
              <a:buBlip>
                <a:blip r:embed="rId3"/>
              </a:buBlip>
            </a:pPr>
            <a:endParaRPr lang="en-US" sz="1400" b="1" dirty="0">
              <a:latin typeface="+mj-lt"/>
            </a:endParaRPr>
          </a:p>
          <a:p>
            <a:pPr marL="285750" indent="-285750">
              <a:buBlip>
                <a:blip r:embed="rId3"/>
              </a:buBlip>
            </a:pPr>
            <a:r>
              <a:rPr lang="en-US" sz="1400" b="1" dirty="0">
                <a:latin typeface="+mj-lt"/>
              </a:rPr>
              <a:t>Points to the current stack.</a:t>
            </a:r>
          </a:p>
          <a:p>
            <a:pPr marL="285750" indent="-285750">
              <a:buBlip>
                <a:blip r:embed="rId3"/>
              </a:buBlip>
            </a:pPr>
            <a:endParaRPr lang="en-US" sz="1400" b="1" dirty="0">
              <a:latin typeface="+mj-lt"/>
            </a:endParaRPr>
          </a:p>
          <a:p>
            <a:pPr marL="285750" indent="-285750">
              <a:buBlip>
                <a:blip r:embed="rId3"/>
              </a:buBlip>
            </a:pPr>
            <a:r>
              <a:rPr lang="en-US" sz="1400" b="1" dirty="0">
                <a:latin typeface="+mj-lt"/>
              </a:rPr>
              <a:t>The 20-bit physical stack address is calculated from the Stack Segment (SS) and the Stack Pointer (SP) for stack instructions such as </a:t>
            </a:r>
            <a:r>
              <a:rPr lang="en-US" sz="1400" b="1" dirty="0">
                <a:solidFill>
                  <a:schemeClr val="accent2">
                    <a:lumMod val="75000"/>
                  </a:schemeClr>
                </a:solidFill>
                <a:latin typeface="+mj-lt"/>
              </a:rPr>
              <a:t>PUSH</a:t>
            </a:r>
            <a:r>
              <a:rPr lang="en-US" sz="1400" b="1" dirty="0">
                <a:latin typeface="+mj-lt"/>
              </a:rPr>
              <a:t> and </a:t>
            </a:r>
            <a:r>
              <a:rPr lang="en-US" sz="1400" b="1" dirty="0">
                <a:solidFill>
                  <a:schemeClr val="accent2">
                    <a:lumMod val="75000"/>
                  </a:schemeClr>
                </a:solidFill>
                <a:latin typeface="+mj-lt"/>
              </a:rPr>
              <a:t>POP</a:t>
            </a:r>
            <a:r>
              <a:rPr lang="en-US" sz="1400" b="1" dirty="0">
                <a:latin typeface="+mj-lt"/>
              </a:rPr>
              <a:t>.</a:t>
            </a:r>
          </a:p>
          <a:p>
            <a:pPr marL="285750" indent="-285750">
              <a:buBlip>
                <a:blip r:embed="rId3"/>
              </a:buBlip>
            </a:pPr>
            <a:endParaRPr lang="en-US" sz="1400" b="1" dirty="0">
              <a:latin typeface="+mj-lt"/>
            </a:endParaRPr>
          </a:p>
          <a:p>
            <a:pPr marL="285750" indent="-285750">
              <a:buBlip>
                <a:blip r:embed="rId3"/>
              </a:buBlip>
            </a:pPr>
            <a:r>
              <a:rPr lang="en-US" sz="1400" b="1" dirty="0">
                <a:latin typeface="+mj-lt"/>
              </a:rPr>
              <a:t>In </a:t>
            </a:r>
            <a:r>
              <a:rPr lang="en-US" sz="1400" b="1" u="sng" dirty="0">
                <a:latin typeface="+mj-lt"/>
              </a:rPr>
              <a:t>based addressing mode</a:t>
            </a:r>
            <a:r>
              <a:rPr lang="en-US" sz="1400" b="1" dirty="0">
                <a:latin typeface="+mj-lt"/>
              </a:rPr>
              <a:t>, the 20-bit physical stack address is calculated from the </a:t>
            </a:r>
            <a:r>
              <a:rPr lang="en-US" sz="1400" b="1" dirty="0"/>
              <a:t>Stack segment (SS) and the </a:t>
            </a:r>
            <a:r>
              <a:rPr lang="en-US" sz="1400" b="1" dirty="0">
                <a:latin typeface="+mj-lt"/>
              </a:rPr>
              <a:t>Base Pointer (BP). </a:t>
            </a:r>
          </a:p>
        </p:txBody>
      </p:sp>
      <p:pic>
        <p:nvPicPr>
          <p:cNvPr id="1026" name="Picture 2" descr="C:\Users\AMMU\Desktop\Microprocessor\Register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65" y="4300483"/>
            <a:ext cx="2601036" cy="2557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25292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27</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18" name="TextBox 17"/>
          <p:cNvSpPr txBox="1"/>
          <p:nvPr/>
        </p:nvSpPr>
        <p:spPr>
          <a:xfrm>
            <a:off x="5239608" y="152400"/>
            <a:ext cx="3657600" cy="369332"/>
          </a:xfrm>
          <a:prstGeom prst="rect">
            <a:avLst/>
          </a:prstGeom>
          <a:noFill/>
        </p:spPr>
        <p:txBody>
          <a:bodyPr wrap="square" rtlCol="0">
            <a:spAutoFit/>
          </a:bodyPr>
          <a:lstStyle/>
          <a:p>
            <a:pPr algn="ctr"/>
            <a:r>
              <a:rPr lang="en-US" b="1" dirty="0">
                <a:latin typeface="Verdana" pitchFamily="34" charset="0"/>
                <a:ea typeface="Verdana" pitchFamily="34" charset="0"/>
                <a:cs typeface="Verdana" pitchFamily="34" charset="0"/>
              </a:rPr>
              <a:t>Bus Interface Unit (BIU)</a:t>
            </a:r>
          </a:p>
        </p:txBody>
      </p:sp>
      <p:sp>
        <p:nvSpPr>
          <p:cNvPr id="14" name="TextBox 13"/>
          <p:cNvSpPr txBox="1"/>
          <p:nvPr/>
        </p:nvSpPr>
        <p:spPr>
          <a:xfrm>
            <a:off x="646437" y="1106269"/>
            <a:ext cx="1410963" cy="646331"/>
          </a:xfrm>
          <a:prstGeom prst="rect">
            <a:avLst/>
          </a:prstGeom>
          <a:noFill/>
        </p:spPr>
        <p:txBody>
          <a:bodyPr wrap="none" rtlCol="0">
            <a:spAutoFit/>
          </a:bodyPr>
          <a:lstStyle/>
          <a:p>
            <a:pPr algn="r"/>
            <a:r>
              <a:rPr lang="en-US" b="1" dirty="0">
                <a:latin typeface="Verdana" pitchFamily="34" charset="0"/>
                <a:ea typeface="Verdana" pitchFamily="34" charset="0"/>
                <a:cs typeface="Verdana" pitchFamily="34" charset="0"/>
              </a:rPr>
              <a:t>Segment </a:t>
            </a:r>
          </a:p>
          <a:p>
            <a:pPr algn="r"/>
            <a:r>
              <a:rPr lang="en-US" b="1" dirty="0">
                <a:latin typeface="Verdana" pitchFamily="34" charset="0"/>
                <a:ea typeface="Verdana" pitchFamily="34" charset="0"/>
                <a:cs typeface="Verdana" pitchFamily="34" charset="0"/>
              </a:rPr>
              <a:t>Registers</a:t>
            </a:r>
          </a:p>
        </p:txBody>
      </p:sp>
      <p:cxnSp>
        <p:nvCxnSpPr>
          <p:cNvPr id="15" name="Straight Connector 14"/>
          <p:cNvCxnSpPr/>
          <p:nvPr/>
        </p:nvCxnSpPr>
        <p:spPr>
          <a:xfrm>
            <a:off x="2033889" y="1219200"/>
            <a:ext cx="0" cy="29730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500952" y="1110258"/>
            <a:ext cx="6396256" cy="2369880"/>
          </a:xfrm>
          <a:prstGeom prst="rect">
            <a:avLst/>
          </a:prstGeom>
          <a:noFill/>
        </p:spPr>
        <p:txBody>
          <a:bodyPr wrap="square" rtlCol="0">
            <a:spAutoFit/>
          </a:bodyPr>
          <a:lstStyle/>
          <a:p>
            <a:r>
              <a:rPr lang="en-US" b="1" dirty="0">
                <a:solidFill>
                  <a:srgbClr val="0070C0"/>
                </a:solidFill>
                <a:latin typeface="Verdana" pitchFamily="34" charset="0"/>
                <a:ea typeface="Verdana" pitchFamily="34" charset="0"/>
                <a:cs typeface="Verdana" pitchFamily="34" charset="0"/>
              </a:rPr>
              <a:t>Extra Segment Register</a:t>
            </a:r>
          </a:p>
          <a:p>
            <a:endParaRPr lang="en-US" b="1" dirty="0">
              <a:solidFill>
                <a:srgbClr val="0070C0"/>
              </a:solidFill>
              <a:latin typeface="Verdana" pitchFamily="34" charset="0"/>
              <a:ea typeface="Verdana" pitchFamily="34" charset="0"/>
              <a:cs typeface="Verdana" pitchFamily="34" charset="0"/>
            </a:endParaRPr>
          </a:p>
          <a:p>
            <a:endParaRPr lang="en-US" sz="1400" b="1" dirty="0">
              <a:latin typeface="+mj-lt"/>
            </a:endParaRPr>
          </a:p>
          <a:p>
            <a:pPr marL="285750" indent="-285750">
              <a:buBlip>
                <a:blip r:embed="rId3"/>
              </a:buBlip>
            </a:pPr>
            <a:r>
              <a:rPr lang="en-US" sz="1400" b="1" dirty="0">
                <a:latin typeface="+mj-lt"/>
              </a:rPr>
              <a:t>16-bit</a:t>
            </a:r>
          </a:p>
          <a:p>
            <a:pPr marL="285750" indent="-285750">
              <a:buBlip>
                <a:blip r:embed="rId3"/>
              </a:buBlip>
            </a:pPr>
            <a:endParaRPr lang="en-US" sz="1400" b="1" dirty="0">
              <a:latin typeface="+mj-lt"/>
            </a:endParaRPr>
          </a:p>
          <a:p>
            <a:pPr marL="285750" indent="-285750">
              <a:buBlip>
                <a:blip r:embed="rId3"/>
              </a:buBlip>
            </a:pPr>
            <a:r>
              <a:rPr lang="en-US" sz="1400" b="1" dirty="0">
                <a:latin typeface="+mj-lt"/>
              </a:rPr>
              <a:t>Points to the extra segment in which data (in excess of 64K pointed to by the DS) is stored.</a:t>
            </a:r>
          </a:p>
          <a:p>
            <a:pPr marL="285750" indent="-285750">
              <a:buBlip>
                <a:blip r:embed="rId3"/>
              </a:buBlip>
            </a:pPr>
            <a:endParaRPr lang="en-US" sz="1400" b="1" dirty="0">
              <a:latin typeface="+mj-lt"/>
            </a:endParaRPr>
          </a:p>
          <a:p>
            <a:pPr marL="285750" indent="-285750">
              <a:buBlip>
                <a:blip r:embed="rId3"/>
              </a:buBlip>
            </a:pPr>
            <a:r>
              <a:rPr lang="en-US" sz="1400" b="1" dirty="0">
                <a:latin typeface="+mj-lt"/>
              </a:rPr>
              <a:t>String instructions use the ES and DI to determine the 20-bit physical address for the destination.</a:t>
            </a:r>
          </a:p>
        </p:txBody>
      </p:sp>
      <p:pic>
        <p:nvPicPr>
          <p:cNvPr id="11" name="Picture 2" descr="C:\Users\AMMU\Desktop\Microprocessor\Register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65" y="4300483"/>
            <a:ext cx="2601036" cy="2557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7348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28</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18" name="TextBox 17"/>
          <p:cNvSpPr txBox="1"/>
          <p:nvPr/>
        </p:nvSpPr>
        <p:spPr>
          <a:xfrm>
            <a:off x="5239608" y="152400"/>
            <a:ext cx="3657600" cy="369332"/>
          </a:xfrm>
          <a:prstGeom prst="rect">
            <a:avLst/>
          </a:prstGeom>
          <a:noFill/>
        </p:spPr>
        <p:txBody>
          <a:bodyPr wrap="square" rtlCol="0">
            <a:spAutoFit/>
          </a:bodyPr>
          <a:lstStyle/>
          <a:p>
            <a:pPr algn="ctr"/>
            <a:r>
              <a:rPr lang="en-US" b="1" dirty="0">
                <a:latin typeface="Verdana" pitchFamily="34" charset="0"/>
                <a:ea typeface="Verdana" pitchFamily="34" charset="0"/>
                <a:cs typeface="Verdana" pitchFamily="34" charset="0"/>
              </a:rPr>
              <a:t>Bus Interface Unit (BIU)</a:t>
            </a:r>
          </a:p>
        </p:txBody>
      </p:sp>
      <p:sp>
        <p:nvSpPr>
          <p:cNvPr id="14" name="TextBox 13"/>
          <p:cNvSpPr txBox="1"/>
          <p:nvPr/>
        </p:nvSpPr>
        <p:spPr>
          <a:xfrm>
            <a:off x="646437" y="1106269"/>
            <a:ext cx="1410963" cy="646331"/>
          </a:xfrm>
          <a:prstGeom prst="rect">
            <a:avLst/>
          </a:prstGeom>
          <a:noFill/>
        </p:spPr>
        <p:txBody>
          <a:bodyPr wrap="none" rtlCol="0">
            <a:spAutoFit/>
          </a:bodyPr>
          <a:lstStyle/>
          <a:p>
            <a:pPr algn="r"/>
            <a:r>
              <a:rPr lang="en-US" b="1" dirty="0">
                <a:latin typeface="Verdana" pitchFamily="34" charset="0"/>
                <a:ea typeface="Verdana" pitchFamily="34" charset="0"/>
                <a:cs typeface="Verdana" pitchFamily="34" charset="0"/>
              </a:rPr>
              <a:t>Segment </a:t>
            </a:r>
          </a:p>
          <a:p>
            <a:pPr algn="r"/>
            <a:r>
              <a:rPr lang="en-US" b="1" dirty="0">
                <a:latin typeface="Verdana" pitchFamily="34" charset="0"/>
                <a:ea typeface="Verdana" pitchFamily="34" charset="0"/>
                <a:cs typeface="Verdana" pitchFamily="34" charset="0"/>
              </a:rPr>
              <a:t>Registers</a:t>
            </a:r>
          </a:p>
        </p:txBody>
      </p:sp>
      <p:cxnSp>
        <p:nvCxnSpPr>
          <p:cNvPr id="15" name="Straight Connector 14"/>
          <p:cNvCxnSpPr/>
          <p:nvPr/>
        </p:nvCxnSpPr>
        <p:spPr>
          <a:xfrm>
            <a:off x="2033889" y="1219200"/>
            <a:ext cx="0" cy="29730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500952" y="1110258"/>
            <a:ext cx="6396256" cy="3077766"/>
          </a:xfrm>
          <a:prstGeom prst="rect">
            <a:avLst/>
          </a:prstGeom>
          <a:noFill/>
        </p:spPr>
        <p:txBody>
          <a:bodyPr wrap="square" rtlCol="0">
            <a:spAutoFit/>
          </a:bodyPr>
          <a:lstStyle/>
          <a:p>
            <a:r>
              <a:rPr lang="en-US" b="1" dirty="0">
                <a:solidFill>
                  <a:srgbClr val="0070C0"/>
                </a:solidFill>
                <a:latin typeface="Verdana" pitchFamily="34" charset="0"/>
                <a:ea typeface="Verdana" pitchFamily="34" charset="0"/>
                <a:cs typeface="Verdana" pitchFamily="34" charset="0"/>
              </a:rPr>
              <a:t>Instruction Pointer</a:t>
            </a:r>
          </a:p>
          <a:p>
            <a:endParaRPr lang="en-US" sz="800" b="1" dirty="0">
              <a:solidFill>
                <a:srgbClr val="0070C0"/>
              </a:solidFill>
              <a:latin typeface="Verdana" pitchFamily="34" charset="0"/>
              <a:ea typeface="Verdana" pitchFamily="34" charset="0"/>
              <a:cs typeface="Verdana" pitchFamily="34" charset="0"/>
            </a:endParaRPr>
          </a:p>
          <a:p>
            <a:endParaRPr lang="en-US" sz="800" b="1" dirty="0">
              <a:latin typeface="+mj-lt"/>
            </a:endParaRPr>
          </a:p>
          <a:p>
            <a:pPr marL="285750" indent="-285750">
              <a:buBlip>
                <a:blip r:embed="rId3"/>
              </a:buBlip>
            </a:pPr>
            <a:r>
              <a:rPr lang="en-US" sz="1400" b="1" dirty="0">
                <a:latin typeface="+mj-lt"/>
              </a:rPr>
              <a:t>16-bit</a:t>
            </a:r>
          </a:p>
          <a:p>
            <a:pPr marL="285750" indent="-285750">
              <a:buBlip>
                <a:blip r:embed="rId3"/>
              </a:buBlip>
            </a:pPr>
            <a:endParaRPr lang="en-US" sz="1400" b="1" dirty="0">
              <a:latin typeface="+mj-lt"/>
            </a:endParaRPr>
          </a:p>
          <a:p>
            <a:pPr marL="285750" indent="-285750" algn="just">
              <a:buBlip>
                <a:blip r:embed="rId3"/>
              </a:buBlip>
            </a:pPr>
            <a:r>
              <a:rPr lang="en-US" sz="1400" b="1" dirty="0">
                <a:latin typeface="Verdana" pitchFamily="34" charset="0"/>
                <a:ea typeface="Verdana" pitchFamily="34" charset="0"/>
                <a:cs typeface="Verdana" pitchFamily="34" charset="0"/>
              </a:rPr>
              <a:t>Always points to the next instruction to be executed within the currently executing code segment. </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So, this register contains the 16-bit offset address pointing to the next instruction code within the 64Kb of the code segment area. </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Its content is automatically incremented as the execution of the next instruction takes place. </a:t>
            </a:r>
          </a:p>
        </p:txBody>
      </p:sp>
      <p:pic>
        <p:nvPicPr>
          <p:cNvPr id="11" name="Picture 2" descr="C:\Users\AMMU\Desktop\Microprocessor\Register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65" y="4300483"/>
            <a:ext cx="2601036" cy="2557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88835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29</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18" name="TextBox 17"/>
          <p:cNvSpPr txBox="1"/>
          <p:nvPr/>
        </p:nvSpPr>
        <p:spPr>
          <a:xfrm>
            <a:off x="5239608" y="152400"/>
            <a:ext cx="3657600" cy="369332"/>
          </a:xfrm>
          <a:prstGeom prst="rect">
            <a:avLst/>
          </a:prstGeom>
          <a:noFill/>
        </p:spPr>
        <p:txBody>
          <a:bodyPr wrap="square" rtlCol="0">
            <a:spAutoFit/>
          </a:bodyPr>
          <a:lstStyle/>
          <a:p>
            <a:pPr algn="ctr"/>
            <a:r>
              <a:rPr lang="en-US" b="1" dirty="0">
                <a:latin typeface="Verdana" pitchFamily="34" charset="0"/>
                <a:ea typeface="Verdana" pitchFamily="34" charset="0"/>
                <a:cs typeface="Verdana" pitchFamily="34" charset="0"/>
              </a:rPr>
              <a:t>Bus Interface Unit (BIU)</a:t>
            </a:r>
          </a:p>
        </p:txBody>
      </p:sp>
      <p:pic>
        <p:nvPicPr>
          <p:cNvPr id="2050" name="Picture 2" descr="C:\Users\AMMU\Desktop\Microprocessor\Internal Architectur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95" y="685800"/>
            <a:ext cx="5765305" cy="42964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943600" y="2010013"/>
            <a:ext cx="3048000" cy="3323987"/>
          </a:xfrm>
          <a:prstGeom prst="rect">
            <a:avLst/>
          </a:prstGeom>
          <a:noFill/>
        </p:spPr>
        <p:txBody>
          <a:bodyPr wrap="square" rtlCol="0">
            <a:spAutoFit/>
          </a:bodyPr>
          <a:lstStyle/>
          <a:p>
            <a:pPr marL="285750" indent="-285750" algn="just">
              <a:buBlip>
                <a:blip r:embed="rId4"/>
              </a:buBlip>
            </a:pPr>
            <a:r>
              <a:rPr lang="en-US" sz="1400" b="1" dirty="0"/>
              <a:t>A group of First-In-First-Out (FIFO) in which up to 6 bytes of instruction code are pre fetched from the memory ahead of time.</a:t>
            </a:r>
          </a:p>
          <a:p>
            <a:pPr marL="285750" indent="-285750" algn="just">
              <a:buBlip>
                <a:blip r:embed="rId4"/>
              </a:buBlip>
            </a:pPr>
            <a:endParaRPr lang="en-US" sz="1400" b="1" dirty="0"/>
          </a:p>
          <a:p>
            <a:pPr marL="285750" indent="-285750" algn="just">
              <a:buBlip>
                <a:blip r:embed="rId4"/>
              </a:buBlip>
            </a:pPr>
            <a:r>
              <a:rPr lang="en-US" sz="1400" b="1" dirty="0"/>
              <a:t>This is done in order to speed up the execution by overlapping instruction fetch with execution.</a:t>
            </a:r>
          </a:p>
          <a:p>
            <a:pPr marL="285750" indent="-285750" algn="just">
              <a:buBlip>
                <a:blip r:embed="rId4"/>
              </a:buBlip>
            </a:pPr>
            <a:endParaRPr lang="en-US" sz="1400" b="1" dirty="0"/>
          </a:p>
          <a:p>
            <a:pPr marL="285750" indent="-285750" algn="just">
              <a:buBlip>
                <a:blip r:embed="rId4"/>
              </a:buBlip>
            </a:pPr>
            <a:r>
              <a:rPr lang="en-US" sz="1400" b="1" dirty="0"/>
              <a:t>This mechanism is known as </a:t>
            </a:r>
            <a:r>
              <a:rPr lang="en-US" sz="1400" b="1" u="sng" dirty="0"/>
              <a:t>pipelining</a:t>
            </a:r>
            <a:r>
              <a:rPr lang="en-US" sz="1400" b="1" dirty="0"/>
              <a:t>.  </a:t>
            </a:r>
          </a:p>
        </p:txBody>
      </p:sp>
      <p:sp>
        <p:nvSpPr>
          <p:cNvPr id="6" name="Line Callout 2 5"/>
          <p:cNvSpPr/>
          <p:nvPr/>
        </p:nvSpPr>
        <p:spPr>
          <a:xfrm>
            <a:off x="6010701" y="1104900"/>
            <a:ext cx="3048000" cy="342900"/>
          </a:xfrm>
          <a:prstGeom prst="borderCallout2">
            <a:avLst>
              <a:gd name="adj1" fmla="val 18750"/>
              <a:gd name="adj2" fmla="val -192"/>
              <a:gd name="adj3" fmla="val 18750"/>
              <a:gd name="adj4" fmla="val -16667"/>
              <a:gd name="adj5" fmla="val 789117"/>
              <a:gd name="adj6" fmla="val -56518"/>
            </a:avLst>
          </a:prstGeom>
          <a:solidFill>
            <a:srgbClr val="FF99FF"/>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Verdana" pitchFamily="34" charset="0"/>
                <a:ea typeface="Verdana" pitchFamily="34" charset="0"/>
                <a:cs typeface="Verdana" pitchFamily="34" charset="0"/>
              </a:rPr>
              <a:t>Instruction queue</a:t>
            </a:r>
          </a:p>
        </p:txBody>
      </p:sp>
    </p:spTree>
    <p:extLst>
      <p:ext uri="{BB962C8B-B14F-4D97-AF65-F5344CB8AC3E}">
        <p14:creationId xmlns:p14="http://schemas.microsoft.com/office/powerpoint/2010/main" val="18032763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30</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11" name="Rectangle 10"/>
          <p:cNvSpPr/>
          <p:nvPr/>
        </p:nvSpPr>
        <p:spPr>
          <a:xfrm>
            <a:off x="3581400" y="5349642"/>
            <a:ext cx="3886200" cy="1492716"/>
          </a:xfrm>
          <a:prstGeom prst="rect">
            <a:avLst/>
          </a:prstGeom>
          <a:solidFill>
            <a:srgbClr val="99FFCC"/>
          </a:solidFill>
        </p:spPr>
        <p:txBody>
          <a:bodyPr wrap="square">
            <a:spAutoFit/>
          </a:bodyPr>
          <a:lstStyle/>
          <a:p>
            <a:pPr algn="ctr"/>
            <a:r>
              <a:rPr lang="en-US" sz="1300" b="1" dirty="0">
                <a:latin typeface="Verdana" pitchFamily="34" charset="0"/>
                <a:ea typeface="Verdana" pitchFamily="34" charset="0"/>
                <a:cs typeface="Verdana" pitchFamily="34" charset="0"/>
              </a:rPr>
              <a:t>Some of the 16 bit registers can be used as two 8 bit registers as :</a:t>
            </a:r>
          </a:p>
          <a:p>
            <a:pPr algn="ctr"/>
            <a:endParaRPr lang="en-US" sz="1300" b="1" dirty="0">
              <a:latin typeface="Verdana" pitchFamily="34" charset="0"/>
              <a:ea typeface="Verdana" pitchFamily="34" charset="0"/>
              <a:cs typeface="Verdana" pitchFamily="34" charset="0"/>
            </a:endParaRPr>
          </a:p>
          <a:p>
            <a:pPr algn="ctr"/>
            <a:r>
              <a:rPr lang="en-US" sz="1300" b="1" dirty="0">
                <a:latin typeface="Verdana" pitchFamily="34" charset="0"/>
                <a:ea typeface="Verdana" pitchFamily="34" charset="0"/>
                <a:cs typeface="Verdana" pitchFamily="34" charset="0"/>
              </a:rPr>
              <a:t>AX can be used as AH and AL</a:t>
            </a:r>
          </a:p>
          <a:p>
            <a:pPr algn="ctr"/>
            <a:r>
              <a:rPr lang="en-US" sz="1300" b="1" dirty="0">
                <a:latin typeface="Verdana" pitchFamily="34" charset="0"/>
                <a:ea typeface="Verdana" pitchFamily="34" charset="0"/>
                <a:cs typeface="Verdana" pitchFamily="34" charset="0"/>
              </a:rPr>
              <a:t>BX can be used as BH and BL</a:t>
            </a:r>
          </a:p>
          <a:p>
            <a:pPr algn="ctr"/>
            <a:r>
              <a:rPr lang="en-US" sz="1300" b="1" dirty="0">
                <a:latin typeface="Verdana" pitchFamily="34" charset="0"/>
                <a:ea typeface="Verdana" pitchFamily="34" charset="0"/>
                <a:cs typeface="Verdana" pitchFamily="34" charset="0"/>
              </a:rPr>
              <a:t>CX can be used as CH and CL</a:t>
            </a:r>
          </a:p>
          <a:p>
            <a:pPr algn="ctr"/>
            <a:r>
              <a:rPr lang="en-US" sz="1300" b="1" dirty="0">
                <a:latin typeface="Verdana" pitchFamily="34" charset="0"/>
                <a:ea typeface="Verdana" pitchFamily="34" charset="0"/>
                <a:cs typeface="Verdana" pitchFamily="34" charset="0"/>
              </a:rPr>
              <a:t>DX can be used as DH and DL</a:t>
            </a:r>
            <a:endParaRPr lang="en-US" sz="1300" b="1" dirty="0">
              <a:solidFill>
                <a:srgbClr val="0070C0"/>
              </a:solidFill>
              <a:latin typeface="Verdana" pitchFamily="34" charset="0"/>
              <a:ea typeface="Verdana" pitchFamily="34" charset="0"/>
              <a:cs typeface="Verdana" pitchFamily="34" charset="0"/>
            </a:endParaRPr>
          </a:p>
        </p:txBody>
      </p:sp>
      <p:sp>
        <p:nvSpPr>
          <p:cNvPr id="14" name="TextBox 13"/>
          <p:cNvSpPr txBox="1"/>
          <p:nvPr/>
        </p:nvSpPr>
        <p:spPr>
          <a:xfrm>
            <a:off x="5239608" y="152400"/>
            <a:ext cx="3657600" cy="369332"/>
          </a:xfrm>
          <a:prstGeom prst="rect">
            <a:avLst/>
          </a:prstGeom>
          <a:noFill/>
        </p:spPr>
        <p:txBody>
          <a:bodyPr wrap="square" rtlCol="0">
            <a:spAutoFit/>
          </a:bodyPr>
          <a:lstStyle/>
          <a:p>
            <a:pPr algn="ctr"/>
            <a:r>
              <a:rPr lang="en-US" b="1" dirty="0">
                <a:latin typeface="Verdana" pitchFamily="34" charset="0"/>
                <a:ea typeface="Verdana" pitchFamily="34" charset="0"/>
                <a:cs typeface="Verdana" pitchFamily="34" charset="0"/>
              </a:rPr>
              <a:t>Execution Unit (EU)</a:t>
            </a:r>
          </a:p>
        </p:txBody>
      </p:sp>
      <p:pic>
        <p:nvPicPr>
          <p:cNvPr id="10" name="Picture 2" descr="C:\Users\AMMU\Desktop\Microprocessor\Internal Architectur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9319" y="852985"/>
            <a:ext cx="5765305" cy="429646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6200" y="914400"/>
            <a:ext cx="2971800" cy="1569660"/>
          </a:xfrm>
          <a:prstGeom prst="rect">
            <a:avLst/>
          </a:prstGeom>
          <a:noFill/>
        </p:spPr>
        <p:txBody>
          <a:bodyPr wrap="square" rtlCol="0">
            <a:spAutoFit/>
          </a:bodyPr>
          <a:lstStyle/>
          <a:p>
            <a:pPr algn="ctr"/>
            <a:r>
              <a:rPr lang="en-US" sz="1600" b="1" dirty="0">
                <a:solidFill>
                  <a:schemeClr val="accent1">
                    <a:lumMod val="75000"/>
                  </a:schemeClr>
                </a:solidFill>
                <a:latin typeface="Verdana" pitchFamily="34" charset="0"/>
                <a:ea typeface="Verdana" pitchFamily="34" charset="0"/>
                <a:cs typeface="Verdana" pitchFamily="34" charset="0"/>
              </a:rPr>
              <a:t>EU decodes and executes instructions. </a:t>
            </a:r>
          </a:p>
          <a:p>
            <a:pPr algn="ctr"/>
            <a:endParaRPr lang="en-US" sz="1600" b="1" dirty="0">
              <a:solidFill>
                <a:schemeClr val="accent1">
                  <a:lumMod val="75000"/>
                </a:schemeClr>
              </a:solidFill>
              <a:latin typeface="Verdana" pitchFamily="34" charset="0"/>
              <a:ea typeface="Verdana" pitchFamily="34" charset="0"/>
              <a:cs typeface="Verdana" pitchFamily="34" charset="0"/>
            </a:endParaRPr>
          </a:p>
          <a:p>
            <a:pPr algn="ctr"/>
            <a:r>
              <a:rPr lang="en-US" sz="1600" b="1" dirty="0">
                <a:solidFill>
                  <a:schemeClr val="accent1">
                    <a:lumMod val="75000"/>
                  </a:schemeClr>
                </a:solidFill>
                <a:latin typeface="Verdana" pitchFamily="34" charset="0"/>
                <a:ea typeface="Verdana" pitchFamily="34" charset="0"/>
                <a:cs typeface="Verdana" pitchFamily="34" charset="0"/>
              </a:rPr>
              <a:t>A decoder in the EU control system translates instructions.</a:t>
            </a:r>
          </a:p>
        </p:txBody>
      </p:sp>
      <p:sp>
        <p:nvSpPr>
          <p:cNvPr id="15" name="Line Callout 2 14"/>
          <p:cNvSpPr/>
          <p:nvPr/>
        </p:nvSpPr>
        <p:spPr>
          <a:xfrm>
            <a:off x="89848" y="2674393"/>
            <a:ext cx="2500952" cy="653648"/>
          </a:xfrm>
          <a:prstGeom prst="borderCallout2">
            <a:avLst>
              <a:gd name="adj1" fmla="val 47981"/>
              <a:gd name="adj2" fmla="val 99405"/>
              <a:gd name="adj3" fmla="val 47981"/>
              <a:gd name="adj4" fmla="val 117030"/>
              <a:gd name="adj5" fmla="val 196143"/>
              <a:gd name="adj6" fmla="val 169403"/>
            </a:avLst>
          </a:prstGeom>
          <a:solidFill>
            <a:srgbClr val="FF99FF"/>
          </a:solid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Verdana" pitchFamily="34" charset="0"/>
                <a:ea typeface="Verdana" pitchFamily="34" charset="0"/>
                <a:cs typeface="Verdana" pitchFamily="34" charset="0"/>
              </a:rPr>
              <a:t>16-bit ALU for performing arithmetic and logic operation</a:t>
            </a:r>
          </a:p>
        </p:txBody>
      </p:sp>
      <p:sp>
        <p:nvSpPr>
          <p:cNvPr id="16" name="Line Callout 2 15"/>
          <p:cNvSpPr/>
          <p:nvPr/>
        </p:nvSpPr>
        <p:spPr>
          <a:xfrm>
            <a:off x="107476" y="3810000"/>
            <a:ext cx="2864324" cy="2362200"/>
          </a:xfrm>
          <a:prstGeom prst="borderCallout2">
            <a:avLst>
              <a:gd name="adj1" fmla="val 47981"/>
              <a:gd name="adj2" fmla="val 99405"/>
              <a:gd name="adj3" fmla="val 47981"/>
              <a:gd name="adj4" fmla="val 117030"/>
              <a:gd name="adj5" fmla="val -65066"/>
              <a:gd name="adj6" fmla="val 150283"/>
            </a:avLst>
          </a:prstGeom>
          <a:solidFill>
            <a:srgbClr val="FF99FF"/>
          </a:solid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Verdana" pitchFamily="34" charset="0"/>
                <a:ea typeface="Verdana" pitchFamily="34" charset="0"/>
                <a:cs typeface="Verdana" pitchFamily="34" charset="0"/>
              </a:rPr>
              <a:t>Four general purpose registers(AX, BX, CX, DX);</a:t>
            </a:r>
          </a:p>
          <a:p>
            <a:endParaRPr lang="en-US" sz="1400" b="1" dirty="0">
              <a:solidFill>
                <a:schemeClr val="tx1"/>
              </a:solidFill>
              <a:latin typeface="Verdana" pitchFamily="34" charset="0"/>
              <a:ea typeface="Verdana" pitchFamily="34" charset="0"/>
              <a:cs typeface="Verdana" pitchFamily="34" charset="0"/>
            </a:endParaRPr>
          </a:p>
          <a:p>
            <a:r>
              <a:rPr lang="en-US" sz="1400" b="1" dirty="0">
                <a:solidFill>
                  <a:schemeClr val="tx1"/>
                </a:solidFill>
                <a:latin typeface="Verdana" pitchFamily="34" charset="0"/>
                <a:ea typeface="Verdana" pitchFamily="34" charset="0"/>
                <a:cs typeface="Verdana" pitchFamily="34" charset="0"/>
              </a:rPr>
              <a:t>Pointer registers (Stack Pointer, Base Pointer); </a:t>
            </a:r>
          </a:p>
          <a:p>
            <a:endParaRPr lang="en-US" sz="1400" b="1" dirty="0">
              <a:solidFill>
                <a:schemeClr val="tx1"/>
              </a:solidFill>
              <a:latin typeface="Verdana" pitchFamily="34" charset="0"/>
              <a:ea typeface="Verdana" pitchFamily="34" charset="0"/>
              <a:cs typeface="Verdana" pitchFamily="34" charset="0"/>
            </a:endParaRPr>
          </a:p>
          <a:p>
            <a:r>
              <a:rPr lang="en-US" sz="1400" b="1" dirty="0">
                <a:solidFill>
                  <a:schemeClr val="tx1"/>
                </a:solidFill>
                <a:latin typeface="Verdana" pitchFamily="34" charset="0"/>
                <a:ea typeface="Verdana" pitchFamily="34" charset="0"/>
                <a:cs typeface="Verdana" pitchFamily="34" charset="0"/>
              </a:rPr>
              <a:t>and                     </a:t>
            </a:r>
          </a:p>
          <a:p>
            <a:endParaRPr lang="en-US" sz="1400" b="1" dirty="0">
              <a:solidFill>
                <a:schemeClr val="tx1"/>
              </a:solidFill>
              <a:latin typeface="Verdana" pitchFamily="34" charset="0"/>
              <a:ea typeface="Verdana" pitchFamily="34" charset="0"/>
              <a:cs typeface="Verdana" pitchFamily="34" charset="0"/>
            </a:endParaRPr>
          </a:p>
          <a:p>
            <a:r>
              <a:rPr lang="en-US" sz="1400" b="1" dirty="0">
                <a:solidFill>
                  <a:schemeClr val="tx1"/>
                </a:solidFill>
                <a:latin typeface="Verdana" pitchFamily="34" charset="0"/>
                <a:ea typeface="Verdana" pitchFamily="34" charset="0"/>
                <a:cs typeface="Verdana" pitchFamily="34" charset="0"/>
              </a:rPr>
              <a:t>Index registers (Source Index, Destination Index) each of 16-bits </a:t>
            </a:r>
          </a:p>
        </p:txBody>
      </p:sp>
    </p:spTree>
    <p:extLst>
      <p:ext uri="{BB962C8B-B14F-4D97-AF65-F5344CB8AC3E}">
        <p14:creationId xmlns:p14="http://schemas.microsoft.com/office/powerpoint/2010/main" val="1169891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1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31</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14" name="TextBox 13"/>
          <p:cNvSpPr txBox="1"/>
          <p:nvPr/>
        </p:nvSpPr>
        <p:spPr>
          <a:xfrm>
            <a:off x="646437" y="1106269"/>
            <a:ext cx="1410963" cy="646331"/>
          </a:xfrm>
          <a:prstGeom prst="rect">
            <a:avLst/>
          </a:prstGeom>
          <a:noFill/>
        </p:spPr>
        <p:txBody>
          <a:bodyPr wrap="none" rtlCol="0">
            <a:spAutoFit/>
          </a:bodyPr>
          <a:lstStyle/>
          <a:p>
            <a:pPr algn="r"/>
            <a:r>
              <a:rPr lang="en-US" b="1" dirty="0">
                <a:latin typeface="Verdana" pitchFamily="34" charset="0"/>
                <a:ea typeface="Verdana" pitchFamily="34" charset="0"/>
                <a:cs typeface="Verdana" pitchFamily="34" charset="0"/>
              </a:rPr>
              <a:t>EU</a:t>
            </a:r>
          </a:p>
          <a:p>
            <a:pPr algn="r"/>
            <a:r>
              <a:rPr lang="en-US" b="1" dirty="0">
                <a:latin typeface="Verdana" pitchFamily="34" charset="0"/>
                <a:ea typeface="Verdana" pitchFamily="34" charset="0"/>
                <a:cs typeface="Verdana" pitchFamily="34" charset="0"/>
              </a:rPr>
              <a:t>Registers</a:t>
            </a:r>
          </a:p>
        </p:txBody>
      </p:sp>
      <p:cxnSp>
        <p:nvCxnSpPr>
          <p:cNvPr id="15" name="Straight Connector 14"/>
          <p:cNvCxnSpPr/>
          <p:nvPr/>
        </p:nvCxnSpPr>
        <p:spPr>
          <a:xfrm>
            <a:off x="2033889" y="1219200"/>
            <a:ext cx="0" cy="29730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500952" y="1110258"/>
            <a:ext cx="6396256" cy="3231654"/>
          </a:xfrm>
          <a:prstGeom prst="rect">
            <a:avLst/>
          </a:prstGeom>
          <a:noFill/>
        </p:spPr>
        <p:txBody>
          <a:bodyPr wrap="square" rtlCol="0">
            <a:spAutoFit/>
          </a:bodyPr>
          <a:lstStyle/>
          <a:p>
            <a:r>
              <a:rPr lang="en-US" b="1" dirty="0">
                <a:solidFill>
                  <a:srgbClr val="0070C0"/>
                </a:solidFill>
                <a:latin typeface="Verdana" pitchFamily="34" charset="0"/>
                <a:ea typeface="Verdana" pitchFamily="34" charset="0"/>
                <a:cs typeface="Verdana" pitchFamily="34" charset="0"/>
              </a:rPr>
              <a:t>Accumulator Register (AX)</a:t>
            </a:r>
          </a:p>
          <a:p>
            <a:endParaRPr lang="en-US" b="1" dirty="0">
              <a:solidFill>
                <a:srgbClr val="0070C0"/>
              </a:solidFill>
              <a:latin typeface="Verdana" pitchFamily="34" charset="0"/>
              <a:ea typeface="Verdana" pitchFamily="34" charset="0"/>
              <a:cs typeface="Verdana" pitchFamily="34" charset="0"/>
            </a:endParaRPr>
          </a:p>
          <a:p>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Consists of two 8-bit registers AL and AH, which can be combined together and used as a 16-bit register AX. </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AL in this case contains the low order byte of the word, and AH contains the high-order byte. </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The I/O instructions use the AX or AL for inputting / outputting 16 or 8 bit data to or from an I/O port.</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Multiplication and Division instructions also use the AX or AL.</a:t>
            </a:r>
          </a:p>
        </p:txBody>
      </p:sp>
      <p:sp>
        <p:nvSpPr>
          <p:cNvPr id="10" name="TextBox 9"/>
          <p:cNvSpPr txBox="1"/>
          <p:nvPr/>
        </p:nvSpPr>
        <p:spPr>
          <a:xfrm>
            <a:off x="5239608" y="152400"/>
            <a:ext cx="3657600" cy="369332"/>
          </a:xfrm>
          <a:prstGeom prst="rect">
            <a:avLst/>
          </a:prstGeom>
          <a:noFill/>
        </p:spPr>
        <p:txBody>
          <a:bodyPr wrap="square" rtlCol="0">
            <a:spAutoFit/>
          </a:bodyPr>
          <a:lstStyle/>
          <a:p>
            <a:pPr algn="ctr"/>
            <a:r>
              <a:rPr lang="en-US" b="1" dirty="0">
                <a:latin typeface="Verdana" pitchFamily="34" charset="0"/>
                <a:ea typeface="Verdana" pitchFamily="34" charset="0"/>
                <a:cs typeface="Verdana" pitchFamily="34" charset="0"/>
              </a:rPr>
              <a:t>Execution Unit (EU)</a:t>
            </a:r>
          </a:p>
        </p:txBody>
      </p:sp>
      <p:pic>
        <p:nvPicPr>
          <p:cNvPr id="11" name="Picture 2" descr="C:\Users\AMMU\Desktop\Microprocessor\Register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65" y="4300483"/>
            <a:ext cx="2601036" cy="2557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43471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32</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14" name="TextBox 13"/>
          <p:cNvSpPr txBox="1"/>
          <p:nvPr/>
        </p:nvSpPr>
        <p:spPr>
          <a:xfrm>
            <a:off x="646437" y="1106269"/>
            <a:ext cx="1410963" cy="646331"/>
          </a:xfrm>
          <a:prstGeom prst="rect">
            <a:avLst/>
          </a:prstGeom>
          <a:noFill/>
        </p:spPr>
        <p:txBody>
          <a:bodyPr wrap="none" rtlCol="0">
            <a:spAutoFit/>
          </a:bodyPr>
          <a:lstStyle/>
          <a:p>
            <a:pPr algn="r"/>
            <a:r>
              <a:rPr lang="en-US" b="1" dirty="0">
                <a:latin typeface="Verdana" pitchFamily="34" charset="0"/>
                <a:ea typeface="Verdana" pitchFamily="34" charset="0"/>
                <a:cs typeface="Verdana" pitchFamily="34" charset="0"/>
              </a:rPr>
              <a:t>EU</a:t>
            </a:r>
          </a:p>
          <a:p>
            <a:pPr algn="r"/>
            <a:r>
              <a:rPr lang="en-US" b="1" dirty="0">
                <a:latin typeface="Verdana" pitchFamily="34" charset="0"/>
                <a:ea typeface="Verdana" pitchFamily="34" charset="0"/>
                <a:cs typeface="Verdana" pitchFamily="34" charset="0"/>
              </a:rPr>
              <a:t>Registers</a:t>
            </a:r>
          </a:p>
        </p:txBody>
      </p:sp>
      <p:cxnSp>
        <p:nvCxnSpPr>
          <p:cNvPr id="15" name="Straight Connector 14"/>
          <p:cNvCxnSpPr/>
          <p:nvPr/>
        </p:nvCxnSpPr>
        <p:spPr>
          <a:xfrm>
            <a:off x="2033889" y="1219200"/>
            <a:ext cx="0" cy="29730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500952" y="1110258"/>
            <a:ext cx="6396256" cy="3231654"/>
          </a:xfrm>
          <a:prstGeom prst="rect">
            <a:avLst/>
          </a:prstGeom>
          <a:noFill/>
        </p:spPr>
        <p:txBody>
          <a:bodyPr wrap="square" rtlCol="0">
            <a:spAutoFit/>
          </a:bodyPr>
          <a:lstStyle/>
          <a:p>
            <a:r>
              <a:rPr lang="en-US" b="1" dirty="0">
                <a:solidFill>
                  <a:srgbClr val="0070C0"/>
                </a:solidFill>
                <a:latin typeface="Verdana" pitchFamily="34" charset="0"/>
                <a:ea typeface="Verdana" pitchFamily="34" charset="0"/>
                <a:cs typeface="Verdana" pitchFamily="34" charset="0"/>
              </a:rPr>
              <a:t>Base Register (BX)</a:t>
            </a:r>
          </a:p>
          <a:p>
            <a:endParaRPr lang="en-US" b="1" dirty="0">
              <a:solidFill>
                <a:srgbClr val="0070C0"/>
              </a:solidFill>
              <a:latin typeface="Verdana" pitchFamily="34" charset="0"/>
              <a:ea typeface="Verdana" pitchFamily="34" charset="0"/>
              <a:cs typeface="Verdana" pitchFamily="34" charset="0"/>
            </a:endParaRPr>
          </a:p>
          <a:p>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Consists of two 8-bit registers BL and BH, which can be combined together and used as a 16-bit register BX. </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BL in this case contains the low-order byte of the word, and BH contains the high-order byte. </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This is the only general purpose register whose contents can be used for addressing the 8086 memory.</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All memory references utilizing this register content for addressing use DS as the default segment register.</a:t>
            </a:r>
          </a:p>
        </p:txBody>
      </p:sp>
      <p:sp>
        <p:nvSpPr>
          <p:cNvPr id="11" name="TextBox 10"/>
          <p:cNvSpPr txBox="1"/>
          <p:nvPr/>
        </p:nvSpPr>
        <p:spPr>
          <a:xfrm>
            <a:off x="5239608" y="152400"/>
            <a:ext cx="3657600" cy="369332"/>
          </a:xfrm>
          <a:prstGeom prst="rect">
            <a:avLst/>
          </a:prstGeom>
          <a:noFill/>
        </p:spPr>
        <p:txBody>
          <a:bodyPr wrap="square" rtlCol="0">
            <a:spAutoFit/>
          </a:bodyPr>
          <a:lstStyle/>
          <a:p>
            <a:pPr algn="ctr"/>
            <a:r>
              <a:rPr lang="en-US" b="1" dirty="0">
                <a:latin typeface="Verdana" pitchFamily="34" charset="0"/>
                <a:ea typeface="Verdana" pitchFamily="34" charset="0"/>
                <a:cs typeface="Verdana" pitchFamily="34" charset="0"/>
              </a:rPr>
              <a:t>Execution Unit (EU)</a:t>
            </a:r>
          </a:p>
        </p:txBody>
      </p:sp>
      <p:pic>
        <p:nvPicPr>
          <p:cNvPr id="12" name="Picture 2" descr="C:\Users\AMMU\Desktop\Microprocessor\Register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65" y="4300483"/>
            <a:ext cx="2601036" cy="2557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18425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33</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14" name="TextBox 13"/>
          <p:cNvSpPr txBox="1"/>
          <p:nvPr/>
        </p:nvSpPr>
        <p:spPr>
          <a:xfrm>
            <a:off x="646437" y="1106269"/>
            <a:ext cx="1410963" cy="646331"/>
          </a:xfrm>
          <a:prstGeom prst="rect">
            <a:avLst/>
          </a:prstGeom>
          <a:noFill/>
        </p:spPr>
        <p:txBody>
          <a:bodyPr wrap="none" rtlCol="0">
            <a:spAutoFit/>
          </a:bodyPr>
          <a:lstStyle/>
          <a:p>
            <a:pPr algn="r"/>
            <a:r>
              <a:rPr lang="en-US" b="1" dirty="0">
                <a:latin typeface="Verdana" pitchFamily="34" charset="0"/>
                <a:ea typeface="Verdana" pitchFamily="34" charset="0"/>
                <a:cs typeface="Verdana" pitchFamily="34" charset="0"/>
              </a:rPr>
              <a:t>EU</a:t>
            </a:r>
          </a:p>
          <a:p>
            <a:pPr algn="r"/>
            <a:r>
              <a:rPr lang="en-US" b="1" dirty="0">
                <a:latin typeface="Verdana" pitchFamily="34" charset="0"/>
                <a:ea typeface="Verdana" pitchFamily="34" charset="0"/>
                <a:cs typeface="Verdana" pitchFamily="34" charset="0"/>
              </a:rPr>
              <a:t>Registers</a:t>
            </a:r>
          </a:p>
        </p:txBody>
      </p:sp>
      <p:cxnSp>
        <p:nvCxnSpPr>
          <p:cNvPr id="15" name="Straight Connector 14"/>
          <p:cNvCxnSpPr/>
          <p:nvPr/>
        </p:nvCxnSpPr>
        <p:spPr>
          <a:xfrm>
            <a:off x="2033889" y="1219200"/>
            <a:ext cx="0" cy="29730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500952" y="1110258"/>
            <a:ext cx="6396256" cy="2369880"/>
          </a:xfrm>
          <a:prstGeom prst="rect">
            <a:avLst/>
          </a:prstGeom>
          <a:noFill/>
        </p:spPr>
        <p:txBody>
          <a:bodyPr wrap="square" rtlCol="0">
            <a:spAutoFit/>
          </a:bodyPr>
          <a:lstStyle/>
          <a:p>
            <a:r>
              <a:rPr lang="en-US" b="1" dirty="0">
                <a:solidFill>
                  <a:srgbClr val="0070C0"/>
                </a:solidFill>
                <a:latin typeface="Verdana" pitchFamily="34" charset="0"/>
                <a:ea typeface="Verdana" pitchFamily="34" charset="0"/>
                <a:cs typeface="Verdana" pitchFamily="34" charset="0"/>
              </a:rPr>
              <a:t>Counter Register (CX)</a:t>
            </a:r>
          </a:p>
          <a:p>
            <a:endParaRPr lang="en-US" b="1" dirty="0">
              <a:solidFill>
                <a:srgbClr val="0070C0"/>
              </a:solidFill>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Consists of two 8-bit registers CL and CH, which can be combined together and used as a 16-bit register CX. </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When combined, CL register contains the low order byte of the word, and CH contains the high-order byte. </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Instructions such as </a:t>
            </a:r>
            <a:r>
              <a:rPr lang="en-US" sz="1400" b="1" dirty="0">
                <a:solidFill>
                  <a:schemeClr val="accent2">
                    <a:lumMod val="75000"/>
                  </a:schemeClr>
                </a:solidFill>
                <a:latin typeface="Verdana" pitchFamily="34" charset="0"/>
                <a:ea typeface="Verdana" pitchFamily="34" charset="0"/>
                <a:cs typeface="Verdana" pitchFamily="34" charset="0"/>
              </a:rPr>
              <a:t>SHIFT</a:t>
            </a:r>
            <a:r>
              <a:rPr lang="en-US" sz="1400" b="1" dirty="0">
                <a:latin typeface="Verdana" pitchFamily="34" charset="0"/>
                <a:ea typeface="Verdana" pitchFamily="34" charset="0"/>
                <a:cs typeface="Verdana" pitchFamily="34" charset="0"/>
              </a:rPr>
              <a:t>, </a:t>
            </a:r>
            <a:r>
              <a:rPr lang="en-US" sz="1400" b="1" dirty="0">
                <a:solidFill>
                  <a:schemeClr val="accent2">
                    <a:lumMod val="75000"/>
                  </a:schemeClr>
                </a:solidFill>
                <a:latin typeface="Verdana" pitchFamily="34" charset="0"/>
                <a:ea typeface="Verdana" pitchFamily="34" charset="0"/>
                <a:cs typeface="Verdana" pitchFamily="34" charset="0"/>
              </a:rPr>
              <a:t>ROTATE</a:t>
            </a:r>
            <a:r>
              <a:rPr lang="en-US" sz="1400" b="1" dirty="0">
                <a:latin typeface="Verdana" pitchFamily="34" charset="0"/>
                <a:ea typeface="Verdana" pitchFamily="34" charset="0"/>
                <a:cs typeface="Verdana" pitchFamily="34" charset="0"/>
              </a:rPr>
              <a:t> and </a:t>
            </a:r>
            <a:r>
              <a:rPr lang="en-US" sz="1400" b="1" dirty="0">
                <a:solidFill>
                  <a:schemeClr val="accent2">
                    <a:lumMod val="75000"/>
                  </a:schemeClr>
                </a:solidFill>
                <a:latin typeface="Verdana" pitchFamily="34" charset="0"/>
                <a:ea typeface="Verdana" pitchFamily="34" charset="0"/>
                <a:cs typeface="Verdana" pitchFamily="34" charset="0"/>
              </a:rPr>
              <a:t>LOOP</a:t>
            </a:r>
            <a:r>
              <a:rPr lang="en-US" sz="1400" b="1" dirty="0">
                <a:latin typeface="Verdana" pitchFamily="34" charset="0"/>
                <a:ea typeface="Verdana" pitchFamily="34" charset="0"/>
                <a:cs typeface="Verdana" pitchFamily="34" charset="0"/>
              </a:rPr>
              <a:t> use the contents of CX as a counter.</a:t>
            </a:r>
          </a:p>
        </p:txBody>
      </p:sp>
      <p:sp>
        <p:nvSpPr>
          <p:cNvPr id="11" name="TextBox 10"/>
          <p:cNvSpPr txBox="1"/>
          <p:nvPr/>
        </p:nvSpPr>
        <p:spPr>
          <a:xfrm>
            <a:off x="5239608" y="152400"/>
            <a:ext cx="3657600" cy="369332"/>
          </a:xfrm>
          <a:prstGeom prst="rect">
            <a:avLst/>
          </a:prstGeom>
          <a:noFill/>
        </p:spPr>
        <p:txBody>
          <a:bodyPr wrap="square" rtlCol="0">
            <a:spAutoFit/>
          </a:bodyPr>
          <a:lstStyle/>
          <a:p>
            <a:pPr algn="ctr"/>
            <a:r>
              <a:rPr lang="en-US" b="1" dirty="0">
                <a:latin typeface="Verdana" pitchFamily="34" charset="0"/>
                <a:ea typeface="Verdana" pitchFamily="34" charset="0"/>
                <a:cs typeface="Verdana" pitchFamily="34" charset="0"/>
              </a:rPr>
              <a:t>Execution Unit (EU)</a:t>
            </a:r>
          </a:p>
        </p:txBody>
      </p:sp>
      <p:pic>
        <p:nvPicPr>
          <p:cNvPr id="12" name="Picture 2" descr="C:\Users\AMMU\Desktop\Microprocessor\Register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65" y="4300483"/>
            <a:ext cx="2601036" cy="255751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3110552" y="4177605"/>
            <a:ext cx="5786656" cy="1815882"/>
          </a:xfrm>
          <a:prstGeom prst="rect">
            <a:avLst/>
          </a:prstGeom>
          <a:noFill/>
        </p:spPr>
        <p:txBody>
          <a:bodyPr wrap="square" rtlCol="0">
            <a:spAutoFit/>
          </a:bodyPr>
          <a:lstStyle/>
          <a:p>
            <a:pPr algn="just"/>
            <a:r>
              <a:rPr lang="en-US" sz="1400" b="1" dirty="0">
                <a:solidFill>
                  <a:srgbClr val="FF0000"/>
                </a:solidFill>
                <a:latin typeface="Verdana" pitchFamily="34" charset="0"/>
                <a:ea typeface="Verdana" pitchFamily="34" charset="0"/>
                <a:cs typeface="Verdana" pitchFamily="34" charset="0"/>
              </a:rPr>
              <a:t>Example:</a:t>
            </a: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The instruction </a:t>
            </a:r>
            <a:r>
              <a:rPr lang="en-US" sz="1400" b="1" dirty="0">
                <a:solidFill>
                  <a:srgbClr val="C00000"/>
                </a:solidFill>
                <a:latin typeface="Verdana" pitchFamily="34" charset="0"/>
                <a:ea typeface="Verdana" pitchFamily="34" charset="0"/>
                <a:cs typeface="Verdana" pitchFamily="34" charset="0"/>
              </a:rPr>
              <a:t>LOOP START</a:t>
            </a:r>
            <a:r>
              <a:rPr lang="en-US" sz="1400" b="1" dirty="0">
                <a:latin typeface="Verdana" pitchFamily="34" charset="0"/>
                <a:ea typeface="Verdana" pitchFamily="34" charset="0"/>
                <a:cs typeface="Verdana" pitchFamily="34" charset="0"/>
              </a:rPr>
              <a:t> automatically decrements CX by 1 without affecting flags and will check if [CX] = 0. </a:t>
            </a:r>
          </a:p>
          <a:p>
            <a:pPr algn="just"/>
            <a:endParaRPr lang="en-US" sz="1400" b="1" dirty="0">
              <a:latin typeface="Verdana" pitchFamily="34" charset="0"/>
              <a:ea typeface="Verdana" pitchFamily="34" charset="0"/>
              <a:cs typeface="Verdana" pitchFamily="34" charset="0"/>
            </a:endParaRPr>
          </a:p>
          <a:p>
            <a:pPr algn="just"/>
            <a:r>
              <a:rPr lang="en-US" sz="1400" b="1" dirty="0">
                <a:latin typeface="Verdana" pitchFamily="34" charset="0"/>
                <a:ea typeface="Verdana" pitchFamily="34" charset="0"/>
                <a:cs typeface="Verdana" pitchFamily="34" charset="0"/>
              </a:rPr>
              <a:t>If it is  zero, 8086 executes the next instruction; otherwise the 8086 branches to the label START.</a:t>
            </a:r>
          </a:p>
        </p:txBody>
      </p:sp>
    </p:spTree>
    <p:extLst>
      <p:ext uri="{BB962C8B-B14F-4D97-AF65-F5344CB8AC3E}">
        <p14:creationId xmlns:p14="http://schemas.microsoft.com/office/powerpoint/2010/main" val="9373833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34</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14" name="TextBox 13"/>
          <p:cNvSpPr txBox="1"/>
          <p:nvPr/>
        </p:nvSpPr>
        <p:spPr>
          <a:xfrm>
            <a:off x="646437" y="1106269"/>
            <a:ext cx="1410963" cy="646331"/>
          </a:xfrm>
          <a:prstGeom prst="rect">
            <a:avLst/>
          </a:prstGeom>
          <a:noFill/>
        </p:spPr>
        <p:txBody>
          <a:bodyPr wrap="none" rtlCol="0">
            <a:spAutoFit/>
          </a:bodyPr>
          <a:lstStyle/>
          <a:p>
            <a:pPr algn="r"/>
            <a:r>
              <a:rPr lang="en-US" b="1" dirty="0">
                <a:latin typeface="Verdana" pitchFamily="34" charset="0"/>
                <a:ea typeface="Verdana" pitchFamily="34" charset="0"/>
                <a:cs typeface="Verdana" pitchFamily="34" charset="0"/>
              </a:rPr>
              <a:t>EU</a:t>
            </a:r>
          </a:p>
          <a:p>
            <a:pPr algn="r"/>
            <a:r>
              <a:rPr lang="en-US" b="1" dirty="0">
                <a:latin typeface="Verdana" pitchFamily="34" charset="0"/>
                <a:ea typeface="Verdana" pitchFamily="34" charset="0"/>
                <a:cs typeface="Verdana" pitchFamily="34" charset="0"/>
              </a:rPr>
              <a:t>Registers</a:t>
            </a:r>
          </a:p>
        </p:txBody>
      </p:sp>
      <p:cxnSp>
        <p:nvCxnSpPr>
          <p:cNvPr id="15" name="Straight Connector 14"/>
          <p:cNvCxnSpPr/>
          <p:nvPr/>
        </p:nvCxnSpPr>
        <p:spPr>
          <a:xfrm>
            <a:off x="2033889" y="1219200"/>
            <a:ext cx="0" cy="29730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p:cNvSpPr txBox="1"/>
              <p:nvPr/>
            </p:nvSpPr>
            <p:spPr>
              <a:xfrm>
                <a:off x="2500952" y="1110258"/>
                <a:ext cx="6396256" cy="2585323"/>
              </a:xfrm>
              <a:prstGeom prst="rect">
                <a:avLst/>
              </a:prstGeom>
              <a:noFill/>
            </p:spPr>
            <p:txBody>
              <a:bodyPr wrap="square" rtlCol="0">
                <a:spAutoFit/>
              </a:bodyPr>
              <a:lstStyle/>
              <a:p>
                <a:r>
                  <a:rPr lang="en-US" b="1" dirty="0">
                    <a:solidFill>
                      <a:srgbClr val="0070C0"/>
                    </a:solidFill>
                    <a:latin typeface="Verdana" pitchFamily="34" charset="0"/>
                    <a:ea typeface="Verdana" pitchFamily="34" charset="0"/>
                    <a:cs typeface="Verdana" pitchFamily="34" charset="0"/>
                  </a:rPr>
                  <a:t>Data Register (DX)</a:t>
                </a:r>
              </a:p>
              <a:p>
                <a:endParaRPr lang="en-US" b="1" dirty="0">
                  <a:solidFill>
                    <a:srgbClr val="0070C0"/>
                  </a:solidFill>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Consists of two 8-bit registers DL and DH, which can be combined together and used as a 16-bit register DX. </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When combined, DL register contains the low order byte of the word, and DH contains the high-order byte. </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Used to hold the high 16-bit result (data) in 16 X 16 multiplication or the high 16-bit dividend (data) before a 32 </a:t>
                </a:r>
                <a14:m>
                  <m:oMath xmlns:m="http://schemas.openxmlformats.org/officeDocument/2006/math">
                    <m:r>
                      <a:rPr lang="en-US" sz="1400" b="1" i="1" smtClean="0">
                        <a:latin typeface="Cambria Math"/>
                        <a:ea typeface="Cambria Math"/>
                        <a:cs typeface="Verdana" pitchFamily="34" charset="0"/>
                      </a:rPr>
                      <m:t>÷</m:t>
                    </m:r>
                  </m:oMath>
                </a14:m>
                <a:r>
                  <a:rPr lang="en-US" sz="1400" b="1" dirty="0">
                    <a:latin typeface="Verdana" pitchFamily="34" charset="0"/>
                    <a:ea typeface="Verdana" pitchFamily="34" charset="0"/>
                    <a:cs typeface="Verdana" pitchFamily="34" charset="0"/>
                  </a:rPr>
                  <a:t> 16 division and the 16-bit reminder after division. </a:t>
                </a:r>
              </a:p>
            </p:txBody>
          </p:sp>
        </mc:Choice>
        <mc:Fallback xmlns="">
          <p:sp>
            <p:nvSpPr>
              <p:cNvPr id="6" name="TextBox 5"/>
              <p:cNvSpPr txBox="1">
                <a:spLocks noRot="1" noChangeAspect="1" noMove="1" noResize="1" noEditPoints="1" noAdjustHandles="1" noChangeArrowheads="1" noChangeShapeType="1" noTextEdit="1"/>
              </p:cNvSpPr>
              <p:nvPr/>
            </p:nvSpPr>
            <p:spPr>
              <a:xfrm>
                <a:off x="2500952" y="1110258"/>
                <a:ext cx="6396256" cy="2585323"/>
              </a:xfrm>
              <a:prstGeom prst="rect">
                <a:avLst/>
              </a:prstGeom>
              <a:blipFill>
                <a:blip r:embed="rId4"/>
                <a:stretch>
                  <a:fillRect l="-762" t="-1179" r="-190" b="-1651"/>
                </a:stretch>
              </a:blipFill>
            </p:spPr>
            <p:txBody>
              <a:bodyPr/>
              <a:lstStyle/>
              <a:p>
                <a:r>
                  <a:rPr lang="en-IN">
                    <a:noFill/>
                  </a:rPr>
                  <a:t> </a:t>
                </a:r>
              </a:p>
            </p:txBody>
          </p:sp>
        </mc:Fallback>
      </mc:AlternateContent>
      <p:sp>
        <p:nvSpPr>
          <p:cNvPr id="11" name="TextBox 10"/>
          <p:cNvSpPr txBox="1"/>
          <p:nvPr/>
        </p:nvSpPr>
        <p:spPr>
          <a:xfrm>
            <a:off x="5239608" y="152400"/>
            <a:ext cx="3657600" cy="369332"/>
          </a:xfrm>
          <a:prstGeom prst="rect">
            <a:avLst/>
          </a:prstGeom>
          <a:noFill/>
        </p:spPr>
        <p:txBody>
          <a:bodyPr wrap="square" rtlCol="0">
            <a:spAutoFit/>
          </a:bodyPr>
          <a:lstStyle/>
          <a:p>
            <a:pPr algn="ctr"/>
            <a:r>
              <a:rPr lang="en-US" b="1" dirty="0">
                <a:latin typeface="Verdana" pitchFamily="34" charset="0"/>
                <a:ea typeface="Verdana" pitchFamily="34" charset="0"/>
                <a:cs typeface="Verdana" pitchFamily="34" charset="0"/>
              </a:rPr>
              <a:t>Execution Unit (EU)</a:t>
            </a:r>
          </a:p>
        </p:txBody>
      </p:sp>
      <p:pic>
        <p:nvPicPr>
          <p:cNvPr id="10" name="Picture 2" descr="C:\Users\AMMU\Desktop\Microprocessor\Registers.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965" y="4300483"/>
            <a:ext cx="2601036" cy="2557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06528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35</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14" name="TextBox 13"/>
          <p:cNvSpPr txBox="1"/>
          <p:nvPr/>
        </p:nvSpPr>
        <p:spPr>
          <a:xfrm>
            <a:off x="646437" y="1106269"/>
            <a:ext cx="1410963" cy="646331"/>
          </a:xfrm>
          <a:prstGeom prst="rect">
            <a:avLst/>
          </a:prstGeom>
          <a:noFill/>
        </p:spPr>
        <p:txBody>
          <a:bodyPr wrap="none" rtlCol="0">
            <a:spAutoFit/>
          </a:bodyPr>
          <a:lstStyle/>
          <a:p>
            <a:pPr algn="r"/>
            <a:r>
              <a:rPr lang="en-US" b="1" dirty="0">
                <a:latin typeface="Verdana" pitchFamily="34" charset="0"/>
                <a:ea typeface="Verdana" pitchFamily="34" charset="0"/>
                <a:cs typeface="Verdana" pitchFamily="34" charset="0"/>
              </a:rPr>
              <a:t>EU</a:t>
            </a:r>
          </a:p>
          <a:p>
            <a:pPr algn="r"/>
            <a:r>
              <a:rPr lang="en-US" b="1" dirty="0">
                <a:latin typeface="Verdana" pitchFamily="34" charset="0"/>
                <a:ea typeface="Verdana" pitchFamily="34" charset="0"/>
                <a:cs typeface="Verdana" pitchFamily="34" charset="0"/>
              </a:rPr>
              <a:t>Registers</a:t>
            </a:r>
          </a:p>
        </p:txBody>
      </p:sp>
      <p:cxnSp>
        <p:nvCxnSpPr>
          <p:cNvPr id="15" name="Straight Connector 14"/>
          <p:cNvCxnSpPr/>
          <p:nvPr/>
        </p:nvCxnSpPr>
        <p:spPr>
          <a:xfrm>
            <a:off x="2033889" y="1219200"/>
            <a:ext cx="0" cy="29730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500952" y="1110258"/>
            <a:ext cx="6396256" cy="3231654"/>
          </a:xfrm>
          <a:prstGeom prst="rect">
            <a:avLst/>
          </a:prstGeom>
          <a:noFill/>
        </p:spPr>
        <p:txBody>
          <a:bodyPr wrap="square" rtlCol="0">
            <a:spAutoFit/>
          </a:bodyPr>
          <a:lstStyle/>
          <a:p>
            <a:r>
              <a:rPr lang="en-US" b="1" dirty="0">
                <a:solidFill>
                  <a:srgbClr val="0070C0"/>
                </a:solidFill>
                <a:latin typeface="Verdana" pitchFamily="34" charset="0"/>
                <a:ea typeface="Verdana" pitchFamily="34" charset="0"/>
                <a:cs typeface="Verdana" pitchFamily="34" charset="0"/>
              </a:rPr>
              <a:t>Stack Pointer (SP) and Base Pointer (BP)</a:t>
            </a:r>
          </a:p>
          <a:p>
            <a:endParaRPr lang="en-US" b="1" dirty="0">
              <a:solidFill>
                <a:srgbClr val="0070C0"/>
              </a:solidFill>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SP and BP are used to access data in the stack segment.</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SP is used as an offset from the current SS during execution of instructions that involve the stack segment in the external memory.</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SP contents are automatically updated (incremented/ decremented) due to execution of a POP or PUSH instruction.</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BP contains an offset address in the current SS, which is used by instructions utilizing the based addressing mode.</a:t>
            </a:r>
          </a:p>
        </p:txBody>
      </p:sp>
      <p:sp>
        <p:nvSpPr>
          <p:cNvPr id="11" name="TextBox 10"/>
          <p:cNvSpPr txBox="1"/>
          <p:nvPr/>
        </p:nvSpPr>
        <p:spPr>
          <a:xfrm>
            <a:off x="5239608" y="152400"/>
            <a:ext cx="3657600" cy="369332"/>
          </a:xfrm>
          <a:prstGeom prst="rect">
            <a:avLst/>
          </a:prstGeom>
          <a:noFill/>
        </p:spPr>
        <p:txBody>
          <a:bodyPr wrap="square" rtlCol="0">
            <a:spAutoFit/>
          </a:bodyPr>
          <a:lstStyle/>
          <a:p>
            <a:pPr algn="ctr"/>
            <a:r>
              <a:rPr lang="en-US" b="1" dirty="0">
                <a:latin typeface="Verdana" pitchFamily="34" charset="0"/>
                <a:ea typeface="Verdana" pitchFamily="34" charset="0"/>
                <a:cs typeface="Verdana" pitchFamily="34" charset="0"/>
              </a:rPr>
              <a:t>Execution Unit (EU)</a:t>
            </a:r>
          </a:p>
        </p:txBody>
      </p:sp>
      <p:pic>
        <p:nvPicPr>
          <p:cNvPr id="12" name="Picture 2" descr="C:\Users\AMMU\Desktop\Microprocessor\Register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65" y="4300483"/>
            <a:ext cx="2601036" cy="2557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56638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36</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14" name="TextBox 13"/>
          <p:cNvSpPr txBox="1"/>
          <p:nvPr/>
        </p:nvSpPr>
        <p:spPr>
          <a:xfrm>
            <a:off x="646437" y="1106269"/>
            <a:ext cx="1410963" cy="646331"/>
          </a:xfrm>
          <a:prstGeom prst="rect">
            <a:avLst/>
          </a:prstGeom>
          <a:noFill/>
        </p:spPr>
        <p:txBody>
          <a:bodyPr wrap="none" rtlCol="0">
            <a:spAutoFit/>
          </a:bodyPr>
          <a:lstStyle/>
          <a:p>
            <a:pPr algn="r"/>
            <a:r>
              <a:rPr lang="en-US" b="1" dirty="0">
                <a:latin typeface="Verdana" pitchFamily="34" charset="0"/>
                <a:ea typeface="Verdana" pitchFamily="34" charset="0"/>
                <a:cs typeface="Verdana" pitchFamily="34" charset="0"/>
              </a:rPr>
              <a:t>EU</a:t>
            </a:r>
          </a:p>
          <a:p>
            <a:pPr algn="r"/>
            <a:r>
              <a:rPr lang="en-US" b="1" dirty="0">
                <a:latin typeface="Verdana" pitchFamily="34" charset="0"/>
                <a:ea typeface="Verdana" pitchFamily="34" charset="0"/>
                <a:cs typeface="Verdana" pitchFamily="34" charset="0"/>
              </a:rPr>
              <a:t>Registers</a:t>
            </a:r>
          </a:p>
        </p:txBody>
      </p:sp>
      <p:cxnSp>
        <p:nvCxnSpPr>
          <p:cNvPr id="15" name="Straight Connector 14"/>
          <p:cNvCxnSpPr/>
          <p:nvPr/>
        </p:nvCxnSpPr>
        <p:spPr>
          <a:xfrm>
            <a:off x="2033889" y="1219200"/>
            <a:ext cx="0" cy="29730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500952" y="1110258"/>
            <a:ext cx="6396256" cy="1938992"/>
          </a:xfrm>
          <a:prstGeom prst="rect">
            <a:avLst/>
          </a:prstGeom>
          <a:noFill/>
        </p:spPr>
        <p:txBody>
          <a:bodyPr wrap="square" rtlCol="0">
            <a:spAutoFit/>
          </a:bodyPr>
          <a:lstStyle/>
          <a:p>
            <a:r>
              <a:rPr lang="en-US" b="1" dirty="0">
                <a:solidFill>
                  <a:srgbClr val="0070C0"/>
                </a:solidFill>
                <a:latin typeface="Verdana" pitchFamily="34" charset="0"/>
                <a:ea typeface="Verdana" pitchFamily="34" charset="0"/>
                <a:cs typeface="Verdana" pitchFamily="34" charset="0"/>
              </a:rPr>
              <a:t>Source Index (SI) and Destination Index (DI)</a:t>
            </a:r>
          </a:p>
          <a:p>
            <a:endParaRPr lang="en-US" b="1" dirty="0">
              <a:solidFill>
                <a:srgbClr val="0070C0"/>
              </a:solidFill>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Used in indexed addressing.</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Instructions that process data strings use the SI and DI registers together with DS and ES respectively  in order to distinguish between the source and destination addresses.</a:t>
            </a:r>
          </a:p>
          <a:p>
            <a:pPr algn="just"/>
            <a:endParaRPr lang="en-US" sz="1400" b="1" dirty="0">
              <a:latin typeface="Verdana" pitchFamily="34" charset="0"/>
              <a:ea typeface="Verdana" pitchFamily="34" charset="0"/>
              <a:cs typeface="Verdana" pitchFamily="34" charset="0"/>
            </a:endParaRPr>
          </a:p>
        </p:txBody>
      </p:sp>
      <p:sp>
        <p:nvSpPr>
          <p:cNvPr id="11" name="TextBox 10"/>
          <p:cNvSpPr txBox="1"/>
          <p:nvPr/>
        </p:nvSpPr>
        <p:spPr>
          <a:xfrm>
            <a:off x="5239608" y="152400"/>
            <a:ext cx="3657600" cy="369332"/>
          </a:xfrm>
          <a:prstGeom prst="rect">
            <a:avLst/>
          </a:prstGeom>
          <a:noFill/>
        </p:spPr>
        <p:txBody>
          <a:bodyPr wrap="square" rtlCol="0">
            <a:spAutoFit/>
          </a:bodyPr>
          <a:lstStyle/>
          <a:p>
            <a:pPr algn="ctr"/>
            <a:r>
              <a:rPr lang="en-US" b="1" dirty="0">
                <a:latin typeface="Verdana" pitchFamily="34" charset="0"/>
                <a:ea typeface="Verdana" pitchFamily="34" charset="0"/>
                <a:cs typeface="Verdana" pitchFamily="34" charset="0"/>
              </a:rPr>
              <a:t>Execution Unit (EU)</a:t>
            </a:r>
          </a:p>
        </p:txBody>
      </p:sp>
      <p:pic>
        <p:nvPicPr>
          <p:cNvPr id="12" name="Picture 2" descr="C:\Users\AMMU\Desktop\Microprocessor\Register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65" y="4300483"/>
            <a:ext cx="2601036" cy="2557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16073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37</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14" name="TextBox 13"/>
          <p:cNvSpPr txBox="1"/>
          <p:nvPr/>
        </p:nvSpPr>
        <p:spPr>
          <a:xfrm>
            <a:off x="646437" y="1106269"/>
            <a:ext cx="1410963" cy="646331"/>
          </a:xfrm>
          <a:prstGeom prst="rect">
            <a:avLst/>
          </a:prstGeom>
          <a:noFill/>
        </p:spPr>
        <p:txBody>
          <a:bodyPr wrap="none" rtlCol="0">
            <a:spAutoFit/>
          </a:bodyPr>
          <a:lstStyle/>
          <a:p>
            <a:pPr algn="r"/>
            <a:r>
              <a:rPr lang="en-US" b="1" dirty="0">
                <a:latin typeface="Verdana" pitchFamily="34" charset="0"/>
                <a:ea typeface="Verdana" pitchFamily="34" charset="0"/>
                <a:cs typeface="Verdana" pitchFamily="34" charset="0"/>
              </a:rPr>
              <a:t>EU</a:t>
            </a:r>
          </a:p>
          <a:p>
            <a:pPr algn="r"/>
            <a:r>
              <a:rPr lang="en-US" b="1" dirty="0">
                <a:latin typeface="Verdana" pitchFamily="34" charset="0"/>
                <a:ea typeface="Verdana" pitchFamily="34" charset="0"/>
                <a:cs typeface="Verdana" pitchFamily="34" charset="0"/>
              </a:rPr>
              <a:t>Registers</a:t>
            </a:r>
          </a:p>
        </p:txBody>
      </p:sp>
      <p:cxnSp>
        <p:nvCxnSpPr>
          <p:cNvPr id="15" name="Straight Connector 14"/>
          <p:cNvCxnSpPr/>
          <p:nvPr/>
        </p:nvCxnSpPr>
        <p:spPr>
          <a:xfrm>
            <a:off x="2033889" y="1219200"/>
            <a:ext cx="0" cy="297309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500952" y="1110258"/>
            <a:ext cx="6396256" cy="1938992"/>
          </a:xfrm>
          <a:prstGeom prst="rect">
            <a:avLst/>
          </a:prstGeom>
          <a:noFill/>
        </p:spPr>
        <p:txBody>
          <a:bodyPr wrap="square" rtlCol="0">
            <a:spAutoFit/>
          </a:bodyPr>
          <a:lstStyle/>
          <a:p>
            <a:r>
              <a:rPr lang="en-US" b="1" dirty="0">
                <a:solidFill>
                  <a:srgbClr val="0070C0"/>
                </a:solidFill>
                <a:latin typeface="Verdana" pitchFamily="34" charset="0"/>
                <a:ea typeface="Verdana" pitchFamily="34" charset="0"/>
                <a:cs typeface="Verdana" pitchFamily="34" charset="0"/>
              </a:rPr>
              <a:t>Source Index (SI) and Destination Index (DI)</a:t>
            </a:r>
          </a:p>
          <a:p>
            <a:endParaRPr lang="en-US" b="1" dirty="0">
              <a:solidFill>
                <a:srgbClr val="0070C0"/>
              </a:solidFill>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Used in indexed addressing.</a:t>
            </a:r>
          </a:p>
          <a:p>
            <a:pPr marL="285750" indent="-285750" algn="just">
              <a:buBlip>
                <a:blip r:embed="rId3"/>
              </a:buBlip>
            </a:pPr>
            <a:endParaRPr lang="en-US" sz="1400" b="1" dirty="0">
              <a:latin typeface="Verdana" pitchFamily="34" charset="0"/>
              <a:ea typeface="Verdana" pitchFamily="34" charset="0"/>
              <a:cs typeface="Verdana" pitchFamily="34" charset="0"/>
            </a:endParaRPr>
          </a:p>
          <a:p>
            <a:pPr marL="285750" indent="-285750" algn="just">
              <a:buBlip>
                <a:blip r:embed="rId3"/>
              </a:buBlip>
            </a:pPr>
            <a:r>
              <a:rPr lang="en-US" sz="1400" b="1" dirty="0">
                <a:latin typeface="Verdana" pitchFamily="34" charset="0"/>
                <a:ea typeface="Verdana" pitchFamily="34" charset="0"/>
                <a:cs typeface="Verdana" pitchFamily="34" charset="0"/>
              </a:rPr>
              <a:t>Instructions that process data strings use the SI and DI registers together with DS and ES respectively  in order to distinguish between the source and destination addresses.</a:t>
            </a:r>
          </a:p>
          <a:p>
            <a:pPr algn="just"/>
            <a:endParaRPr lang="en-US" sz="1400" b="1" dirty="0">
              <a:latin typeface="Verdana" pitchFamily="34" charset="0"/>
              <a:ea typeface="Verdana" pitchFamily="34" charset="0"/>
              <a:cs typeface="Verdana" pitchFamily="34" charset="0"/>
            </a:endParaRPr>
          </a:p>
        </p:txBody>
      </p:sp>
      <p:sp>
        <p:nvSpPr>
          <p:cNvPr id="11" name="TextBox 10"/>
          <p:cNvSpPr txBox="1"/>
          <p:nvPr/>
        </p:nvSpPr>
        <p:spPr>
          <a:xfrm>
            <a:off x="5239608" y="152400"/>
            <a:ext cx="3657600" cy="369332"/>
          </a:xfrm>
          <a:prstGeom prst="rect">
            <a:avLst/>
          </a:prstGeom>
          <a:noFill/>
        </p:spPr>
        <p:txBody>
          <a:bodyPr wrap="square" rtlCol="0">
            <a:spAutoFit/>
          </a:bodyPr>
          <a:lstStyle/>
          <a:p>
            <a:pPr algn="ctr"/>
            <a:r>
              <a:rPr lang="en-US" b="1" dirty="0">
                <a:latin typeface="Verdana" pitchFamily="34" charset="0"/>
                <a:ea typeface="Verdana" pitchFamily="34" charset="0"/>
                <a:cs typeface="Verdana" pitchFamily="34" charset="0"/>
              </a:rPr>
              <a:t>Execution Unit (EU)</a:t>
            </a:r>
          </a:p>
        </p:txBody>
      </p:sp>
      <p:pic>
        <p:nvPicPr>
          <p:cNvPr id="12" name="Picture 2" descr="C:\Users\AMMU\Desktop\Microprocessor\Register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65" y="4300483"/>
            <a:ext cx="2601036" cy="2557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16016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Problems</a:t>
            </a:r>
            <a:endParaRPr lang="en-IN" dirty="0"/>
          </a:p>
        </p:txBody>
      </p:sp>
      <p:sp>
        <p:nvSpPr>
          <p:cNvPr id="3" name="Content Placeholder 2"/>
          <p:cNvSpPr>
            <a:spLocks noGrp="1"/>
          </p:cNvSpPr>
          <p:nvPr>
            <p:ph idx="1"/>
          </p:nvPr>
        </p:nvSpPr>
        <p:spPr>
          <a:xfrm>
            <a:off x="457200" y="1600200"/>
            <a:ext cx="8229600" cy="4525963"/>
          </a:xfrm>
        </p:spPr>
        <p:txBody>
          <a:bodyPr>
            <a:normAutofit fontScale="92500" lnSpcReduction="20000"/>
          </a:bodyPr>
          <a:lstStyle/>
          <a:p>
            <a:pPr>
              <a:buFont typeface="Wingdings" pitchFamily="2" charset="2"/>
              <a:buChar char="Ø"/>
            </a:pPr>
            <a:r>
              <a:rPr lang="en-US" dirty="0"/>
              <a:t>Calculate the physical address for the following</a:t>
            </a:r>
          </a:p>
          <a:p>
            <a:pPr marL="514350" indent="-514350">
              <a:buFont typeface="+mj-lt"/>
              <a:buAutoNum type="arabicPeriod"/>
            </a:pPr>
            <a:r>
              <a:rPr lang="en-US" dirty="0">
                <a:solidFill>
                  <a:schemeClr val="accent6"/>
                </a:solidFill>
              </a:rPr>
              <a:t>Segment address-1005H</a:t>
            </a:r>
            <a:r>
              <a:rPr lang="en-US" dirty="0"/>
              <a:t>,</a:t>
            </a:r>
            <a:r>
              <a:rPr lang="en-US" dirty="0">
                <a:solidFill>
                  <a:srgbClr val="FF0000"/>
                </a:solidFill>
              </a:rPr>
              <a:t>Offset address-5555H</a:t>
            </a:r>
          </a:p>
          <a:p>
            <a:pPr marL="514350" indent="-514350">
              <a:buFont typeface="+mj-lt"/>
              <a:buAutoNum type="arabicPeriod"/>
            </a:pPr>
            <a:r>
              <a:rPr lang="en-US" dirty="0">
                <a:solidFill>
                  <a:schemeClr val="accent6"/>
                </a:solidFill>
              </a:rPr>
              <a:t>Segment address-1234H</a:t>
            </a:r>
            <a:r>
              <a:rPr lang="en-US" dirty="0"/>
              <a:t>,</a:t>
            </a:r>
            <a:r>
              <a:rPr lang="en-US" dirty="0">
                <a:solidFill>
                  <a:srgbClr val="FF0000"/>
                </a:solidFill>
              </a:rPr>
              <a:t>Offset address-5678H</a:t>
            </a:r>
          </a:p>
          <a:p>
            <a:pPr>
              <a:buFont typeface="Wingdings" pitchFamily="2" charset="2"/>
              <a:buChar char="Ø"/>
            </a:pPr>
            <a:r>
              <a:rPr lang="en-US" dirty="0"/>
              <a:t>What is the status of flag register after the execution of the following </a:t>
            </a:r>
          </a:p>
          <a:p>
            <a:pPr marL="514350" indent="-514350">
              <a:buFont typeface="+mj-lt"/>
              <a:buAutoNum type="arabicPeriod"/>
            </a:pPr>
            <a:r>
              <a:rPr lang="en-US" dirty="0">
                <a:solidFill>
                  <a:srgbClr val="00B0F0"/>
                </a:solidFill>
              </a:rPr>
              <a:t>ADD 5CH,45H</a:t>
            </a:r>
          </a:p>
          <a:p>
            <a:pPr marL="514350" indent="-514350">
              <a:buFont typeface="+mj-lt"/>
              <a:buAutoNum type="arabicPeriod"/>
            </a:pPr>
            <a:r>
              <a:rPr lang="en-US" dirty="0">
                <a:solidFill>
                  <a:srgbClr val="00B0F0"/>
                </a:solidFill>
              </a:rPr>
              <a:t>ADD BBH,5CH</a:t>
            </a:r>
          </a:p>
          <a:p>
            <a:pPr marL="0" indent="0">
              <a:buNone/>
            </a:pPr>
            <a:endParaRPr lang="en-IN" dirty="0"/>
          </a:p>
        </p:txBody>
      </p:sp>
    </p:spTree>
    <p:extLst>
      <p:ext uri="{BB962C8B-B14F-4D97-AF65-F5344CB8AC3E}">
        <p14:creationId xmlns:p14="http://schemas.microsoft.com/office/powerpoint/2010/main" val="853703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US" dirty="0">
              <a:solidFill>
                <a:srgbClr val="002060"/>
              </a:solidFill>
            </a:endParaRPr>
          </a:p>
        </p:txBody>
      </p:sp>
      <p:sp>
        <p:nvSpPr>
          <p:cNvPr id="48" name="Slide Number Placeholder 47"/>
          <p:cNvSpPr>
            <a:spLocks noGrp="1"/>
          </p:cNvSpPr>
          <p:nvPr>
            <p:ph type="sldNum" sz="quarter" idx="12"/>
          </p:nvPr>
        </p:nvSpPr>
        <p:spPr/>
        <p:txBody>
          <a:bodyPr/>
          <a:lstStyle/>
          <a:p>
            <a:fld id="{85E6815B-E59C-4D87-B1F6-ECBDD22AF1DC}" type="slidenum">
              <a:rPr lang="en-US" smtClean="0"/>
              <a:pPr/>
              <a:t>39</a:t>
            </a:fld>
            <a:endParaRPr lang="en-US" dirty="0"/>
          </a:p>
        </p:txBody>
      </p:sp>
      <p:sp>
        <p:nvSpPr>
          <p:cNvPr id="3" name="TextBox 2"/>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5" name="TextBox 4"/>
          <p:cNvSpPr txBox="1"/>
          <p:nvPr/>
        </p:nvSpPr>
        <p:spPr>
          <a:xfrm>
            <a:off x="228600" y="1002268"/>
            <a:ext cx="1895071" cy="369332"/>
          </a:xfrm>
          <a:prstGeom prst="rect">
            <a:avLst/>
          </a:prstGeom>
          <a:noFill/>
        </p:spPr>
        <p:txBody>
          <a:bodyPr wrap="none" rtlCol="0">
            <a:spAutoFit/>
          </a:bodyPr>
          <a:lstStyle/>
          <a:p>
            <a:r>
              <a:rPr lang="en-US" b="1" dirty="0">
                <a:solidFill>
                  <a:srgbClr val="0070C0"/>
                </a:solidFill>
                <a:latin typeface="Verdana" pitchFamily="34" charset="0"/>
                <a:ea typeface="Verdana" pitchFamily="34" charset="0"/>
                <a:cs typeface="Verdana" pitchFamily="34" charset="0"/>
              </a:rPr>
              <a:t>Flag Register</a:t>
            </a:r>
          </a:p>
        </p:txBody>
      </p:sp>
      <p:graphicFrame>
        <p:nvGraphicFramePr>
          <p:cNvPr id="10" name="Table 9"/>
          <p:cNvGraphicFramePr>
            <a:graphicFrameLocks noGrp="1"/>
          </p:cNvGraphicFramePr>
          <p:nvPr/>
        </p:nvGraphicFramePr>
        <p:xfrm>
          <a:off x="609600" y="3505200"/>
          <a:ext cx="7696198" cy="83820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gridCol w="457200">
                  <a:extLst>
                    <a:ext uri="{9D8B030D-6E8A-4147-A177-3AD203B41FA5}">
                      <a16:colId xmlns:a16="http://schemas.microsoft.com/office/drawing/2014/main" val="20008"/>
                    </a:ext>
                  </a:extLst>
                </a:gridCol>
                <a:gridCol w="457200">
                  <a:extLst>
                    <a:ext uri="{9D8B030D-6E8A-4147-A177-3AD203B41FA5}">
                      <a16:colId xmlns:a16="http://schemas.microsoft.com/office/drawing/2014/main" val="20009"/>
                    </a:ext>
                  </a:extLst>
                </a:gridCol>
                <a:gridCol w="457200">
                  <a:extLst>
                    <a:ext uri="{9D8B030D-6E8A-4147-A177-3AD203B41FA5}">
                      <a16:colId xmlns:a16="http://schemas.microsoft.com/office/drawing/2014/main" val="20010"/>
                    </a:ext>
                  </a:extLst>
                </a:gridCol>
                <a:gridCol w="533400">
                  <a:extLst>
                    <a:ext uri="{9D8B030D-6E8A-4147-A177-3AD203B41FA5}">
                      <a16:colId xmlns:a16="http://schemas.microsoft.com/office/drawing/2014/main" val="20011"/>
                    </a:ext>
                  </a:extLst>
                </a:gridCol>
                <a:gridCol w="457200">
                  <a:extLst>
                    <a:ext uri="{9D8B030D-6E8A-4147-A177-3AD203B41FA5}">
                      <a16:colId xmlns:a16="http://schemas.microsoft.com/office/drawing/2014/main" val="20012"/>
                    </a:ext>
                  </a:extLst>
                </a:gridCol>
                <a:gridCol w="457200">
                  <a:extLst>
                    <a:ext uri="{9D8B030D-6E8A-4147-A177-3AD203B41FA5}">
                      <a16:colId xmlns:a16="http://schemas.microsoft.com/office/drawing/2014/main" val="20013"/>
                    </a:ext>
                  </a:extLst>
                </a:gridCol>
                <a:gridCol w="457200">
                  <a:extLst>
                    <a:ext uri="{9D8B030D-6E8A-4147-A177-3AD203B41FA5}">
                      <a16:colId xmlns:a16="http://schemas.microsoft.com/office/drawing/2014/main" val="20014"/>
                    </a:ext>
                  </a:extLst>
                </a:gridCol>
                <a:gridCol w="457198">
                  <a:extLst>
                    <a:ext uri="{9D8B030D-6E8A-4147-A177-3AD203B41FA5}">
                      <a16:colId xmlns:a16="http://schemas.microsoft.com/office/drawing/2014/main" val="20015"/>
                    </a:ext>
                  </a:extLst>
                </a:gridCol>
              </a:tblGrid>
              <a:tr h="295835">
                <a:tc>
                  <a:txBody>
                    <a:bodyPr/>
                    <a:lstStyle/>
                    <a:p>
                      <a:pPr marL="0" marR="0" algn="ctr">
                        <a:spcBef>
                          <a:spcPts val="0"/>
                        </a:spcBef>
                        <a:spcAft>
                          <a:spcPts val="0"/>
                        </a:spcAft>
                      </a:pPr>
                      <a:r>
                        <a:rPr lang="en-US" sz="1300" b="0" dirty="0">
                          <a:effectLst/>
                          <a:latin typeface="Verdana" pitchFamily="34" charset="0"/>
                          <a:ea typeface="Verdana" pitchFamily="34" charset="0"/>
                          <a:cs typeface="Verdana" pitchFamily="34" charset="0"/>
                        </a:rPr>
                        <a:t>15</a:t>
                      </a:r>
                    </a:p>
                  </a:txBody>
                  <a:tcPr marL="68580" marR="68580" marT="0" marB="0">
                    <a:solidFill>
                      <a:schemeClr val="bg1"/>
                    </a:solidFill>
                  </a:tcPr>
                </a:tc>
                <a:tc>
                  <a:txBody>
                    <a:bodyPr/>
                    <a:lstStyle/>
                    <a:p>
                      <a:pPr marL="0" marR="0" algn="ctr">
                        <a:spcBef>
                          <a:spcPts val="0"/>
                        </a:spcBef>
                        <a:spcAft>
                          <a:spcPts val="0"/>
                        </a:spcAft>
                      </a:pPr>
                      <a:r>
                        <a:rPr lang="en-US" sz="1300" b="0" dirty="0">
                          <a:effectLst/>
                          <a:latin typeface="Verdana" pitchFamily="34" charset="0"/>
                          <a:ea typeface="Verdana" pitchFamily="34" charset="0"/>
                          <a:cs typeface="Verdana" pitchFamily="34" charset="0"/>
                        </a:rPr>
                        <a:t>14</a:t>
                      </a:r>
                    </a:p>
                  </a:txBody>
                  <a:tcPr marL="68580" marR="68580" marT="0" marB="0">
                    <a:solidFill>
                      <a:schemeClr val="bg1"/>
                    </a:solidFill>
                  </a:tcPr>
                </a:tc>
                <a:tc>
                  <a:txBody>
                    <a:bodyPr/>
                    <a:lstStyle/>
                    <a:p>
                      <a:pPr marL="0" marR="0" algn="ctr">
                        <a:spcBef>
                          <a:spcPts val="0"/>
                        </a:spcBef>
                        <a:spcAft>
                          <a:spcPts val="0"/>
                        </a:spcAft>
                      </a:pPr>
                      <a:r>
                        <a:rPr lang="en-US" sz="1300" b="0" dirty="0">
                          <a:effectLst/>
                          <a:latin typeface="Verdana" pitchFamily="34" charset="0"/>
                          <a:ea typeface="Verdana" pitchFamily="34" charset="0"/>
                          <a:cs typeface="Verdana" pitchFamily="34" charset="0"/>
                        </a:rPr>
                        <a:t>13</a:t>
                      </a:r>
                    </a:p>
                  </a:txBody>
                  <a:tcPr marL="68580" marR="68580" marT="0" marB="0">
                    <a:solidFill>
                      <a:schemeClr val="bg1"/>
                    </a:solidFill>
                  </a:tcPr>
                </a:tc>
                <a:tc>
                  <a:txBody>
                    <a:bodyPr/>
                    <a:lstStyle/>
                    <a:p>
                      <a:pPr marL="0" marR="0" algn="ctr">
                        <a:spcBef>
                          <a:spcPts val="0"/>
                        </a:spcBef>
                        <a:spcAft>
                          <a:spcPts val="0"/>
                        </a:spcAft>
                      </a:pPr>
                      <a:r>
                        <a:rPr lang="en-US" sz="1300" b="0" dirty="0">
                          <a:effectLst/>
                          <a:latin typeface="Verdana" pitchFamily="34" charset="0"/>
                          <a:ea typeface="Verdana" pitchFamily="34" charset="0"/>
                          <a:cs typeface="Verdana" pitchFamily="34" charset="0"/>
                        </a:rPr>
                        <a:t>12</a:t>
                      </a:r>
                    </a:p>
                  </a:txBody>
                  <a:tcPr marL="68580" marR="68580" marT="0" marB="0">
                    <a:solidFill>
                      <a:schemeClr val="bg1"/>
                    </a:solidFill>
                  </a:tcPr>
                </a:tc>
                <a:tc>
                  <a:txBody>
                    <a:bodyPr/>
                    <a:lstStyle/>
                    <a:p>
                      <a:pPr marL="0" marR="0" algn="ctr">
                        <a:spcBef>
                          <a:spcPts val="0"/>
                        </a:spcBef>
                        <a:spcAft>
                          <a:spcPts val="0"/>
                        </a:spcAft>
                      </a:pPr>
                      <a:r>
                        <a:rPr lang="en-US" sz="1300" b="0" dirty="0">
                          <a:effectLst/>
                          <a:latin typeface="Verdana" pitchFamily="34" charset="0"/>
                          <a:ea typeface="Verdana" pitchFamily="34" charset="0"/>
                          <a:cs typeface="Verdana" pitchFamily="34" charset="0"/>
                        </a:rPr>
                        <a:t>11</a:t>
                      </a:r>
                    </a:p>
                  </a:txBody>
                  <a:tcPr marL="68580" marR="68580" marT="0" marB="0">
                    <a:solidFill>
                      <a:schemeClr val="bg1"/>
                    </a:solidFill>
                  </a:tcPr>
                </a:tc>
                <a:tc>
                  <a:txBody>
                    <a:bodyPr/>
                    <a:lstStyle/>
                    <a:p>
                      <a:pPr marL="0" marR="0" algn="ctr">
                        <a:spcBef>
                          <a:spcPts val="0"/>
                        </a:spcBef>
                        <a:spcAft>
                          <a:spcPts val="0"/>
                        </a:spcAft>
                      </a:pPr>
                      <a:r>
                        <a:rPr lang="en-US" sz="1300" b="0" dirty="0">
                          <a:effectLst/>
                          <a:latin typeface="Verdana" pitchFamily="34" charset="0"/>
                          <a:ea typeface="Verdana" pitchFamily="34" charset="0"/>
                          <a:cs typeface="Verdana" pitchFamily="34" charset="0"/>
                        </a:rPr>
                        <a:t>10</a:t>
                      </a:r>
                    </a:p>
                  </a:txBody>
                  <a:tcPr marL="68580" marR="68580" marT="0" marB="0">
                    <a:solidFill>
                      <a:schemeClr val="bg1"/>
                    </a:solidFill>
                  </a:tcPr>
                </a:tc>
                <a:tc>
                  <a:txBody>
                    <a:bodyPr/>
                    <a:lstStyle/>
                    <a:p>
                      <a:pPr marL="0" marR="0" algn="ctr">
                        <a:spcBef>
                          <a:spcPts val="0"/>
                        </a:spcBef>
                        <a:spcAft>
                          <a:spcPts val="0"/>
                        </a:spcAft>
                      </a:pPr>
                      <a:r>
                        <a:rPr lang="en-US" sz="1300" b="0" dirty="0">
                          <a:effectLst/>
                          <a:latin typeface="Verdana" pitchFamily="34" charset="0"/>
                          <a:ea typeface="Verdana" pitchFamily="34" charset="0"/>
                          <a:cs typeface="Verdana" pitchFamily="34" charset="0"/>
                        </a:rPr>
                        <a:t>9</a:t>
                      </a:r>
                    </a:p>
                  </a:txBody>
                  <a:tcPr marL="68580" marR="68580" marT="0" marB="0">
                    <a:solidFill>
                      <a:schemeClr val="bg1"/>
                    </a:solidFill>
                  </a:tcPr>
                </a:tc>
                <a:tc>
                  <a:txBody>
                    <a:bodyPr/>
                    <a:lstStyle/>
                    <a:p>
                      <a:pPr marL="0" marR="0" algn="ctr">
                        <a:spcBef>
                          <a:spcPts val="0"/>
                        </a:spcBef>
                        <a:spcAft>
                          <a:spcPts val="0"/>
                        </a:spcAft>
                      </a:pPr>
                      <a:r>
                        <a:rPr lang="en-US" sz="1300" b="0" dirty="0">
                          <a:effectLst/>
                          <a:latin typeface="Verdana" pitchFamily="34" charset="0"/>
                          <a:ea typeface="Verdana" pitchFamily="34" charset="0"/>
                          <a:cs typeface="Verdana" pitchFamily="34" charset="0"/>
                        </a:rPr>
                        <a:t>8</a:t>
                      </a:r>
                    </a:p>
                  </a:txBody>
                  <a:tcPr marL="68580" marR="68580" marT="0" marB="0">
                    <a:solidFill>
                      <a:schemeClr val="bg1"/>
                    </a:solidFill>
                  </a:tcPr>
                </a:tc>
                <a:tc>
                  <a:txBody>
                    <a:bodyPr/>
                    <a:lstStyle/>
                    <a:p>
                      <a:pPr marL="0" marR="0" algn="ctr">
                        <a:spcBef>
                          <a:spcPts val="0"/>
                        </a:spcBef>
                        <a:spcAft>
                          <a:spcPts val="0"/>
                        </a:spcAft>
                      </a:pPr>
                      <a:r>
                        <a:rPr lang="en-US" sz="1300" b="0" dirty="0">
                          <a:effectLst/>
                          <a:latin typeface="Verdana" pitchFamily="34" charset="0"/>
                          <a:ea typeface="Verdana" pitchFamily="34" charset="0"/>
                          <a:cs typeface="Verdana" pitchFamily="34" charset="0"/>
                        </a:rPr>
                        <a:t>7</a:t>
                      </a:r>
                    </a:p>
                  </a:txBody>
                  <a:tcPr marL="68580" marR="68580" marT="0" marB="0">
                    <a:solidFill>
                      <a:schemeClr val="bg1"/>
                    </a:solidFill>
                  </a:tcPr>
                </a:tc>
                <a:tc>
                  <a:txBody>
                    <a:bodyPr/>
                    <a:lstStyle/>
                    <a:p>
                      <a:pPr marL="0" marR="0" algn="ctr">
                        <a:spcBef>
                          <a:spcPts val="0"/>
                        </a:spcBef>
                        <a:spcAft>
                          <a:spcPts val="0"/>
                        </a:spcAft>
                      </a:pPr>
                      <a:r>
                        <a:rPr lang="en-US" sz="1300" b="0" dirty="0">
                          <a:effectLst/>
                          <a:latin typeface="Verdana" pitchFamily="34" charset="0"/>
                          <a:ea typeface="Verdana" pitchFamily="34" charset="0"/>
                          <a:cs typeface="Verdana" pitchFamily="34" charset="0"/>
                        </a:rPr>
                        <a:t>6</a:t>
                      </a:r>
                    </a:p>
                  </a:txBody>
                  <a:tcPr marL="68580" marR="68580" marT="0" marB="0">
                    <a:solidFill>
                      <a:schemeClr val="bg1"/>
                    </a:solidFill>
                  </a:tcPr>
                </a:tc>
                <a:tc>
                  <a:txBody>
                    <a:bodyPr/>
                    <a:lstStyle/>
                    <a:p>
                      <a:pPr marL="0" marR="0" algn="ctr">
                        <a:spcBef>
                          <a:spcPts val="0"/>
                        </a:spcBef>
                        <a:spcAft>
                          <a:spcPts val="0"/>
                        </a:spcAft>
                      </a:pPr>
                      <a:r>
                        <a:rPr lang="en-US" sz="1300" b="0" dirty="0">
                          <a:effectLst/>
                          <a:latin typeface="Verdana" pitchFamily="34" charset="0"/>
                          <a:ea typeface="Verdana" pitchFamily="34" charset="0"/>
                          <a:cs typeface="Verdana" pitchFamily="34" charset="0"/>
                        </a:rPr>
                        <a:t>5</a:t>
                      </a:r>
                    </a:p>
                  </a:txBody>
                  <a:tcPr marL="68580" marR="68580" marT="0" marB="0">
                    <a:solidFill>
                      <a:schemeClr val="bg1"/>
                    </a:solidFill>
                  </a:tcPr>
                </a:tc>
                <a:tc>
                  <a:txBody>
                    <a:bodyPr/>
                    <a:lstStyle/>
                    <a:p>
                      <a:pPr marL="0" marR="0" algn="ctr">
                        <a:spcBef>
                          <a:spcPts val="0"/>
                        </a:spcBef>
                        <a:spcAft>
                          <a:spcPts val="0"/>
                        </a:spcAft>
                      </a:pPr>
                      <a:r>
                        <a:rPr lang="en-US" sz="1300" b="0" dirty="0">
                          <a:effectLst/>
                          <a:latin typeface="Verdana" pitchFamily="34" charset="0"/>
                          <a:ea typeface="Verdana" pitchFamily="34" charset="0"/>
                          <a:cs typeface="Verdana" pitchFamily="34" charset="0"/>
                        </a:rPr>
                        <a:t>4</a:t>
                      </a:r>
                    </a:p>
                  </a:txBody>
                  <a:tcPr marL="68580" marR="68580" marT="0" marB="0">
                    <a:solidFill>
                      <a:schemeClr val="bg1"/>
                    </a:solidFill>
                  </a:tcPr>
                </a:tc>
                <a:tc>
                  <a:txBody>
                    <a:bodyPr/>
                    <a:lstStyle/>
                    <a:p>
                      <a:pPr marL="0" marR="0" algn="ctr">
                        <a:spcBef>
                          <a:spcPts val="0"/>
                        </a:spcBef>
                        <a:spcAft>
                          <a:spcPts val="0"/>
                        </a:spcAft>
                      </a:pPr>
                      <a:r>
                        <a:rPr lang="en-US" sz="1300" b="0" dirty="0">
                          <a:effectLst/>
                          <a:latin typeface="Verdana" pitchFamily="34" charset="0"/>
                          <a:ea typeface="Verdana" pitchFamily="34" charset="0"/>
                          <a:cs typeface="Verdana" pitchFamily="34" charset="0"/>
                        </a:rPr>
                        <a:t>3</a:t>
                      </a:r>
                    </a:p>
                  </a:txBody>
                  <a:tcPr marL="68580" marR="68580" marT="0" marB="0">
                    <a:solidFill>
                      <a:schemeClr val="bg1"/>
                    </a:solidFill>
                  </a:tcPr>
                </a:tc>
                <a:tc>
                  <a:txBody>
                    <a:bodyPr/>
                    <a:lstStyle/>
                    <a:p>
                      <a:pPr marL="0" marR="0" algn="ctr">
                        <a:spcBef>
                          <a:spcPts val="0"/>
                        </a:spcBef>
                        <a:spcAft>
                          <a:spcPts val="0"/>
                        </a:spcAft>
                      </a:pPr>
                      <a:r>
                        <a:rPr lang="en-US" sz="1300" b="0" dirty="0">
                          <a:effectLst/>
                          <a:latin typeface="Verdana" pitchFamily="34" charset="0"/>
                          <a:ea typeface="Verdana" pitchFamily="34" charset="0"/>
                          <a:cs typeface="Verdana" pitchFamily="34" charset="0"/>
                        </a:rPr>
                        <a:t>2</a:t>
                      </a:r>
                    </a:p>
                  </a:txBody>
                  <a:tcPr marL="68580" marR="68580" marT="0" marB="0">
                    <a:solidFill>
                      <a:schemeClr val="bg1"/>
                    </a:solidFill>
                  </a:tcPr>
                </a:tc>
                <a:tc>
                  <a:txBody>
                    <a:bodyPr/>
                    <a:lstStyle/>
                    <a:p>
                      <a:pPr marL="0" marR="0" algn="ctr">
                        <a:spcBef>
                          <a:spcPts val="0"/>
                        </a:spcBef>
                        <a:spcAft>
                          <a:spcPts val="0"/>
                        </a:spcAft>
                      </a:pPr>
                      <a:r>
                        <a:rPr lang="en-US" sz="1300" b="0" dirty="0">
                          <a:effectLst/>
                          <a:latin typeface="Verdana" pitchFamily="34" charset="0"/>
                          <a:ea typeface="Verdana" pitchFamily="34" charset="0"/>
                          <a:cs typeface="Verdana" pitchFamily="34" charset="0"/>
                        </a:rPr>
                        <a:t>1</a:t>
                      </a:r>
                    </a:p>
                  </a:txBody>
                  <a:tcPr marL="68580" marR="68580" marT="0" marB="0">
                    <a:solidFill>
                      <a:schemeClr val="bg1"/>
                    </a:solidFill>
                  </a:tcPr>
                </a:tc>
                <a:tc>
                  <a:txBody>
                    <a:bodyPr/>
                    <a:lstStyle/>
                    <a:p>
                      <a:pPr marL="0" marR="0" algn="ctr">
                        <a:spcBef>
                          <a:spcPts val="0"/>
                        </a:spcBef>
                        <a:spcAft>
                          <a:spcPts val="0"/>
                        </a:spcAft>
                      </a:pPr>
                      <a:r>
                        <a:rPr lang="en-US" sz="1300" b="0" dirty="0">
                          <a:effectLst/>
                          <a:latin typeface="Verdana" pitchFamily="34" charset="0"/>
                          <a:ea typeface="Verdana" pitchFamily="34" charset="0"/>
                          <a:cs typeface="Verdana" pitchFamily="34" charset="0"/>
                        </a:rPr>
                        <a:t>0</a:t>
                      </a:r>
                    </a:p>
                  </a:txBody>
                  <a:tcPr marL="68580" marR="68580" marT="0" marB="0">
                    <a:solidFill>
                      <a:schemeClr val="bg1"/>
                    </a:solidFill>
                  </a:tcPr>
                </a:tc>
                <a:extLst>
                  <a:ext uri="{0D108BD9-81ED-4DB2-BD59-A6C34878D82A}">
                    <a16:rowId xmlns:a16="http://schemas.microsoft.com/office/drawing/2014/main" val="10000"/>
                  </a:ext>
                </a:extLst>
              </a:tr>
              <a:tr h="542365">
                <a:tc>
                  <a:txBody>
                    <a:bodyPr/>
                    <a:lstStyle/>
                    <a:p>
                      <a:pPr marL="0" marR="0" algn="ctr">
                        <a:spcBef>
                          <a:spcPts val="0"/>
                        </a:spcBef>
                        <a:spcAft>
                          <a:spcPts val="0"/>
                        </a:spcAft>
                      </a:pPr>
                      <a:endParaRPr lang="en-US" sz="1300" b="1" dirty="0">
                        <a:effectLst/>
                        <a:latin typeface="Verdana" pitchFamily="34" charset="0"/>
                        <a:ea typeface="Verdana" pitchFamily="34" charset="0"/>
                        <a:cs typeface="Verdana" pitchFamily="34" charset="0"/>
                      </a:endParaRPr>
                    </a:p>
                  </a:txBody>
                  <a:tcPr marL="68580" marR="68580" marT="0" marB="0">
                    <a:solidFill>
                      <a:srgbClr val="CC0099"/>
                    </a:solidFill>
                  </a:tcPr>
                </a:tc>
                <a:tc>
                  <a:txBody>
                    <a:bodyPr/>
                    <a:lstStyle/>
                    <a:p>
                      <a:pPr marL="0" marR="0" algn="ctr">
                        <a:spcBef>
                          <a:spcPts val="0"/>
                        </a:spcBef>
                        <a:spcAft>
                          <a:spcPts val="0"/>
                        </a:spcAft>
                      </a:pPr>
                      <a:endParaRPr lang="en-US" sz="1300" b="1" dirty="0">
                        <a:effectLst/>
                        <a:latin typeface="Verdana" pitchFamily="34" charset="0"/>
                        <a:ea typeface="Verdana" pitchFamily="34" charset="0"/>
                        <a:cs typeface="Verdana" pitchFamily="34" charset="0"/>
                      </a:endParaRPr>
                    </a:p>
                  </a:txBody>
                  <a:tcPr marL="68580" marR="68580" marT="0" marB="0">
                    <a:solidFill>
                      <a:srgbClr val="CC0099"/>
                    </a:solidFill>
                  </a:tcPr>
                </a:tc>
                <a:tc>
                  <a:txBody>
                    <a:bodyPr/>
                    <a:lstStyle/>
                    <a:p>
                      <a:pPr marL="0" marR="0" algn="ctr">
                        <a:spcBef>
                          <a:spcPts val="0"/>
                        </a:spcBef>
                        <a:spcAft>
                          <a:spcPts val="0"/>
                        </a:spcAft>
                      </a:pPr>
                      <a:endParaRPr lang="en-US" sz="1300" b="1" dirty="0">
                        <a:effectLst/>
                        <a:latin typeface="Verdana" pitchFamily="34" charset="0"/>
                        <a:ea typeface="Verdana" pitchFamily="34" charset="0"/>
                        <a:cs typeface="Verdana" pitchFamily="34" charset="0"/>
                      </a:endParaRPr>
                    </a:p>
                  </a:txBody>
                  <a:tcPr marL="68580" marR="68580" marT="0" marB="0">
                    <a:solidFill>
                      <a:srgbClr val="CC0099"/>
                    </a:solidFill>
                  </a:tcPr>
                </a:tc>
                <a:tc>
                  <a:txBody>
                    <a:bodyPr/>
                    <a:lstStyle/>
                    <a:p>
                      <a:pPr marL="0" marR="0" algn="ctr">
                        <a:spcBef>
                          <a:spcPts val="0"/>
                        </a:spcBef>
                        <a:spcAft>
                          <a:spcPts val="0"/>
                        </a:spcAft>
                      </a:pPr>
                      <a:endParaRPr lang="en-US" sz="1300" b="1" dirty="0">
                        <a:effectLst/>
                        <a:latin typeface="Verdana" pitchFamily="34" charset="0"/>
                        <a:ea typeface="Verdana" pitchFamily="34" charset="0"/>
                        <a:cs typeface="Verdana" pitchFamily="34" charset="0"/>
                      </a:endParaRPr>
                    </a:p>
                  </a:txBody>
                  <a:tcPr marL="68580" marR="68580" marT="0" marB="0">
                    <a:solidFill>
                      <a:srgbClr val="CC0099"/>
                    </a:solidFill>
                  </a:tcPr>
                </a:tc>
                <a:tc>
                  <a:txBody>
                    <a:bodyPr/>
                    <a:lstStyle/>
                    <a:p>
                      <a:pPr marL="0" marR="0" algn="ctr">
                        <a:spcBef>
                          <a:spcPts val="0"/>
                        </a:spcBef>
                        <a:spcAft>
                          <a:spcPts val="0"/>
                        </a:spcAft>
                      </a:pPr>
                      <a:endParaRPr lang="en-US" sz="1300" b="1" dirty="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1300" b="1" dirty="0">
                          <a:solidFill>
                            <a:schemeClr val="bg1"/>
                          </a:solidFill>
                          <a:effectLst/>
                          <a:latin typeface="Verdana" pitchFamily="34" charset="0"/>
                          <a:ea typeface="Verdana" pitchFamily="34" charset="0"/>
                          <a:cs typeface="Verdana" pitchFamily="34" charset="0"/>
                        </a:rPr>
                        <a:t>OF</a:t>
                      </a:r>
                    </a:p>
                  </a:txBody>
                  <a:tcPr marL="68580" marR="68580" marT="0" marB="0">
                    <a:solidFill>
                      <a:srgbClr val="CC0099"/>
                    </a:solidFill>
                  </a:tcPr>
                </a:tc>
                <a:tc>
                  <a:txBody>
                    <a:bodyPr/>
                    <a:lstStyle/>
                    <a:p>
                      <a:pPr marL="0" marR="0" algn="ctr">
                        <a:spcBef>
                          <a:spcPts val="0"/>
                        </a:spcBef>
                        <a:spcAft>
                          <a:spcPts val="0"/>
                        </a:spcAft>
                      </a:pPr>
                      <a:endParaRPr lang="en-US" sz="1300" b="1" dirty="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1300" b="1" dirty="0">
                          <a:solidFill>
                            <a:schemeClr val="bg1"/>
                          </a:solidFill>
                          <a:effectLst/>
                          <a:latin typeface="Verdana" pitchFamily="34" charset="0"/>
                          <a:ea typeface="Verdana" pitchFamily="34" charset="0"/>
                          <a:cs typeface="Verdana" pitchFamily="34" charset="0"/>
                        </a:rPr>
                        <a:t>DF</a:t>
                      </a:r>
                    </a:p>
                  </a:txBody>
                  <a:tcPr marL="68580" marR="68580" marT="0" marB="0">
                    <a:solidFill>
                      <a:srgbClr val="CC0099"/>
                    </a:solidFill>
                  </a:tcPr>
                </a:tc>
                <a:tc>
                  <a:txBody>
                    <a:bodyPr/>
                    <a:lstStyle/>
                    <a:p>
                      <a:pPr marL="0" marR="0" algn="ctr">
                        <a:spcBef>
                          <a:spcPts val="0"/>
                        </a:spcBef>
                        <a:spcAft>
                          <a:spcPts val="0"/>
                        </a:spcAft>
                      </a:pPr>
                      <a:endParaRPr lang="en-US" sz="1300" b="1" dirty="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1300" b="1" dirty="0">
                          <a:solidFill>
                            <a:schemeClr val="bg1"/>
                          </a:solidFill>
                          <a:effectLst/>
                          <a:latin typeface="Verdana" pitchFamily="34" charset="0"/>
                          <a:ea typeface="Verdana" pitchFamily="34" charset="0"/>
                          <a:cs typeface="Verdana" pitchFamily="34" charset="0"/>
                        </a:rPr>
                        <a:t>IF</a:t>
                      </a:r>
                    </a:p>
                  </a:txBody>
                  <a:tcPr marL="68580" marR="68580" marT="0" marB="0">
                    <a:solidFill>
                      <a:srgbClr val="CC0099"/>
                    </a:solidFill>
                  </a:tcPr>
                </a:tc>
                <a:tc>
                  <a:txBody>
                    <a:bodyPr/>
                    <a:lstStyle/>
                    <a:p>
                      <a:pPr marL="0" marR="0" algn="ctr">
                        <a:spcBef>
                          <a:spcPts val="0"/>
                        </a:spcBef>
                        <a:spcAft>
                          <a:spcPts val="0"/>
                        </a:spcAft>
                      </a:pPr>
                      <a:endParaRPr lang="en-US" sz="1300" b="1" dirty="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1300" b="1" dirty="0">
                          <a:solidFill>
                            <a:schemeClr val="bg1"/>
                          </a:solidFill>
                          <a:effectLst/>
                          <a:latin typeface="Verdana" pitchFamily="34" charset="0"/>
                          <a:ea typeface="Verdana" pitchFamily="34" charset="0"/>
                          <a:cs typeface="Verdana" pitchFamily="34" charset="0"/>
                        </a:rPr>
                        <a:t>TF</a:t>
                      </a:r>
                    </a:p>
                  </a:txBody>
                  <a:tcPr marL="68580" marR="68580" marT="0" marB="0">
                    <a:solidFill>
                      <a:srgbClr val="CC0099"/>
                    </a:solidFill>
                  </a:tcPr>
                </a:tc>
                <a:tc>
                  <a:txBody>
                    <a:bodyPr/>
                    <a:lstStyle/>
                    <a:p>
                      <a:pPr marL="0" marR="0" algn="ctr">
                        <a:spcBef>
                          <a:spcPts val="0"/>
                        </a:spcBef>
                        <a:spcAft>
                          <a:spcPts val="0"/>
                        </a:spcAft>
                      </a:pPr>
                      <a:endParaRPr lang="en-US" sz="1300" b="1" dirty="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1300" b="1" dirty="0">
                          <a:solidFill>
                            <a:schemeClr val="bg1"/>
                          </a:solidFill>
                          <a:effectLst/>
                          <a:latin typeface="Verdana" pitchFamily="34" charset="0"/>
                          <a:ea typeface="Verdana" pitchFamily="34" charset="0"/>
                          <a:cs typeface="Verdana" pitchFamily="34" charset="0"/>
                        </a:rPr>
                        <a:t>SF</a:t>
                      </a:r>
                    </a:p>
                  </a:txBody>
                  <a:tcPr marL="68580" marR="68580" marT="0" marB="0">
                    <a:solidFill>
                      <a:srgbClr val="CC0099"/>
                    </a:solidFill>
                  </a:tcPr>
                </a:tc>
                <a:tc>
                  <a:txBody>
                    <a:bodyPr/>
                    <a:lstStyle/>
                    <a:p>
                      <a:pPr marL="0" marR="0" algn="ctr">
                        <a:spcBef>
                          <a:spcPts val="0"/>
                        </a:spcBef>
                        <a:spcAft>
                          <a:spcPts val="0"/>
                        </a:spcAft>
                      </a:pPr>
                      <a:endParaRPr lang="en-US" sz="1300" b="1" dirty="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1300" b="1" dirty="0">
                          <a:solidFill>
                            <a:schemeClr val="bg1"/>
                          </a:solidFill>
                          <a:effectLst/>
                          <a:latin typeface="Verdana" pitchFamily="34" charset="0"/>
                          <a:ea typeface="Verdana" pitchFamily="34" charset="0"/>
                          <a:cs typeface="Verdana" pitchFamily="34" charset="0"/>
                        </a:rPr>
                        <a:t>ZF</a:t>
                      </a:r>
                    </a:p>
                  </a:txBody>
                  <a:tcPr marL="68580" marR="68580" marT="0" marB="0">
                    <a:solidFill>
                      <a:srgbClr val="CC0099"/>
                    </a:solidFill>
                  </a:tcPr>
                </a:tc>
                <a:tc>
                  <a:txBody>
                    <a:bodyPr/>
                    <a:lstStyle/>
                    <a:p>
                      <a:pPr marL="0" marR="0" algn="ctr">
                        <a:spcBef>
                          <a:spcPts val="0"/>
                        </a:spcBef>
                        <a:spcAft>
                          <a:spcPts val="0"/>
                        </a:spcAft>
                      </a:pPr>
                      <a:endParaRPr lang="en-US" sz="1300" b="1" dirty="0">
                        <a:solidFill>
                          <a:schemeClr val="bg1"/>
                        </a:solidFill>
                        <a:effectLst/>
                        <a:latin typeface="Verdana" pitchFamily="34" charset="0"/>
                        <a:ea typeface="Verdana" pitchFamily="34" charset="0"/>
                        <a:cs typeface="Verdana" pitchFamily="34" charset="0"/>
                      </a:endParaRPr>
                    </a:p>
                  </a:txBody>
                  <a:tcPr marL="68580" marR="68580" marT="0" marB="0">
                    <a:solidFill>
                      <a:srgbClr val="CC0099"/>
                    </a:solidFill>
                  </a:tcPr>
                </a:tc>
                <a:tc>
                  <a:txBody>
                    <a:bodyPr/>
                    <a:lstStyle/>
                    <a:p>
                      <a:pPr marL="0" marR="0" algn="ctr">
                        <a:spcBef>
                          <a:spcPts val="0"/>
                        </a:spcBef>
                        <a:spcAft>
                          <a:spcPts val="0"/>
                        </a:spcAft>
                      </a:pPr>
                      <a:endParaRPr lang="en-US" sz="1300" b="1" dirty="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1300" b="1" dirty="0">
                          <a:solidFill>
                            <a:schemeClr val="bg1"/>
                          </a:solidFill>
                          <a:effectLst/>
                          <a:latin typeface="Verdana" pitchFamily="34" charset="0"/>
                          <a:ea typeface="Verdana" pitchFamily="34" charset="0"/>
                          <a:cs typeface="Verdana" pitchFamily="34" charset="0"/>
                        </a:rPr>
                        <a:t>AF</a:t>
                      </a:r>
                    </a:p>
                  </a:txBody>
                  <a:tcPr marL="68580" marR="68580" marT="0" marB="0">
                    <a:solidFill>
                      <a:srgbClr val="CC0099"/>
                    </a:solidFill>
                  </a:tcPr>
                </a:tc>
                <a:tc>
                  <a:txBody>
                    <a:bodyPr/>
                    <a:lstStyle/>
                    <a:p>
                      <a:pPr marL="0" marR="0" algn="ctr">
                        <a:spcBef>
                          <a:spcPts val="0"/>
                        </a:spcBef>
                        <a:spcAft>
                          <a:spcPts val="0"/>
                        </a:spcAft>
                      </a:pPr>
                      <a:endParaRPr lang="en-US" sz="1300" b="1" dirty="0">
                        <a:solidFill>
                          <a:schemeClr val="bg1"/>
                        </a:solidFill>
                        <a:effectLst/>
                        <a:latin typeface="Verdana" pitchFamily="34" charset="0"/>
                        <a:ea typeface="Verdana" pitchFamily="34" charset="0"/>
                        <a:cs typeface="Verdana" pitchFamily="34" charset="0"/>
                      </a:endParaRPr>
                    </a:p>
                  </a:txBody>
                  <a:tcPr marL="68580" marR="68580" marT="0" marB="0">
                    <a:solidFill>
                      <a:srgbClr val="CC0099"/>
                    </a:solidFill>
                  </a:tcPr>
                </a:tc>
                <a:tc>
                  <a:txBody>
                    <a:bodyPr/>
                    <a:lstStyle/>
                    <a:p>
                      <a:pPr marL="0" marR="0" algn="ctr">
                        <a:spcBef>
                          <a:spcPts val="0"/>
                        </a:spcBef>
                        <a:spcAft>
                          <a:spcPts val="0"/>
                        </a:spcAft>
                      </a:pPr>
                      <a:endParaRPr lang="en-US" sz="1300" b="1" dirty="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1300" b="1" dirty="0">
                          <a:solidFill>
                            <a:schemeClr val="bg1"/>
                          </a:solidFill>
                          <a:effectLst/>
                          <a:latin typeface="Verdana" pitchFamily="34" charset="0"/>
                          <a:ea typeface="Verdana" pitchFamily="34" charset="0"/>
                          <a:cs typeface="Verdana" pitchFamily="34" charset="0"/>
                        </a:rPr>
                        <a:t>PF</a:t>
                      </a:r>
                    </a:p>
                  </a:txBody>
                  <a:tcPr marL="68580" marR="68580" marT="0" marB="0">
                    <a:solidFill>
                      <a:srgbClr val="CC0099"/>
                    </a:solidFill>
                  </a:tcPr>
                </a:tc>
                <a:tc>
                  <a:txBody>
                    <a:bodyPr/>
                    <a:lstStyle/>
                    <a:p>
                      <a:pPr marL="0" marR="0" algn="ctr">
                        <a:spcBef>
                          <a:spcPts val="0"/>
                        </a:spcBef>
                        <a:spcAft>
                          <a:spcPts val="0"/>
                        </a:spcAft>
                      </a:pPr>
                      <a:endParaRPr lang="en-US" sz="1300" b="1" dirty="0">
                        <a:solidFill>
                          <a:schemeClr val="bg1"/>
                        </a:solidFill>
                        <a:effectLst/>
                        <a:latin typeface="Verdana" pitchFamily="34" charset="0"/>
                        <a:ea typeface="Verdana" pitchFamily="34" charset="0"/>
                        <a:cs typeface="Verdana" pitchFamily="34" charset="0"/>
                      </a:endParaRPr>
                    </a:p>
                  </a:txBody>
                  <a:tcPr marL="68580" marR="68580" marT="0" marB="0">
                    <a:solidFill>
                      <a:srgbClr val="CC0099"/>
                    </a:solidFill>
                  </a:tcPr>
                </a:tc>
                <a:tc>
                  <a:txBody>
                    <a:bodyPr/>
                    <a:lstStyle/>
                    <a:p>
                      <a:pPr marL="0" marR="0" algn="ctr">
                        <a:spcBef>
                          <a:spcPts val="0"/>
                        </a:spcBef>
                        <a:spcAft>
                          <a:spcPts val="0"/>
                        </a:spcAft>
                      </a:pPr>
                      <a:endParaRPr lang="en-US" sz="1300" b="1" dirty="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1300" b="1" dirty="0">
                          <a:solidFill>
                            <a:schemeClr val="bg1"/>
                          </a:solidFill>
                          <a:effectLst/>
                          <a:latin typeface="Verdana" pitchFamily="34" charset="0"/>
                          <a:ea typeface="Verdana" pitchFamily="34" charset="0"/>
                          <a:cs typeface="Verdana" pitchFamily="34" charset="0"/>
                        </a:rPr>
                        <a:t>CF</a:t>
                      </a:r>
                    </a:p>
                  </a:txBody>
                  <a:tcPr marL="68580" marR="68580" marT="0" marB="0">
                    <a:solidFill>
                      <a:srgbClr val="CC0099"/>
                    </a:solidFill>
                  </a:tcPr>
                </a:tc>
                <a:extLst>
                  <a:ext uri="{0D108BD9-81ED-4DB2-BD59-A6C34878D82A}">
                    <a16:rowId xmlns:a16="http://schemas.microsoft.com/office/drawing/2014/main" val="10001"/>
                  </a:ext>
                </a:extLst>
              </a:tr>
            </a:tbl>
          </a:graphicData>
        </a:graphic>
      </p:graphicFrame>
      <p:sp>
        <p:nvSpPr>
          <p:cNvPr id="6" name="Line Callout 2 5"/>
          <p:cNvSpPr/>
          <p:nvPr/>
        </p:nvSpPr>
        <p:spPr>
          <a:xfrm>
            <a:off x="6553200" y="838200"/>
            <a:ext cx="2514600" cy="1133475"/>
          </a:xfrm>
          <a:prstGeom prst="borderCallout2">
            <a:avLst>
              <a:gd name="adj1" fmla="val 100263"/>
              <a:gd name="adj2" fmla="val 99703"/>
              <a:gd name="adj3" fmla="val 138918"/>
              <a:gd name="adj4" fmla="val 99851"/>
              <a:gd name="adj5" fmla="val 272164"/>
              <a:gd name="adj6" fmla="val 59420"/>
            </a:avLst>
          </a:prstGeom>
          <a:solidFill>
            <a:srgbClr val="FFFF99"/>
          </a:solid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Verdana" pitchFamily="34" charset="0"/>
                <a:ea typeface="Verdana" pitchFamily="34" charset="0"/>
                <a:cs typeface="Verdana" pitchFamily="34" charset="0"/>
              </a:rPr>
              <a:t>Carry Flag</a:t>
            </a:r>
          </a:p>
          <a:p>
            <a:pPr algn="ctr"/>
            <a:endParaRPr lang="en-US" sz="1200" b="1" dirty="0">
              <a:solidFill>
                <a:schemeClr val="tx1"/>
              </a:solidFill>
              <a:latin typeface="Verdana" pitchFamily="34" charset="0"/>
              <a:ea typeface="Verdana" pitchFamily="34" charset="0"/>
              <a:cs typeface="Verdana" pitchFamily="34" charset="0"/>
            </a:endParaRPr>
          </a:p>
          <a:p>
            <a:pPr algn="just"/>
            <a:r>
              <a:rPr lang="en-US" sz="1200" dirty="0">
                <a:solidFill>
                  <a:schemeClr val="tx1"/>
                </a:solidFill>
                <a:latin typeface="Verdana" pitchFamily="34" charset="0"/>
                <a:ea typeface="Verdana" pitchFamily="34" charset="0"/>
                <a:cs typeface="Verdana" pitchFamily="34" charset="0"/>
              </a:rPr>
              <a:t>This flag is set, when there is a carry out of MSB in case of addition or a borrow in case of subtraction.</a:t>
            </a:r>
          </a:p>
        </p:txBody>
      </p:sp>
      <p:sp>
        <p:nvSpPr>
          <p:cNvPr id="11" name="Line Callout 2 10"/>
          <p:cNvSpPr/>
          <p:nvPr/>
        </p:nvSpPr>
        <p:spPr>
          <a:xfrm>
            <a:off x="5638800" y="2085975"/>
            <a:ext cx="2847975" cy="1133475"/>
          </a:xfrm>
          <a:prstGeom prst="borderCallout2">
            <a:avLst>
              <a:gd name="adj1" fmla="val 99423"/>
              <a:gd name="adj2" fmla="val 62245"/>
              <a:gd name="adj3" fmla="val 127153"/>
              <a:gd name="adj4" fmla="val 62450"/>
              <a:gd name="adj5" fmla="val 173845"/>
              <a:gd name="adj6" fmla="val 53624"/>
            </a:avLst>
          </a:prstGeom>
          <a:solidFill>
            <a:srgbClr val="FFFF99"/>
          </a:solid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Verdana" pitchFamily="34" charset="0"/>
                <a:ea typeface="Verdana" pitchFamily="34" charset="0"/>
                <a:cs typeface="Verdana" pitchFamily="34" charset="0"/>
              </a:rPr>
              <a:t>Parity Flag</a:t>
            </a:r>
          </a:p>
          <a:p>
            <a:pPr algn="ctr"/>
            <a:endParaRPr lang="en-US" sz="1200" b="1" dirty="0">
              <a:solidFill>
                <a:schemeClr val="tx1"/>
              </a:solidFill>
              <a:latin typeface="Verdana" pitchFamily="34" charset="0"/>
              <a:ea typeface="Verdana" pitchFamily="34" charset="0"/>
              <a:cs typeface="Verdana" pitchFamily="34" charset="0"/>
            </a:endParaRPr>
          </a:p>
          <a:p>
            <a:pPr algn="just"/>
            <a:r>
              <a:rPr lang="en-US" sz="1200" dirty="0">
                <a:solidFill>
                  <a:schemeClr val="tx1"/>
                </a:solidFill>
                <a:latin typeface="Verdana" pitchFamily="34" charset="0"/>
                <a:ea typeface="Verdana" pitchFamily="34" charset="0"/>
                <a:cs typeface="Verdana" pitchFamily="34" charset="0"/>
              </a:rPr>
              <a:t>This flag is set to 1, if the lower byte of the result contains even number   of 1’s ; for odd number of  1’s  set to zero.</a:t>
            </a:r>
          </a:p>
        </p:txBody>
      </p:sp>
      <p:sp>
        <p:nvSpPr>
          <p:cNvPr id="12" name="Line Callout 2 11"/>
          <p:cNvSpPr/>
          <p:nvPr/>
        </p:nvSpPr>
        <p:spPr>
          <a:xfrm>
            <a:off x="3124200" y="723900"/>
            <a:ext cx="3200400" cy="1247775"/>
          </a:xfrm>
          <a:prstGeom prst="borderCallout2">
            <a:avLst>
              <a:gd name="adj1" fmla="val 100872"/>
              <a:gd name="adj2" fmla="val 75001"/>
              <a:gd name="adj3" fmla="val 201501"/>
              <a:gd name="adj4" fmla="val 74885"/>
              <a:gd name="adj5" fmla="val 269830"/>
              <a:gd name="adj6" fmla="val 94241"/>
            </a:avLst>
          </a:prstGeom>
          <a:solidFill>
            <a:srgbClr val="FFFF99"/>
          </a:solid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Verdana" pitchFamily="34" charset="0"/>
                <a:ea typeface="Verdana" pitchFamily="34" charset="0"/>
                <a:cs typeface="Verdana" pitchFamily="34" charset="0"/>
              </a:rPr>
              <a:t>Auxiliary Carry Flag</a:t>
            </a:r>
          </a:p>
          <a:p>
            <a:pPr algn="ctr"/>
            <a:endParaRPr lang="en-US" sz="1200" b="1" dirty="0">
              <a:solidFill>
                <a:schemeClr val="tx1"/>
              </a:solidFill>
              <a:latin typeface="Verdana" pitchFamily="34" charset="0"/>
              <a:ea typeface="Verdana" pitchFamily="34" charset="0"/>
              <a:cs typeface="Verdana" pitchFamily="34" charset="0"/>
            </a:endParaRPr>
          </a:p>
          <a:p>
            <a:pPr algn="just"/>
            <a:r>
              <a:rPr lang="en-US" sz="1200" dirty="0">
                <a:solidFill>
                  <a:schemeClr val="tx1"/>
                </a:solidFill>
                <a:latin typeface="Verdana" pitchFamily="34" charset="0"/>
                <a:ea typeface="Verdana" pitchFamily="34" charset="0"/>
                <a:cs typeface="Verdana" pitchFamily="34" charset="0"/>
              </a:rPr>
              <a:t>This is set, if there is a carry from the lowest nibble, </a:t>
            </a:r>
            <a:r>
              <a:rPr lang="en-US" sz="1200" dirty="0" err="1">
                <a:solidFill>
                  <a:schemeClr val="tx1"/>
                </a:solidFill>
                <a:latin typeface="Verdana" pitchFamily="34" charset="0"/>
                <a:ea typeface="Verdana" pitchFamily="34" charset="0"/>
                <a:cs typeface="Verdana" pitchFamily="34" charset="0"/>
              </a:rPr>
              <a:t>i.e</a:t>
            </a:r>
            <a:r>
              <a:rPr lang="en-US" sz="1200" dirty="0">
                <a:solidFill>
                  <a:schemeClr val="tx1"/>
                </a:solidFill>
                <a:latin typeface="Verdana" pitchFamily="34" charset="0"/>
                <a:ea typeface="Verdana" pitchFamily="34" charset="0"/>
                <a:cs typeface="Verdana" pitchFamily="34" charset="0"/>
              </a:rPr>
              <a:t>, bit three during addition, or borrow for the lowest nibble, </a:t>
            </a:r>
            <a:r>
              <a:rPr lang="en-US" sz="1200" dirty="0" err="1">
                <a:solidFill>
                  <a:schemeClr val="tx1"/>
                </a:solidFill>
                <a:latin typeface="Verdana" pitchFamily="34" charset="0"/>
                <a:ea typeface="Verdana" pitchFamily="34" charset="0"/>
                <a:cs typeface="Verdana" pitchFamily="34" charset="0"/>
              </a:rPr>
              <a:t>i.e</a:t>
            </a:r>
            <a:r>
              <a:rPr lang="en-US" sz="1200" dirty="0">
                <a:solidFill>
                  <a:schemeClr val="tx1"/>
                </a:solidFill>
                <a:latin typeface="Verdana" pitchFamily="34" charset="0"/>
                <a:ea typeface="Verdana" pitchFamily="34" charset="0"/>
                <a:cs typeface="Verdana" pitchFamily="34" charset="0"/>
              </a:rPr>
              <a:t>, bit three, during subtraction.</a:t>
            </a:r>
          </a:p>
        </p:txBody>
      </p:sp>
      <p:sp>
        <p:nvSpPr>
          <p:cNvPr id="13" name="Line Callout 2 12"/>
          <p:cNvSpPr/>
          <p:nvPr/>
        </p:nvSpPr>
        <p:spPr>
          <a:xfrm>
            <a:off x="2500952" y="2076450"/>
            <a:ext cx="2667000" cy="1133475"/>
          </a:xfrm>
          <a:prstGeom prst="borderCallout2">
            <a:avLst>
              <a:gd name="adj1" fmla="val 98582"/>
              <a:gd name="adj2" fmla="val 99703"/>
              <a:gd name="adj3" fmla="val 121272"/>
              <a:gd name="adj4" fmla="val 100242"/>
              <a:gd name="adj5" fmla="val 167122"/>
              <a:gd name="adj6" fmla="val 106211"/>
            </a:avLst>
          </a:prstGeom>
          <a:solidFill>
            <a:srgbClr val="FFFF99"/>
          </a:solid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Verdana" pitchFamily="34" charset="0"/>
                <a:ea typeface="Verdana" pitchFamily="34" charset="0"/>
                <a:cs typeface="Verdana" pitchFamily="34" charset="0"/>
              </a:rPr>
              <a:t>Zero Flag</a:t>
            </a:r>
          </a:p>
          <a:p>
            <a:pPr algn="ctr"/>
            <a:endParaRPr lang="en-US" sz="1200" dirty="0">
              <a:solidFill>
                <a:schemeClr val="tx1"/>
              </a:solidFill>
              <a:latin typeface="Verdana" pitchFamily="34" charset="0"/>
              <a:ea typeface="Verdana" pitchFamily="34" charset="0"/>
              <a:cs typeface="Verdana" pitchFamily="34" charset="0"/>
            </a:endParaRPr>
          </a:p>
          <a:p>
            <a:pPr algn="just"/>
            <a:r>
              <a:rPr lang="en-US" sz="1200" dirty="0">
                <a:solidFill>
                  <a:schemeClr val="tx1"/>
                </a:solidFill>
                <a:latin typeface="Verdana" pitchFamily="34" charset="0"/>
                <a:ea typeface="Verdana" pitchFamily="34" charset="0"/>
                <a:cs typeface="Verdana" pitchFamily="34" charset="0"/>
              </a:rPr>
              <a:t>This flag is set, if the result of the computation or comparison performed by an instruction is zero</a:t>
            </a:r>
          </a:p>
        </p:txBody>
      </p:sp>
      <p:sp>
        <p:nvSpPr>
          <p:cNvPr id="14" name="Line Callout 2 13"/>
          <p:cNvSpPr/>
          <p:nvPr/>
        </p:nvSpPr>
        <p:spPr>
          <a:xfrm>
            <a:off x="62552" y="2095500"/>
            <a:ext cx="2299648" cy="952500"/>
          </a:xfrm>
          <a:prstGeom prst="borderCallout2">
            <a:avLst>
              <a:gd name="adj1" fmla="val 99858"/>
              <a:gd name="adj2" fmla="val 90354"/>
              <a:gd name="adj3" fmla="val 129399"/>
              <a:gd name="adj4" fmla="val 90348"/>
              <a:gd name="adj5" fmla="val 195897"/>
              <a:gd name="adj6" fmla="val 205196"/>
            </a:avLst>
          </a:prstGeom>
          <a:solidFill>
            <a:srgbClr val="FFFF99"/>
          </a:solid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Verdana" pitchFamily="34" charset="0"/>
                <a:ea typeface="Verdana" pitchFamily="34" charset="0"/>
                <a:cs typeface="Verdana" pitchFamily="34" charset="0"/>
              </a:rPr>
              <a:t>Sign Flag</a:t>
            </a:r>
          </a:p>
          <a:p>
            <a:pPr algn="ctr"/>
            <a:endParaRPr lang="en-US" sz="1200" dirty="0">
              <a:solidFill>
                <a:schemeClr val="tx1"/>
              </a:solidFill>
              <a:latin typeface="Verdana" pitchFamily="34" charset="0"/>
              <a:ea typeface="Verdana" pitchFamily="34" charset="0"/>
              <a:cs typeface="Verdana" pitchFamily="34" charset="0"/>
            </a:endParaRPr>
          </a:p>
          <a:p>
            <a:pPr algn="ctr"/>
            <a:r>
              <a:rPr lang="en-US" sz="1200" dirty="0">
                <a:solidFill>
                  <a:schemeClr val="tx1"/>
                </a:solidFill>
                <a:latin typeface="Verdana" pitchFamily="34" charset="0"/>
                <a:ea typeface="Verdana" pitchFamily="34" charset="0"/>
                <a:cs typeface="Verdana" pitchFamily="34" charset="0"/>
              </a:rPr>
              <a:t>This flag is set, when the result of any computation is negative</a:t>
            </a:r>
          </a:p>
        </p:txBody>
      </p:sp>
      <p:sp>
        <p:nvSpPr>
          <p:cNvPr id="16" name="Line Callout 2 15"/>
          <p:cNvSpPr/>
          <p:nvPr/>
        </p:nvSpPr>
        <p:spPr>
          <a:xfrm>
            <a:off x="6388431" y="4419600"/>
            <a:ext cx="2667000" cy="1092995"/>
          </a:xfrm>
          <a:prstGeom prst="borderCallout2">
            <a:avLst>
              <a:gd name="adj1" fmla="val 48942"/>
              <a:gd name="adj2" fmla="val 61"/>
              <a:gd name="adj3" fmla="val 49483"/>
              <a:gd name="adj4" fmla="val -9402"/>
              <a:gd name="adj5" fmla="val -25853"/>
              <a:gd name="adj6" fmla="val -78432"/>
            </a:avLst>
          </a:prstGeom>
          <a:solidFill>
            <a:srgbClr val="FFFF99"/>
          </a:solid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Verdana" pitchFamily="34" charset="0"/>
                <a:ea typeface="Verdana" pitchFamily="34" charset="0"/>
                <a:cs typeface="Verdana" pitchFamily="34" charset="0"/>
              </a:rPr>
              <a:t>Trap Flag</a:t>
            </a:r>
          </a:p>
          <a:p>
            <a:pPr algn="just"/>
            <a:r>
              <a:rPr lang="en-US" sz="1200" dirty="0">
                <a:solidFill>
                  <a:schemeClr val="tx1"/>
                </a:solidFill>
                <a:latin typeface="Verdana" pitchFamily="34" charset="0"/>
                <a:ea typeface="Verdana" pitchFamily="34" charset="0"/>
                <a:cs typeface="Verdana" pitchFamily="34" charset="0"/>
              </a:rPr>
              <a:t>If this flag is set, the processor enters the single step execution mode by generating internal interrupts after the execution of each instruction</a:t>
            </a:r>
          </a:p>
        </p:txBody>
      </p:sp>
      <p:sp>
        <p:nvSpPr>
          <p:cNvPr id="17" name="Line Callout 2 16"/>
          <p:cNvSpPr/>
          <p:nvPr/>
        </p:nvSpPr>
        <p:spPr>
          <a:xfrm>
            <a:off x="6019800" y="5562600"/>
            <a:ext cx="3048000" cy="1066800"/>
          </a:xfrm>
          <a:prstGeom prst="borderCallout2">
            <a:avLst>
              <a:gd name="adj1" fmla="val -677"/>
              <a:gd name="adj2" fmla="val 5323"/>
              <a:gd name="adj3" fmla="val -29464"/>
              <a:gd name="adj4" fmla="val 5434"/>
              <a:gd name="adj5" fmla="val -124699"/>
              <a:gd name="adj6" fmla="val -72519"/>
            </a:avLst>
          </a:prstGeom>
          <a:solidFill>
            <a:srgbClr val="FFFF99"/>
          </a:solid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Verdana" pitchFamily="34" charset="0"/>
                <a:ea typeface="Verdana" pitchFamily="34" charset="0"/>
                <a:cs typeface="Verdana" pitchFamily="34" charset="0"/>
              </a:rPr>
              <a:t>Interrupt Flag</a:t>
            </a:r>
          </a:p>
          <a:p>
            <a:pPr algn="ctr"/>
            <a:endParaRPr lang="en-US" sz="1200" b="1" dirty="0">
              <a:solidFill>
                <a:schemeClr val="tx1"/>
              </a:solidFill>
              <a:latin typeface="Verdana" pitchFamily="34" charset="0"/>
              <a:ea typeface="Verdana" pitchFamily="34" charset="0"/>
              <a:cs typeface="Verdana" pitchFamily="34" charset="0"/>
            </a:endParaRPr>
          </a:p>
          <a:p>
            <a:pPr algn="ctr"/>
            <a:r>
              <a:rPr lang="en-US" sz="1200" dirty="0">
                <a:solidFill>
                  <a:schemeClr val="tx1"/>
                </a:solidFill>
                <a:latin typeface="Verdana" pitchFamily="34" charset="0"/>
                <a:ea typeface="Verdana" pitchFamily="34" charset="0"/>
                <a:cs typeface="Verdana" pitchFamily="34" charset="0"/>
              </a:rPr>
              <a:t>Causes the 8086 to recognize external mask interrupts; clearing IF disables these interrupts.</a:t>
            </a:r>
          </a:p>
        </p:txBody>
      </p:sp>
      <p:sp>
        <p:nvSpPr>
          <p:cNvPr id="19" name="Line Callout 2 18"/>
          <p:cNvSpPr/>
          <p:nvPr/>
        </p:nvSpPr>
        <p:spPr>
          <a:xfrm>
            <a:off x="1281752" y="5562600"/>
            <a:ext cx="4572000" cy="1169195"/>
          </a:xfrm>
          <a:prstGeom prst="borderCallout2">
            <a:avLst>
              <a:gd name="adj1" fmla="val -1622"/>
              <a:gd name="adj2" fmla="val 83453"/>
              <a:gd name="adj3" fmla="val -39345"/>
              <a:gd name="adj4" fmla="val 83278"/>
              <a:gd name="adj5" fmla="val -109940"/>
              <a:gd name="adj6" fmla="val 43205"/>
            </a:avLst>
          </a:prstGeom>
          <a:solidFill>
            <a:srgbClr val="FFFF99"/>
          </a:solid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Verdana" pitchFamily="34" charset="0"/>
                <a:ea typeface="Verdana" pitchFamily="34" charset="0"/>
                <a:cs typeface="Verdana" pitchFamily="34" charset="0"/>
              </a:rPr>
              <a:t>Direction Flag</a:t>
            </a:r>
          </a:p>
          <a:p>
            <a:pPr algn="just"/>
            <a:r>
              <a:rPr lang="en-US" sz="1100" dirty="0">
                <a:solidFill>
                  <a:schemeClr val="tx1"/>
                </a:solidFill>
                <a:latin typeface="Verdana" pitchFamily="34" charset="0"/>
                <a:ea typeface="Verdana" pitchFamily="34" charset="0"/>
                <a:cs typeface="Verdana" pitchFamily="34" charset="0"/>
              </a:rPr>
              <a:t>This is used by string manipulation instructions. If this flag bit is ‘0’, the string is processed beginning from the lowest address to the highest address, i.e., auto incrementing mode. Otherwise, the string is processed from the highest address towards the lowest address, i.e., auto incrementing mode.</a:t>
            </a:r>
          </a:p>
        </p:txBody>
      </p:sp>
      <p:sp>
        <p:nvSpPr>
          <p:cNvPr id="20" name="Line Callout 2 19"/>
          <p:cNvSpPr/>
          <p:nvPr/>
        </p:nvSpPr>
        <p:spPr>
          <a:xfrm>
            <a:off x="62552" y="4469605"/>
            <a:ext cx="4890448" cy="1169195"/>
          </a:xfrm>
          <a:prstGeom prst="borderCallout2">
            <a:avLst>
              <a:gd name="adj1" fmla="val 822"/>
              <a:gd name="adj2" fmla="val 3404"/>
              <a:gd name="adj3" fmla="val -28754"/>
              <a:gd name="adj4" fmla="val 3229"/>
              <a:gd name="adj5" fmla="val -29288"/>
              <a:gd name="adj6" fmla="val 49438"/>
            </a:avLst>
          </a:prstGeom>
          <a:solidFill>
            <a:srgbClr val="FFFF99"/>
          </a:solid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Verdana" pitchFamily="34" charset="0"/>
                <a:ea typeface="Verdana" pitchFamily="34" charset="0"/>
                <a:cs typeface="Verdana" pitchFamily="34" charset="0"/>
              </a:rPr>
              <a:t>Over flow Flag</a:t>
            </a:r>
          </a:p>
          <a:p>
            <a:pPr algn="ctr"/>
            <a:r>
              <a:rPr lang="en-US" sz="1100" dirty="0">
                <a:solidFill>
                  <a:schemeClr val="tx1"/>
                </a:solidFill>
                <a:latin typeface="Verdana" pitchFamily="34" charset="0"/>
                <a:ea typeface="Verdana" pitchFamily="34" charset="0"/>
                <a:cs typeface="Verdana" pitchFamily="34" charset="0"/>
              </a:rPr>
              <a:t>This flag is set, if an overflow occurs, </a:t>
            </a:r>
            <a:r>
              <a:rPr lang="en-US" sz="1100" dirty="0" err="1">
                <a:solidFill>
                  <a:schemeClr val="tx1"/>
                </a:solidFill>
                <a:latin typeface="Verdana" pitchFamily="34" charset="0"/>
                <a:ea typeface="Verdana" pitchFamily="34" charset="0"/>
                <a:cs typeface="Verdana" pitchFamily="34" charset="0"/>
              </a:rPr>
              <a:t>i.e</a:t>
            </a:r>
            <a:r>
              <a:rPr lang="en-US" sz="1100" dirty="0">
                <a:solidFill>
                  <a:schemeClr val="tx1"/>
                </a:solidFill>
                <a:latin typeface="Verdana" pitchFamily="34" charset="0"/>
                <a:ea typeface="Verdana" pitchFamily="34" charset="0"/>
                <a:cs typeface="Verdana" pitchFamily="34" charset="0"/>
              </a:rPr>
              <a:t>, if the result of a signed operation is large enough to accommodate in a destination register. The result is of more than 7-bits in size in case of 8-bit signed operation and more than 15-bits in size in case of 16-bit sign operations, then the overflow will be set. </a:t>
            </a:r>
          </a:p>
        </p:txBody>
      </p:sp>
      <p:sp>
        <p:nvSpPr>
          <p:cNvPr id="21" name="TextBox 20"/>
          <p:cNvSpPr txBox="1"/>
          <p:nvPr/>
        </p:nvSpPr>
        <p:spPr>
          <a:xfrm>
            <a:off x="5239608" y="152400"/>
            <a:ext cx="3657600" cy="369332"/>
          </a:xfrm>
          <a:prstGeom prst="rect">
            <a:avLst/>
          </a:prstGeom>
          <a:noFill/>
        </p:spPr>
        <p:txBody>
          <a:bodyPr wrap="square" rtlCol="0">
            <a:spAutoFit/>
          </a:bodyPr>
          <a:lstStyle/>
          <a:p>
            <a:pPr algn="ctr"/>
            <a:r>
              <a:rPr lang="en-US" b="1" dirty="0">
                <a:latin typeface="Verdana" pitchFamily="34" charset="0"/>
                <a:ea typeface="Verdana" pitchFamily="34" charset="0"/>
                <a:cs typeface="Verdana" pitchFamily="34" charset="0"/>
              </a:rPr>
              <a:t>Execution Unit (EU)</a:t>
            </a:r>
          </a:p>
        </p:txBody>
      </p:sp>
    </p:spTree>
    <p:extLst>
      <p:ext uri="{BB962C8B-B14F-4D97-AF65-F5344CB8AC3E}">
        <p14:creationId xmlns:p14="http://schemas.microsoft.com/office/powerpoint/2010/main" val="1568142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2" grpId="0" animBg="1"/>
      <p:bldP spid="13" grpId="0" animBg="1"/>
      <p:bldP spid="14" grpId="0" animBg="1"/>
      <p:bldP spid="16" grpId="0" animBg="1"/>
      <p:bldP spid="17" grpId="0" animBg="1"/>
      <p:bldP spid="19" grpId="0" animBg="1"/>
      <p:bldP spid="2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5F69C96-722E-485E-B36C-58402589CA75}"/>
              </a:ext>
            </a:extLst>
          </p:cNvPr>
          <p:cNvSpPr>
            <a:spLocks noGrp="1"/>
          </p:cNvSpPr>
          <p:nvPr>
            <p:ph type="sldNum" sz="quarter" idx="12"/>
          </p:nvPr>
        </p:nvSpPr>
        <p:spPr/>
        <p:txBody>
          <a:bodyPr/>
          <a:lstStyle/>
          <a:p>
            <a:fld id="{85E6815B-E59C-4D87-B1F6-ECBDD22AF1DC}" type="slidenum">
              <a:rPr lang="en-US" smtClean="0"/>
              <a:pPr/>
              <a:t>40</a:t>
            </a:fld>
            <a:endParaRPr lang="en-US" dirty="0"/>
          </a:p>
        </p:txBody>
      </p:sp>
      <p:sp>
        <p:nvSpPr>
          <p:cNvPr id="4" name="Rectangle 3">
            <a:extLst>
              <a:ext uri="{FF2B5EF4-FFF2-40B4-BE49-F238E27FC236}">
                <a16:creationId xmlns:a16="http://schemas.microsoft.com/office/drawing/2014/main" id="{7328B720-E376-41EC-B132-E54B842412F5}"/>
              </a:ext>
            </a:extLst>
          </p:cNvPr>
          <p:cNvSpPr/>
          <p:nvPr/>
        </p:nvSpPr>
        <p:spPr>
          <a:xfrm>
            <a:off x="838200" y="1997839"/>
            <a:ext cx="7315200" cy="2031325"/>
          </a:xfrm>
          <a:prstGeom prst="rect">
            <a:avLst/>
          </a:prstGeom>
        </p:spPr>
        <p:txBody>
          <a:bodyPr wrap="square">
            <a:spAutoFit/>
          </a:bodyPr>
          <a:lstStyle/>
          <a:p>
            <a:pPr marL="285750" lvl="0" indent="-285750">
              <a:buFont typeface="Wingdings" panose="05000000000000000000" pitchFamily="2" charset="2"/>
              <a:buChar char="v"/>
            </a:pPr>
            <a:r>
              <a:rPr lang="en-IN" dirty="0"/>
              <a:t>Describe what happens to the status flags as the sequence of instructions that follows is executed in 8086 microprocessor architecture.  </a:t>
            </a:r>
          </a:p>
          <a:p>
            <a:pPr lvl="0"/>
            <a:r>
              <a:rPr lang="en-IN" dirty="0"/>
              <a:t>Assume that flags ZF, SF, CF, AF, OF and PF are initially reset. </a:t>
            </a:r>
          </a:p>
          <a:p>
            <a:r>
              <a:rPr lang="en-IN" dirty="0"/>
              <a:t>	MOV AX, 1234H </a:t>
            </a:r>
          </a:p>
          <a:p>
            <a:r>
              <a:rPr lang="en-IN" dirty="0"/>
              <a:t>	MOV BX, 0ABCDH </a:t>
            </a:r>
          </a:p>
          <a:p>
            <a:r>
              <a:rPr lang="en-IN" dirty="0"/>
              <a:t>	CMP AX, BX</a:t>
            </a:r>
          </a:p>
        </p:txBody>
      </p:sp>
      <p:sp>
        <p:nvSpPr>
          <p:cNvPr id="2" name="Rectangle 1">
            <a:extLst>
              <a:ext uri="{FF2B5EF4-FFF2-40B4-BE49-F238E27FC236}">
                <a16:creationId xmlns:a16="http://schemas.microsoft.com/office/drawing/2014/main" id="{EADB3B42-E4F3-4C38-BD7A-AF9375957397}"/>
              </a:ext>
            </a:extLst>
          </p:cNvPr>
          <p:cNvSpPr/>
          <p:nvPr/>
        </p:nvSpPr>
        <p:spPr>
          <a:xfrm>
            <a:off x="4314317" y="136525"/>
            <a:ext cx="2238883" cy="369332"/>
          </a:xfrm>
          <a:prstGeom prst="rect">
            <a:avLst/>
          </a:prstGeom>
        </p:spPr>
        <p:txBody>
          <a:bodyPr wrap="none">
            <a:spAutoFit/>
          </a:bodyPr>
          <a:lstStyle/>
          <a:p>
            <a:r>
              <a:rPr lang="en-US" dirty="0"/>
              <a:t>Practice Problems</a:t>
            </a:r>
            <a:endParaRPr lang="en-IN" dirty="0"/>
          </a:p>
        </p:txBody>
      </p:sp>
    </p:spTree>
    <p:extLst>
      <p:ext uri="{BB962C8B-B14F-4D97-AF65-F5344CB8AC3E}">
        <p14:creationId xmlns:p14="http://schemas.microsoft.com/office/powerpoint/2010/main" val="24937544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85E6815B-E59C-4D87-B1F6-ECBDD22AF1DC}" type="slidenum">
              <a:rPr lang="en-US" smtClean="0"/>
              <a:pPr/>
              <a:t>41</a:t>
            </a:fld>
            <a:endParaRPr lang="en-US" dirty="0"/>
          </a:p>
        </p:txBody>
      </p:sp>
      <p:sp>
        <p:nvSpPr>
          <p:cNvPr id="5" name="Title 1"/>
          <p:cNvSpPr txBox="1">
            <a:spLocks/>
          </p:cNvSpPr>
          <p:nvPr/>
        </p:nvSpPr>
        <p:spPr>
          <a:xfrm>
            <a:off x="2895600" y="110756"/>
            <a:ext cx="6019800" cy="48736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000" b="1" kern="1200">
                <a:solidFill>
                  <a:srgbClr val="FF0066"/>
                </a:solidFill>
                <a:latin typeface="Verdana" pitchFamily="34" charset="0"/>
                <a:ea typeface="Verdana" pitchFamily="34" charset="0"/>
                <a:cs typeface="Verdana" pitchFamily="34" charset="0"/>
              </a:defRPr>
            </a:lvl1pPr>
          </a:lstStyle>
          <a:p>
            <a:r>
              <a:rPr lang="en-US"/>
              <a:t>Architecture</a:t>
            </a:r>
            <a:endParaRPr lang="en-US" dirty="0">
              <a:solidFill>
                <a:srgbClr val="002060"/>
              </a:solidFill>
            </a:endParaRPr>
          </a:p>
        </p:txBody>
      </p:sp>
      <p:sp>
        <p:nvSpPr>
          <p:cNvPr id="6" name="TextBox 5"/>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graphicFrame>
        <p:nvGraphicFramePr>
          <p:cNvPr id="8" name="Table 7"/>
          <p:cNvGraphicFramePr>
            <a:graphicFrameLocks noGrp="1"/>
          </p:cNvGraphicFramePr>
          <p:nvPr/>
        </p:nvGraphicFramePr>
        <p:xfrm>
          <a:off x="263856" y="2882624"/>
          <a:ext cx="8610600" cy="3795680"/>
        </p:xfrm>
        <a:graphic>
          <a:graphicData uri="http://schemas.openxmlformats.org/drawingml/2006/table">
            <a:tbl>
              <a:tblPr firstRow="1" bandRow="1">
                <a:tableStyleId>{93296810-A885-4BE3-A3E7-6D5BEEA58F35}</a:tableStyleId>
              </a:tblPr>
              <a:tblGrid>
                <a:gridCol w="838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3276600">
                  <a:extLst>
                    <a:ext uri="{9D8B030D-6E8A-4147-A177-3AD203B41FA5}">
                      <a16:colId xmlns:a16="http://schemas.microsoft.com/office/drawing/2014/main" val="20003"/>
                    </a:ext>
                  </a:extLst>
                </a:gridCol>
              </a:tblGrid>
              <a:tr h="335310">
                <a:tc>
                  <a:txBody>
                    <a:bodyPr/>
                    <a:lstStyle/>
                    <a:p>
                      <a:pPr algn="ctr"/>
                      <a:r>
                        <a:rPr lang="en-US" sz="1400" dirty="0" err="1">
                          <a:latin typeface="Verdana" pitchFamily="34" charset="0"/>
                          <a:ea typeface="Verdana" pitchFamily="34" charset="0"/>
                          <a:cs typeface="Verdana" pitchFamily="34" charset="0"/>
                        </a:rPr>
                        <a:t>Sl.No</a:t>
                      </a:r>
                      <a:r>
                        <a:rPr lang="en-US" sz="1400" dirty="0">
                          <a:latin typeface="Verdana" pitchFamily="34" charset="0"/>
                          <a:ea typeface="Verdana" pitchFamily="34" charset="0"/>
                          <a:cs typeface="Verdana" pitchFamily="34" charset="0"/>
                        </a:rPr>
                        <a:t>.</a:t>
                      </a:r>
                    </a:p>
                  </a:txBody>
                  <a:tcPr marL="91434" marR="91434" marT="45722" marB="45722"/>
                </a:tc>
                <a:tc>
                  <a:txBody>
                    <a:bodyPr/>
                    <a:lstStyle/>
                    <a:p>
                      <a:pPr algn="ctr"/>
                      <a:r>
                        <a:rPr lang="en-US" sz="1400" dirty="0">
                          <a:latin typeface="Verdana" pitchFamily="34" charset="0"/>
                          <a:ea typeface="Verdana" pitchFamily="34" charset="0"/>
                          <a:cs typeface="Verdana" pitchFamily="34" charset="0"/>
                        </a:rPr>
                        <a:t>Type</a:t>
                      </a:r>
                    </a:p>
                  </a:txBody>
                  <a:tcPr marL="91434" marR="91434" marT="45722" marB="45722"/>
                </a:tc>
                <a:tc>
                  <a:txBody>
                    <a:bodyPr/>
                    <a:lstStyle/>
                    <a:p>
                      <a:pPr algn="ctr"/>
                      <a:r>
                        <a:rPr lang="en-US" sz="1400" dirty="0">
                          <a:latin typeface="Verdana" pitchFamily="34" charset="0"/>
                          <a:ea typeface="Verdana" pitchFamily="34" charset="0"/>
                          <a:cs typeface="Verdana" pitchFamily="34" charset="0"/>
                        </a:rPr>
                        <a:t>Register width</a:t>
                      </a:r>
                    </a:p>
                  </a:txBody>
                  <a:tcPr marL="91434" marR="91434" marT="45722" marB="45722"/>
                </a:tc>
                <a:tc>
                  <a:txBody>
                    <a:bodyPr/>
                    <a:lstStyle/>
                    <a:p>
                      <a:pPr algn="ctr"/>
                      <a:r>
                        <a:rPr lang="en-US" sz="1400" dirty="0">
                          <a:latin typeface="Verdana" pitchFamily="34" charset="0"/>
                          <a:ea typeface="Verdana" pitchFamily="34" charset="0"/>
                          <a:cs typeface="Verdana" pitchFamily="34" charset="0"/>
                        </a:rPr>
                        <a:t>Name of register</a:t>
                      </a:r>
                    </a:p>
                  </a:txBody>
                  <a:tcPr marL="91434" marR="91434" marT="45722" marB="45722"/>
                </a:tc>
                <a:extLst>
                  <a:ext uri="{0D108BD9-81ED-4DB2-BD59-A6C34878D82A}">
                    <a16:rowId xmlns:a16="http://schemas.microsoft.com/office/drawing/2014/main" val="10000"/>
                  </a:ext>
                </a:extLst>
              </a:tr>
              <a:tr h="501594">
                <a:tc rowSpan="2">
                  <a:txBody>
                    <a:bodyPr/>
                    <a:lstStyle/>
                    <a:p>
                      <a:pPr algn="ctr"/>
                      <a:r>
                        <a:rPr lang="en-US" sz="1400" b="1" dirty="0">
                          <a:latin typeface="Verdana" pitchFamily="34" charset="0"/>
                          <a:ea typeface="Verdana" pitchFamily="34" charset="0"/>
                          <a:cs typeface="Verdana" pitchFamily="34" charset="0"/>
                        </a:rPr>
                        <a:t>1</a:t>
                      </a:r>
                    </a:p>
                  </a:txBody>
                  <a:tcPr marL="91434" marR="91434" marT="45722" marB="45722"/>
                </a:tc>
                <a:tc rowSpan="2">
                  <a:txBody>
                    <a:bodyPr/>
                    <a:lstStyle/>
                    <a:p>
                      <a:r>
                        <a:rPr lang="en-US" sz="1400" b="1" dirty="0">
                          <a:latin typeface="Verdana" pitchFamily="34" charset="0"/>
                          <a:ea typeface="Verdana" pitchFamily="34" charset="0"/>
                          <a:cs typeface="Verdana" pitchFamily="34" charset="0"/>
                        </a:rPr>
                        <a:t>General purpose register</a:t>
                      </a:r>
                    </a:p>
                  </a:txBody>
                  <a:tcPr marL="91434" marR="91434" marT="45722" marB="45722"/>
                </a:tc>
                <a:tc>
                  <a:txBody>
                    <a:bodyPr/>
                    <a:lstStyle/>
                    <a:p>
                      <a:r>
                        <a:rPr lang="en-US" sz="1400" b="1" dirty="0">
                          <a:latin typeface="Verdana" pitchFamily="34" charset="0"/>
                          <a:ea typeface="Verdana" pitchFamily="34" charset="0"/>
                          <a:cs typeface="Verdana" pitchFamily="34" charset="0"/>
                        </a:rPr>
                        <a:t>16 bit</a:t>
                      </a:r>
                    </a:p>
                  </a:txBody>
                  <a:tcPr marL="91434" marR="91434" marT="45722" marB="45722"/>
                </a:tc>
                <a:tc>
                  <a:txBody>
                    <a:bodyPr/>
                    <a:lstStyle/>
                    <a:p>
                      <a:r>
                        <a:rPr lang="en-US" sz="1400" b="1" dirty="0">
                          <a:latin typeface="Verdana" pitchFamily="34" charset="0"/>
                          <a:ea typeface="Verdana" pitchFamily="34" charset="0"/>
                          <a:cs typeface="Verdana" pitchFamily="34" charset="0"/>
                        </a:rPr>
                        <a:t>AX, BX, CX, DX</a:t>
                      </a:r>
                    </a:p>
                  </a:txBody>
                  <a:tcPr marL="91434" marR="91434" marT="45722" marB="45722"/>
                </a:tc>
                <a:extLst>
                  <a:ext uri="{0D108BD9-81ED-4DB2-BD59-A6C34878D82A}">
                    <a16:rowId xmlns:a16="http://schemas.microsoft.com/office/drawing/2014/main" val="10001"/>
                  </a:ext>
                </a:extLst>
              </a:tr>
              <a:tr h="473551">
                <a:tc vMerge="1">
                  <a:txBody>
                    <a:bodyPr/>
                    <a:lstStyle/>
                    <a:p>
                      <a:endParaRPr lang="en-US"/>
                    </a:p>
                  </a:txBody>
                  <a:tcPr/>
                </a:tc>
                <a:tc vMerge="1">
                  <a:txBody>
                    <a:bodyPr/>
                    <a:lstStyle/>
                    <a:p>
                      <a:endParaRPr lang="en-US"/>
                    </a:p>
                  </a:txBody>
                  <a:tcPr/>
                </a:tc>
                <a:tc>
                  <a:txBody>
                    <a:bodyPr/>
                    <a:lstStyle/>
                    <a:p>
                      <a:r>
                        <a:rPr lang="en-US" sz="1400" b="1" dirty="0">
                          <a:latin typeface="Verdana" pitchFamily="34" charset="0"/>
                          <a:ea typeface="Verdana" pitchFamily="34" charset="0"/>
                          <a:cs typeface="Verdana" pitchFamily="34" charset="0"/>
                        </a:rPr>
                        <a:t>8 bit</a:t>
                      </a:r>
                    </a:p>
                  </a:txBody>
                  <a:tcPr marL="91434" marR="91434" marT="45722" marB="45722"/>
                </a:tc>
                <a:tc>
                  <a:txBody>
                    <a:bodyPr/>
                    <a:lstStyle/>
                    <a:p>
                      <a:r>
                        <a:rPr lang="en-US" sz="1400" b="1" dirty="0">
                          <a:latin typeface="Verdana" pitchFamily="34" charset="0"/>
                          <a:ea typeface="Verdana" pitchFamily="34" charset="0"/>
                          <a:cs typeface="Verdana" pitchFamily="34" charset="0"/>
                        </a:rPr>
                        <a:t>AL, AH, BL, BH, CL, CH, DL,</a:t>
                      </a:r>
                      <a:r>
                        <a:rPr lang="en-US" sz="1400" b="1" baseline="0" dirty="0">
                          <a:latin typeface="Verdana" pitchFamily="34" charset="0"/>
                          <a:ea typeface="Verdana" pitchFamily="34" charset="0"/>
                          <a:cs typeface="Verdana" pitchFamily="34" charset="0"/>
                        </a:rPr>
                        <a:t> DH</a:t>
                      </a:r>
                      <a:endParaRPr lang="en-US" sz="14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a16="http://schemas.microsoft.com/office/drawing/2014/main" val="10002"/>
                  </a:ext>
                </a:extLst>
              </a:tr>
              <a:tr h="497045">
                <a:tc>
                  <a:txBody>
                    <a:bodyPr/>
                    <a:lstStyle/>
                    <a:p>
                      <a:pPr algn="ctr"/>
                      <a:r>
                        <a:rPr lang="en-US" sz="1400" b="1" dirty="0">
                          <a:latin typeface="Verdana" pitchFamily="34" charset="0"/>
                          <a:ea typeface="Verdana" pitchFamily="34" charset="0"/>
                          <a:cs typeface="Verdana" pitchFamily="34" charset="0"/>
                        </a:rPr>
                        <a:t>2</a:t>
                      </a:r>
                    </a:p>
                  </a:txBody>
                  <a:tcPr marL="91434" marR="91434" marT="45722" marB="45722"/>
                </a:tc>
                <a:tc>
                  <a:txBody>
                    <a:bodyPr/>
                    <a:lstStyle/>
                    <a:p>
                      <a:r>
                        <a:rPr lang="en-US" sz="1400" b="1" dirty="0">
                          <a:latin typeface="Verdana" pitchFamily="34" charset="0"/>
                          <a:ea typeface="Verdana" pitchFamily="34" charset="0"/>
                          <a:cs typeface="Verdana" pitchFamily="34" charset="0"/>
                        </a:rPr>
                        <a:t>Pointer</a:t>
                      </a:r>
                      <a:r>
                        <a:rPr lang="en-US" sz="1400" b="1" baseline="0" dirty="0">
                          <a:latin typeface="Verdana" pitchFamily="34" charset="0"/>
                          <a:ea typeface="Verdana" pitchFamily="34" charset="0"/>
                          <a:cs typeface="Verdana" pitchFamily="34" charset="0"/>
                        </a:rPr>
                        <a:t> register</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a:latin typeface="Verdana" pitchFamily="34" charset="0"/>
                          <a:ea typeface="Verdana" pitchFamily="34" charset="0"/>
                          <a:cs typeface="Verdana" pitchFamily="34" charset="0"/>
                        </a:rPr>
                        <a:t>16 bit</a:t>
                      </a:r>
                    </a:p>
                  </a:txBody>
                  <a:tcPr marL="91434" marR="91434" marT="45722" marB="45722"/>
                </a:tc>
                <a:tc>
                  <a:txBody>
                    <a:bodyPr/>
                    <a:lstStyle/>
                    <a:p>
                      <a:r>
                        <a:rPr lang="en-US" sz="1400" b="1" dirty="0">
                          <a:latin typeface="Verdana" pitchFamily="34" charset="0"/>
                          <a:ea typeface="Verdana" pitchFamily="34" charset="0"/>
                          <a:cs typeface="Verdana" pitchFamily="34" charset="0"/>
                        </a:rPr>
                        <a:t>SP, BP</a:t>
                      </a:r>
                    </a:p>
                  </a:txBody>
                  <a:tcPr marL="91434" marR="91434" marT="45722" marB="45722"/>
                </a:tc>
                <a:extLst>
                  <a:ext uri="{0D108BD9-81ED-4DB2-BD59-A6C34878D82A}">
                    <a16:rowId xmlns:a16="http://schemas.microsoft.com/office/drawing/2014/main" val="10003"/>
                  </a:ext>
                </a:extLst>
              </a:tr>
              <a:tr h="497045">
                <a:tc>
                  <a:txBody>
                    <a:bodyPr/>
                    <a:lstStyle/>
                    <a:p>
                      <a:pPr algn="ctr"/>
                      <a:r>
                        <a:rPr lang="en-US" sz="1400" b="1" dirty="0">
                          <a:latin typeface="Verdana" pitchFamily="34" charset="0"/>
                          <a:ea typeface="Verdana" pitchFamily="34" charset="0"/>
                          <a:cs typeface="Verdana" pitchFamily="34" charset="0"/>
                        </a:rPr>
                        <a:t>3</a:t>
                      </a:r>
                    </a:p>
                  </a:txBody>
                  <a:tcPr marL="91434" marR="91434" marT="45722" marB="45722"/>
                </a:tc>
                <a:tc>
                  <a:txBody>
                    <a:bodyPr/>
                    <a:lstStyle/>
                    <a:p>
                      <a:r>
                        <a:rPr lang="en-US" sz="1400" b="1" dirty="0">
                          <a:latin typeface="Verdana" pitchFamily="34" charset="0"/>
                          <a:ea typeface="Verdana" pitchFamily="34" charset="0"/>
                          <a:cs typeface="Verdana" pitchFamily="34" charset="0"/>
                        </a:rPr>
                        <a:t>Index register</a:t>
                      </a:r>
                    </a:p>
                  </a:txBody>
                  <a:tcPr marL="91434" marR="91434" marT="45722" marB="45722"/>
                </a:tc>
                <a:tc>
                  <a:txBody>
                    <a:bodyPr/>
                    <a:lstStyle/>
                    <a:p>
                      <a:r>
                        <a:rPr lang="en-US" sz="1400" b="1" dirty="0">
                          <a:latin typeface="Verdana" pitchFamily="34" charset="0"/>
                          <a:ea typeface="Verdana" pitchFamily="34" charset="0"/>
                          <a:cs typeface="Verdana" pitchFamily="34" charset="0"/>
                        </a:rPr>
                        <a:t>16 bit</a:t>
                      </a:r>
                    </a:p>
                  </a:txBody>
                  <a:tcPr marL="91434" marR="91434" marT="45722" marB="45722"/>
                </a:tc>
                <a:tc>
                  <a:txBody>
                    <a:bodyPr/>
                    <a:lstStyle/>
                    <a:p>
                      <a:r>
                        <a:rPr lang="en-US" sz="1400" b="1" dirty="0">
                          <a:latin typeface="Verdana" pitchFamily="34" charset="0"/>
                          <a:ea typeface="Verdana" pitchFamily="34" charset="0"/>
                          <a:cs typeface="Verdana" pitchFamily="34" charset="0"/>
                        </a:rPr>
                        <a:t>SI, DI</a:t>
                      </a:r>
                    </a:p>
                  </a:txBody>
                  <a:tcPr marL="91434" marR="91434" marT="45722" marB="45722"/>
                </a:tc>
                <a:extLst>
                  <a:ext uri="{0D108BD9-81ED-4DB2-BD59-A6C34878D82A}">
                    <a16:rowId xmlns:a16="http://schemas.microsoft.com/office/drawing/2014/main" val="10004"/>
                  </a:ext>
                </a:extLst>
              </a:tr>
              <a:tr h="497045">
                <a:tc>
                  <a:txBody>
                    <a:bodyPr/>
                    <a:lstStyle/>
                    <a:p>
                      <a:pPr algn="ctr"/>
                      <a:r>
                        <a:rPr lang="en-US" sz="1400" b="1" dirty="0">
                          <a:latin typeface="Verdana" pitchFamily="34" charset="0"/>
                          <a:ea typeface="Verdana" pitchFamily="34" charset="0"/>
                          <a:cs typeface="Verdana" pitchFamily="34" charset="0"/>
                        </a:rPr>
                        <a:t>4</a:t>
                      </a:r>
                    </a:p>
                  </a:txBody>
                  <a:tcPr marL="91434" marR="91434" marT="45722" marB="45722"/>
                </a:tc>
                <a:tc>
                  <a:txBody>
                    <a:bodyPr/>
                    <a:lstStyle/>
                    <a:p>
                      <a:r>
                        <a:rPr lang="en-US" sz="1400" b="1" dirty="0">
                          <a:latin typeface="Verdana" pitchFamily="34" charset="0"/>
                          <a:ea typeface="Verdana" pitchFamily="34" charset="0"/>
                          <a:cs typeface="Verdana" pitchFamily="34" charset="0"/>
                        </a:rPr>
                        <a:t>Instruction Pointer</a:t>
                      </a:r>
                    </a:p>
                  </a:txBody>
                  <a:tcPr marL="91434" marR="91434" marT="45722" marB="45722"/>
                </a:tc>
                <a:tc>
                  <a:txBody>
                    <a:bodyPr/>
                    <a:lstStyle/>
                    <a:p>
                      <a:r>
                        <a:rPr lang="en-US" sz="1400" b="1" dirty="0">
                          <a:latin typeface="Verdana" pitchFamily="34" charset="0"/>
                          <a:ea typeface="Verdana" pitchFamily="34" charset="0"/>
                          <a:cs typeface="Verdana" pitchFamily="34" charset="0"/>
                        </a:rPr>
                        <a:t>16 bit</a:t>
                      </a:r>
                    </a:p>
                  </a:txBody>
                  <a:tcPr marL="91434" marR="91434" marT="45722" marB="45722"/>
                </a:tc>
                <a:tc>
                  <a:txBody>
                    <a:bodyPr/>
                    <a:lstStyle/>
                    <a:p>
                      <a:r>
                        <a:rPr lang="en-US" sz="1400" b="1" dirty="0">
                          <a:latin typeface="Verdana" pitchFamily="34" charset="0"/>
                          <a:ea typeface="Verdana" pitchFamily="34" charset="0"/>
                          <a:cs typeface="Verdana" pitchFamily="34" charset="0"/>
                        </a:rPr>
                        <a:t>IP</a:t>
                      </a:r>
                    </a:p>
                  </a:txBody>
                  <a:tcPr marL="91434" marR="91434" marT="45722" marB="45722"/>
                </a:tc>
                <a:extLst>
                  <a:ext uri="{0D108BD9-81ED-4DB2-BD59-A6C34878D82A}">
                    <a16:rowId xmlns:a16="http://schemas.microsoft.com/office/drawing/2014/main" val="10005"/>
                  </a:ext>
                </a:extLst>
              </a:tr>
              <a:tr h="497045">
                <a:tc>
                  <a:txBody>
                    <a:bodyPr/>
                    <a:lstStyle/>
                    <a:p>
                      <a:pPr algn="ctr"/>
                      <a:r>
                        <a:rPr lang="en-US" sz="1400" b="1" dirty="0">
                          <a:latin typeface="Verdana" pitchFamily="34" charset="0"/>
                          <a:ea typeface="Verdana" pitchFamily="34" charset="0"/>
                          <a:cs typeface="Verdana" pitchFamily="34" charset="0"/>
                        </a:rPr>
                        <a:t>5</a:t>
                      </a:r>
                    </a:p>
                  </a:txBody>
                  <a:tcPr marL="91434" marR="91434" marT="45722" marB="45722"/>
                </a:tc>
                <a:tc>
                  <a:txBody>
                    <a:bodyPr/>
                    <a:lstStyle/>
                    <a:p>
                      <a:r>
                        <a:rPr lang="en-US" sz="1400" b="1" dirty="0">
                          <a:latin typeface="Verdana" pitchFamily="34" charset="0"/>
                          <a:ea typeface="Verdana" pitchFamily="34" charset="0"/>
                          <a:cs typeface="Verdana" pitchFamily="34" charset="0"/>
                        </a:rPr>
                        <a:t>Segment register</a:t>
                      </a:r>
                    </a:p>
                  </a:txBody>
                  <a:tcPr marL="91434" marR="91434" marT="45722" marB="45722"/>
                </a:tc>
                <a:tc>
                  <a:txBody>
                    <a:bodyPr/>
                    <a:lstStyle/>
                    <a:p>
                      <a:r>
                        <a:rPr lang="en-US" sz="1400" b="1" dirty="0">
                          <a:latin typeface="Verdana" pitchFamily="34" charset="0"/>
                          <a:ea typeface="Verdana" pitchFamily="34" charset="0"/>
                          <a:cs typeface="Verdana" pitchFamily="34" charset="0"/>
                        </a:rPr>
                        <a:t>16 bit</a:t>
                      </a:r>
                    </a:p>
                  </a:txBody>
                  <a:tcPr marL="91434" marR="91434" marT="45722" marB="45722"/>
                </a:tc>
                <a:tc>
                  <a:txBody>
                    <a:bodyPr/>
                    <a:lstStyle/>
                    <a:p>
                      <a:r>
                        <a:rPr lang="en-US" sz="1400" b="1" dirty="0">
                          <a:latin typeface="Verdana" pitchFamily="34" charset="0"/>
                          <a:ea typeface="Verdana" pitchFamily="34" charset="0"/>
                          <a:cs typeface="Verdana" pitchFamily="34" charset="0"/>
                        </a:rPr>
                        <a:t>CS,</a:t>
                      </a:r>
                      <a:r>
                        <a:rPr lang="en-US" sz="1400" b="1" baseline="0" dirty="0">
                          <a:latin typeface="Verdana" pitchFamily="34" charset="0"/>
                          <a:ea typeface="Verdana" pitchFamily="34" charset="0"/>
                          <a:cs typeface="Verdana" pitchFamily="34" charset="0"/>
                        </a:rPr>
                        <a:t> DS, SS, ES</a:t>
                      </a:r>
                      <a:endParaRPr lang="en-US" sz="14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a16="http://schemas.microsoft.com/office/drawing/2014/main" val="10006"/>
                  </a:ext>
                </a:extLst>
              </a:tr>
              <a:tr h="497045">
                <a:tc>
                  <a:txBody>
                    <a:bodyPr/>
                    <a:lstStyle/>
                    <a:p>
                      <a:pPr algn="ctr"/>
                      <a:r>
                        <a:rPr lang="en-US" sz="1400" b="1" dirty="0">
                          <a:latin typeface="Verdana" pitchFamily="34" charset="0"/>
                          <a:ea typeface="Verdana" pitchFamily="34" charset="0"/>
                          <a:cs typeface="Verdana" pitchFamily="34" charset="0"/>
                        </a:rPr>
                        <a:t>6</a:t>
                      </a:r>
                    </a:p>
                  </a:txBody>
                  <a:tcPr marL="91434" marR="91434" marT="45722" marB="45722"/>
                </a:tc>
                <a:tc>
                  <a:txBody>
                    <a:bodyPr/>
                    <a:lstStyle/>
                    <a:p>
                      <a:r>
                        <a:rPr lang="en-US" sz="1400" b="1" dirty="0">
                          <a:latin typeface="Verdana" pitchFamily="34" charset="0"/>
                          <a:ea typeface="Verdana" pitchFamily="34" charset="0"/>
                          <a:cs typeface="Verdana" pitchFamily="34" charset="0"/>
                        </a:rPr>
                        <a:t>Flag (PSW)</a:t>
                      </a:r>
                    </a:p>
                  </a:txBody>
                  <a:tcPr marL="91434" marR="91434" marT="45722" marB="45722"/>
                </a:tc>
                <a:tc>
                  <a:txBody>
                    <a:bodyPr/>
                    <a:lstStyle/>
                    <a:p>
                      <a:r>
                        <a:rPr lang="en-US" sz="1400" b="1" dirty="0">
                          <a:latin typeface="Verdana" pitchFamily="34" charset="0"/>
                          <a:ea typeface="Verdana" pitchFamily="34" charset="0"/>
                          <a:cs typeface="Verdana" pitchFamily="34" charset="0"/>
                        </a:rPr>
                        <a:t>16 bit</a:t>
                      </a:r>
                    </a:p>
                  </a:txBody>
                  <a:tcPr marL="91434" marR="91434" marT="45722" marB="45722"/>
                </a:tc>
                <a:tc>
                  <a:txBody>
                    <a:bodyPr/>
                    <a:lstStyle/>
                    <a:p>
                      <a:r>
                        <a:rPr lang="en-US" sz="1400" b="1" dirty="0">
                          <a:latin typeface="Verdana" pitchFamily="34" charset="0"/>
                          <a:ea typeface="Verdana" pitchFamily="34" charset="0"/>
                          <a:cs typeface="Verdana" pitchFamily="34" charset="0"/>
                        </a:rPr>
                        <a:t>Flag register</a:t>
                      </a:r>
                    </a:p>
                  </a:txBody>
                  <a:tcPr marL="91434" marR="91434" marT="45722" marB="45722"/>
                </a:tc>
                <a:extLst>
                  <a:ext uri="{0D108BD9-81ED-4DB2-BD59-A6C34878D82A}">
                    <a16:rowId xmlns:a16="http://schemas.microsoft.com/office/drawing/2014/main" val="10007"/>
                  </a:ext>
                </a:extLst>
              </a:tr>
            </a:tbl>
          </a:graphicData>
        </a:graphic>
      </p:graphicFrame>
      <p:sp>
        <p:nvSpPr>
          <p:cNvPr id="9" name="Rectangle 8"/>
          <p:cNvSpPr/>
          <p:nvPr/>
        </p:nvSpPr>
        <p:spPr>
          <a:xfrm>
            <a:off x="152400" y="990600"/>
            <a:ext cx="1905000" cy="830997"/>
          </a:xfrm>
          <a:prstGeom prst="rect">
            <a:avLst/>
          </a:prstGeom>
        </p:spPr>
        <p:txBody>
          <a:bodyPr wrap="square">
            <a:spAutoFit/>
          </a:bodyPr>
          <a:lstStyle/>
          <a:p>
            <a:pPr algn="r"/>
            <a:r>
              <a:rPr lang="en-US" sz="1600" b="1" dirty="0">
                <a:solidFill>
                  <a:srgbClr val="0070C0"/>
                </a:solidFill>
                <a:latin typeface="Verdana" pitchFamily="34" charset="0"/>
                <a:ea typeface="Verdana" pitchFamily="34" charset="0"/>
                <a:cs typeface="Verdana" pitchFamily="34" charset="0"/>
              </a:rPr>
              <a:t>8086 registers categorized into 4 groups </a:t>
            </a:r>
          </a:p>
        </p:txBody>
      </p:sp>
      <p:cxnSp>
        <p:nvCxnSpPr>
          <p:cNvPr id="10" name="Straight Connector 9"/>
          <p:cNvCxnSpPr/>
          <p:nvPr/>
        </p:nvCxnSpPr>
        <p:spPr>
          <a:xfrm>
            <a:off x="2033889" y="1100554"/>
            <a:ext cx="0" cy="12192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14" name="Table 13"/>
          <p:cNvGraphicFramePr>
            <a:graphicFrameLocks noGrp="1"/>
          </p:cNvGraphicFramePr>
          <p:nvPr/>
        </p:nvGraphicFramePr>
        <p:xfrm>
          <a:off x="4038600" y="1295400"/>
          <a:ext cx="5029199" cy="609600"/>
        </p:xfrm>
        <a:graphic>
          <a:graphicData uri="http://schemas.openxmlformats.org/drawingml/2006/table">
            <a:tbl>
              <a:tblPr>
                <a:tableStyleId>{5C22544A-7EE6-4342-B048-85BDC9FD1C3A}</a:tableStyleId>
              </a:tblPr>
              <a:tblGrid>
                <a:gridCol w="298765">
                  <a:extLst>
                    <a:ext uri="{9D8B030D-6E8A-4147-A177-3AD203B41FA5}">
                      <a16:colId xmlns:a16="http://schemas.microsoft.com/office/drawing/2014/main" val="20000"/>
                    </a:ext>
                  </a:extLst>
                </a:gridCol>
                <a:gridCol w="298765">
                  <a:extLst>
                    <a:ext uri="{9D8B030D-6E8A-4147-A177-3AD203B41FA5}">
                      <a16:colId xmlns:a16="http://schemas.microsoft.com/office/drawing/2014/main" val="20001"/>
                    </a:ext>
                  </a:extLst>
                </a:gridCol>
                <a:gridCol w="298765">
                  <a:extLst>
                    <a:ext uri="{9D8B030D-6E8A-4147-A177-3AD203B41FA5}">
                      <a16:colId xmlns:a16="http://schemas.microsoft.com/office/drawing/2014/main" val="20002"/>
                    </a:ext>
                  </a:extLst>
                </a:gridCol>
                <a:gridCol w="298765">
                  <a:extLst>
                    <a:ext uri="{9D8B030D-6E8A-4147-A177-3AD203B41FA5}">
                      <a16:colId xmlns:a16="http://schemas.microsoft.com/office/drawing/2014/main" val="20003"/>
                    </a:ext>
                  </a:extLst>
                </a:gridCol>
                <a:gridCol w="348557">
                  <a:extLst>
                    <a:ext uri="{9D8B030D-6E8A-4147-A177-3AD203B41FA5}">
                      <a16:colId xmlns:a16="http://schemas.microsoft.com/office/drawing/2014/main" val="20004"/>
                    </a:ext>
                  </a:extLst>
                </a:gridCol>
                <a:gridCol w="348557">
                  <a:extLst>
                    <a:ext uri="{9D8B030D-6E8A-4147-A177-3AD203B41FA5}">
                      <a16:colId xmlns:a16="http://schemas.microsoft.com/office/drawing/2014/main" val="20005"/>
                    </a:ext>
                  </a:extLst>
                </a:gridCol>
                <a:gridCol w="348557">
                  <a:extLst>
                    <a:ext uri="{9D8B030D-6E8A-4147-A177-3AD203B41FA5}">
                      <a16:colId xmlns:a16="http://schemas.microsoft.com/office/drawing/2014/main" val="20006"/>
                    </a:ext>
                  </a:extLst>
                </a:gridCol>
                <a:gridCol w="348557">
                  <a:extLst>
                    <a:ext uri="{9D8B030D-6E8A-4147-A177-3AD203B41FA5}">
                      <a16:colId xmlns:a16="http://schemas.microsoft.com/office/drawing/2014/main" val="20007"/>
                    </a:ext>
                  </a:extLst>
                </a:gridCol>
                <a:gridCol w="298765">
                  <a:extLst>
                    <a:ext uri="{9D8B030D-6E8A-4147-A177-3AD203B41FA5}">
                      <a16:colId xmlns:a16="http://schemas.microsoft.com/office/drawing/2014/main" val="20008"/>
                    </a:ext>
                  </a:extLst>
                </a:gridCol>
                <a:gridCol w="298765">
                  <a:extLst>
                    <a:ext uri="{9D8B030D-6E8A-4147-A177-3AD203B41FA5}">
                      <a16:colId xmlns:a16="http://schemas.microsoft.com/office/drawing/2014/main" val="20009"/>
                    </a:ext>
                  </a:extLst>
                </a:gridCol>
                <a:gridCol w="298765">
                  <a:extLst>
                    <a:ext uri="{9D8B030D-6E8A-4147-A177-3AD203B41FA5}">
                      <a16:colId xmlns:a16="http://schemas.microsoft.com/office/drawing/2014/main" val="20010"/>
                    </a:ext>
                  </a:extLst>
                </a:gridCol>
                <a:gridCol w="348557">
                  <a:extLst>
                    <a:ext uri="{9D8B030D-6E8A-4147-A177-3AD203B41FA5}">
                      <a16:colId xmlns:a16="http://schemas.microsoft.com/office/drawing/2014/main" val="20011"/>
                    </a:ext>
                  </a:extLst>
                </a:gridCol>
                <a:gridCol w="298765">
                  <a:extLst>
                    <a:ext uri="{9D8B030D-6E8A-4147-A177-3AD203B41FA5}">
                      <a16:colId xmlns:a16="http://schemas.microsoft.com/office/drawing/2014/main" val="20012"/>
                    </a:ext>
                  </a:extLst>
                </a:gridCol>
                <a:gridCol w="298765">
                  <a:extLst>
                    <a:ext uri="{9D8B030D-6E8A-4147-A177-3AD203B41FA5}">
                      <a16:colId xmlns:a16="http://schemas.microsoft.com/office/drawing/2014/main" val="20013"/>
                    </a:ext>
                  </a:extLst>
                </a:gridCol>
                <a:gridCol w="298765">
                  <a:extLst>
                    <a:ext uri="{9D8B030D-6E8A-4147-A177-3AD203B41FA5}">
                      <a16:colId xmlns:a16="http://schemas.microsoft.com/office/drawing/2014/main" val="20014"/>
                    </a:ext>
                  </a:extLst>
                </a:gridCol>
                <a:gridCol w="298764">
                  <a:extLst>
                    <a:ext uri="{9D8B030D-6E8A-4147-A177-3AD203B41FA5}">
                      <a16:colId xmlns:a16="http://schemas.microsoft.com/office/drawing/2014/main" val="20015"/>
                    </a:ext>
                  </a:extLst>
                </a:gridCol>
              </a:tblGrid>
              <a:tr h="215153">
                <a:tc>
                  <a:txBody>
                    <a:bodyPr/>
                    <a:lstStyle/>
                    <a:p>
                      <a:pPr marL="0" marR="0" algn="ctr">
                        <a:spcBef>
                          <a:spcPts val="0"/>
                        </a:spcBef>
                        <a:spcAft>
                          <a:spcPts val="0"/>
                        </a:spcAft>
                      </a:pPr>
                      <a:r>
                        <a:rPr lang="en-US" sz="900" b="0" dirty="0">
                          <a:effectLst/>
                          <a:latin typeface="Verdana" pitchFamily="34" charset="0"/>
                          <a:ea typeface="Verdana" pitchFamily="34" charset="0"/>
                          <a:cs typeface="Verdana" pitchFamily="34" charset="0"/>
                        </a:rPr>
                        <a:t>15</a:t>
                      </a:r>
                    </a:p>
                  </a:txBody>
                  <a:tcPr marL="68580" marR="68580" marT="0" marB="0">
                    <a:solidFill>
                      <a:schemeClr val="bg1"/>
                    </a:solidFill>
                  </a:tcPr>
                </a:tc>
                <a:tc>
                  <a:txBody>
                    <a:bodyPr/>
                    <a:lstStyle/>
                    <a:p>
                      <a:pPr marL="0" marR="0" algn="ctr">
                        <a:spcBef>
                          <a:spcPts val="0"/>
                        </a:spcBef>
                        <a:spcAft>
                          <a:spcPts val="0"/>
                        </a:spcAft>
                      </a:pPr>
                      <a:r>
                        <a:rPr lang="en-US" sz="900" b="0" dirty="0">
                          <a:effectLst/>
                          <a:latin typeface="Verdana" pitchFamily="34" charset="0"/>
                          <a:ea typeface="Verdana" pitchFamily="34" charset="0"/>
                          <a:cs typeface="Verdana" pitchFamily="34" charset="0"/>
                        </a:rPr>
                        <a:t>14</a:t>
                      </a:r>
                    </a:p>
                  </a:txBody>
                  <a:tcPr marL="68580" marR="68580" marT="0" marB="0">
                    <a:solidFill>
                      <a:schemeClr val="bg1"/>
                    </a:solidFill>
                  </a:tcPr>
                </a:tc>
                <a:tc>
                  <a:txBody>
                    <a:bodyPr/>
                    <a:lstStyle/>
                    <a:p>
                      <a:pPr marL="0" marR="0" algn="ctr">
                        <a:spcBef>
                          <a:spcPts val="0"/>
                        </a:spcBef>
                        <a:spcAft>
                          <a:spcPts val="0"/>
                        </a:spcAft>
                      </a:pPr>
                      <a:r>
                        <a:rPr lang="en-US" sz="900" b="0" dirty="0">
                          <a:effectLst/>
                          <a:latin typeface="Verdana" pitchFamily="34" charset="0"/>
                          <a:ea typeface="Verdana" pitchFamily="34" charset="0"/>
                          <a:cs typeface="Verdana" pitchFamily="34" charset="0"/>
                        </a:rPr>
                        <a:t>13</a:t>
                      </a:r>
                    </a:p>
                  </a:txBody>
                  <a:tcPr marL="68580" marR="68580" marT="0" marB="0">
                    <a:solidFill>
                      <a:schemeClr val="bg1"/>
                    </a:solidFill>
                  </a:tcPr>
                </a:tc>
                <a:tc>
                  <a:txBody>
                    <a:bodyPr/>
                    <a:lstStyle/>
                    <a:p>
                      <a:pPr marL="0" marR="0" algn="ctr">
                        <a:spcBef>
                          <a:spcPts val="0"/>
                        </a:spcBef>
                        <a:spcAft>
                          <a:spcPts val="0"/>
                        </a:spcAft>
                      </a:pPr>
                      <a:r>
                        <a:rPr lang="en-US" sz="900" b="0" dirty="0">
                          <a:effectLst/>
                          <a:latin typeface="Verdana" pitchFamily="34" charset="0"/>
                          <a:ea typeface="Verdana" pitchFamily="34" charset="0"/>
                          <a:cs typeface="Verdana" pitchFamily="34" charset="0"/>
                        </a:rPr>
                        <a:t>12</a:t>
                      </a:r>
                    </a:p>
                  </a:txBody>
                  <a:tcPr marL="68580" marR="68580" marT="0" marB="0">
                    <a:solidFill>
                      <a:schemeClr val="bg1"/>
                    </a:solidFill>
                  </a:tcPr>
                </a:tc>
                <a:tc>
                  <a:txBody>
                    <a:bodyPr/>
                    <a:lstStyle/>
                    <a:p>
                      <a:pPr marL="0" marR="0" algn="ctr">
                        <a:spcBef>
                          <a:spcPts val="0"/>
                        </a:spcBef>
                        <a:spcAft>
                          <a:spcPts val="0"/>
                        </a:spcAft>
                      </a:pPr>
                      <a:r>
                        <a:rPr lang="en-US" sz="900" b="0" dirty="0">
                          <a:effectLst/>
                          <a:latin typeface="Verdana" pitchFamily="34" charset="0"/>
                          <a:ea typeface="Verdana" pitchFamily="34" charset="0"/>
                          <a:cs typeface="Verdana" pitchFamily="34" charset="0"/>
                        </a:rPr>
                        <a:t>11</a:t>
                      </a:r>
                    </a:p>
                  </a:txBody>
                  <a:tcPr marL="68580" marR="68580" marT="0" marB="0">
                    <a:solidFill>
                      <a:schemeClr val="bg1"/>
                    </a:solidFill>
                  </a:tcPr>
                </a:tc>
                <a:tc>
                  <a:txBody>
                    <a:bodyPr/>
                    <a:lstStyle/>
                    <a:p>
                      <a:pPr marL="0" marR="0" algn="ctr">
                        <a:spcBef>
                          <a:spcPts val="0"/>
                        </a:spcBef>
                        <a:spcAft>
                          <a:spcPts val="0"/>
                        </a:spcAft>
                      </a:pPr>
                      <a:r>
                        <a:rPr lang="en-US" sz="900" b="0" dirty="0">
                          <a:effectLst/>
                          <a:latin typeface="Verdana" pitchFamily="34" charset="0"/>
                          <a:ea typeface="Verdana" pitchFamily="34" charset="0"/>
                          <a:cs typeface="Verdana" pitchFamily="34" charset="0"/>
                        </a:rPr>
                        <a:t>10</a:t>
                      </a:r>
                    </a:p>
                  </a:txBody>
                  <a:tcPr marL="68580" marR="68580" marT="0" marB="0">
                    <a:solidFill>
                      <a:schemeClr val="bg1"/>
                    </a:solidFill>
                  </a:tcPr>
                </a:tc>
                <a:tc>
                  <a:txBody>
                    <a:bodyPr/>
                    <a:lstStyle/>
                    <a:p>
                      <a:pPr marL="0" marR="0" algn="ctr">
                        <a:spcBef>
                          <a:spcPts val="0"/>
                        </a:spcBef>
                        <a:spcAft>
                          <a:spcPts val="0"/>
                        </a:spcAft>
                      </a:pPr>
                      <a:r>
                        <a:rPr lang="en-US" sz="900" b="0" dirty="0">
                          <a:effectLst/>
                          <a:latin typeface="Verdana" pitchFamily="34" charset="0"/>
                          <a:ea typeface="Verdana" pitchFamily="34" charset="0"/>
                          <a:cs typeface="Verdana" pitchFamily="34" charset="0"/>
                        </a:rPr>
                        <a:t>9</a:t>
                      </a:r>
                    </a:p>
                  </a:txBody>
                  <a:tcPr marL="68580" marR="68580" marT="0" marB="0">
                    <a:solidFill>
                      <a:schemeClr val="bg1"/>
                    </a:solidFill>
                  </a:tcPr>
                </a:tc>
                <a:tc>
                  <a:txBody>
                    <a:bodyPr/>
                    <a:lstStyle/>
                    <a:p>
                      <a:pPr marL="0" marR="0" algn="ctr">
                        <a:spcBef>
                          <a:spcPts val="0"/>
                        </a:spcBef>
                        <a:spcAft>
                          <a:spcPts val="0"/>
                        </a:spcAft>
                      </a:pPr>
                      <a:r>
                        <a:rPr lang="en-US" sz="900" b="0" dirty="0">
                          <a:effectLst/>
                          <a:latin typeface="Verdana" pitchFamily="34" charset="0"/>
                          <a:ea typeface="Verdana" pitchFamily="34" charset="0"/>
                          <a:cs typeface="Verdana" pitchFamily="34" charset="0"/>
                        </a:rPr>
                        <a:t>8</a:t>
                      </a:r>
                    </a:p>
                  </a:txBody>
                  <a:tcPr marL="68580" marR="68580" marT="0" marB="0">
                    <a:solidFill>
                      <a:schemeClr val="bg1"/>
                    </a:solidFill>
                  </a:tcPr>
                </a:tc>
                <a:tc>
                  <a:txBody>
                    <a:bodyPr/>
                    <a:lstStyle/>
                    <a:p>
                      <a:pPr marL="0" marR="0" algn="ctr">
                        <a:spcBef>
                          <a:spcPts val="0"/>
                        </a:spcBef>
                        <a:spcAft>
                          <a:spcPts val="0"/>
                        </a:spcAft>
                      </a:pPr>
                      <a:r>
                        <a:rPr lang="en-US" sz="900" b="0" dirty="0">
                          <a:effectLst/>
                          <a:latin typeface="Verdana" pitchFamily="34" charset="0"/>
                          <a:ea typeface="Verdana" pitchFamily="34" charset="0"/>
                          <a:cs typeface="Verdana" pitchFamily="34" charset="0"/>
                        </a:rPr>
                        <a:t>7</a:t>
                      </a:r>
                    </a:p>
                  </a:txBody>
                  <a:tcPr marL="68580" marR="68580" marT="0" marB="0">
                    <a:solidFill>
                      <a:schemeClr val="bg1"/>
                    </a:solidFill>
                  </a:tcPr>
                </a:tc>
                <a:tc>
                  <a:txBody>
                    <a:bodyPr/>
                    <a:lstStyle/>
                    <a:p>
                      <a:pPr marL="0" marR="0" algn="ctr">
                        <a:spcBef>
                          <a:spcPts val="0"/>
                        </a:spcBef>
                        <a:spcAft>
                          <a:spcPts val="0"/>
                        </a:spcAft>
                      </a:pPr>
                      <a:r>
                        <a:rPr lang="en-US" sz="900" b="0" dirty="0">
                          <a:effectLst/>
                          <a:latin typeface="Verdana" pitchFamily="34" charset="0"/>
                          <a:ea typeface="Verdana" pitchFamily="34" charset="0"/>
                          <a:cs typeface="Verdana" pitchFamily="34" charset="0"/>
                        </a:rPr>
                        <a:t>6</a:t>
                      </a:r>
                    </a:p>
                  </a:txBody>
                  <a:tcPr marL="68580" marR="68580" marT="0" marB="0">
                    <a:solidFill>
                      <a:schemeClr val="bg1"/>
                    </a:solidFill>
                  </a:tcPr>
                </a:tc>
                <a:tc>
                  <a:txBody>
                    <a:bodyPr/>
                    <a:lstStyle/>
                    <a:p>
                      <a:pPr marL="0" marR="0" algn="ctr">
                        <a:spcBef>
                          <a:spcPts val="0"/>
                        </a:spcBef>
                        <a:spcAft>
                          <a:spcPts val="0"/>
                        </a:spcAft>
                      </a:pPr>
                      <a:r>
                        <a:rPr lang="en-US" sz="900" b="0" dirty="0">
                          <a:effectLst/>
                          <a:latin typeface="Verdana" pitchFamily="34" charset="0"/>
                          <a:ea typeface="Verdana" pitchFamily="34" charset="0"/>
                          <a:cs typeface="Verdana" pitchFamily="34" charset="0"/>
                        </a:rPr>
                        <a:t>5</a:t>
                      </a:r>
                    </a:p>
                  </a:txBody>
                  <a:tcPr marL="68580" marR="68580" marT="0" marB="0">
                    <a:solidFill>
                      <a:schemeClr val="bg1"/>
                    </a:solidFill>
                  </a:tcPr>
                </a:tc>
                <a:tc>
                  <a:txBody>
                    <a:bodyPr/>
                    <a:lstStyle/>
                    <a:p>
                      <a:pPr marL="0" marR="0" algn="ctr">
                        <a:spcBef>
                          <a:spcPts val="0"/>
                        </a:spcBef>
                        <a:spcAft>
                          <a:spcPts val="0"/>
                        </a:spcAft>
                      </a:pPr>
                      <a:r>
                        <a:rPr lang="en-US" sz="900" b="0" dirty="0">
                          <a:effectLst/>
                          <a:latin typeface="Verdana" pitchFamily="34" charset="0"/>
                          <a:ea typeface="Verdana" pitchFamily="34" charset="0"/>
                          <a:cs typeface="Verdana" pitchFamily="34" charset="0"/>
                        </a:rPr>
                        <a:t>4</a:t>
                      </a:r>
                    </a:p>
                  </a:txBody>
                  <a:tcPr marL="68580" marR="68580" marT="0" marB="0">
                    <a:solidFill>
                      <a:schemeClr val="bg1"/>
                    </a:solidFill>
                  </a:tcPr>
                </a:tc>
                <a:tc>
                  <a:txBody>
                    <a:bodyPr/>
                    <a:lstStyle/>
                    <a:p>
                      <a:pPr marL="0" marR="0" algn="ctr">
                        <a:spcBef>
                          <a:spcPts val="0"/>
                        </a:spcBef>
                        <a:spcAft>
                          <a:spcPts val="0"/>
                        </a:spcAft>
                      </a:pPr>
                      <a:r>
                        <a:rPr lang="en-US" sz="900" b="0" dirty="0">
                          <a:effectLst/>
                          <a:latin typeface="Verdana" pitchFamily="34" charset="0"/>
                          <a:ea typeface="Verdana" pitchFamily="34" charset="0"/>
                          <a:cs typeface="Verdana" pitchFamily="34" charset="0"/>
                        </a:rPr>
                        <a:t>3</a:t>
                      </a:r>
                    </a:p>
                  </a:txBody>
                  <a:tcPr marL="68580" marR="68580" marT="0" marB="0">
                    <a:solidFill>
                      <a:schemeClr val="bg1"/>
                    </a:solidFill>
                  </a:tcPr>
                </a:tc>
                <a:tc>
                  <a:txBody>
                    <a:bodyPr/>
                    <a:lstStyle/>
                    <a:p>
                      <a:pPr marL="0" marR="0" algn="ctr">
                        <a:spcBef>
                          <a:spcPts val="0"/>
                        </a:spcBef>
                        <a:spcAft>
                          <a:spcPts val="0"/>
                        </a:spcAft>
                      </a:pPr>
                      <a:r>
                        <a:rPr lang="en-US" sz="900" b="0" dirty="0">
                          <a:effectLst/>
                          <a:latin typeface="Verdana" pitchFamily="34" charset="0"/>
                          <a:ea typeface="Verdana" pitchFamily="34" charset="0"/>
                          <a:cs typeface="Verdana" pitchFamily="34" charset="0"/>
                        </a:rPr>
                        <a:t>2</a:t>
                      </a:r>
                    </a:p>
                  </a:txBody>
                  <a:tcPr marL="68580" marR="68580" marT="0" marB="0">
                    <a:solidFill>
                      <a:schemeClr val="bg1"/>
                    </a:solidFill>
                  </a:tcPr>
                </a:tc>
                <a:tc>
                  <a:txBody>
                    <a:bodyPr/>
                    <a:lstStyle/>
                    <a:p>
                      <a:pPr marL="0" marR="0" algn="ctr">
                        <a:spcBef>
                          <a:spcPts val="0"/>
                        </a:spcBef>
                        <a:spcAft>
                          <a:spcPts val="0"/>
                        </a:spcAft>
                      </a:pPr>
                      <a:r>
                        <a:rPr lang="en-US" sz="900" b="0" dirty="0">
                          <a:effectLst/>
                          <a:latin typeface="Verdana" pitchFamily="34" charset="0"/>
                          <a:ea typeface="Verdana" pitchFamily="34" charset="0"/>
                          <a:cs typeface="Verdana" pitchFamily="34" charset="0"/>
                        </a:rPr>
                        <a:t>1</a:t>
                      </a:r>
                    </a:p>
                  </a:txBody>
                  <a:tcPr marL="68580" marR="68580" marT="0" marB="0">
                    <a:solidFill>
                      <a:schemeClr val="bg1"/>
                    </a:solidFill>
                  </a:tcPr>
                </a:tc>
                <a:tc>
                  <a:txBody>
                    <a:bodyPr/>
                    <a:lstStyle/>
                    <a:p>
                      <a:pPr marL="0" marR="0" algn="ctr">
                        <a:spcBef>
                          <a:spcPts val="0"/>
                        </a:spcBef>
                        <a:spcAft>
                          <a:spcPts val="0"/>
                        </a:spcAft>
                      </a:pPr>
                      <a:r>
                        <a:rPr lang="en-US" sz="900" b="0" dirty="0">
                          <a:effectLst/>
                          <a:latin typeface="Verdana" pitchFamily="34" charset="0"/>
                          <a:ea typeface="Verdana" pitchFamily="34" charset="0"/>
                          <a:cs typeface="Verdana" pitchFamily="34" charset="0"/>
                        </a:rPr>
                        <a:t>0</a:t>
                      </a:r>
                    </a:p>
                  </a:txBody>
                  <a:tcPr marL="68580" marR="68580" marT="0" marB="0">
                    <a:solidFill>
                      <a:schemeClr val="bg1"/>
                    </a:solidFill>
                  </a:tcPr>
                </a:tc>
                <a:extLst>
                  <a:ext uri="{0D108BD9-81ED-4DB2-BD59-A6C34878D82A}">
                    <a16:rowId xmlns:a16="http://schemas.microsoft.com/office/drawing/2014/main" val="10000"/>
                  </a:ext>
                </a:extLst>
              </a:tr>
              <a:tr h="394447">
                <a:tc>
                  <a:txBody>
                    <a:bodyPr/>
                    <a:lstStyle/>
                    <a:p>
                      <a:pPr marL="0" marR="0" algn="ctr">
                        <a:spcBef>
                          <a:spcPts val="0"/>
                        </a:spcBef>
                        <a:spcAft>
                          <a:spcPts val="0"/>
                        </a:spcAft>
                      </a:pPr>
                      <a:endParaRPr lang="en-US" sz="900" b="1" dirty="0">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900" b="1" dirty="0">
                          <a:solidFill>
                            <a:schemeClr val="bg1"/>
                          </a:solidFill>
                          <a:effectLst/>
                          <a:latin typeface="Verdana" pitchFamily="34" charset="0"/>
                          <a:ea typeface="Verdana" pitchFamily="34" charset="0"/>
                          <a:cs typeface="Verdana" pitchFamily="34" charset="0"/>
                        </a:rPr>
                        <a:t>OF</a:t>
                      </a:r>
                    </a:p>
                  </a:txBody>
                  <a:tcPr marL="68580" marR="68580" marT="0" marB="0">
                    <a:solidFill>
                      <a:srgbClr val="FF0000"/>
                    </a:solidFill>
                  </a:tcPr>
                </a:tc>
                <a:tc>
                  <a:txBody>
                    <a:bodyPr/>
                    <a:lstStyle/>
                    <a:p>
                      <a:pPr marL="0" marR="0" algn="ctr">
                        <a:spcBef>
                          <a:spcPts val="0"/>
                        </a:spcBef>
                        <a:spcAft>
                          <a:spcPts val="0"/>
                        </a:spcAft>
                      </a:pPr>
                      <a:endParaRPr lang="en-US" sz="900" b="1" dirty="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900" b="1" dirty="0">
                          <a:solidFill>
                            <a:schemeClr val="bg1"/>
                          </a:solidFill>
                          <a:effectLst/>
                          <a:latin typeface="Verdana" pitchFamily="34" charset="0"/>
                          <a:ea typeface="Verdana" pitchFamily="34" charset="0"/>
                          <a:cs typeface="Verdana" pitchFamily="34" charset="0"/>
                        </a:rPr>
                        <a:t>DF</a:t>
                      </a:r>
                    </a:p>
                  </a:txBody>
                  <a:tcPr marL="68580" marR="68580" marT="0" marB="0">
                    <a:solidFill>
                      <a:srgbClr val="FF0000"/>
                    </a:solidFill>
                  </a:tcPr>
                </a:tc>
                <a:tc>
                  <a:txBody>
                    <a:bodyPr/>
                    <a:lstStyle/>
                    <a:p>
                      <a:pPr marL="0" marR="0" algn="ctr">
                        <a:spcBef>
                          <a:spcPts val="0"/>
                        </a:spcBef>
                        <a:spcAft>
                          <a:spcPts val="0"/>
                        </a:spcAft>
                      </a:pPr>
                      <a:endParaRPr lang="en-US" sz="900" b="1" dirty="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900" b="1" dirty="0">
                          <a:solidFill>
                            <a:schemeClr val="bg1"/>
                          </a:solidFill>
                          <a:effectLst/>
                          <a:latin typeface="Verdana" pitchFamily="34" charset="0"/>
                          <a:ea typeface="Verdana" pitchFamily="34" charset="0"/>
                          <a:cs typeface="Verdana" pitchFamily="34" charset="0"/>
                        </a:rPr>
                        <a:t>IF</a:t>
                      </a:r>
                    </a:p>
                  </a:txBody>
                  <a:tcPr marL="68580" marR="68580" marT="0" marB="0">
                    <a:solidFill>
                      <a:srgbClr val="FF0000"/>
                    </a:solidFill>
                  </a:tcPr>
                </a:tc>
                <a:tc>
                  <a:txBody>
                    <a:bodyPr/>
                    <a:lstStyle/>
                    <a:p>
                      <a:pPr marL="0" marR="0" algn="ctr">
                        <a:spcBef>
                          <a:spcPts val="0"/>
                        </a:spcBef>
                        <a:spcAft>
                          <a:spcPts val="0"/>
                        </a:spcAft>
                      </a:pPr>
                      <a:endParaRPr lang="en-US" sz="900" b="1" dirty="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900" b="1" dirty="0">
                          <a:solidFill>
                            <a:schemeClr val="bg1"/>
                          </a:solidFill>
                          <a:effectLst/>
                          <a:latin typeface="Verdana" pitchFamily="34" charset="0"/>
                          <a:ea typeface="Verdana" pitchFamily="34" charset="0"/>
                          <a:cs typeface="Verdana" pitchFamily="34" charset="0"/>
                        </a:rPr>
                        <a:t>TF</a:t>
                      </a:r>
                    </a:p>
                  </a:txBody>
                  <a:tcPr marL="68580" marR="68580" marT="0" marB="0">
                    <a:solidFill>
                      <a:srgbClr val="FF0000"/>
                    </a:solidFill>
                  </a:tcPr>
                </a:tc>
                <a:tc>
                  <a:txBody>
                    <a:bodyPr/>
                    <a:lstStyle/>
                    <a:p>
                      <a:pPr marL="0" marR="0" algn="ctr">
                        <a:spcBef>
                          <a:spcPts val="0"/>
                        </a:spcBef>
                        <a:spcAft>
                          <a:spcPts val="0"/>
                        </a:spcAft>
                      </a:pPr>
                      <a:endParaRPr lang="en-US" sz="900" b="1" dirty="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900" b="1" dirty="0">
                          <a:solidFill>
                            <a:schemeClr val="bg1"/>
                          </a:solidFill>
                          <a:effectLst/>
                          <a:latin typeface="Verdana" pitchFamily="34" charset="0"/>
                          <a:ea typeface="Verdana" pitchFamily="34" charset="0"/>
                          <a:cs typeface="Verdana" pitchFamily="34" charset="0"/>
                        </a:rPr>
                        <a:t>SF</a:t>
                      </a:r>
                    </a:p>
                  </a:txBody>
                  <a:tcPr marL="68580" marR="68580" marT="0" marB="0">
                    <a:solidFill>
                      <a:srgbClr val="FF0000"/>
                    </a:solidFill>
                  </a:tcPr>
                </a:tc>
                <a:tc>
                  <a:txBody>
                    <a:bodyPr/>
                    <a:lstStyle/>
                    <a:p>
                      <a:pPr marL="0" marR="0" algn="ctr">
                        <a:spcBef>
                          <a:spcPts val="0"/>
                        </a:spcBef>
                        <a:spcAft>
                          <a:spcPts val="0"/>
                        </a:spcAft>
                      </a:pPr>
                      <a:endParaRPr lang="en-US" sz="900" b="1" dirty="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900" b="1" dirty="0">
                          <a:solidFill>
                            <a:schemeClr val="bg1"/>
                          </a:solidFill>
                          <a:effectLst/>
                          <a:latin typeface="Verdana" pitchFamily="34" charset="0"/>
                          <a:ea typeface="Verdana" pitchFamily="34" charset="0"/>
                          <a:cs typeface="Verdana" pitchFamily="34" charset="0"/>
                        </a:rPr>
                        <a:t>ZF</a:t>
                      </a:r>
                    </a:p>
                  </a:txBody>
                  <a:tcPr marL="68580" marR="68580" marT="0" marB="0">
                    <a:solidFill>
                      <a:srgbClr val="FF0000"/>
                    </a:solidFill>
                  </a:tcPr>
                </a:tc>
                <a:tc>
                  <a:txBody>
                    <a:bodyPr/>
                    <a:lstStyle/>
                    <a:p>
                      <a:pPr marL="0" marR="0" algn="ctr">
                        <a:spcBef>
                          <a:spcPts val="0"/>
                        </a:spcBef>
                        <a:spcAft>
                          <a:spcPts val="0"/>
                        </a:spcAft>
                      </a:pPr>
                      <a:endParaRPr lang="en-US" sz="900" b="1" dirty="0">
                        <a:solidFill>
                          <a:schemeClr val="bg1"/>
                        </a:solidFill>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900" b="1" dirty="0">
                          <a:solidFill>
                            <a:schemeClr val="bg1"/>
                          </a:solidFill>
                          <a:effectLst/>
                          <a:latin typeface="Verdana" pitchFamily="34" charset="0"/>
                          <a:ea typeface="Verdana" pitchFamily="34" charset="0"/>
                          <a:cs typeface="Verdana" pitchFamily="34" charset="0"/>
                        </a:rPr>
                        <a:t>AF</a:t>
                      </a:r>
                    </a:p>
                  </a:txBody>
                  <a:tcPr marL="68580" marR="68580" marT="0" marB="0">
                    <a:solidFill>
                      <a:srgbClr val="FF0000"/>
                    </a:solidFill>
                  </a:tcPr>
                </a:tc>
                <a:tc>
                  <a:txBody>
                    <a:bodyPr/>
                    <a:lstStyle/>
                    <a:p>
                      <a:pPr marL="0" marR="0" algn="ctr">
                        <a:spcBef>
                          <a:spcPts val="0"/>
                        </a:spcBef>
                        <a:spcAft>
                          <a:spcPts val="0"/>
                        </a:spcAft>
                      </a:pPr>
                      <a:endParaRPr lang="en-US" sz="900" b="1" dirty="0">
                        <a:solidFill>
                          <a:schemeClr val="bg1"/>
                        </a:solidFill>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900" b="1" dirty="0">
                          <a:solidFill>
                            <a:schemeClr val="bg1"/>
                          </a:solidFill>
                          <a:effectLst/>
                          <a:latin typeface="Verdana" pitchFamily="34" charset="0"/>
                          <a:ea typeface="Verdana" pitchFamily="34" charset="0"/>
                          <a:cs typeface="Verdana" pitchFamily="34" charset="0"/>
                        </a:rPr>
                        <a:t>PF</a:t>
                      </a:r>
                    </a:p>
                  </a:txBody>
                  <a:tcPr marL="68580" marR="68580" marT="0" marB="0">
                    <a:solidFill>
                      <a:srgbClr val="FF0000"/>
                    </a:solidFill>
                  </a:tcPr>
                </a:tc>
                <a:tc>
                  <a:txBody>
                    <a:bodyPr/>
                    <a:lstStyle/>
                    <a:p>
                      <a:pPr marL="0" marR="0" algn="ctr">
                        <a:spcBef>
                          <a:spcPts val="0"/>
                        </a:spcBef>
                        <a:spcAft>
                          <a:spcPts val="0"/>
                        </a:spcAft>
                      </a:pPr>
                      <a:endParaRPr lang="en-US" sz="900" b="1" dirty="0">
                        <a:solidFill>
                          <a:schemeClr val="bg1"/>
                        </a:solidFill>
                        <a:effectLst/>
                        <a:latin typeface="Verdana" pitchFamily="34" charset="0"/>
                        <a:ea typeface="Verdana" pitchFamily="34" charset="0"/>
                        <a:cs typeface="Verdana" pitchFamily="34" charset="0"/>
                      </a:endParaRPr>
                    </a:p>
                  </a:txBody>
                  <a:tcPr marL="68580" marR="68580" marT="0" marB="0">
                    <a:solidFill>
                      <a:srgbClr val="FF0000"/>
                    </a:solidFill>
                  </a:tcPr>
                </a:tc>
                <a:tc>
                  <a:txBody>
                    <a:bodyPr/>
                    <a:lstStyle/>
                    <a:p>
                      <a:pPr marL="0" marR="0" algn="ctr">
                        <a:spcBef>
                          <a:spcPts val="0"/>
                        </a:spcBef>
                        <a:spcAft>
                          <a:spcPts val="0"/>
                        </a:spcAft>
                      </a:pPr>
                      <a:endParaRPr lang="en-US" sz="900" b="1" dirty="0">
                        <a:solidFill>
                          <a:schemeClr val="bg1"/>
                        </a:solidFill>
                        <a:effectLst/>
                        <a:latin typeface="Verdana" pitchFamily="34" charset="0"/>
                        <a:ea typeface="Verdana" pitchFamily="34" charset="0"/>
                        <a:cs typeface="Verdana" pitchFamily="34" charset="0"/>
                      </a:endParaRPr>
                    </a:p>
                    <a:p>
                      <a:pPr marL="0" marR="0" algn="ctr">
                        <a:spcBef>
                          <a:spcPts val="0"/>
                        </a:spcBef>
                        <a:spcAft>
                          <a:spcPts val="0"/>
                        </a:spcAft>
                      </a:pPr>
                      <a:r>
                        <a:rPr lang="en-US" sz="900" b="1" dirty="0">
                          <a:solidFill>
                            <a:schemeClr val="bg1"/>
                          </a:solidFill>
                          <a:effectLst/>
                          <a:latin typeface="Verdana" pitchFamily="34" charset="0"/>
                          <a:ea typeface="Verdana" pitchFamily="34" charset="0"/>
                          <a:cs typeface="Verdana" pitchFamily="34" charset="0"/>
                        </a:rPr>
                        <a:t>CF</a:t>
                      </a:r>
                    </a:p>
                  </a:txBody>
                  <a:tcPr marL="68580" marR="68580" marT="0" marB="0">
                    <a:solidFill>
                      <a:srgbClr val="FF0000"/>
                    </a:solidFill>
                  </a:tcPr>
                </a:tc>
                <a:extLst>
                  <a:ext uri="{0D108BD9-81ED-4DB2-BD59-A6C34878D82A}">
                    <a16:rowId xmlns:a16="http://schemas.microsoft.com/office/drawing/2014/main" val="10001"/>
                  </a:ext>
                </a:extLst>
              </a:tr>
            </a:tbl>
          </a:graphicData>
        </a:graphic>
      </p:graphicFrame>
      <p:pic>
        <p:nvPicPr>
          <p:cNvPr id="15" name="Picture 2" descr="C:\Users\AMMU\Desktop\Microprocessor\Regist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51177" y="981136"/>
            <a:ext cx="1714551" cy="1685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92583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85E6815B-E59C-4D87-B1F6-ECBDD22AF1DC}" type="slidenum">
              <a:rPr lang="en-US" smtClean="0"/>
              <a:pPr/>
              <a:t>42</a:t>
            </a:fld>
            <a:endParaRPr lang="en-US" dirty="0"/>
          </a:p>
        </p:txBody>
      </p:sp>
      <p:sp>
        <p:nvSpPr>
          <p:cNvPr id="5" name="Title 1"/>
          <p:cNvSpPr txBox="1">
            <a:spLocks/>
          </p:cNvSpPr>
          <p:nvPr/>
        </p:nvSpPr>
        <p:spPr>
          <a:xfrm>
            <a:off x="2895600" y="110756"/>
            <a:ext cx="6019800" cy="48736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000" b="1" kern="1200">
                <a:solidFill>
                  <a:srgbClr val="FF0066"/>
                </a:solidFill>
                <a:latin typeface="Verdana" pitchFamily="34" charset="0"/>
                <a:ea typeface="Verdana" pitchFamily="34" charset="0"/>
                <a:cs typeface="Verdana" pitchFamily="34" charset="0"/>
              </a:defRPr>
            </a:lvl1pPr>
          </a:lstStyle>
          <a:p>
            <a:r>
              <a:rPr lang="en-US"/>
              <a:t>Architecture</a:t>
            </a:r>
            <a:endParaRPr lang="en-US" dirty="0">
              <a:solidFill>
                <a:srgbClr val="002060"/>
              </a:solidFill>
            </a:endParaRPr>
          </a:p>
        </p:txBody>
      </p:sp>
      <p:sp>
        <p:nvSpPr>
          <p:cNvPr id="6" name="TextBox 5"/>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graphicFrame>
        <p:nvGraphicFramePr>
          <p:cNvPr id="8" name="Table 7"/>
          <p:cNvGraphicFramePr>
            <a:graphicFrameLocks noGrp="1"/>
          </p:cNvGraphicFramePr>
          <p:nvPr/>
        </p:nvGraphicFramePr>
        <p:xfrm>
          <a:off x="348740" y="914400"/>
          <a:ext cx="8566660" cy="5754845"/>
        </p:xfrm>
        <a:graphic>
          <a:graphicData uri="http://schemas.openxmlformats.org/drawingml/2006/table">
            <a:tbl>
              <a:tblPr firstRow="1" bandRow="1">
                <a:tableStyleId>{21E4AEA4-8DFA-4A89-87EB-49C32662AFE0}</a:tableStyleId>
              </a:tblPr>
              <a:tblGrid>
                <a:gridCol w="1022860">
                  <a:extLst>
                    <a:ext uri="{9D8B030D-6E8A-4147-A177-3AD203B41FA5}">
                      <a16:colId xmlns:a16="http://schemas.microsoft.com/office/drawing/2014/main" val="20000"/>
                    </a:ext>
                  </a:extLst>
                </a:gridCol>
                <a:gridCol w="2998237">
                  <a:extLst>
                    <a:ext uri="{9D8B030D-6E8A-4147-A177-3AD203B41FA5}">
                      <a16:colId xmlns:a16="http://schemas.microsoft.com/office/drawing/2014/main" val="20001"/>
                    </a:ext>
                  </a:extLst>
                </a:gridCol>
                <a:gridCol w="4545563">
                  <a:extLst>
                    <a:ext uri="{9D8B030D-6E8A-4147-A177-3AD203B41FA5}">
                      <a16:colId xmlns:a16="http://schemas.microsoft.com/office/drawing/2014/main" val="20002"/>
                    </a:ext>
                  </a:extLst>
                </a:gridCol>
              </a:tblGrid>
              <a:tr h="335310">
                <a:tc>
                  <a:txBody>
                    <a:bodyPr/>
                    <a:lstStyle/>
                    <a:p>
                      <a:pPr algn="ctr"/>
                      <a:r>
                        <a:rPr lang="en-US" sz="1200" b="1" dirty="0"/>
                        <a:t>Register</a:t>
                      </a:r>
                      <a:endParaRPr lang="en-US" sz="1200" b="1" dirty="0">
                        <a:latin typeface="Verdana" pitchFamily="34" charset="0"/>
                        <a:ea typeface="Verdana" pitchFamily="34" charset="0"/>
                        <a:cs typeface="Verdana" pitchFamily="34" charset="0"/>
                      </a:endParaRPr>
                    </a:p>
                  </a:txBody>
                  <a:tcPr marL="91434" marR="91434" marT="45722" marB="45722"/>
                </a:tc>
                <a:tc>
                  <a:txBody>
                    <a:bodyPr/>
                    <a:lstStyle/>
                    <a:p>
                      <a:pPr algn="ctr"/>
                      <a:r>
                        <a:rPr lang="en-US" sz="1200" b="1" dirty="0"/>
                        <a:t>Name</a:t>
                      </a:r>
                      <a:r>
                        <a:rPr lang="en-US" sz="1200" b="1" baseline="0" dirty="0"/>
                        <a:t> of the Register</a:t>
                      </a:r>
                      <a:endParaRPr lang="en-US" sz="1200" b="1" dirty="0">
                        <a:latin typeface="Verdana" pitchFamily="34" charset="0"/>
                        <a:ea typeface="Verdana" pitchFamily="34" charset="0"/>
                        <a:cs typeface="Verdana" pitchFamily="34" charset="0"/>
                      </a:endParaRPr>
                    </a:p>
                  </a:txBody>
                  <a:tcPr marL="91434" marR="91434" marT="45722" marB="45722"/>
                </a:tc>
                <a:tc>
                  <a:txBody>
                    <a:bodyPr/>
                    <a:lstStyle/>
                    <a:p>
                      <a:pPr algn="ctr"/>
                      <a:r>
                        <a:rPr lang="en-US" sz="1200" b="1" dirty="0"/>
                        <a:t>Special Function</a:t>
                      </a:r>
                      <a:endParaRPr lang="en-US" sz="12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a16="http://schemas.microsoft.com/office/drawing/2014/main" val="10000"/>
                  </a:ext>
                </a:extLst>
              </a:tr>
              <a:tr h="579090">
                <a:tc>
                  <a:txBody>
                    <a:bodyPr/>
                    <a:lstStyle/>
                    <a:p>
                      <a:pPr algn="ctr"/>
                      <a:r>
                        <a:rPr lang="en-US" sz="1400" b="1" dirty="0"/>
                        <a:t>AX</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a:t>16-bit Accumulator</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200" b="1" dirty="0"/>
                        <a:t>Stores the 16-bit results of</a:t>
                      </a:r>
                      <a:r>
                        <a:rPr lang="en-US" sz="1200" b="1" baseline="0" dirty="0"/>
                        <a:t> arithmetic and logic operations</a:t>
                      </a:r>
                      <a:endParaRPr lang="en-US" sz="12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a16="http://schemas.microsoft.com/office/drawing/2014/main" val="10001"/>
                  </a:ext>
                </a:extLst>
              </a:tr>
              <a:tr h="533400">
                <a:tc>
                  <a:txBody>
                    <a:bodyPr/>
                    <a:lstStyle/>
                    <a:p>
                      <a:pPr algn="ctr"/>
                      <a:r>
                        <a:rPr lang="en-US" sz="1400" b="1" dirty="0"/>
                        <a:t>AL</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a:t>8-bit Accumulator</a:t>
                      </a:r>
                    </a:p>
                    <a:p>
                      <a:endParaRPr lang="en-US" sz="1400" b="1" dirty="0">
                        <a:latin typeface="Verdana" pitchFamily="34" charset="0"/>
                        <a:ea typeface="Verdana" pitchFamily="34" charset="0"/>
                        <a:cs typeface="Verdana" pitchFamily="34" charset="0"/>
                      </a:endParaRPr>
                    </a:p>
                  </a:txBody>
                  <a:tcPr marL="91434" marR="91434" marT="45722" marB="4572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t>Stores the 8-bit results of</a:t>
                      </a:r>
                      <a:r>
                        <a:rPr lang="en-US" sz="1200" b="1" baseline="0" dirty="0"/>
                        <a:t> arithmetic and logic operations</a:t>
                      </a:r>
                      <a:endParaRPr lang="en-US" sz="12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a16="http://schemas.microsoft.com/office/drawing/2014/main" val="10002"/>
                  </a:ext>
                </a:extLst>
              </a:tr>
              <a:tr h="609600">
                <a:tc>
                  <a:txBody>
                    <a:bodyPr/>
                    <a:lstStyle/>
                    <a:p>
                      <a:pPr algn="ctr"/>
                      <a:r>
                        <a:rPr lang="en-US" sz="1400" b="1" dirty="0"/>
                        <a:t>BX</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a:t>Base register</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200" b="1" dirty="0"/>
                        <a:t>Used to hold base value in base addressing</a:t>
                      </a:r>
                      <a:r>
                        <a:rPr lang="en-US" sz="1200" b="1" baseline="0" dirty="0"/>
                        <a:t> mode to access memory data</a:t>
                      </a:r>
                      <a:endParaRPr lang="en-US" sz="12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a16="http://schemas.microsoft.com/office/drawing/2014/main" val="10003"/>
                  </a:ext>
                </a:extLst>
              </a:tr>
              <a:tr h="609600">
                <a:tc>
                  <a:txBody>
                    <a:bodyPr/>
                    <a:lstStyle/>
                    <a:p>
                      <a:pPr algn="ctr"/>
                      <a:r>
                        <a:rPr lang="en-US" sz="1400" b="1" dirty="0"/>
                        <a:t>CX</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a:t>Count Register</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200" b="1" dirty="0"/>
                        <a:t>Used to hold the count value in SHIFT,</a:t>
                      </a:r>
                      <a:r>
                        <a:rPr lang="en-US" sz="1200" b="1" baseline="0" dirty="0"/>
                        <a:t> ROTATE and LOOP instructions</a:t>
                      </a:r>
                      <a:endParaRPr lang="en-US" sz="12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a16="http://schemas.microsoft.com/office/drawing/2014/main" val="10004"/>
                  </a:ext>
                </a:extLst>
              </a:tr>
              <a:tr h="609600">
                <a:tc>
                  <a:txBody>
                    <a:bodyPr/>
                    <a:lstStyle/>
                    <a:p>
                      <a:pPr algn="ctr"/>
                      <a:r>
                        <a:rPr lang="en-US" sz="1400" b="1" dirty="0"/>
                        <a:t>DX</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a:t>Data Register</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200" b="1" dirty="0"/>
                        <a:t>Used to hold</a:t>
                      </a:r>
                      <a:r>
                        <a:rPr lang="en-US" sz="1200" b="1" baseline="0" dirty="0"/>
                        <a:t> data for multiplication and division operations</a:t>
                      </a:r>
                      <a:endParaRPr lang="en-US" sz="12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a16="http://schemas.microsoft.com/office/drawing/2014/main" val="10005"/>
                  </a:ext>
                </a:extLst>
              </a:tr>
              <a:tr h="609600">
                <a:tc>
                  <a:txBody>
                    <a:bodyPr/>
                    <a:lstStyle/>
                    <a:p>
                      <a:pPr algn="ctr"/>
                      <a:r>
                        <a:rPr lang="en-US" sz="1400" b="1" dirty="0"/>
                        <a:t>SP</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a:t>Stack Pointer</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200" b="1" dirty="0"/>
                        <a:t>Used to hold the offset address</a:t>
                      </a:r>
                      <a:r>
                        <a:rPr lang="en-US" sz="1200" b="1" baseline="0" dirty="0"/>
                        <a:t> of top stack memory</a:t>
                      </a:r>
                      <a:endParaRPr lang="en-US" sz="12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a16="http://schemas.microsoft.com/office/drawing/2014/main" val="10006"/>
                  </a:ext>
                </a:extLst>
              </a:tr>
              <a:tr h="762000">
                <a:tc>
                  <a:txBody>
                    <a:bodyPr/>
                    <a:lstStyle/>
                    <a:p>
                      <a:pPr algn="ctr"/>
                      <a:r>
                        <a:rPr lang="en-US" sz="1400" b="1" dirty="0"/>
                        <a:t>BP</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a:t>Base Pointer</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200" b="1" dirty="0"/>
                        <a:t>Used to hold the base value</a:t>
                      </a:r>
                      <a:r>
                        <a:rPr lang="en-US" sz="1200" b="1" baseline="0" dirty="0"/>
                        <a:t> in base addressing using SS register to access data from stack memory</a:t>
                      </a:r>
                      <a:endParaRPr lang="en-US" sz="12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a16="http://schemas.microsoft.com/office/drawing/2014/main" val="10007"/>
                  </a:ext>
                </a:extLst>
              </a:tr>
              <a:tr h="609600">
                <a:tc>
                  <a:txBody>
                    <a:bodyPr/>
                    <a:lstStyle/>
                    <a:p>
                      <a:pPr algn="ctr"/>
                      <a:r>
                        <a:rPr lang="en-US" sz="1400" b="1" dirty="0"/>
                        <a:t>SI</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a:t>Source Index</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200" b="1" dirty="0"/>
                        <a:t>Used to hold index value of source</a:t>
                      </a:r>
                      <a:r>
                        <a:rPr lang="en-US" sz="1200" b="1" baseline="0" dirty="0"/>
                        <a:t> operand (data) for string instructions</a:t>
                      </a:r>
                      <a:endParaRPr lang="en-US" sz="12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a16="http://schemas.microsoft.com/office/drawing/2014/main" val="10008"/>
                  </a:ext>
                </a:extLst>
              </a:tr>
              <a:tr h="497045">
                <a:tc>
                  <a:txBody>
                    <a:bodyPr/>
                    <a:lstStyle/>
                    <a:p>
                      <a:pPr algn="ctr"/>
                      <a:r>
                        <a:rPr lang="en-US" sz="1400" b="1" dirty="0"/>
                        <a:t>DI</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400" b="1" dirty="0"/>
                        <a:t>Data Index</a:t>
                      </a:r>
                      <a:endParaRPr lang="en-US" sz="1400" b="1" dirty="0">
                        <a:latin typeface="Verdana" pitchFamily="34" charset="0"/>
                        <a:ea typeface="Verdana" pitchFamily="34" charset="0"/>
                        <a:cs typeface="Verdana" pitchFamily="34" charset="0"/>
                      </a:endParaRPr>
                    </a:p>
                  </a:txBody>
                  <a:tcPr marL="91434" marR="91434" marT="45722" marB="45722"/>
                </a:tc>
                <a:tc>
                  <a:txBody>
                    <a:bodyPr/>
                    <a:lstStyle/>
                    <a:p>
                      <a:r>
                        <a:rPr lang="en-US" sz="1200" b="1" dirty="0"/>
                        <a:t>Used to hold the index value of destination operand (data) for</a:t>
                      </a:r>
                      <a:r>
                        <a:rPr lang="en-US" sz="1200" b="1" baseline="0" dirty="0"/>
                        <a:t> string operations</a:t>
                      </a:r>
                      <a:endParaRPr lang="en-US" sz="1200" b="1" dirty="0">
                        <a:latin typeface="Verdana" pitchFamily="34" charset="0"/>
                        <a:ea typeface="Verdana" pitchFamily="34" charset="0"/>
                        <a:cs typeface="Verdana" pitchFamily="34" charset="0"/>
                      </a:endParaRPr>
                    </a:p>
                  </a:txBody>
                  <a:tcPr marL="91434" marR="91434" marT="45722" marB="45722"/>
                </a:tc>
                <a:extLst>
                  <a:ext uri="{0D108BD9-81ED-4DB2-BD59-A6C34878D82A}">
                    <a16:rowId xmlns:a16="http://schemas.microsoft.com/office/drawing/2014/main" val="10009"/>
                  </a:ext>
                </a:extLst>
              </a:tr>
            </a:tbl>
          </a:graphicData>
        </a:graphic>
      </p:graphicFrame>
      <p:sp>
        <p:nvSpPr>
          <p:cNvPr id="4" name="TextBox 3"/>
          <p:cNvSpPr txBox="1"/>
          <p:nvPr/>
        </p:nvSpPr>
        <p:spPr>
          <a:xfrm>
            <a:off x="5105400" y="169771"/>
            <a:ext cx="3853940" cy="338554"/>
          </a:xfrm>
          <a:prstGeom prst="rect">
            <a:avLst/>
          </a:prstGeom>
          <a:noFill/>
        </p:spPr>
        <p:txBody>
          <a:bodyPr wrap="none" rtlCol="0">
            <a:spAutoFit/>
          </a:bodyPr>
          <a:lstStyle/>
          <a:p>
            <a:r>
              <a:rPr lang="en-US" sz="1600" b="1" dirty="0"/>
              <a:t>Registers and Special Functions</a:t>
            </a:r>
          </a:p>
        </p:txBody>
      </p:sp>
    </p:spTree>
    <p:extLst>
      <p:ext uri="{BB962C8B-B14F-4D97-AF65-F5344CB8AC3E}">
        <p14:creationId xmlns:p14="http://schemas.microsoft.com/office/powerpoint/2010/main" val="22339040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639762"/>
          </a:xfrm>
        </p:spPr>
        <p:txBody>
          <a:bodyPr>
            <a:normAutofit/>
          </a:bodyPr>
          <a:lstStyle/>
          <a:p>
            <a:pPr algn="just"/>
            <a:r>
              <a:rPr lang="en-IN" sz="2400" b="1" u="sng" dirty="0"/>
              <a:t>Default Segment &amp; Offset Registers</a:t>
            </a:r>
          </a:p>
        </p:txBody>
      </p:sp>
      <p:graphicFrame>
        <p:nvGraphicFramePr>
          <p:cNvPr id="4" name="Content Placeholder 3"/>
          <p:cNvGraphicFramePr>
            <a:graphicFrameLocks noGrp="1"/>
          </p:cNvGraphicFramePr>
          <p:nvPr>
            <p:ph idx="1"/>
          </p:nvPr>
        </p:nvGraphicFramePr>
        <p:xfrm>
          <a:off x="228600" y="2133600"/>
          <a:ext cx="8686800" cy="384556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gridCol w="3581400">
                  <a:extLst>
                    <a:ext uri="{9D8B030D-6E8A-4147-A177-3AD203B41FA5}">
                      <a16:colId xmlns:a16="http://schemas.microsoft.com/office/drawing/2014/main" val="20001"/>
                    </a:ext>
                  </a:extLst>
                </a:gridCol>
                <a:gridCol w="2895600">
                  <a:extLst>
                    <a:ext uri="{9D8B030D-6E8A-4147-A177-3AD203B41FA5}">
                      <a16:colId xmlns:a16="http://schemas.microsoft.com/office/drawing/2014/main" val="20002"/>
                    </a:ext>
                  </a:extLst>
                </a:gridCol>
              </a:tblGrid>
              <a:tr h="370840">
                <a:tc>
                  <a:txBody>
                    <a:bodyPr/>
                    <a:lstStyle/>
                    <a:p>
                      <a:pPr algn="ctr"/>
                      <a:r>
                        <a:rPr lang="en-IN" dirty="0"/>
                        <a:t>Default Segment</a:t>
                      </a:r>
                    </a:p>
                  </a:txBody>
                  <a:tcPr/>
                </a:tc>
                <a:tc>
                  <a:txBody>
                    <a:bodyPr/>
                    <a:lstStyle/>
                    <a:p>
                      <a:pPr algn="ctr"/>
                      <a:r>
                        <a:rPr lang="en-IN" dirty="0"/>
                        <a:t>Offset</a:t>
                      </a:r>
                    </a:p>
                  </a:txBody>
                  <a:tcPr/>
                </a:tc>
                <a:tc>
                  <a:txBody>
                    <a:bodyPr/>
                    <a:lstStyle/>
                    <a:p>
                      <a:pPr algn="ctr"/>
                      <a:r>
                        <a:rPr lang="en-IN" dirty="0"/>
                        <a:t>Memory operation</a:t>
                      </a:r>
                    </a:p>
                  </a:txBody>
                  <a:tcPr/>
                </a:tc>
                <a:extLst>
                  <a:ext uri="{0D108BD9-81ED-4DB2-BD59-A6C34878D82A}">
                    <a16:rowId xmlns:a16="http://schemas.microsoft.com/office/drawing/2014/main" val="10000"/>
                  </a:ext>
                </a:extLst>
              </a:tr>
              <a:tr h="370840">
                <a:tc>
                  <a:txBody>
                    <a:bodyPr/>
                    <a:lstStyle/>
                    <a:p>
                      <a:pPr algn="ctr"/>
                      <a:r>
                        <a:rPr lang="en-IN" dirty="0"/>
                        <a:t>CS</a:t>
                      </a:r>
                    </a:p>
                  </a:txBody>
                  <a:tcPr/>
                </a:tc>
                <a:tc>
                  <a:txBody>
                    <a:bodyPr/>
                    <a:lstStyle/>
                    <a:p>
                      <a:pPr algn="ctr"/>
                      <a:r>
                        <a:rPr lang="en-IN" dirty="0"/>
                        <a:t>IP</a:t>
                      </a:r>
                    </a:p>
                  </a:txBody>
                  <a:tcPr/>
                </a:tc>
                <a:tc>
                  <a:txBody>
                    <a:bodyPr/>
                    <a:lstStyle/>
                    <a:p>
                      <a:pPr algn="ctr"/>
                      <a:r>
                        <a:rPr lang="en-IN" dirty="0"/>
                        <a:t>Instruction</a:t>
                      </a:r>
                      <a:r>
                        <a:rPr lang="en-IN" baseline="0" dirty="0"/>
                        <a:t> fetch</a:t>
                      </a:r>
                      <a:endParaRPr lang="en-IN" dirty="0"/>
                    </a:p>
                  </a:txBody>
                  <a:tcPr/>
                </a:tc>
                <a:extLst>
                  <a:ext uri="{0D108BD9-81ED-4DB2-BD59-A6C34878D82A}">
                    <a16:rowId xmlns:a16="http://schemas.microsoft.com/office/drawing/2014/main" val="10001"/>
                  </a:ext>
                </a:extLst>
              </a:tr>
              <a:tr h="370840">
                <a:tc>
                  <a:txBody>
                    <a:bodyPr/>
                    <a:lstStyle/>
                    <a:p>
                      <a:pPr algn="ctr"/>
                      <a:r>
                        <a:rPr lang="en-IN" dirty="0"/>
                        <a:t>SS</a:t>
                      </a:r>
                    </a:p>
                  </a:txBody>
                  <a:tcPr/>
                </a:tc>
                <a:tc>
                  <a:txBody>
                    <a:bodyPr/>
                    <a:lstStyle/>
                    <a:p>
                      <a:pPr algn="ctr"/>
                      <a:r>
                        <a:rPr lang="en-IN" dirty="0"/>
                        <a:t>SP,BP or effective address</a:t>
                      </a:r>
                    </a:p>
                    <a:p>
                      <a:pPr algn="ctr"/>
                      <a:r>
                        <a:rPr lang="en-IN" dirty="0"/>
                        <a:t>Using BP as one of the register</a:t>
                      </a:r>
                    </a:p>
                  </a:txBody>
                  <a:tcPr/>
                </a:tc>
                <a:tc>
                  <a:txBody>
                    <a:bodyPr/>
                    <a:lstStyle/>
                    <a:p>
                      <a:pPr algn="ctr"/>
                      <a:r>
                        <a:rPr lang="en-IN" dirty="0"/>
                        <a:t>Stack operation</a:t>
                      </a:r>
                    </a:p>
                  </a:txBody>
                  <a:tcPr/>
                </a:tc>
                <a:extLst>
                  <a:ext uri="{0D108BD9-81ED-4DB2-BD59-A6C34878D82A}">
                    <a16:rowId xmlns:a16="http://schemas.microsoft.com/office/drawing/2014/main" val="10002"/>
                  </a:ext>
                </a:extLst>
              </a:tr>
              <a:tr h="370840">
                <a:tc>
                  <a:txBody>
                    <a:bodyPr/>
                    <a:lstStyle/>
                    <a:p>
                      <a:pPr algn="ctr"/>
                      <a:r>
                        <a:rPr lang="en-IN" dirty="0"/>
                        <a:t>DS</a:t>
                      </a:r>
                    </a:p>
                  </a:txBody>
                  <a:tcPr/>
                </a:tc>
                <a:tc>
                  <a:txBody>
                    <a:bodyPr/>
                    <a:lstStyle/>
                    <a:p>
                      <a:pPr algn="ctr"/>
                      <a:r>
                        <a:rPr lang="en-IN" dirty="0"/>
                        <a:t>BX/SI/DI or effective address using above registers</a:t>
                      </a:r>
                    </a:p>
                  </a:txBody>
                  <a:tcPr/>
                </a:tc>
                <a:tc>
                  <a:txBody>
                    <a:bodyPr/>
                    <a:lstStyle/>
                    <a:p>
                      <a:pPr algn="ctr"/>
                      <a:r>
                        <a:rPr lang="en-IN" dirty="0"/>
                        <a:t>General data access</a:t>
                      </a:r>
                    </a:p>
                  </a:txBody>
                  <a:tcPr/>
                </a:tc>
                <a:extLst>
                  <a:ext uri="{0D108BD9-81ED-4DB2-BD59-A6C34878D82A}">
                    <a16:rowId xmlns:a16="http://schemas.microsoft.com/office/drawing/2014/main" val="10003"/>
                  </a:ext>
                </a:extLst>
              </a:tr>
              <a:tr h="370840">
                <a:tc>
                  <a:txBody>
                    <a:bodyPr/>
                    <a:lstStyle/>
                    <a:p>
                      <a:pPr algn="ctr"/>
                      <a:r>
                        <a:rPr lang="en-IN" dirty="0"/>
                        <a:t>DS</a:t>
                      </a:r>
                    </a:p>
                  </a:txBody>
                  <a:tcPr/>
                </a:tc>
                <a:tc>
                  <a:txBody>
                    <a:bodyPr/>
                    <a:lstStyle/>
                    <a:p>
                      <a:pPr algn="ctr"/>
                      <a:r>
                        <a:rPr lang="en-IN" dirty="0"/>
                        <a:t>SI</a:t>
                      </a:r>
                    </a:p>
                  </a:txBody>
                  <a:tcPr/>
                </a:tc>
                <a:tc>
                  <a:txBody>
                    <a:bodyPr/>
                    <a:lstStyle/>
                    <a:p>
                      <a:pPr algn="ctr"/>
                      <a:r>
                        <a:rPr lang="en-IN" dirty="0"/>
                        <a:t>Source string data access</a:t>
                      </a:r>
                    </a:p>
                  </a:txBody>
                  <a:tcPr/>
                </a:tc>
                <a:extLst>
                  <a:ext uri="{0D108BD9-81ED-4DB2-BD59-A6C34878D82A}">
                    <a16:rowId xmlns:a16="http://schemas.microsoft.com/office/drawing/2014/main" val="10004"/>
                  </a:ext>
                </a:extLst>
              </a:tr>
              <a:tr h="370840">
                <a:tc>
                  <a:txBody>
                    <a:bodyPr/>
                    <a:lstStyle/>
                    <a:p>
                      <a:pPr algn="ctr"/>
                      <a:r>
                        <a:rPr lang="en-IN" dirty="0"/>
                        <a:t>ES</a:t>
                      </a:r>
                    </a:p>
                  </a:txBody>
                  <a:tcPr/>
                </a:tc>
                <a:tc>
                  <a:txBody>
                    <a:bodyPr/>
                    <a:lstStyle/>
                    <a:p>
                      <a:pPr algn="ctr"/>
                      <a:r>
                        <a:rPr lang="en-IN" dirty="0"/>
                        <a:t>DI</a:t>
                      </a:r>
                    </a:p>
                  </a:txBody>
                  <a:tcPr/>
                </a:tc>
                <a:tc>
                  <a:txBody>
                    <a:bodyPr/>
                    <a:lstStyle/>
                    <a:p>
                      <a:pPr algn="ctr"/>
                      <a:r>
                        <a:rPr lang="en-IN" dirty="0"/>
                        <a:t>Destination string data access</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291575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371600"/>
            <a:ext cx="8229600" cy="563562"/>
          </a:xfrm>
        </p:spPr>
        <p:txBody>
          <a:bodyPr>
            <a:normAutofit/>
          </a:bodyPr>
          <a:lstStyle/>
          <a:p>
            <a:pPr algn="just"/>
            <a:r>
              <a:rPr lang="en-IN" sz="2400" b="1" u="sng" dirty="0"/>
              <a:t>Generating 20-bit Physical address</a:t>
            </a:r>
          </a:p>
        </p:txBody>
      </p:sp>
      <p:pic>
        <p:nvPicPr>
          <p:cNvPr id="102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7800" y="2057400"/>
            <a:ext cx="6387352" cy="434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510804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381000"/>
            <a:ext cx="8458200" cy="609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716604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828800" y="990600"/>
            <a:ext cx="5791200"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ontent Placeholder 2"/>
          <p:cNvSpPr txBox="1">
            <a:spLocks/>
          </p:cNvSpPr>
          <p:nvPr/>
        </p:nvSpPr>
        <p:spPr>
          <a:xfrm>
            <a:off x="228600" y="3048000"/>
            <a:ext cx="8686800" cy="4114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Arial" pitchFamily="34" charset="0"/>
              <a:buAutoNum type="arabicPeriod"/>
            </a:pPr>
            <a:endParaRPr lang="en-IN" sz="2000" dirty="0"/>
          </a:p>
          <a:p>
            <a:pPr marL="0" indent="0" algn="just">
              <a:buFont typeface="Arial" pitchFamily="34" charset="0"/>
              <a:buNone/>
            </a:pPr>
            <a:endParaRPr lang="en-IN" sz="2000" b="1" u="sng" dirty="0"/>
          </a:p>
          <a:p>
            <a:pPr marL="0" indent="0" algn="just">
              <a:buFont typeface="Arial" pitchFamily="34" charset="0"/>
              <a:buNone/>
            </a:pPr>
            <a:r>
              <a:rPr lang="en-IN" sz="2000" b="1" u="sng" dirty="0"/>
              <a:t>Advantages of Memory Segmentation</a:t>
            </a:r>
          </a:p>
          <a:p>
            <a:pPr marL="0" indent="0" algn="just">
              <a:buFont typeface="Arial" pitchFamily="34" charset="0"/>
              <a:buNone/>
            </a:pPr>
            <a:endParaRPr lang="en-IN" sz="1000" dirty="0"/>
          </a:p>
          <a:p>
            <a:pPr marL="457200" indent="-457200" algn="just">
              <a:buFont typeface="Arial" pitchFamily="34" charset="0"/>
              <a:buAutoNum type="arabicPeriod"/>
            </a:pPr>
            <a:r>
              <a:rPr lang="en-IN" sz="2000" dirty="0"/>
              <a:t>It allows the memory capacity to be 1MB even though the actual addresses to be handled by instructions are 16-bits</a:t>
            </a:r>
          </a:p>
          <a:p>
            <a:pPr marL="457200" indent="-457200" algn="just">
              <a:buFont typeface="Arial" pitchFamily="34" charset="0"/>
              <a:buAutoNum type="arabicPeriod"/>
            </a:pPr>
            <a:r>
              <a:rPr lang="en-IN" sz="2000" dirty="0"/>
              <a:t>It allows use of separate memory areas for program, data &amp; stack, thus the protection of these is possible.</a:t>
            </a:r>
          </a:p>
          <a:p>
            <a:pPr marL="457200" indent="-457200" algn="just">
              <a:buFont typeface="Arial" pitchFamily="34" charset="0"/>
              <a:buAutoNum type="arabicPeriod"/>
            </a:pPr>
            <a:r>
              <a:rPr lang="en-IN" sz="2000" dirty="0"/>
              <a:t>For large programs , it can use multiple segments for program code, Data &amp; Stack.</a:t>
            </a:r>
          </a:p>
          <a:p>
            <a:pPr marL="457200" indent="-457200" algn="just">
              <a:buFont typeface="Arial" pitchFamily="34" charset="0"/>
              <a:buAutoNum type="arabicPeriod"/>
            </a:pPr>
            <a:r>
              <a:rPr lang="en-IN" sz="2000" dirty="0"/>
              <a:t>Program relocation can be very easily done.</a:t>
            </a:r>
          </a:p>
          <a:p>
            <a:pPr marL="457200" indent="-457200" algn="just">
              <a:buFont typeface="Arial" pitchFamily="34" charset="0"/>
              <a:buAutoNum type="arabicPeriod"/>
            </a:pPr>
            <a:endParaRPr lang="en-IN" sz="2000" dirty="0"/>
          </a:p>
        </p:txBody>
      </p:sp>
    </p:spTree>
    <p:extLst>
      <p:ext uri="{BB962C8B-B14F-4D97-AF65-F5344CB8AC3E}">
        <p14:creationId xmlns:p14="http://schemas.microsoft.com/office/powerpoint/2010/main" val="18654566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a:bodyPr>
          <a:lstStyle/>
          <a:p>
            <a:pPr algn="just"/>
            <a:r>
              <a:rPr lang="en-IN" sz="2400" b="1" u="sng" dirty="0"/>
              <a:t>Physical Memory organization</a:t>
            </a:r>
            <a:endParaRPr lang="en-IN" sz="2400" dirty="0"/>
          </a:p>
        </p:txBody>
      </p:sp>
      <p:sp>
        <p:nvSpPr>
          <p:cNvPr id="3" name="Content Placeholder 2"/>
          <p:cNvSpPr>
            <a:spLocks noGrp="1"/>
          </p:cNvSpPr>
          <p:nvPr>
            <p:ph idx="1"/>
          </p:nvPr>
        </p:nvSpPr>
        <p:spPr>
          <a:xfrm>
            <a:off x="152400" y="838200"/>
            <a:ext cx="8839200" cy="5791200"/>
          </a:xfrm>
        </p:spPr>
        <p:txBody>
          <a:bodyPr>
            <a:normAutofit/>
          </a:bodyPr>
          <a:lstStyle/>
          <a:p>
            <a:pPr marL="0" indent="0">
              <a:buNone/>
            </a:pPr>
            <a:endParaRPr lang="en-IN" sz="1400" dirty="0"/>
          </a:p>
          <a:p>
            <a:pPr marL="0" indent="0">
              <a:buNone/>
            </a:pPr>
            <a:r>
              <a:rPr lang="en-IN" sz="1500" dirty="0"/>
              <a:t>         </a:t>
            </a:r>
            <a:r>
              <a:rPr lang="en-IN" sz="1400" dirty="0"/>
              <a:t>    FFFFFH                                                                                                                                                               FFFFEH</a:t>
            </a:r>
          </a:p>
          <a:p>
            <a:pPr marL="0" indent="0">
              <a:buNone/>
            </a:pPr>
            <a:r>
              <a:rPr lang="en-IN" sz="1400" dirty="0"/>
              <a:t>             FFFFDH                                                                                                                                                               FFFFCH</a:t>
            </a:r>
          </a:p>
          <a:p>
            <a:pPr marL="0" indent="0">
              <a:buNone/>
            </a:pPr>
            <a:r>
              <a:rPr lang="en-IN" sz="1400" dirty="0"/>
              <a:t>                   </a:t>
            </a:r>
          </a:p>
          <a:p>
            <a:pPr marL="0" indent="0">
              <a:buNone/>
            </a:pPr>
            <a:r>
              <a:rPr lang="en-IN" sz="1400" dirty="0"/>
              <a:t>             </a:t>
            </a:r>
          </a:p>
          <a:p>
            <a:pPr marL="0" indent="0">
              <a:buNone/>
            </a:pPr>
            <a:r>
              <a:rPr lang="en-IN" sz="2000" dirty="0"/>
              <a:t>                                   </a:t>
            </a:r>
          </a:p>
          <a:p>
            <a:pPr marL="0" indent="0">
              <a:buNone/>
            </a:pPr>
            <a:r>
              <a:rPr lang="en-IN" sz="2000" dirty="0"/>
              <a:t>                              512KB                                                                   512KB</a:t>
            </a:r>
          </a:p>
          <a:p>
            <a:pPr marL="0" indent="0">
              <a:buNone/>
            </a:pPr>
            <a:endParaRPr lang="en-IN" sz="1400" dirty="0"/>
          </a:p>
          <a:p>
            <a:pPr marL="0" indent="0">
              <a:buNone/>
            </a:pPr>
            <a:endParaRPr lang="en-IN" sz="1400" dirty="0"/>
          </a:p>
          <a:p>
            <a:pPr marL="0" indent="0">
              <a:buNone/>
            </a:pPr>
            <a:endParaRPr lang="en-IN" sz="1400" dirty="0"/>
          </a:p>
          <a:p>
            <a:pPr marL="0" indent="0">
              <a:buNone/>
            </a:pPr>
            <a:r>
              <a:rPr lang="en-IN" sz="1400" dirty="0"/>
              <a:t>             00003H                                                                                                                                                               00002H     </a:t>
            </a:r>
          </a:p>
          <a:p>
            <a:pPr marL="0" indent="0">
              <a:buNone/>
            </a:pPr>
            <a:r>
              <a:rPr lang="en-IN" sz="300" dirty="0"/>
              <a:t>[</a:t>
            </a:r>
          </a:p>
          <a:p>
            <a:pPr marL="0" indent="0">
              <a:buNone/>
            </a:pPr>
            <a:r>
              <a:rPr lang="en-IN" sz="1400" dirty="0"/>
              <a:t>             00001H                                                                                                                                                               00000H</a:t>
            </a:r>
          </a:p>
          <a:p>
            <a:pPr marL="0" indent="0">
              <a:buNone/>
            </a:pPr>
            <a:endParaRPr lang="en-IN" sz="1400" dirty="0"/>
          </a:p>
          <a:p>
            <a:pPr marL="0" indent="0">
              <a:buNone/>
            </a:pPr>
            <a:r>
              <a:rPr lang="en-IN" sz="1400" dirty="0"/>
              <a:t>                               </a:t>
            </a:r>
            <a:r>
              <a:rPr lang="en-IN" sz="1400" b="1" dirty="0"/>
              <a:t>Higher bank( Odd Bank)                                                                   Lower bank( Even Bank)</a:t>
            </a:r>
          </a:p>
          <a:p>
            <a:pPr marL="0" indent="0">
              <a:buNone/>
            </a:pPr>
            <a:endParaRPr lang="en-IN" sz="1400" b="1" dirty="0"/>
          </a:p>
          <a:p>
            <a:pPr marL="0" indent="0">
              <a:buNone/>
            </a:pPr>
            <a:endParaRPr lang="en-IN" dirty="0"/>
          </a:p>
          <a:p>
            <a:pPr marL="0" indent="0">
              <a:buNone/>
            </a:pPr>
            <a:endParaRPr lang="en-IN" dirty="0"/>
          </a:p>
          <a:p>
            <a:pPr marL="0" indent="0">
              <a:buNone/>
            </a:pPr>
            <a:endParaRPr lang="en-IN" dirty="0"/>
          </a:p>
        </p:txBody>
      </p:sp>
      <p:graphicFrame>
        <p:nvGraphicFramePr>
          <p:cNvPr id="4" name="Content Placeholder 3"/>
          <p:cNvGraphicFramePr>
            <a:graphicFrameLocks/>
          </p:cNvGraphicFramePr>
          <p:nvPr/>
        </p:nvGraphicFramePr>
        <p:xfrm>
          <a:off x="1447800" y="1066800"/>
          <a:ext cx="1676400" cy="74168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tblGrid>
              <a:tr h="370840">
                <a:tc>
                  <a:txBody>
                    <a:bodyPr/>
                    <a:lstStyle/>
                    <a:p>
                      <a:endParaRPr lang="en-IN" dirty="0"/>
                    </a:p>
                  </a:txBody>
                  <a:tcPr/>
                </a:tc>
                <a:extLst>
                  <a:ext uri="{0D108BD9-81ED-4DB2-BD59-A6C34878D82A}">
                    <a16:rowId xmlns:a16="http://schemas.microsoft.com/office/drawing/2014/main" val="10000"/>
                  </a:ext>
                </a:extLst>
              </a:tr>
              <a:tr h="370840">
                <a:tc>
                  <a:txBody>
                    <a:bodyPr/>
                    <a:lstStyle/>
                    <a:p>
                      <a:endParaRPr lang="en-IN" dirty="0"/>
                    </a:p>
                  </a:txBody>
                  <a:tcPr/>
                </a:tc>
                <a:extLst>
                  <a:ext uri="{0D108BD9-81ED-4DB2-BD59-A6C34878D82A}">
                    <a16:rowId xmlns:a16="http://schemas.microsoft.com/office/drawing/2014/main" val="10001"/>
                  </a:ext>
                </a:extLst>
              </a:tr>
            </a:tbl>
          </a:graphicData>
        </a:graphic>
      </p:graphicFrame>
      <p:cxnSp>
        <p:nvCxnSpPr>
          <p:cNvPr id="5" name="Straight Connector 4"/>
          <p:cNvCxnSpPr/>
          <p:nvPr/>
        </p:nvCxnSpPr>
        <p:spPr>
          <a:xfrm>
            <a:off x="1447800" y="1143000"/>
            <a:ext cx="0" cy="320040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6" name="Content Placeholder 3"/>
          <p:cNvGraphicFramePr>
            <a:graphicFrameLocks/>
          </p:cNvGraphicFramePr>
          <p:nvPr/>
        </p:nvGraphicFramePr>
        <p:xfrm>
          <a:off x="1447800" y="3601720"/>
          <a:ext cx="1676400" cy="74168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tblGrid>
              <a:tr h="370840">
                <a:tc>
                  <a:txBody>
                    <a:bodyPr/>
                    <a:lstStyle/>
                    <a:p>
                      <a:endParaRPr lang="en-IN" dirty="0"/>
                    </a:p>
                  </a:txBody>
                  <a:tcPr/>
                </a:tc>
                <a:extLst>
                  <a:ext uri="{0D108BD9-81ED-4DB2-BD59-A6C34878D82A}">
                    <a16:rowId xmlns:a16="http://schemas.microsoft.com/office/drawing/2014/main" val="10000"/>
                  </a:ext>
                </a:extLst>
              </a:tr>
              <a:tr h="370840">
                <a:tc>
                  <a:txBody>
                    <a:bodyPr/>
                    <a:lstStyle/>
                    <a:p>
                      <a:endParaRPr lang="en-IN" dirty="0"/>
                    </a:p>
                  </a:txBody>
                  <a:tcPr/>
                </a:tc>
                <a:extLst>
                  <a:ext uri="{0D108BD9-81ED-4DB2-BD59-A6C34878D82A}">
                    <a16:rowId xmlns:a16="http://schemas.microsoft.com/office/drawing/2014/main" val="10001"/>
                  </a:ext>
                </a:extLst>
              </a:tr>
            </a:tbl>
          </a:graphicData>
        </a:graphic>
      </p:graphicFrame>
      <p:cxnSp>
        <p:nvCxnSpPr>
          <p:cNvPr id="7" name="Straight Connector 6"/>
          <p:cNvCxnSpPr/>
          <p:nvPr/>
        </p:nvCxnSpPr>
        <p:spPr>
          <a:xfrm>
            <a:off x="3124200" y="1066800"/>
            <a:ext cx="0" cy="320040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3" name="Content Placeholder 3"/>
          <p:cNvGraphicFramePr>
            <a:graphicFrameLocks/>
          </p:cNvGraphicFramePr>
          <p:nvPr/>
        </p:nvGraphicFramePr>
        <p:xfrm>
          <a:off x="5867400" y="1066800"/>
          <a:ext cx="1676400" cy="74168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tblGrid>
              <a:tr h="370840">
                <a:tc>
                  <a:txBody>
                    <a:bodyPr/>
                    <a:lstStyle/>
                    <a:p>
                      <a:endParaRPr lang="en-IN" dirty="0"/>
                    </a:p>
                  </a:txBody>
                  <a:tcPr/>
                </a:tc>
                <a:extLst>
                  <a:ext uri="{0D108BD9-81ED-4DB2-BD59-A6C34878D82A}">
                    <a16:rowId xmlns:a16="http://schemas.microsoft.com/office/drawing/2014/main" val="10000"/>
                  </a:ext>
                </a:extLst>
              </a:tr>
              <a:tr h="370840">
                <a:tc>
                  <a:txBody>
                    <a:bodyPr/>
                    <a:lstStyle/>
                    <a:p>
                      <a:endParaRPr lang="en-IN" dirty="0"/>
                    </a:p>
                  </a:txBody>
                  <a:tcPr/>
                </a:tc>
                <a:extLst>
                  <a:ext uri="{0D108BD9-81ED-4DB2-BD59-A6C34878D82A}">
                    <a16:rowId xmlns:a16="http://schemas.microsoft.com/office/drawing/2014/main" val="10001"/>
                  </a:ext>
                </a:extLst>
              </a:tr>
            </a:tbl>
          </a:graphicData>
        </a:graphic>
      </p:graphicFrame>
      <p:cxnSp>
        <p:nvCxnSpPr>
          <p:cNvPr id="14" name="Straight Connector 13"/>
          <p:cNvCxnSpPr/>
          <p:nvPr/>
        </p:nvCxnSpPr>
        <p:spPr>
          <a:xfrm>
            <a:off x="5867400" y="1143000"/>
            <a:ext cx="0" cy="320040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5" name="Content Placeholder 3"/>
          <p:cNvGraphicFramePr>
            <a:graphicFrameLocks/>
          </p:cNvGraphicFramePr>
          <p:nvPr/>
        </p:nvGraphicFramePr>
        <p:xfrm>
          <a:off x="5867400" y="3601720"/>
          <a:ext cx="1676400" cy="74168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tblGrid>
              <a:tr h="370840">
                <a:tc>
                  <a:txBody>
                    <a:bodyPr/>
                    <a:lstStyle/>
                    <a:p>
                      <a:endParaRPr lang="en-IN" dirty="0"/>
                    </a:p>
                  </a:txBody>
                  <a:tcPr/>
                </a:tc>
                <a:extLst>
                  <a:ext uri="{0D108BD9-81ED-4DB2-BD59-A6C34878D82A}">
                    <a16:rowId xmlns:a16="http://schemas.microsoft.com/office/drawing/2014/main" val="10000"/>
                  </a:ext>
                </a:extLst>
              </a:tr>
              <a:tr h="370840">
                <a:tc>
                  <a:txBody>
                    <a:bodyPr/>
                    <a:lstStyle/>
                    <a:p>
                      <a:endParaRPr lang="en-IN" dirty="0"/>
                    </a:p>
                  </a:txBody>
                  <a:tcPr/>
                </a:tc>
                <a:extLst>
                  <a:ext uri="{0D108BD9-81ED-4DB2-BD59-A6C34878D82A}">
                    <a16:rowId xmlns:a16="http://schemas.microsoft.com/office/drawing/2014/main" val="10001"/>
                  </a:ext>
                </a:extLst>
              </a:tr>
            </a:tbl>
          </a:graphicData>
        </a:graphic>
      </p:graphicFrame>
      <p:cxnSp>
        <p:nvCxnSpPr>
          <p:cNvPr id="16" name="Straight Connector 15"/>
          <p:cNvCxnSpPr/>
          <p:nvPr/>
        </p:nvCxnSpPr>
        <p:spPr>
          <a:xfrm>
            <a:off x="7543800" y="1066800"/>
            <a:ext cx="0" cy="320040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8" name="Table 17"/>
          <p:cNvGraphicFramePr>
            <a:graphicFrameLocks noGrp="1"/>
          </p:cNvGraphicFramePr>
          <p:nvPr>
            <p:extLst>
              <p:ext uri="{D42A27DB-BD31-4B8C-83A1-F6EECF244321}">
                <p14:modId xmlns:p14="http://schemas.microsoft.com/office/powerpoint/2010/main" val="4053915583"/>
              </p:ext>
            </p:extLst>
          </p:nvPr>
        </p:nvGraphicFramePr>
        <p:xfrm>
          <a:off x="990600" y="4381664"/>
          <a:ext cx="7162800" cy="2123440"/>
        </p:xfrm>
        <a:graphic>
          <a:graphicData uri="http://schemas.openxmlformats.org/drawingml/2006/table">
            <a:tbl>
              <a:tblPr firstRow="1" bandRow="1">
                <a:tableStyleId>{5C22544A-7EE6-4342-B048-85BDC9FD1C3A}</a:tableStyleId>
              </a:tblPr>
              <a:tblGrid>
                <a:gridCol w="976745">
                  <a:extLst>
                    <a:ext uri="{9D8B030D-6E8A-4147-A177-3AD203B41FA5}">
                      <a16:colId xmlns:a16="http://schemas.microsoft.com/office/drawing/2014/main" val="20000"/>
                    </a:ext>
                  </a:extLst>
                </a:gridCol>
                <a:gridCol w="846513">
                  <a:extLst>
                    <a:ext uri="{9D8B030D-6E8A-4147-A177-3AD203B41FA5}">
                      <a16:colId xmlns:a16="http://schemas.microsoft.com/office/drawing/2014/main" val="20001"/>
                    </a:ext>
                  </a:extLst>
                </a:gridCol>
                <a:gridCol w="5339542">
                  <a:extLst>
                    <a:ext uri="{9D8B030D-6E8A-4147-A177-3AD203B41FA5}">
                      <a16:colId xmlns:a16="http://schemas.microsoft.com/office/drawing/2014/main" val="20002"/>
                    </a:ext>
                  </a:extLst>
                </a:gridCol>
              </a:tblGrid>
              <a:tr h="0">
                <a:tc>
                  <a:txBody>
                    <a:bodyPr/>
                    <a:lstStyle/>
                    <a:p>
                      <a:pPr algn="ctr"/>
                      <a:r>
                        <a:rPr lang="en-IN" dirty="0"/>
                        <a:t>BHE</a:t>
                      </a:r>
                    </a:p>
                  </a:txBody>
                  <a:tcPr/>
                </a:tc>
                <a:tc>
                  <a:txBody>
                    <a:bodyPr/>
                    <a:lstStyle/>
                    <a:p>
                      <a:pPr algn="ctr"/>
                      <a:r>
                        <a:rPr lang="en-IN" dirty="0"/>
                        <a:t>A0</a:t>
                      </a:r>
                    </a:p>
                  </a:txBody>
                  <a:tcPr/>
                </a:tc>
                <a:tc>
                  <a:txBody>
                    <a:bodyPr/>
                    <a:lstStyle/>
                    <a:p>
                      <a:pPr algn="ctr"/>
                      <a:r>
                        <a:rPr lang="en-IN" dirty="0"/>
                        <a:t>Type of data transfer</a:t>
                      </a:r>
                      <a:r>
                        <a:rPr lang="en-IN" baseline="0" dirty="0"/>
                        <a:t> and bank selection</a:t>
                      </a:r>
                      <a:endParaRPr lang="en-IN" dirty="0"/>
                    </a:p>
                  </a:txBody>
                  <a:tcPr/>
                </a:tc>
                <a:extLst>
                  <a:ext uri="{0D108BD9-81ED-4DB2-BD59-A6C34878D82A}">
                    <a16:rowId xmlns:a16="http://schemas.microsoft.com/office/drawing/2014/main" val="10000"/>
                  </a:ext>
                </a:extLst>
              </a:tr>
              <a:tr h="370840">
                <a:tc>
                  <a:txBody>
                    <a:bodyPr/>
                    <a:lstStyle/>
                    <a:p>
                      <a:pPr algn="ctr"/>
                      <a:r>
                        <a:rPr lang="en-IN" dirty="0"/>
                        <a:t>0</a:t>
                      </a:r>
                    </a:p>
                  </a:txBody>
                  <a:tcPr/>
                </a:tc>
                <a:tc>
                  <a:txBody>
                    <a:bodyPr/>
                    <a:lstStyle/>
                    <a:p>
                      <a:pPr algn="ctr"/>
                      <a:r>
                        <a:rPr lang="en-IN" dirty="0"/>
                        <a:t>0</a:t>
                      </a:r>
                    </a:p>
                  </a:txBody>
                  <a:tcPr/>
                </a:tc>
                <a:tc>
                  <a:txBody>
                    <a:bodyPr/>
                    <a:lstStyle/>
                    <a:p>
                      <a:r>
                        <a:rPr lang="en-IN" dirty="0"/>
                        <a:t>16-bit data transfer, both banks selected</a:t>
                      </a:r>
                    </a:p>
                  </a:txBody>
                  <a:tcPr/>
                </a:tc>
                <a:extLst>
                  <a:ext uri="{0D108BD9-81ED-4DB2-BD59-A6C34878D82A}">
                    <a16:rowId xmlns:a16="http://schemas.microsoft.com/office/drawing/2014/main" val="10001"/>
                  </a:ext>
                </a:extLst>
              </a:tr>
              <a:tr h="370840">
                <a:tc>
                  <a:txBody>
                    <a:bodyPr/>
                    <a:lstStyle/>
                    <a:p>
                      <a:pPr algn="ctr"/>
                      <a:r>
                        <a:rPr lang="en-IN" dirty="0"/>
                        <a:t>0</a:t>
                      </a:r>
                    </a:p>
                  </a:txBody>
                  <a:tcPr/>
                </a:tc>
                <a:tc>
                  <a:txBody>
                    <a:bodyPr/>
                    <a:lstStyle/>
                    <a:p>
                      <a:pPr algn="ctr"/>
                      <a:r>
                        <a:rPr lang="en-IN" dirty="0"/>
                        <a:t>1</a:t>
                      </a:r>
                    </a:p>
                  </a:txBody>
                  <a:tcPr/>
                </a:tc>
                <a:tc>
                  <a:txBody>
                    <a:bodyPr/>
                    <a:lstStyle/>
                    <a:p>
                      <a:r>
                        <a:rPr lang="en-IN" dirty="0"/>
                        <a:t>8-bit data transfer,  odd bank selected</a:t>
                      </a:r>
                    </a:p>
                  </a:txBody>
                  <a:tcPr/>
                </a:tc>
                <a:extLst>
                  <a:ext uri="{0D108BD9-81ED-4DB2-BD59-A6C34878D82A}">
                    <a16:rowId xmlns:a16="http://schemas.microsoft.com/office/drawing/2014/main" val="10002"/>
                  </a:ext>
                </a:extLst>
              </a:tr>
              <a:tr h="370840">
                <a:tc>
                  <a:txBody>
                    <a:bodyPr/>
                    <a:lstStyle/>
                    <a:p>
                      <a:pPr algn="ctr"/>
                      <a:r>
                        <a:rPr lang="en-IN" dirty="0"/>
                        <a:t>1</a:t>
                      </a:r>
                    </a:p>
                  </a:txBody>
                  <a:tcPr/>
                </a:tc>
                <a:tc>
                  <a:txBody>
                    <a:bodyPr/>
                    <a:lstStyle/>
                    <a:p>
                      <a:pPr algn="ctr"/>
                      <a:r>
                        <a:rPr lang="en-IN" dirty="0"/>
                        <a:t>0</a:t>
                      </a:r>
                    </a:p>
                  </a:txBody>
                  <a:tcPr/>
                </a:tc>
                <a:tc>
                  <a:txBody>
                    <a:bodyPr/>
                    <a:lstStyle/>
                    <a:p>
                      <a:r>
                        <a:rPr lang="en-IN" dirty="0"/>
                        <a:t>8-bit data</a:t>
                      </a:r>
                      <a:r>
                        <a:rPr lang="en-IN" baseline="0" dirty="0"/>
                        <a:t> transfer , even bank selected</a:t>
                      </a:r>
                      <a:endParaRPr lang="en-IN" dirty="0"/>
                    </a:p>
                  </a:txBody>
                  <a:tcPr/>
                </a:tc>
                <a:extLst>
                  <a:ext uri="{0D108BD9-81ED-4DB2-BD59-A6C34878D82A}">
                    <a16:rowId xmlns:a16="http://schemas.microsoft.com/office/drawing/2014/main" val="10003"/>
                  </a:ext>
                </a:extLst>
              </a:tr>
              <a:tr h="370840">
                <a:tc>
                  <a:txBody>
                    <a:bodyPr/>
                    <a:lstStyle/>
                    <a:p>
                      <a:pPr algn="ctr"/>
                      <a:r>
                        <a:rPr lang="en-IN" dirty="0"/>
                        <a:t>1</a:t>
                      </a:r>
                    </a:p>
                  </a:txBody>
                  <a:tcPr/>
                </a:tc>
                <a:tc>
                  <a:txBody>
                    <a:bodyPr/>
                    <a:lstStyle/>
                    <a:p>
                      <a:pPr algn="ctr"/>
                      <a:r>
                        <a:rPr lang="en-IN" dirty="0"/>
                        <a:t>1</a:t>
                      </a:r>
                    </a:p>
                  </a:txBody>
                  <a:tcPr/>
                </a:tc>
                <a:tc>
                  <a:txBody>
                    <a:bodyPr/>
                    <a:lstStyle/>
                    <a:p>
                      <a:r>
                        <a:rPr lang="en-IN" dirty="0"/>
                        <a:t>No data transfer , both banks disabled</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487988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Slide Number Placeholder 2"/>
          <p:cNvSpPr>
            <a:spLocks noGrp="1"/>
          </p:cNvSpPr>
          <p:nvPr>
            <p:ph type="sldNum" sz="quarter" idx="12"/>
          </p:nvPr>
        </p:nvSpPr>
        <p:spPr/>
        <p:txBody>
          <a:bodyPr/>
          <a:lstStyle/>
          <a:p>
            <a:fld id="{85E6815B-E59C-4D87-B1F6-ECBDD22AF1DC}" type="slidenum">
              <a:rPr lang="en-US" smtClean="0"/>
              <a:pPr/>
              <a:t>48</a:t>
            </a:fld>
            <a:endParaRPr lang="en-US" dirty="0"/>
          </a:p>
        </p:txBody>
      </p:sp>
      <p:sp>
        <p:nvSpPr>
          <p:cNvPr id="4" name="TextBox 3"/>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pic>
        <p:nvPicPr>
          <p:cNvPr id="8194" name="Picture 2" descr="C:\Users\AMMU\Desktop\Scans\yt.t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9545" y="1239837"/>
            <a:ext cx="4722813" cy="394176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1457927"/>
            <a:ext cx="1600200" cy="372367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239106" y="3454894"/>
            <a:ext cx="1600200" cy="152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014758" y="915889"/>
            <a:ext cx="3976842" cy="738664"/>
          </a:xfrm>
          <a:prstGeom prst="rect">
            <a:avLst/>
          </a:prstGeom>
          <a:ln>
            <a:solidFill>
              <a:srgbClr val="FF0000"/>
            </a:solidFill>
          </a:ln>
        </p:spPr>
        <p:txBody>
          <a:bodyPr wrap="square">
            <a:spAutoFit/>
          </a:bodyPr>
          <a:lstStyle/>
          <a:p>
            <a:pPr algn="ctr"/>
            <a:r>
              <a:rPr lang="en-US" sz="1400" b="1" dirty="0">
                <a:solidFill>
                  <a:srgbClr val="0070C0"/>
                </a:solidFill>
              </a:rPr>
              <a:t>Program</a:t>
            </a:r>
            <a:r>
              <a:rPr lang="en-US" sz="1400" dirty="0">
                <a:solidFill>
                  <a:srgbClr val="0070C0"/>
                </a:solidFill>
              </a:rPr>
              <a:t> </a:t>
            </a:r>
          </a:p>
          <a:p>
            <a:pPr algn="ctr"/>
            <a:r>
              <a:rPr lang="en-US" sz="1400" b="1" dirty="0"/>
              <a:t>A set of instructions written to solve a problem.</a:t>
            </a:r>
          </a:p>
        </p:txBody>
      </p:sp>
      <p:sp>
        <p:nvSpPr>
          <p:cNvPr id="8" name="Rectangle 7"/>
          <p:cNvSpPr/>
          <p:nvPr/>
        </p:nvSpPr>
        <p:spPr>
          <a:xfrm>
            <a:off x="5014758" y="1865293"/>
            <a:ext cx="3976842" cy="954107"/>
          </a:xfrm>
          <a:prstGeom prst="rect">
            <a:avLst/>
          </a:prstGeom>
          <a:ln>
            <a:solidFill>
              <a:srgbClr val="FF0000"/>
            </a:solidFill>
          </a:ln>
        </p:spPr>
        <p:txBody>
          <a:bodyPr wrap="square">
            <a:spAutoFit/>
          </a:bodyPr>
          <a:lstStyle/>
          <a:p>
            <a:pPr algn="ctr"/>
            <a:r>
              <a:rPr lang="en-US" sz="1400" b="1" dirty="0">
                <a:solidFill>
                  <a:srgbClr val="0070C0"/>
                </a:solidFill>
                <a:latin typeface="Verdana" pitchFamily="34" charset="0"/>
                <a:ea typeface="Verdana" pitchFamily="34" charset="0"/>
                <a:cs typeface="Verdana" pitchFamily="34" charset="0"/>
              </a:rPr>
              <a:t>Instruction</a:t>
            </a:r>
            <a:endParaRPr lang="en-US" sz="1400" dirty="0">
              <a:solidFill>
                <a:srgbClr val="0070C0"/>
              </a:solidFill>
              <a:latin typeface="Verdana" pitchFamily="34" charset="0"/>
              <a:ea typeface="Verdana" pitchFamily="34" charset="0"/>
              <a:cs typeface="Verdana" pitchFamily="34" charset="0"/>
            </a:endParaRPr>
          </a:p>
          <a:p>
            <a:pPr algn="ctr"/>
            <a:r>
              <a:rPr lang="en-US" sz="1400" b="1" dirty="0">
                <a:latin typeface="Verdana" pitchFamily="34" charset="0"/>
                <a:ea typeface="Verdana" pitchFamily="34" charset="0"/>
                <a:cs typeface="Verdana" pitchFamily="34" charset="0"/>
              </a:rPr>
              <a:t>Directions which a microprocessor follows to execute a task or part of a task.</a:t>
            </a:r>
          </a:p>
        </p:txBody>
      </p:sp>
      <p:sp>
        <p:nvSpPr>
          <p:cNvPr id="12" name="TextBox 11"/>
          <p:cNvSpPr txBox="1"/>
          <p:nvPr/>
        </p:nvSpPr>
        <p:spPr>
          <a:xfrm>
            <a:off x="5791200" y="3264275"/>
            <a:ext cx="2159566" cy="307777"/>
          </a:xfrm>
          <a:prstGeom prst="rect">
            <a:avLst/>
          </a:prstGeom>
          <a:solidFill>
            <a:srgbClr val="FFFF00"/>
          </a:solidFill>
        </p:spPr>
        <p:txBody>
          <a:bodyPr wrap="none" rtlCol="0">
            <a:spAutoFit/>
          </a:bodyPr>
          <a:lstStyle/>
          <a:p>
            <a:r>
              <a:rPr lang="en-US" sz="1400" b="1" dirty="0">
                <a:solidFill>
                  <a:srgbClr val="CC0099"/>
                </a:solidFill>
              </a:rPr>
              <a:t>Computer language</a:t>
            </a:r>
          </a:p>
        </p:txBody>
      </p:sp>
      <p:sp>
        <p:nvSpPr>
          <p:cNvPr id="15" name="TextBox 14"/>
          <p:cNvSpPr txBox="1"/>
          <p:nvPr/>
        </p:nvSpPr>
        <p:spPr>
          <a:xfrm>
            <a:off x="5029200" y="4183559"/>
            <a:ext cx="1239442" cy="307777"/>
          </a:xfrm>
          <a:prstGeom prst="rect">
            <a:avLst/>
          </a:prstGeom>
          <a:solidFill>
            <a:srgbClr val="FFFF00"/>
          </a:solidFill>
        </p:spPr>
        <p:txBody>
          <a:bodyPr wrap="none" rtlCol="0">
            <a:spAutoFit/>
          </a:bodyPr>
          <a:lstStyle/>
          <a:p>
            <a:r>
              <a:rPr lang="en-US" sz="1400" b="1" dirty="0">
                <a:solidFill>
                  <a:srgbClr val="CC0099"/>
                </a:solidFill>
              </a:rPr>
              <a:t>High Level</a:t>
            </a:r>
          </a:p>
        </p:txBody>
      </p:sp>
      <p:sp>
        <p:nvSpPr>
          <p:cNvPr id="16" name="TextBox 15"/>
          <p:cNvSpPr txBox="1"/>
          <p:nvPr/>
        </p:nvSpPr>
        <p:spPr>
          <a:xfrm>
            <a:off x="7540237" y="4183559"/>
            <a:ext cx="1188146" cy="307777"/>
          </a:xfrm>
          <a:prstGeom prst="rect">
            <a:avLst/>
          </a:prstGeom>
          <a:solidFill>
            <a:srgbClr val="FFFF00"/>
          </a:solidFill>
        </p:spPr>
        <p:txBody>
          <a:bodyPr wrap="none" rtlCol="0">
            <a:spAutoFit/>
          </a:bodyPr>
          <a:lstStyle/>
          <a:p>
            <a:r>
              <a:rPr lang="en-US" sz="1400" b="1" dirty="0">
                <a:solidFill>
                  <a:srgbClr val="CC0099"/>
                </a:solidFill>
              </a:rPr>
              <a:t>Low Level</a:t>
            </a:r>
          </a:p>
        </p:txBody>
      </p:sp>
      <p:sp>
        <p:nvSpPr>
          <p:cNvPr id="17" name="TextBox 16"/>
          <p:cNvSpPr txBox="1"/>
          <p:nvPr/>
        </p:nvSpPr>
        <p:spPr>
          <a:xfrm>
            <a:off x="3962400" y="5220646"/>
            <a:ext cx="2056973" cy="307777"/>
          </a:xfrm>
          <a:prstGeom prst="rect">
            <a:avLst/>
          </a:prstGeom>
          <a:solidFill>
            <a:srgbClr val="FFFF00"/>
          </a:solidFill>
        </p:spPr>
        <p:txBody>
          <a:bodyPr wrap="none" rtlCol="0">
            <a:spAutoFit/>
          </a:bodyPr>
          <a:lstStyle/>
          <a:p>
            <a:r>
              <a:rPr lang="en-US" sz="1400" b="1" dirty="0">
                <a:solidFill>
                  <a:srgbClr val="CC0099"/>
                </a:solidFill>
              </a:rPr>
              <a:t>Machine Language</a:t>
            </a:r>
          </a:p>
        </p:txBody>
      </p:sp>
      <p:sp>
        <p:nvSpPr>
          <p:cNvPr id="18" name="TextBox 17"/>
          <p:cNvSpPr txBox="1"/>
          <p:nvPr/>
        </p:nvSpPr>
        <p:spPr>
          <a:xfrm>
            <a:off x="6629400" y="5223679"/>
            <a:ext cx="2188420" cy="307777"/>
          </a:xfrm>
          <a:prstGeom prst="rect">
            <a:avLst/>
          </a:prstGeom>
          <a:solidFill>
            <a:srgbClr val="FFFF00"/>
          </a:solidFill>
        </p:spPr>
        <p:txBody>
          <a:bodyPr wrap="none" rtlCol="0">
            <a:spAutoFit/>
          </a:bodyPr>
          <a:lstStyle/>
          <a:p>
            <a:r>
              <a:rPr lang="en-US" sz="1400" b="1" dirty="0">
                <a:solidFill>
                  <a:srgbClr val="CC0099"/>
                </a:solidFill>
              </a:rPr>
              <a:t>Assembly Language</a:t>
            </a:r>
          </a:p>
        </p:txBody>
      </p:sp>
      <p:sp>
        <p:nvSpPr>
          <p:cNvPr id="13" name="TextBox 12"/>
          <p:cNvSpPr txBox="1"/>
          <p:nvPr/>
        </p:nvSpPr>
        <p:spPr>
          <a:xfrm>
            <a:off x="3962400" y="5665113"/>
            <a:ext cx="1981200" cy="307777"/>
          </a:xfrm>
          <a:prstGeom prst="rect">
            <a:avLst/>
          </a:prstGeom>
          <a:noFill/>
        </p:spPr>
        <p:txBody>
          <a:bodyPr wrap="square" rtlCol="0">
            <a:spAutoFit/>
          </a:bodyPr>
          <a:lstStyle/>
          <a:p>
            <a:r>
              <a:rPr lang="en-US" sz="1400" b="1" dirty="0">
                <a:latin typeface="Agency FB"/>
                <a:sym typeface="Wingdings 2"/>
              </a:rPr>
              <a:t> </a:t>
            </a:r>
            <a:r>
              <a:rPr lang="en-US" sz="1400" b="1" dirty="0"/>
              <a:t>Binary bits</a:t>
            </a:r>
          </a:p>
        </p:txBody>
      </p:sp>
      <p:sp>
        <p:nvSpPr>
          <p:cNvPr id="21" name="TextBox 20"/>
          <p:cNvSpPr txBox="1"/>
          <p:nvPr/>
        </p:nvSpPr>
        <p:spPr>
          <a:xfrm>
            <a:off x="6553200" y="5662136"/>
            <a:ext cx="2438400" cy="1077218"/>
          </a:xfrm>
          <a:prstGeom prst="rect">
            <a:avLst/>
          </a:prstGeom>
          <a:noFill/>
        </p:spPr>
        <p:txBody>
          <a:bodyPr wrap="square" rtlCol="0">
            <a:spAutoFit/>
          </a:bodyPr>
          <a:lstStyle/>
          <a:p>
            <a:pPr marL="285750" indent="-285750">
              <a:buFont typeface="Wingdings 2"/>
              <a:buChar char="¾"/>
            </a:pPr>
            <a:r>
              <a:rPr lang="en-US" sz="1400" b="1" dirty="0"/>
              <a:t>English Alphabets</a:t>
            </a:r>
          </a:p>
          <a:p>
            <a:pPr marL="285750" indent="-285750">
              <a:buFont typeface="Wingdings 2"/>
              <a:buChar char="¾"/>
            </a:pPr>
            <a:r>
              <a:rPr lang="en-US" sz="1400" b="1" dirty="0">
                <a:sym typeface="Wingdings 2"/>
              </a:rPr>
              <a:t>‘Mnemonics’</a:t>
            </a:r>
          </a:p>
          <a:p>
            <a:pPr marL="285750" indent="-285750">
              <a:buFont typeface="Wingdings 2"/>
              <a:buChar char="¾"/>
            </a:pPr>
            <a:r>
              <a:rPr lang="en-US" sz="1400" b="1" dirty="0">
                <a:sym typeface="Wingdings 2"/>
              </a:rPr>
              <a:t>Assembler </a:t>
            </a:r>
            <a:r>
              <a:rPr lang="en-US" sz="1100" b="1" dirty="0">
                <a:sym typeface="Symbol"/>
              </a:rPr>
              <a:t>Mnemonics  </a:t>
            </a:r>
            <a:r>
              <a:rPr lang="en-US" sz="1100" b="1" dirty="0">
                <a:sym typeface="Wingdings 2"/>
              </a:rPr>
              <a:t>Machine Language</a:t>
            </a:r>
            <a:endParaRPr lang="en-US" sz="1100" b="1" dirty="0"/>
          </a:p>
        </p:txBody>
      </p:sp>
      <p:cxnSp>
        <p:nvCxnSpPr>
          <p:cNvPr id="19" name="Straight Arrow Connector 18"/>
          <p:cNvCxnSpPr>
            <a:stCxn id="12" idx="2"/>
          </p:cNvCxnSpPr>
          <p:nvPr/>
        </p:nvCxnSpPr>
        <p:spPr>
          <a:xfrm flipH="1">
            <a:off x="5791200" y="3572052"/>
            <a:ext cx="1079783" cy="61150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2" idx="2"/>
            <a:endCxn id="16" idx="0"/>
          </p:cNvCxnSpPr>
          <p:nvPr/>
        </p:nvCxnSpPr>
        <p:spPr>
          <a:xfrm>
            <a:off x="6870983" y="3572052"/>
            <a:ext cx="1263327" cy="61150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6" idx="2"/>
            <a:endCxn id="17" idx="0"/>
          </p:cNvCxnSpPr>
          <p:nvPr/>
        </p:nvCxnSpPr>
        <p:spPr>
          <a:xfrm flipH="1">
            <a:off x="4990887" y="4491336"/>
            <a:ext cx="3143423" cy="72931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6" idx="2"/>
          </p:cNvCxnSpPr>
          <p:nvPr/>
        </p:nvCxnSpPr>
        <p:spPr>
          <a:xfrm>
            <a:off x="8134310" y="4491336"/>
            <a:ext cx="247690" cy="69026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5348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par>
                                <p:cTn id="15" presetID="10"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11" grpId="0" animBg="1"/>
      <p:bldP spid="7" grpId="0" animBg="1"/>
      <p:bldP spid="8" grpId="0" animBg="1"/>
      <p:bldP spid="12" grpId="0" animBg="1"/>
      <p:bldP spid="15" grpId="0" animBg="1"/>
      <p:bldP spid="16" grpId="0" animBg="1"/>
      <p:bldP spid="17" grpId="0" animBg="1"/>
      <p:bldP spid="18" grpId="0" animBg="1"/>
      <p:bldP spid="13" grpId="0"/>
      <p:bldP spid="2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latin typeface="Octapost NBP" pitchFamily="2" charset="0"/>
              </a:rPr>
              <a:t>ADDRESSING MODES</a:t>
            </a:r>
          </a:p>
        </p:txBody>
      </p:sp>
    </p:spTree>
    <p:extLst>
      <p:ext uri="{BB962C8B-B14F-4D97-AF65-F5344CB8AC3E}">
        <p14:creationId xmlns:p14="http://schemas.microsoft.com/office/powerpoint/2010/main" val="1708259086"/>
      </p:ext>
    </p:extLst>
  </p:cSld>
  <p:clrMapOvr>
    <a:masterClrMapping/>
  </p:clrMapOvr>
  <p:transition>
    <p:split orient="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161964" y="1703696"/>
            <a:ext cx="8794381" cy="685800"/>
            <a:chOff x="474258" y="1703696"/>
            <a:chExt cx="8275095" cy="685800"/>
          </a:xfrm>
        </p:grpSpPr>
        <p:sp>
          <p:nvSpPr>
            <p:cNvPr id="8" name="Rectangle 7"/>
            <p:cNvSpPr/>
            <p:nvPr/>
          </p:nvSpPr>
          <p:spPr>
            <a:xfrm>
              <a:off x="474258" y="1703696"/>
              <a:ext cx="8275094" cy="685800"/>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982395" y="1752600"/>
              <a:ext cx="3766958" cy="584775"/>
            </a:xfrm>
            <a:prstGeom prst="rect">
              <a:avLst/>
            </a:prstGeom>
            <a:noFill/>
          </p:spPr>
          <p:txBody>
            <a:bodyPr wrap="square" rtlCol="0">
              <a:spAutoFit/>
            </a:bodyPr>
            <a:lstStyle/>
            <a:p>
              <a:pPr algn="r"/>
              <a:r>
                <a:rPr lang="en-US" sz="1600" b="1" dirty="0">
                  <a:solidFill>
                    <a:srgbClr val="FF0000"/>
                  </a:solidFill>
                </a:rPr>
                <a:t>Group I : Addressing modes for register and immediate data</a:t>
              </a:r>
            </a:p>
          </p:txBody>
        </p:sp>
      </p:grpSp>
      <p:grpSp>
        <p:nvGrpSpPr>
          <p:cNvPr id="20" name="Group 19"/>
          <p:cNvGrpSpPr/>
          <p:nvPr/>
        </p:nvGrpSpPr>
        <p:grpSpPr>
          <a:xfrm>
            <a:off x="161964" y="5908344"/>
            <a:ext cx="8777322" cy="416256"/>
            <a:chOff x="457200" y="5881048"/>
            <a:chExt cx="8275094" cy="356548"/>
          </a:xfrm>
        </p:grpSpPr>
        <p:sp>
          <p:nvSpPr>
            <p:cNvPr id="14" name="Rectangle 13"/>
            <p:cNvSpPr/>
            <p:nvPr/>
          </p:nvSpPr>
          <p:spPr>
            <a:xfrm>
              <a:off x="457200" y="5894696"/>
              <a:ext cx="8275094" cy="342900"/>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3411942" y="5881048"/>
              <a:ext cx="5320352" cy="338554"/>
            </a:xfrm>
            <a:prstGeom prst="rect">
              <a:avLst/>
            </a:prstGeom>
            <a:noFill/>
          </p:spPr>
          <p:txBody>
            <a:bodyPr wrap="square" rtlCol="0">
              <a:spAutoFit/>
            </a:bodyPr>
            <a:lstStyle/>
            <a:p>
              <a:pPr algn="r"/>
              <a:r>
                <a:rPr lang="en-US" sz="1600" b="1" dirty="0">
                  <a:solidFill>
                    <a:srgbClr val="FF0000"/>
                  </a:solidFill>
                </a:rPr>
                <a:t>Group IV : Relative Addressing mode</a:t>
              </a:r>
            </a:p>
          </p:txBody>
        </p:sp>
      </p:grpSp>
      <p:grpSp>
        <p:nvGrpSpPr>
          <p:cNvPr id="21" name="Group 20"/>
          <p:cNvGrpSpPr/>
          <p:nvPr/>
        </p:nvGrpSpPr>
        <p:grpSpPr>
          <a:xfrm>
            <a:off x="161964" y="6351897"/>
            <a:ext cx="8808028" cy="381000"/>
            <a:chOff x="487906" y="6324600"/>
            <a:chExt cx="8275094" cy="356548"/>
          </a:xfrm>
        </p:grpSpPr>
        <p:sp>
          <p:nvSpPr>
            <p:cNvPr id="16" name="Rectangle 15"/>
            <p:cNvSpPr/>
            <p:nvPr/>
          </p:nvSpPr>
          <p:spPr>
            <a:xfrm>
              <a:off x="487906" y="6338248"/>
              <a:ext cx="8275094" cy="342900"/>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3442648" y="6324600"/>
              <a:ext cx="5320352" cy="338554"/>
            </a:xfrm>
            <a:prstGeom prst="rect">
              <a:avLst/>
            </a:prstGeom>
            <a:noFill/>
          </p:spPr>
          <p:txBody>
            <a:bodyPr wrap="square" rtlCol="0">
              <a:spAutoFit/>
            </a:bodyPr>
            <a:lstStyle/>
            <a:p>
              <a:pPr algn="r"/>
              <a:r>
                <a:rPr lang="en-US" sz="1600" b="1" dirty="0">
                  <a:solidFill>
                    <a:srgbClr val="FF0000"/>
                  </a:solidFill>
                </a:rPr>
                <a:t>Group V : Implied Addressing mode</a:t>
              </a:r>
            </a:p>
          </p:txBody>
        </p:sp>
      </p:grpSp>
      <p:grpSp>
        <p:nvGrpSpPr>
          <p:cNvPr id="19" name="Group 18"/>
          <p:cNvGrpSpPr/>
          <p:nvPr/>
        </p:nvGrpSpPr>
        <p:grpSpPr>
          <a:xfrm>
            <a:off x="161964" y="5098406"/>
            <a:ext cx="8777322" cy="754381"/>
            <a:chOff x="457200" y="5084758"/>
            <a:chExt cx="8275094" cy="754381"/>
          </a:xfrm>
        </p:grpSpPr>
        <p:sp>
          <p:nvSpPr>
            <p:cNvPr id="12" name="Rectangle 11"/>
            <p:cNvSpPr/>
            <p:nvPr/>
          </p:nvSpPr>
          <p:spPr>
            <a:xfrm>
              <a:off x="457200" y="5084758"/>
              <a:ext cx="8275094" cy="754381"/>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4902259" y="5181600"/>
              <a:ext cx="3830035" cy="584775"/>
            </a:xfrm>
            <a:prstGeom prst="rect">
              <a:avLst/>
            </a:prstGeom>
            <a:noFill/>
          </p:spPr>
          <p:txBody>
            <a:bodyPr wrap="square" rtlCol="0">
              <a:spAutoFit/>
            </a:bodyPr>
            <a:lstStyle/>
            <a:p>
              <a:pPr algn="r"/>
              <a:r>
                <a:rPr lang="en-US" sz="1600" b="1" dirty="0">
                  <a:solidFill>
                    <a:srgbClr val="FF0000"/>
                  </a:solidFill>
                </a:rPr>
                <a:t>Group III : Addressing modes for I/O ports</a:t>
              </a:r>
            </a:p>
          </p:txBody>
        </p:sp>
      </p:grpSp>
      <p:grpSp>
        <p:nvGrpSpPr>
          <p:cNvPr id="18" name="Group 17"/>
          <p:cNvGrpSpPr/>
          <p:nvPr/>
        </p:nvGrpSpPr>
        <p:grpSpPr>
          <a:xfrm>
            <a:off x="161964" y="2514600"/>
            <a:ext cx="8790970" cy="2514600"/>
            <a:chOff x="470848" y="2514600"/>
            <a:chExt cx="8275094" cy="2514600"/>
          </a:xfrm>
        </p:grpSpPr>
        <p:sp>
          <p:nvSpPr>
            <p:cNvPr id="10" name="Rectangle 9"/>
            <p:cNvSpPr/>
            <p:nvPr/>
          </p:nvSpPr>
          <p:spPr>
            <a:xfrm>
              <a:off x="470848" y="2514600"/>
              <a:ext cx="8275094" cy="2514600"/>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4651533" y="3603008"/>
              <a:ext cx="4094409" cy="584775"/>
            </a:xfrm>
            <a:prstGeom prst="rect">
              <a:avLst/>
            </a:prstGeom>
            <a:noFill/>
          </p:spPr>
          <p:txBody>
            <a:bodyPr wrap="square" rtlCol="0">
              <a:spAutoFit/>
            </a:bodyPr>
            <a:lstStyle/>
            <a:p>
              <a:pPr algn="r"/>
              <a:r>
                <a:rPr lang="en-US" sz="1600" b="1" dirty="0">
                  <a:solidFill>
                    <a:srgbClr val="FF0000"/>
                  </a:solidFill>
                </a:rPr>
                <a:t>Group II : Addressing modes for memory data</a:t>
              </a:r>
            </a:p>
          </p:txBody>
        </p:sp>
      </p:grpSp>
      <p:sp>
        <p:nvSpPr>
          <p:cNvPr id="2" name="Title 1"/>
          <p:cNvSpPr>
            <a:spLocks noGrp="1"/>
          </p:cNvSpPr>
          <p:nvPr>
            <p:ph type="title"/>
          </p:nvPr>
        </p:nvSpPr>
        <p:spPr/>
        <p:txBody>
          <a:bodyPr/>
          <a:lstStyle/>
          <a:p>
            <a:r>
              <a:rPr lang="en-US" dirty="0"/>
              <a:t>Addressing Modes</a:t>
            </a:r>
          </a:p>
        </p:txBody>
      </p:sp>
      <p:sp>
        <p:nvSpPr>
          <p:cNvPr id="3" name="Slide Number Placeholder 2"/>
          <p:cNvSpPr>
            <a:spLocks noGrp="1"/>
          </p:cNvSpPr>
          <p:nvPr>
            <p:ph type="sldNum" sz="quarter" idx="12"/>
          </p:nvPr>
        </p:nvSpPr>
        <p:spPr/>
        <p:txBody>
          <a:bodyPr/>
          <a:lstStyle/>
          <a:p>
            <a:fld id="{85E6815B-E59C-4D87-B1F6-ECBDD22AF1DC}" type="slidenum">
              <a:rPr lang="en-US" smtClean="0"/>
              <a:pPr/>
              <a:t>50</a:t>
            </a:fld>
            <a:endParaRPr lang="en-US" dirty="0"/>
          </a:p>
        </p:txBody>
      </p:sp>
      <p:sp>
        <p:nvSpPr>
          <p:cNvPr id="4" name="TextBox 3"/>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6" name="TextBox 5"/>
          <p:cNvSpPr txBox="1"/>
          <p:nvPr/>
        </p:nvSpPr>
        <p:spPr>
          <a:xfrm>
            <a:off x="1434152" y="762000"/>
            <a:ext cx="6338248" cy="738664"/>
          </a:xfrm>
          <a:prstGeom prst="rect">
            <a:avLst/>
          </a:prstGeom>
          <a:solidFill>
            <a:srgbClr val="99FFCC"/>
          </a:solidFill>
        </p:spPr>
        <p:txBody>
          <a:bodyPr wrap="square" rtlCol="0">
            <a:spAutoFit/>
          </a:bodyPr>
          <a:lstStyle/>
          <a:p>
            <a:pPr marL="285750" indent="-285750" algn="just">
              <a:buBlip>
                <a:blip r:embed="rId3"/>
              </a:buBlip>
            </a:pPr>
            <a:r>
              <a:rPr lang="en-US" sz="1400" b="1" dirty="0">
                <a:latin typeface="Verdana" pitchFamily="34" charset="0"/>
                <a:ea typeface="Verdana" pitchFamily="34" charset="0"/>
                <a:cs typeface="Verdana" pitchFamily="34" charset="0"/>
              </a:rPr>
              <a:t>Every instruction of a program has to operate on a data. </a:t>
            </a:r>
          </a:p>
          <a:p>
            <a:pPr marL="285750" indent="-285750" algn="just">
              <a:buBlip>
                <a:blip r:embed="rId3"/>
              </a:buBlip>
            </a:pPr>
            <a:r>
              <a:rPr lang="en-US" sz="1400" b="1" dirty="0">
                <a:latin typeface="Verdana" pitchFamily="34" charset="0"/>
                <a:ea typeface="Verdana" pitchFamily="34" charset="0"/>
                <a:cs typeface="Verdana" pitchFamily="34" charset="0"/>
              </a:rPr>
              <a:t>The different ways in which a source operand is denoted in an instruction are known as addressing modes.</a:t>
            </a:r>
          </a:p>
        </p:txBody>
      </p:sp>
      <p:sp>
        <p:nvSpPr>
          <p:cNvPr id="22" name="Rectangle 21"/>
          <p:cNvSpPr/>
          <p:nvPr/>
        </p:nvSpPr>
        <p:spPr>
          <a:xfrm>
            <a:off x="161964" y="1658064"/>
            <a:ext cx="3474028" cy="5047536"/>
          </a:xfrm>
          <a:prstGeom prst="rect">
            <a:avLst/>
          </a:prstGeom>
        </p:spPr>
        <p:txBody>
          <a:bodyPr wrap="none">
            <a:spAutoFit/>
          </a:bodyPr>
          <a:lstStyle/>
          <a:p>
            <a:pPr marL="342900" indent="-342900">
              <a:buAutoNum type="arabicPeriod"/>
            </a:pPr>
            <a:r>
              <a:rPr lang="en-US" sz="1400" b="1" dirty="0">
                <a:solidFill>
                  <a:srgbClr val="FF0066"/>
                </a:solidFill>
                <a:latin typeface="Verdana" pitchFamily="34" charset="0"/>
                <a:ea typeface="Verdana" pitchFamily="34" charset="0"/>
                <a:cs typeface="Verdana" pitchFamily="34" charset="0"/>
              </a:rPr>
              <a:t>Register Addressing</a:t>
            </a:r>
          </a:p>
          <a:p>
            <a:pPr marL="342900" indent="-342900">
              <a:buAutoNum type="arabicPeriod"/>
            </a:pPr>
            <a:endParaRPr lang="en-US" sz="1400" b="1" dirty="0">
              <a:solidFill>
                <a:srgbClr val="FF0066"/>
              </a:solidFill>
              <a:latin typeface="Verdana" pitchFamily="34" charset="0"/>
              <a:ea typeface="Verdana" pitchFamily="34" charset="0"/>
              <a:cs typeface="Verdana" pitchFamily="34" charset="0"/>
            </a:endParaRPr>
          </a:p>
          <a:p>
            <a:pPr marL="342900" indent="-342900">
              <a:buAutoNum type="arabicPeriod" startAt="2"/>
            </a:pPr>
            <a:r>
              <a:rPr lang="en-US" sz="1400" b="1" dirty="0">
                <a:solidFill>
                  <a:srgbClr val="FF0066"/>
                </a:solidFill>
                <a:latin typeface="Verdana" pitchFamily="34" charset="0"/>
                <a:ea typeface="Verdana" pitchFamily="34" charset="0"/>
                <a:cs typeface="Verdana" pitchFamily="34" charset="0"/>
              </a:rPr>
              <a:t>Immediate Addressing</a:t>
            </a:r>
          </a:p>
          <a:p>
            <a:pPr marL="342900" indent="-342900">
              <a:buAutoNum type="arabicPeriod" startAt="2"/>
            </a:pPr>
            <a:endParaRPr lang="en-US" sz="1400" b="1" dirty="0">
              <a:solidFill>
                <a:srgbClr val="FF0066"/>
              </a:solidFill>
              <a:latin typeface="Verdana" pitchFamily="34" charset="0"/>
              <a:ea typeface="Verdana" pitchFamily="34" charset="0"/>
              <a:cs typeface="Verdana" pitchFamily="34" charset="0"/>
            </a:endParaRPr>
          </a:p>
          <a:p>
            <a:pPr marL="342900" indent="-342900">
              <a:buAutoNum type="arabicPeriod" startAt="3"/>
            </a:pPr>
            <a:r>
              <a:rPr lang="en-US" sz="1400" b="1" dirty="0">
                <a:solidFill>
                  <a:srgbClr val="FF0066"/>
                </a:solidFill>
                <a:latin typeface="Verdana" pitchFamily="34" charset="0"/>
                <a:ea typeface="Verdana" pitchFamily="34" charset="0"/>
                <a:cs typeface="Verdana" pitchFamily="34" charset="0"/>
              </a:rPr>
              <a:t>Direct Addressing</a:t>
            </a:r>
          </a:p>
          <a:p>
            <a:pPr marL="342900" indent="-342900">
              <a:buAutoNum type="arabicPeriod" startAt="3"/>
            </a:pPr>
            <a:endParaRPr lang="en-US" sz="1400" b="1" dirty="0">
              <a:solidFill>
                <a:srgbClr val="FF0066"/>
              </a:solidFill>
              <a:latin typeface="Verdana" pitchFamily="34" charset="0"/>
              <a:ea typeface="Verdana" pitchFamily="34" charset="0"/>
              <a:cs typeface="Verdana" pitchFamily="34" charset="0"/>
            </a:endParaRPr>
          </a:p>
          <a:p>
            <a:pPr marL="342900" indent="-342900">
              <a:buAutoNum type="arabicPeriod" startAt="4"/>
            </a:pPr>
            <a:r>
              <a:rPr lang="en-US" sz="1400" b="1" dirty="0">
                <a:solidFill>
                  <a:srgbClr val="FF0066"/>
                </a:solidFill>
                <a:latin typeface="Verdana" pitchFamily="34" charset="0"/>
                <a:ea typeface="Verdana" pitchFamily="34" charset="0"/>
                <a:cs typeface="Verdana" pitchFamily="34" charset="0"/>
              </a:rPr>
              <a:t>Register Indirect Addressing</a:t>
            </a:r>
          </a:p>
          <a:p>
            <a:pPr marL="342900" indent="-342900">
              <a:buAutoNum type="arabicPeriod" startAt="4"/>
            </a:pPr>
            <a:endParaRPr lang="en-US" sz="1400" b="1" dirty="0">
              <a:solidFill>
                <a:srgbClr val="FF0066"/>
              </a:solidFill>
              <a:latin typeface="Verdana" pitchFamily="34" charset="0"/>
              <a:ea typeface="Verdana" pitchFamily="34" charset="0"/>
              <a:cs typeface="Verdana" pitchFamily="34" charset="0"/>
            </a:endParaRPr>
          </a:p>
          <a:p>
            <a:pPr marL="342900" indent="-342900">
              <a:buAutoNum type="arabicPeriod" startAt="5"/>
            </a:pPr>
            <a:r>
              <a:rPr lang="en-US" sz="1400" b="1" dirty="0">
                <a:solidFill>
                  <a:srgbClr val="FF0066"/>
                </a:solidFill>
                <a:latin typeface="Verdana" pitchFamily="34" charset="0"/>
                <a:ea typeface="Verdana" pitchFamily="34" charset="0"/>
                <a:cs typeface="Verdana" pitchFamily="34" charset="0"/>
              </a:rPr>
              <a:t>Based Addressing</a:t>
            </a:r>
          </a:p>
          <a:p>
            <a:pPr marL="342900" indent="-342900">
              <a:buAutoNum type="arabicPeriod" startAt="5"/>
            </a:pPr>
            <a:endParaRPr lang="en-US" sz="1400" b="1" dirty="0">
              <a:solidFill>
                <a:srgbClr val="FF0066"/>
              </a:solidFill>
              <a:latin typeface="Verdana" pitchFamily="34" charset="0"/>
              <a:ea typeface="Verdana" pitchFamily="34" charset="0"/>
              <a:cs typeface="Verdana" pitchFamily="34" charset="0"/>
            </a:endParaRPr>
          </a:p>
          <a:p>
            <a:pPr marL="342900" indent="-342900">
              <a:buAutoNum type="arabicPeriod" startAt="6"/>
            </a:pPr>
            <a:r>
              <a:rPr lang="en-US" sz="1400" b="1" dirty="0">
                <a:solidFill>
                  <a:srgbClr val="FF0066"/>
                </a:solidFill>
                <a:latin typeface="Verdana" pitchFamily="34" charset="0"/>
                <a:ea typeface="Verdana" pitchFamily="34" charset="0"/>
                <a:cs typeface="Verdana" pitchFamily="34" charset="0"/>
              </a:rPr>
              <a:t>Indexed Addressing</a:t>
            </a:r>
          </a:p>
          <a:p>
            <a:pPr marL="342900" indent="-342900">
              <a:buAutoNum type="arabicPeriod" startAt="6"/>
            </a:pPr>
            <a:endParaRPr lang="en-US" sz="1400" b="1" dirty="0">
              <a:solidFill>
                <a:srgbClr val="FF0066"/>
              </a:solidFill>
              <a:latin typeface="Verdana" pitchFamily="34" charset="0"/>
              <a:ea typeface="Verdana" pitchFamily="34" charset="0"/>
              <a:cs typeface="Verdana" pitchFamily="34" charset="0"/>
            </a:endParaRPr>
          </a:p>
          <a:p>
            <a:pPr marL="342900" indent="-342900">
              <a:buAutoNum type="arabicPeriod" startAt="7"/>
            </a:pPr>
            <a:r>
              <a:rPr lang="en-US" sz="1400" b="1" dirty="0">
                <a:solidFill>
                  <a:srgbClr val="FF0066"/>
                </a:solidFill>
                <a:latin typeface="Verdana" pitchFamily="34" charset="0"/>
                <a:ea typeface="Verdana" pitchFamily="34" charset="0"/>
                <a:cs typeface="Verdana" pitchFamily="34" charset="0"/>
              </a:rPr>
              <a:t>Based Index Addressing</a:t>
            </a:r>
          </a:p>
          <a:p>
            <a:pPr marL="342900" indent="-342900">
              <a:buAutoNum type="arabicPeriod" startAt="7"/>
            </a:pPr>
            <a:endParaRPr lang="en-US" sz="1400" b="1" dirty="0">
              <a:solidFill>
                <a:srgbClr val="FF0066"/>
              </a:solidFill>
              <a:latin typeface="Verdana" pitchFamily="34" charset="0"/>
              <a:ea typeface="Verdana" pitchFamily="34" charset="0"/>
              <a:cs typeface="Verdana" pitchFamily="34" charset="0"/>
            </a:endParaRPr>
          </a:p>
          <a:p>
            <a:pPr marL="342900" indent="-342900">
              <a:buAutoNum type="arabicPeriod" startAt="8"/>
            </a:pPr>
            <a:r>
              <a:rPr lang="en-US" sz="1400" b="1" dirty="0">
                <a:solidFill>
                  <a:srgbClr val="FF0066"/>
                </a:solidFill>
                <a:latin typeface="Verdana" pitchFamily="34" charset="0"/>
                <a:ea typeface="Verdana" pitchFamily="34" charset="0"/>
                <a:cs typeface="Verdana" pitchFamily="34" charset="0"/>
              </a:rPr>
              <a:t>String Addressing</a:t>
            </a:r>
          </a:p>
          <a:p>
            <a:pPr marL="342900" indent="-342900">
              <a:buAutoNum type="arabicPeriod" startAt="8"/>
            </a:pPr>
            <a:endParaRPr lang="en-US" sz="1400" b="1" dirty="0">
              <a:solidFill>
                <a:srgbClr val="FF0066"/>
              </a:solidFill>
              <a:latin typeface="Verdana" pitchFamily="34" charset="0"/>
              <a:ea typeface="Verdana" pitchFamily="34" charset="0"/>
              <a:cs typeface="Verdana" pitchFamily="34" charset="0"/>
            </a:endParaRPr>
          </a:p>
          <a:p>
            <a:pPr marL="342900" indent="-342900">
              <a:buAutoNum type="arabicPeriod" startAt="9"/>
            </a:pPr>
            <a:r>
              <a:rPr lang="en-US" sz="1400" b="1" dirty="0">
                <a:solidFill>
                  <a:srgbClr val="FF0066"/>
                </a:solidFill>
                <a:latin typeface="Verdana" pitchFamily="34" charset="0"/>
                <a:ea typeface="Verdana" pitchFamily="34" charset="0"/>
                <a:cs typeface="Verdana" pitchFamily="34" charset="0"/>
              </a:rPr>
              <a:t>Direct I/O port Addressing</a:t>
            </a:r>
          </a:p>
          <a:p>
            <a:pPr marL="342900" indent="-342900">
              <a:buAutoNum type="arabicPeriod" startAt="9"/>
            </a:pPr>
            <a:endParaRPr lang="en-US" sz="1400" b="1" dirty="0">
              <a:solidFill>
                <a:srgbClr val="FF0066"/>
              </a:solidFill>
              <a:latin typeface="Verdana" pitchFamily="34" charset="0"/>
              <a:ea typeface="Verdana" pitchFamily="34" charset="0"/>
              <a:cs typeface="Verdana" pitchFamily="34" charset="0"/>
            </a:endParaRPr>
          </a:p>
          <a:p>
            <a:r>
              <a:rPr lang="en-US" sz="1400" b="1" dirty="0">
                <a:solidFill>
                  <a:srgbClr val="FF0066"/>
                </a:solidFill>
                <a:latin typeface="Verdana" pitchFamily="34" charset="0"/>
                <a:ea typeface="Verdana" pitchFamily="34" charset="0"/>
                <a:cs typeface="Verdana" pitchFamily="34" charset="0"/>
              </a:rPr>
              <a:t>10. Indirect I/O port Addressing</a:t>
            </a:r>
          </a:p>
          <a:p>
            <a:endParaRPr lang="en-US" sz="1400" b="1" dirty="0">
              <a:solidFill>
                <a:srgbClr val="FF0066"/>
              </a:solidFill>
              <a:latin typeface="Verdana" pitchFamily="34" charset="0"/>
              <a:ea typeface="Verdana" pitchFamily="34" charset="0"/>
              <a:cs typeface="Verdana" pitchFamily="34" charset="0"/>
            </a:endParaRPr>
          </a:p>
          <a:p>
            <a:r>
              <a:rPr lang="en-US" sz="1400" b="1" dirty="0">
                <a:solidFill>
                  <a:srgbClr val="FF0066"/>
                </a:solidFill>
                <a:latin typeface="Verdana" pitchFamily="34" charset="0"/>
                <a:ea typeface="Verdana" pitchFamily="34" charset="0"/>
                <a:cs typeface="Verdana" pitchFamily="34" charset="0"/>
              </a:rPr>
              <a:t>11. Relative Addressing</a:t>
            </a:r>
          </a:p>
          <a:p>
            <a:endParaRPr lang="en-US" sz="1400" b="1" dirty="0">
              <a:solidFill>
                <a:srgbClr val="FF0066"/>
              </a:solidFill>
              <a:latin typeface="Verdana" pitchFamily="34" charset="0"/>
              <a:ea typeface="Verdana" pitchFamily="34" charset="0"/>
              <a:cs typeface="Verdana" pitchFamily="34" charset="0"/>
            </a:endParaRPr>
          </a:p>
          <a:p>
            <a:r>
              <a:rPr lang="en-US" sz="1400" b="1" dirty="0">
                <a:solidFill>
                  <a:srgbClr val="FF0066"/>
                </a:solidFill>
                <a:latin typeface="Verdana" pitchFamily="34" charset="0"/>
                <a:ea typeface="Verdana" pitchFamily="34" charset="0"/>
                <a:cs typeface="Verdana" pitchFamily="34" charset="0"/>
              </a:rPr>
              <a:t>12. Implied Addressing</a:t>
            </a:r>
          </a:p>
        </p:txBody>
      </p:sp>
    </p:spTree>
    <p:extLst>
      <p:ext uri="{BB962C8B-B14F-4D97-AF65-F5344CB8AC3E}">
        <p14:creationId xmlns:p14="http://schemas.microsoft.com/office/powerpoint/2010/main" val="2126555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p:cNvSpPr/>
          <p:nvPr/>
        </p:nvSpPr>
        <p:spPr>
          <a:xfrm>
            <a:off x="3753136" y="2117108"/>
            <a:ext cx="1608160" cy="32129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152400" y="762000"/>
            <a:ext cx="3264190" cy="421134"/>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Addressing Modes</a:t>
            </a:r>
          </a:p>
        </p:txBody>
      </p:sp>
      <p:sp>
        <p:nvSpPr>
          <p:cNvPr id="3" name="Slide Number Placeholder 2"/>
          <p:cNvSpPr>
            <a:spLocks noGrp="1"/>
          </p:cNvSpPr>
          <p:nvPr>
            <p:ph type="sldNum" sz="quarter" idx="12"/>
          </p:nvPr>
        </p:nvSpPr>
        <p:spPr/>
        <p:txBody>
          <a:bodyPr/>
          <a:lstStyle/>
          <a:p>
            <a:fld id="{85E6815B-E59C-4D87-B1F6-ECBDD22AF1DC}" type="slidenum">
              <a:rPr lang="en-US" smtClean="0"/>
              <a:pPr/>
              <a:t>51</a:t>
            </a:fld>
            <a:endParaRPr lang="en-US" dirty="0"/>
          </a:p>
        </p:txBody>
      </p:sp>
      <p:sp>
        <p:nvSpPr>
          <p:cNvPr id="4" name="TextBox 3"/>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9" name="Rectangle 8"/>
          <p:cNvSpPr/>
          <p:nvPr/>
        </p:nvSpPr>
        <p:spPr>
          <a:xfrm>
            <a:off x="163776" y="838393"/>
            <a:ext cx="3252814" cy="4693593"/>
          </a:xfrm>
          <a:prstGeom prst="rect">
            <a:avLst/>
          </a:prstGeom>
        </p:spPr>
        <p:txBody>
          <a:bodyPr wrap="none">
            <a:spAutoFit/>
          </a:bodyPr>
          <a:lstStyle/>
          <a:p>
            <a:pPr marL="342900" indent="-342900">
              <a:buAutoNum type="arabicPeriod"/>
            </a:pPr>
            <a:r>
              <a:rPr lang="en-US" sz="1300" b="1" dirty="0">
                <a:solidFill>
                  <a:srgbClr val="FF0066"/>
                </a:solidFill>
                <a:latin typeface="Verdana" pitchFamily="34" charset="0"/>
                <a:ea typeface="Verdana" pitchFamily="34" charset="0"/>
                <a:cs typeface="Verdana" pitchFamily="34" charset="0"/>
              </a:rPr>
              <a:t>Register Addressing</a:t>
            </a:r>
          </a:p>
          <a:p>
            <a:pPr marL="342900" indent="-342900">
              <a:buAutoNum type="arabicPeriod"/>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2"/>
            </a:pPr>
            <a:r>
              <a:rPr lang="en-US" sz="1300" b="1" dirty="0">
                <a:solidFill>
                  <a:srgbClr val="FF0066"/>
                </a:solidFill>
                <a:latin typeface="Verdana" pitchFamily="34" charset="0"/>
                <a:ea typeface="Verdana" pitchFamily="34" charset="0"/>
                <a:cs typeface="Verdana" pitchFamily="34" charset="0"/>
              </a:rPr>
              <a:t>Immediate Addressing</a:t>
            </a:r>
          </a:p>
          <a:p>
            <a:pPr marL="342900" indent="-342900">
              <a:buAutoNum type="arabicPeriod" startAt="2"/>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3"/>
            </a:pPr>
            <a:r>
              <a:rPr lang="en-US" sz="1300" b="1" dirty="0">
                <a:solidFill>
                  <a:srgbClr val="990033"/>
                </a:solidFill>
                <a:latin typeface="Verdana" pitchFamily="34" charset="0"/>
                <a:ea typeface="Verdana" pitchFamily="34" charset="0"/>
                <a:cs typeface="Verdana" pitchFamily="34" charset="0"/>
              </a:rPr>
              <a:t>Direct Addressing</a:t>
            </a:r>
          </a:p>
          <a:p>
            <a:pPr marL="342900" indent="-342900">
              <a:buAutoNum type="arabicPeriod" startAt="3"/>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4"/>
            </a:pPr>
            <a:r>
              <a:rPr lang="en-US" sz="1300" b="1" dirty="0">
                <a:solidFill>
                  <a:srgbClr val="990033"/>
                </a:solidFill>
                <a:latin typeface="Verdana" pitchFamily="34" charset="0"/>
                <a:ea typeface="Verdana" pitchFamily="34" charset="0"/>
                <a:cs typeface="Verdana" pitchFamily="34" charset="0"/>
              </a:rPr>
              <a:t>Register Indirect Addressing</a:t>
            </a:r>
          </a:p>
          <a:p>
            <a:pPr marL="342900" indent="-342900">
              <a:buAutoNum type="arabicPeriod" startAt="4"/>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5"/>
            </a:pPr>
            <a:r>
              <a:rPr lang="en-US" sz="1300" b="1" dirty="0">
                <a:solidFill>
                  <a:srgbClr val="990033"/>
                </a:solidFill>
                <a:latin typeface="Verdana" pitchFamily="34" charset="0"/>
                <a:ea typeface="Verdana" pitchFamily="34" charset="0"/>
                <a:cs typeface="Verdana" pitchFamily="34" charset="0"/>
              </a:rPr>
              <a:t>Based Addressing</a:t>
            </a:r>
          </a:p>
          <a:p>
            <a:pPr marL="342900" indent="-342900">
              <a:buAutoNum type="arabicPeriod" startAt="5"/>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6"/>
            </a:pPr>
            <a:r>
              <a:rPr lang="en-US" sz="1300" b="1" dirty="0">
                <a:solidFill>
                  <a:srgbClr val="990033"/>
                </a:solidFill>
                <a:latin typeface="Verdana" pitchFamily="34" charset="0"/>
                <a:ea typeface="Verdana" pitchFamily="34" charset="0"/>
                <a:cs typeface="Verdana" pitchFamily="34" charset="0"/>
              </a:rPr>
              <a:t>Indexed Addressing</a:t>
            </a:r>
          </a:p>
          <a:p>
            <a:pPr marL="342900" indent="-342900">
              <a:buAutoNum type="arabicPeriod" startAt="6"/>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7"/>
            </a:pPr>
            <a:r>
              <a:rPr lang="en-US" sz="1300" b="1" dirty="0">
                <a:solidFill>
                  <a:srgbClr val="990033"/>
                </a:solidFill>
                <a:latin typeface="Verdana" pitchFamily="34" charset="0"/>
                <a:ea typeface="Verdana" pitchFamily="34" charset="0"/>
                <a:cs typeface="Verdana" pitchFamily="34" charset="0"/>
              </a:rPr>
              <a:t>Based Index Addressing</a:t>
            </a:r>
          </a:p>
          <a:p>
            <a:pPr marL="342900" indent="-342900">
              <a:buAutoNum type="arabicPeriod" startAt="7"/>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8"/>
            </a:pPr>
            <a:r>
              <a:rPr lang="en-US" sz="1300" b="1" dirty="0">
                <a:solidFill>
                  <a:srgbClr val="990033"/>
                </a:solidFill>
                <a:latin typeface="Verdana" pitchFamily="34" charset="0"/>
                <a:ea typeface="Verdana" pitchFamily="34" charset="0"/>
                <a:cs typeface="Verdana" pitchFamily="34" charset="0"/>
              </a:rPr>
              <a:t>String Addressing</a:t>
            </a:r>
          </a:p>
          <a:p>
            <a:pPr marL="342900" indent="-342900">
              <a:buAutoNum type="arabicPeriod" startAt="8"/>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9"/>
            </a:pPr>
            <a:r>
              <a:rPr lang="en-US" sz="1300" b="1" dirty="0">
                <a:solidFill>
                  <a:srgbClr val="FF0066"/>
                </a:solidFill>
                <a:latin typeface="Verdana" pitchFamily="34" charset="0"/>
                <a:ea typeface="Verdana" pitchFamily="34" charset="0"/>
                <a:cs typeface="Verdana" pitchFamily="34" charset="0"/>
              </a:rPr>
              <a:t>Direct I/O port Addressing</a:t>
            </a:r>
          </a:p>
          <a:p>
            <a:pPr marL="342900" indent="-342900">
              <a:buAutoNum type="arabicPeriod" startAt="9"/>
            </a:pPr>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10. Indirect I/O port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11. Relative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12. Implied Addressing</a:t>
            </a:r>
          </a:p>
        </p:txBody>
      </p:sp>
      <p:sp>
        <p:nvSpPr>
          <p:cNvPr id="22" name="Rectangle 21"/>
          <p:cNvSpPr/>
          <p:nvPr/>
        </p:nvSpPr>
        <p:spPr>
          <a:xfrm>
            <a:off x="3733800" y="838200"/>
            <a:ext cx="5257800" cy="274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just"/>
            <a:r>
              <a:rPr lang="en-US" sz="1400" b="1" dirty="0">
                <a:solidFill>
                  <a:schemeClr val="tx1"/>
                </a:solidFill>
                <a:latin typeface="Verdana" pitchFamily="34" charset="0"/>
                <a:ea typeface="Verdana" pitchFamily="34" charset="0"/>
                <a:cs typeface="Verdana" pitchFamily="34" charset="0"/>
              </a:rPr>
              <a:t>The instruction will specify the name of the register which holds the data to be operated by the instruction.</a:t>
            </a:r>
          </a:p>
          <a:p>
            <a:pPr algn="just"/>
            <a:endParaRPr lang="en-US" sz="1400" b="1" dirty="0">
              <a:solidFill>
                <a:schemeClr val="tx2">
                  <a:lumMod val="50000"/>
                </a:schemeClr>
              </a:solidFill>
              <a:latin typeface="Verdana" pitchFamily="34" charset="0"/>
              <a:ea typeface="Verdana" pitchFamily="34" charset="0"/>
              <a:cs typeface="Verdana" pitchFamily="34" charset="0"/>
            </a:endParaRPr>
          </a:p>
          <a:p>
            <a:pPr algn="just"/>
            <a:r>
              <a:rPr lang="en-US" sz="1400" b="1" dirty="0">
                <a:solidFill>
                  <a:srgbClr val="FF0000"/>
                </a:solidFill>
                <a:latin typeface="Verdana" pitchFamily="34" charset="0"/>
                <a:ea typeface="Verdana" pitchFamily="34" charset="0"/>
                <a:cs typeface="Verdana" pitchFamily="34" charset="0"/>
              </a:rPr>
              <a:t>Example:</a:t>
            </a:r>
          </a:p>
          <a:p>
            <a:pPr algn="just"/>
            <a:endParaRPr lang="en-US" sz="1400" b="1" dirty="0">
              <a:solidFill>
                <a:schemeClr val="tx2">
                  <a:lumMod val="50000"/>
                </a:schemeClr>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MOV CL, DH</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The content of 8-bit register DH is moved to another 8-bit register CL</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(CL) </a:t>
            </a:r>
            <a:r>
              <a:rPr lang="en-US" sz="1400" b="1" dirty="0">
                <a:solidFill>
                  <a:schemeClr val="tx1"/>
                </a:solidFill>
                <a:latin typeface="Verdana" pitchFamily="34" charset="0"/>
                <a:ea typeface="Verdana" pitchFamily="34" charset="0"/>
                <a:cs typeface="Verdana" pitchFamily="34" charset="0"/>
                <a:sym typeface="Symbol"/>
              </a:rPr>
              <a:t> (DH)</a:t>
            </a:r>
            <a:endParaRPr lang="en-US" sz="1400" b="1" dirty="0">
              <a:solidFill>
                <a:schemeClr val="tx1"/>
              </a:solidFill>
              <a:latin typeface="Verdana" pitchFamily="34" charset="0"/>
              <a:ea typeface="Verdana" pitchFamily="34" charset="0"/>
              <a:cs typeface="Verdana" pitchFamily="34" charset="0"/>
            </a:endParaRPr>
          </a:p>
          <a:p>
            <a:pPr algn="just"/>
            <a:endParaRPr lang="en-US" sz="1400" b="1" dirty="0">
              <a:solidFill>
                <a:schemeClr val="tx2">
                  <a:lumMod val="50000"/>
                </a:schemeClr>
              </a:solidFill>
              <a:latin typeface="Verdana" pitchFamily="34" charset="0"/>
              <a:ea typeface="Verdana" pitchFamily="34" charset="0"/>
              <a:cs typeface="Verdana" pitchFamily="34" charset="0"/>
            </a:endParaRPr>
          </a:p>
          <a:p>
            <a:pPr algn="just"/>
            <a:endParaRPr lang="en-US" sz="1400" b="1" dirty="0">
              <a:solidFill>
                <a:schemeClr val="tx2">
                  <a:lumMod val="50000"/>
                </a:schemeClr>
              </a:solidFill>
              <a:latin typeface="Verdana" pitchFamily="34" charset="0"/>
              <a:ea typeface="Verdana" pitchFamily="34" charset="0"/>
              <a:cs typeface="Verdana" pitchFamily="34" charset="0"/>
            </a:endParaRPr>
          </a:p>
        </p:txBody>
      </p:sp>
      <p:pic>
        <p:nvPicPr>
          <p:cNvPr id="26" name="Picture 2" descr="C:\Users\AMMU\Desktop\Microprocessor\Regist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0600" y="3886200"/>
            <a:ext cx="2576098" cy="253299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5962936" y="127323"/>
            <a:ext cx="3028664" cy="461665"/>
          </a:xfrm>
          <a:prstGeom prst="rect">
            <a:avLst/>
          </a:prstGeom>
          <a:noFill/>
        </p:spPr>
        <p:txBody>
          <a:bodyPr wrap="square" rtlCol="0">
            <a:spAutoFit/>
          </a:bodyPr>
          <a:lstStyle/>
          <a:p>
            <a:pPr algn="r"/>
            <a:r>
              <a:rPr lang="en-US" sz="1200" b="1" dirty="0">
                <a:solidFill>
                  <a:srgbClr val="FF0000"/>
                </a:solidFill>
              </a:rPr>
              <a:t>Group I : Addressing modes for register and immediate data</a:t>
            </a:r>
          </a:p>
        </p:txBody>
      </p:sp>
    </p:spTree>
    <p:extLst>
      <p:ext uri="{BB962C8B-B14F-4D97-AF65-F5344CB8AC3E}">
        <p14:creationId xmlns:p14="http://schemas.microsoft.com/office/powerpoint/2010/main" val="36891054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3788392" y="3858904"/>
            <a:ext cx="1608160" cy="32129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753136" y="2117108"/>
            <a:ext cx="1608160" cy="32129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152400" y="1191904"/>
            <a:ext cx="3264190" cy="421134"/>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Addressing Modes</a:t>
            </a:r>
          </a:p>
        </p:txBody>
      </p:sp>
      <p:sp>
        <p:nvSpPr>
          <p:cNvPr id="3" name="Slide Number Placeholder 2"/>
          <p:cNvSpPr>
            <a:spLocks noGrp="1"/>
          </p:cNvSpPr>
          <p:nvPr>
            <p:ph type="sldNum" sz="quarter" idx="12"/>
          </p:nvPr>
        </p:nvSpPr>
        <p:spPr/>
        <p:txBody>
          <a:bodyPr/>
          <a:lstStyle/>
          <a:p>
            <a:fld id="{85E6815B-E59C-4D87-B1F6-ECBDD22AF1DC}" type="slidenum">
              <a:rPr lang="en-US" smtClean="0"/>
              <a:pPr/>
              <a:t>52</a:t>
            </a:fld>
            <a:endParaRPr lang="en-US" dirty="0"/>
          </a:p>
        </p:txBody>
      </p:sp>
      <p:sp>
        <p:nvSpPr>
          <p:cNvPr id="4" name="TextBox 3"/>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9" name="Rectangle 8"/>
          <p:cNvSpPr/>
          <p:nvPr/>
        </p:nvSpPr>
        <p:spPr>
          <a:xfrm>
            <a:off x="163776" y="838393"/>
            <a:ext cx="3252814" cy="4693593"/>
          </a:xfrm>
          <a:prstGeom prst="rect">
            <a:avLst/>
          </a:prstGeom>
        </p:spPr>
        <p:txBody>
          <a:bodyPr wrap="none">
            <a:spAutoFit/>
          </a:bodyPr>
          <a:lstStyle/>
          <a:p>
            <a:pPr marL="342900" indent="-342900">
              <a:buAutoNum type="arabicPeriod"/>
            </a:pPr>
            <a:r>
              <a:rPr lang="en-US" sz="1300" b="1" dirty="0">
                <a:solidFill>
                  <a:srgbClr val="FF0066"/>
                </a:solidFill>
                <a:latin typeface="Verdana" pitchFamily="34" charset="0"/>
                <a:ea typeface="Verdana" pitchFamily="34" charset="0"/>
                <a:cs typeface="Verdana" pitchFamily="34" charset="0"/>
              </a:rPr>
              <a:t>Register Addressing</a:t>
            </a:r>
          </a:p>
          <a:p>
            <a:pPr marL="342900" indent="-342900">
              <a:buAutoNum type="arabicPeriod"/>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2"/>
            </a:pPr>
            <a:r>
              <a:rPr lang="en-US" sz="1300" b="1" dirty="0">
                <a:solidFill>
                  <a:srgbClr val="FF0066"/>
                </a:solidFill>
                <a:latin typeface="Verdana" pitchFamily="34" charset="0"/>
                <a:ea typeface="Verdana" pitchFamily="34" charset="0"/>
                <a:cs typeface="Verdana" pitchFamily="34" charset="0"/>
              </a:rPr>
              <a:t>Immediate Addressing</a:t>
            </a:r>
          </a:p>
          <a:p>
            <a:pPr marL="342900" indent="-342900">
              <a:buAutoNum type="arabicPeriod" startAt="2"/>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3"/>
            </a:pPr>
            <a:r>
              <a:rPr lang="en-US" sz="1300" b="1" dirty="0">
                <a:solidFill>
                  <a:srgbClr val="990033"/>
                </a:solidFill>
                <a:latin typeface="Verdana" pitchFamily="34" charset="0"/>
                <a:ea typeface="Verdana" pitchFamily="34" charset="0"/>
                <a:cs typeface="Verdana" pitchFamily="34" charset="0"/>
              </a:rPr>
              <a:t>Direct Addressing</a:t>
            </a:r>
          </a:p>
          <a:p>
            <a:pPr marL="342900" indent="-342900">
              <a:buAutoNum type="arabicPeriod" startAt="3"/>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4"/>
            </a:pPr>
            <a:r>
              <a:rPr lang="en-US" sz="1300" b="1" dirty="0">
                <a:solidFill>
                  <a:srgbClr val="990033"/>
                </a:solidFill>
                <a:latin typeface="Verdana" pitchFamily="34" charset="0"/>
                <a:ea typeface="Verdana" pitchFamily="34" charset="0"/>
                <a:cs typeface="Verdana" pitchFamily="34" charset="0"/>
              </a:rPr>
              <a:t>Register Indirect Addressing</a:t>
            </a:r>
          </a:p>
          <a:p>
            <a:pPr marL="342900" indent="-342900">
              <a:buAutoNum type="arabicPeriod" startAt="4"/>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5"/>
            </a:pPr>
            <a:r>
              <a:rPr lang="en-US" sz="1300" b="1" dirty="0">
                <a:solidFill>
                  <a:srgbClr val="990033"/>
                </a:solidFill>
                <a:latin typeface="Verdana" pitchFamily="34" charset="0"/>
                <a:ea typeface="Verdana" pitchFamily="34" charset="0"/>
                <a:cs typeface="Verdana" pitchFamily="34" charset="0"/>
              </a:rPr>
              <a:t>Based Addressing</a:t>
            </a:r>
          </a:p>
          <a:p>
            <a:pPr marL="342900" indent="-342900">
              <a:buAutoNum type="arabicPeriod" startAt="5"/>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6"/>
            </a:pPr>
            <a:r>
              <a:rPr lang="en-US" sz="1300" b="1" dirty="0">
                <a:solidFill>
                  <a:srgbClr val="990033"/>
                </a:solidFill>
                <a:latin typeface="Verdana" pitchFamily="34" charset="0"/>
                <a:ea typeface="Verdana" pitchFamily="34" charset="0"/>
                <a:cs typeface="Verdana" pitchFamily="34" charset="0"/>
              </a:rPr>
              <a:t>Indexed Addressing</a:t>
            </a:r>
          </a:p>
          <a:p>
            <a:pPr marL="342900" indent="-342900">
              <a:buAutoNum type="arabicPeriod" startAt="6"/>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7"/>
            </a:pPr>
            <a:r>
              <a:rPr lang="en-US" sz="1300" b="1" dirty="0">
                <a:solidFill>
                  <a:srgbClr val="990033"/>
                </a:solidFill>
                <a:latin typeface="Verdana" pitchFamily="34" charset="0"/>
                <a:ea typeface="Verdana" pitchFamily="34" charset="0"/>
                <a:cs typeface="Verdana" pitchFamily="34" charset="0"/>
              </a:rPr>
              <a:t>Based Index Addressing</a:t>
            </a:r>
          </a:p>
          <a:p>
            <a:pPr marL="342900" indent="-342900">
              <a:buAutoNum type="arabicPeriod" startAt="7"/>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8"/>
            </a:pPr>
            <a:r>
              <a:rPr lang="en-US" sz="1300" b="1" dirty="0">
                <a:solidFill>
                  <a:srgbClr val="990033"/>
                </a:solidFill>
                <a:latin typeface="Verdana" pitchFamily="34" charset="0"/>
                <a:ea typeface="Verdana" pitchFamily="34" charset="0"/>
                <a:cs typeface="Verdana" pitchFamily="34" charset="0"/>
              </a:rPr>
              <a:t>String Addressing</a:t>
            </a:r>
          </a:p>
          <a:p>
            <a:pPr marL="342900" indent="-342900">
              <a:buAutoNum type="arabicPeriod" startAt="8"/>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9"/>
            </a:pPr>
            <a:r>
              <a:rPr lang="en-US" sz="1300" b="1" dirty="0">
                <a:solidFill>
                  <a:srgbClr val="FF0066"/>
                </a:solidFill>
                <a:latin typeface="Verdana" pitchFamily="34" charset="0"/>
                <a:ea typeface="Verdana" pitchFamily="34" charset="0"/>
                <a:cs typeface="Verdana" pitchFamily="34" charset="0"/>
              </a:rPr>
              <a:t>Direct I/O port Addressing</a:t>
            </a:r>
          </a:p>
          <a:p>
            <a:pPr marL="342900" indent="-342900">
              <a:buAutoNum type="arabicPeriod" startAt="9"/>
            </a:pPr>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10. Indirect I/O port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11. Relative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12. Implied Addressing</a:t>
            </a:r>
          </a:p>
        </p:txBody>
      </p:sp>
      <p:pic>
        <p:nvPicPr>
          <p:cNvPr id="26" name="Picture 2" descr="C:\Users\AMMU\Desktop\Microprocessor\Regist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485" y="5547752"/>
            <a:ext cx="1323129" cy="1300991"/>
          </a:xfrm>
          <a:prstGeom prst="rect">
            <a:avLst/>
          </a:prstGeom>
          <a:noFill/>
          <a:extLst>
            <a:ext uri="{909E8E84-426E-40DD-AFC4-6F175D3DCCD1}">
              <a14:hiddenFill xmlns:a14="http://schemas.microsoft.com/office/drawing/2010/main">
                <a:solidFill>
                  <a:srgbClr val="FFFFFF"/>
                </a:solidFill>
              </a14:hiddenFill>
            </a:ext>
          </a:extLst>
        </p:spPr>
      </p:pic>
      <p:sp>
        <p:nvSpPr>
          <p:cNvPr id="27" name="Rectangle 26"/>
          <p:cNvSpPr/>
          <p:nvPr/>
        </p:nvSpPr>
        <p:spPr>
          <a:xfrm>
            <a:off x="3733800" y="1080448"/>
            <a:ext cx="5257800" cy="464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just"/>
            <a:r>
              <a:rPr lang="en-US" sz="1400" b="1" dirty="0">
                <a:solidFill>
                  <a:schemeClr val="tx1"/>
                </a:solidFill>
                <a:latin typeface="Verdana" pitchFamily="34" charset="0"/>
                <a:ea typeface="Verdana" pitchFamily="34" charset="0"/>
                <a:cs typeface="Verdana" pitchFamily="34" charset="0"/>
              </a:rPr>
              <a:t>In immediate addressing mode, an 8-bit or 16-bit data is specified as part of the instruction</a:t>
            </a:r>
          </a:p>
          <a:p>
            <a:pPr algn="just"/>
            <a:endParaRPr lang="en-US" sz="1400" b="1" dirty="0">
              <a:solidFill>
                <a:schemeClr val="tx2">
                  <a:lumMod val="50000"/>
                </a:schemeClr>
              </a:solidFill>
              <a:latin typeface="Verdana" pitchFamily="34" charset="0"/>
              <a:ea typeface="Verdana" pitchFamily="34" charset="0"/>
              <a:cs typeface="Verdana" pitchFamily="34" charset="0"/>
            </a:endParaRPr>
          </a:p>
          <a:p>
            <a:pPr algn="just"/>
            <a:r>
              <a:rPr lang="en-US" sz="1400" b="1" dirty="0">
                <a:solidFill>
                  <a:srgbClr val="FF0000"/>
                </a:solidFill>
                <a:latin typeface="Verdana" pitchFamily="34" charset="0"/>
                <a:ea typeface="Verdana" pitchFamily="34" charset="0"/>
                <a:cs typeface="Verdana" pitchFamily="34" charset="0"/>
              </a:rPr>
              <a:t>Example:</a:t>
            </a:r>
          </a:p>
          <a:p>
            <a:pPr algn="just"/>
            <a:endParaRPr lang="en-US" sz="1400" b="1" dirty="0">
              <a:solidFill>
                <a:schemeClr val="tx2">
                  <a:lumMod val="50000"/>
                </a:schemeClr>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MOV DL, 08H</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The 8-bit data (08</a:t>
            </a:r>
            <a:r>
              <a:rPr lang="en-US" sz="1400" b="1" baseline="-25000" dirty="0">
                <a:solidFill>
                  <a:schemeClr val="tx1"/>
                </a:solidFill>
                <a:latin typeface="Verdana" pitchFamily="34" charset="0"/>
                <a:ea typeface="Verdana" pitchFamily="34" charset="0"/>
                <a:cs typeface="Verdana" pitchFamily="34" charset="0"/>
              </a:rPr>
              <a:t>H</a:t>
            </a:r>
            <a:r>
              <a:rPr lang="en-US" sz="1400" b="1" dirty="0">
                <a:solidFill>
                  <a:schemeClr val="tx1"/>
                </a:solidFill>
                <a:latin typeface="Verdana" pitchFamily="34" charset="0"/>
                <a:ea typeface="Verdana" pitchFamily="34" charset="0"/>
                <a:cs typeface="Verdana" pitchFamily="34" charset="0"/>
              </a:rPr>
              <a:t>) given in the instruction is moved to DL</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(DL) </a:t>
            </a:r>
            <a:r>
              <a:rPr lang="en-US" sz="1400" b="1" dirty="0">
                <a:solidFill>
                  <a:schemeClr val="tx1"/>
                </a:solidFill>
                <a:latin typeface="Verdana" pitchFamily="34" charset="0"/>
                <a:ea typeface="Verdana" pitchFamily="34" charset="0"/>
                <a:cs typeface="Verdana" pitchFamily="34" charset="0"/>
                <a:sym typeface="Symbol"/>
              </a:rPr>
              <a:t> 08</a:t>
            </a:r>
            <a:r>
              <a:rPr lang="en-US" sz="1400" b="1" baseline="-25000" dirty="0">
                <a:solidFill>
                  <a:schemeClr val="tx1"/>
                </a:solidFill>
                <a:latin typeface="Verdana" pitchFamily="34" charset="0"/>
                <a:ea typeface="Verdana" pitchFamily="34" charset="0"/>
                <a:cs typeface="Verdana" pitchFamily="34" charset="0"/>
                <a:sym typeface="Symbol"/>
              </a:rPr>
              <a:t>H</a:t>
            </a:r>
            <a:endParaRPr lang="en-US" sz="1400" b="1" baseline="-25000" dirty="0">
              <a:solidFill>
                <a:schemeClr val="tx1"/>
              </a:solidFill>
              <a:latin typeface="Verdana" pitchFamily="34" charset="0"/>
              <a:ea typeface="Verdana" pitchFamily="34" charset="0"/>
              <a:cs typeface="Verdana" pitchFamily="34" charset="0"/>
            </a:endParaRPr>
          </a:p>
          <a:p>
            <a:pPr algn="just"/>
            <a:endParaRPr lang="en-US" sz="1400" b="1" dirty="0">
              <a:solidFill>
                <a:schemeClr val="tx1"/>
              </a:solidFill>
              <a:latin typeface="Verdana" pitchFamily="34" charset="0"/>
              <a:ea typeface="Verdana" pitchFamily="34" charset="0"/>
              <a:cs typeface="Verdana" pitchFamily="34" charset="0"/>
            </a:endParaRP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MOV AX, 0A9FH</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The 16-bit data (0A9F</a:t>
            </a:r>
            <a:r>
              <a:rPr lang="en-US" sz="1400" b="1" baseline="-25000" dirty="0">
                <a:solidFill>
                  <a:schemeClr val="tx1"/>
                </a:solidFill>
                <a:latin typeface="Verdana" pitchFamily="34" charset="0"/>
                <a:ea typeface="Verdana" pitchFamily="34" charset="0"/>
                <a:cs typeface="Verdana" pitchFamily="34" charset="0"/>
              </a:rPr>
              <a:t>H</a:t>
            </a:r>
            <a:r>
              <a:rPr lang="en-US" sz="1400" b="1" dirty="0">
                <a:solidFill>
                  <a:schemeClr val="tx1"/>
                </a:solidFill>
                <a:latin typeface="Verdana" pitchFamily="34" charset="0"/>
                <a:ea typeface="Verdana" pitchFamily="34" charset="0"/>
                <a:cs typeface="Verdana" pitchFamily="34" charset="0"/>
              </a:rPr>
              <a:t>) given in the instruction is moved to AX register</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(AX) </a:t>
            </a:r>
            <a:r>
              <a:rPr lang="en-US" sz="1400" b="1" dirty="0">
                <a:solidFill>
                  <a:schemeClr val="tx1"/>
                </a:solidFill>
                <a:latin typeface="Verdana" pitchFamily="34" charset="0"/>
                <a:ea typeface="Verdana" pitchFamily="34" charset="0"/>
                <a:cs typeface="Verdana" pitchFamily="34" charset="0"/>
                <a:sym typeface="Symbol"/>
              </a:rPr>
              <a:t> 0A9F</a:t>
            </a:r>
            <a:r>
              <a:rPr lang="en-US" sz="1400" b="1" baseline="-25000" dirty="0">
                <a:solidFill>
                  <a:schemeClr val="tx1"/>
                </a:solidFill>
                <a:latin typeface="Verdana" pitchFamily="34" charset="0"/>
                <a:ea typeface="Verdana" pitchFamily="34" charset="0"/>
                <a:cs typeface="Verdana" pitchFamily="34" charset="0"/>
                <a:sym typeface="Symbol"/>
              </a:rPr>
              <a:t>H</a:t>
            </a:r>
            <a:endParaRPr lang="en-US" sz="1400" b="1" baseline="-25000" dirty="0">
              <a:solidFill>
                <a:schemeClr val="tx1"/>
              </a:solidFill>
              <a:latin typeface="Verdana" pitchFamily="34" charset="0"/>
              <a:ea typeface="Verdana" pitchFamily="34" charset="0"/>
              <a:cs typeface="Verdana" pitchFamily="34" charset="0"/>
            </a:endParaRPr>
          </a:p>
          <a:p>
            <a:pPr algn="just"/>
            <a:endParaRPr lang="en-US" sz="1400" b="1" dirty="0">
              <a:solidFill>
                <a:schemeClr val="tx2">
                  <a:lumMod val="50000"/>
                </a:schemeClr>
              </a:solidFill>
              <a:latin typeface="Verdana" pitchFamily="34" charset="0"/>
              <a:ea typeface="Verdana" pitchFamily="34" charset="0"/>
              <a:cs typeface="Verdana" pitchFamily="34" charset="0"/>
            </a:endParaRPr>
          </a:p>
          <a:p>
            <a:pPr algn="just"/>
            <a:endParaRPr lang="en-US" sz="1400" b="1" dirty="0">
              <a:solidFill>
                <a:schemeClr val="tx2">
                  <a:lumMod val="50000"/>
                </a:schemeClr>
              </a:solidFill>
              <a:latin typeface="Verdana" pitchFamily="34" charset="0"/>
              <a:ea typeface="Verdana" pitchFamily="34" charset="0"/>
              <a:cs typeface="Verdana" pitchFamily="34" charset="0"/>
            </a:endParaRPr>
          </a:p>
          <a:p>
            <a:pPr algn="just"/>
            <a:endParaRPr lang="en-US" sz="1400" b="1" dirty="0">
              <a:solidFill>
                <a:schemeClr val="tx2">
                  <a:lumMod val="50000"/>
                </a:schemeClr>
              </a:solidFill>
              <a:latin typeface="Verdana" pitchFamily="34" charset="0"/>
              <a:ea typeface="Verdana" pitchFamily="34" charset="0"/>
              <a:cs typeface="Verdana" pitchFamily="34" charset="0"/>
            </a:endParaRPr>
          </a:p>
        </p:txBody>
      </p:sp>
      <p:sp>
        <p:nvSpPr>
          <p:cNvPr id="12" name="TextBox 11"/>
          <p:cNvSpPr txBox="1"/>
          <p:nvPr/>
        </p:nvSpPr>
        <p:spPr>
          <a:xfrm>
            <a:off x="5962936" y="127323"/>
            <a:ext cx="3028664" cy="461665"/>
          </a:xfrm>
          <a:prstGeom prst="rect">
            <a:avLst/>
          </a:prstGeom>
          <a:noFill/>
        </p:spPr>
        <p:txBody>
          <a:bodyPr wrap="square" rtlCol="0">
            <a:spAutoFit/>
          </a:bodyPr>
          <a:lstStyle/>
          <a:p>
            <a:pPr algn="r"/>
            <a:r>
              <a:rPr lang="en-US" sz="1200" b="1" dirty="0">
                <a:solidFill>
                  <a:srgbClr val="FF0000"/>
                </a:solidFill>
              </a:rPr>
              <a:t>Group I : Addressing modes for register and immediate data</a:t>
            </a:r>
          </a:p>
        </p:txBody>
      </p:sp>
    </p:spTree>
    <p:extLst>
      <p:ext uri="{BB962C8B-B14F-4D97-AF65-F5344CB8AC3E}">
        <p14:creationId xmlns:p14="http://schemas.microsoft.com/office/powerpoint/2010/main" val="15704100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Addressing Modes : Memory Access</a:t>
            </a:r>
          </a:p>
        </p:txBody>
      </p:sp>
      <p:sp>
        <p:nvSpPr>
          <p:cNvPr id="3" name="Slide Number Placeholder 2"/>
          <p:cNvSpPr>
            <a:spLocks noGrp="1"/>
          </p:cNvSpPr>
          <p:nvPr>
            <p:ph type="sldNum" sz="quarter" idx="12"/>
          </p:nvPr>
        </p:nvSpPr>
        <p:spPr/>
        <p:txBody>
          <a:bodyPr/>
          <a:lstStyle/>
          <a:p>
            <a:fld id="{85E6815B-E59C-4D87-B1F6-ECBDD22AF1DC}" type="slidenum">
              <a:rPr lang="en-US" smtClean="0"/>
              <a:pPr/>
              <a:t>53</a:t>
            </a:fld>
            <a:endParaRPr lang="en-US" dirty="0"/>
          </a:p>
        </p:txBody>
      </p:sp>
      <p:sp>
        <p:nvSpPr>
          <p:cNvPr id="4" name="TextBox 3"/>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pic>
        <p:nvPicPr>
          <p:cNvPr id="25" name="Picture 2" descr="C:\Users\AMMU\Desktop\Microprocessor\Regist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5471" y="1004134"/>
            <a:ext cx="2466129" cy="242486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6"/>
          <p:cNvGrpSpPr>
            <a:grpSpLocks/>
          </p:cNvGrpSpPr>
          <p:nvPr/>
        </p:nvGrpSpPr>
        <p:grpSpPr bwMode="auto">
          <a:xfrm>
            <a:off x="2098675" y="4759325"/>
            <a:ext cx="3868738" cy="439738"/>
            <a:chOff x="1500" y="3788"/>
            <a:chExt cx="2437" cy="277"/>
          </a:xfrm>
        </p:grpSpPr>
        <p:sp>
          <p:nvSpPr>
            <p:cNvPr id="12" name="AutoShape 7"/>
            <p:cNvSpPr>
              <a:spLocks noChangeArrowheads="1"/>
            </p:cNvSpPr>
            <p:nvPr/>
          </p:nvSpPr>
          <p:spPr bwMode="auto">
            <a:xfrm>
              <a:off x="1500" y="3788"/>
              <a:ext cx="2437" cy="277"/>
            </a:xfrm>
            <a:prstGeom prst="cube">
              <a:avLst>
                <a:gd name="adj" fmla="val 24995"/>
              </a:avLst>
            </a:prstGeom>
            <a:solidFill>
              <a:srgbClr val="FF0000"/>
            </a:solidFill>
            <a:ln w="12700">
              <a:solidFill>
                <a:schemeClr val="tx1"/>
              </a:solidFill>
              <a:miter lim="800000"/>
              <a:headEnd/>
              <a:tailEnd/>
            </a:ln>
            <a:effectLst>
              <a:outerShdw dist="107763" dir="2700000" algn="ctr" rotWithShape="0">
                <a:schemeClr val="bg2"/>
              </a:outerShdw>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3" name="Rectangle 8"/>
            <p:cNvSpPr>
              <a:spLocks noChangeArrowheads="1"/>
            </p:cNvSpPr>
            <p:nvPr/>
          </p:nvSpPr>
          <p:spPr bwMode="auto">
            <a:xfrm>
              <a:off x="1610" y="3877"/>
              <a:ext cx="131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sz="1200" b="1">
                  <a:solidFill>
                    <a:schemeClr val="bg1"/>
                  </a:solidFill>
                </a:rPr>
                <a:t>Physical Address (20 Bits)</a:t>
              </a:r>
            </a:p>
          </p:txBody>
        </p:sp>
      </p:grpSp>
      <p:grpSp>
        <p:nvGrpSpPr>
          <p:cNvPr id="14" name="Group 9"/>
          <p:cNvGrpSpPr>
            <a:grpSpLocks/>
          </p:cNvGrpSpPr>
          <p:nvPr/>
        </p:nvGrpSpPr>
        <p:grpSpPr bwMode="auto">
          <a:xfrm>
            <a:off x="3368675" y="3359150"/>
            <a:ext cx="1155700" cy="1454150"/>
            <a:chOff x="2300" y="2906"/>
            <a:chExt cx="728" cy="916"/>
          </a:xfrm>
        </p:grpSpPr>
        <p:sp>
          <p:nvSpPr>
            <p:cNvPr id="15" name="AutoShape 10"/>
            <p:cNvSpPr>
              <a:spLocks noChangeArrowheads="1"/>
            </p:cNvSpPr>
            <p:nvPr/>
          </p:nvSpPr>
          <p:spPr bwMode="auto">
            <a:xfrm>
              <a:off x="2307" y="2906"/>
              <a:ext cx="721" cy="496"/>
            </a:xfrm>
            <a:prstGeom prst="cube">
              <a:avLst>
                <a:gd name="adj" fmla="val 24995"/>
              </a:avLst>
            </a:prstGeom>
            <a:solidFill>
              <a:srgbClr val="FF0000"/>
            </a:solidFill>
            <a:ln w="12700">
              <a:solidFill>
                <a:schemeClr val="tx1"/>
              </a:solid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6" name="Rectangle 11"/>
            <p:cNvSpPr>
              <a:spLocks noChangeArrowheads="1"/>
            </p:cNvSpPr>
            <p:nvPr/>
          </p:nvSpPr>
          <p:spPr bwMode="auto">
            <a:xfrm>
              <a:off x="2300" y="3049"/>
              <a:ext cx="627"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solidFill>
                    <a:schemeClr val="bg1"/>
                  </a:solidFill>
                </a:rPr>
                <a:t>Adder</a:t>
              </a:r>
            </a:p>
          </p:txBody>
        </p:sp>
        <p:sp>
          <p:nvSpPr>
            <p:cNvPr id="17" name="Line 12"/>
            <p:cNvSpPr>
              <a:spLocks noChangeShapeType="1"/>
            </p:cNvSpPr>
            <p:nvPr/>
          </p:nvSpPr>
          <p:spPr bwMode="auto">
            <a:xfrm>
              <a:off x="2609" y="3407"/>
              <a:ext cx="0" cy="415"/>
            </a:xfrm>
            <a:prstGeom prst="line">
              <a:avLst/>
            </a:prstGeom>
            <a:noFill/>
            <a:ln w="1270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ndParaRPr>
            </a:p>
          </p:txBody>
        </p:sp>
      </p:grpSp>
      <p:grpSp>
        <p:nvGrpSpPr>
          <p:cNvPr id="18" name="Group 13"/>
          <p:cNvGrpSpPr>
            <a:grpSpLocks/>
          </p:cNvGrpSpPr>
          <p:nvPr/>
        </p:nvGrpSpPr>
        <p:grpSpPr bwMode="auto">
          <a:xfrm>
            <a:off x="152400" y="2352675"/>
            <a:ext cx="3835400" cy="1158875"/>
            <a:chOff x="1418" y="2370"/>
            <a:chExt cx="2416" cy="730"/>
          </a:xfrm>
        </p:grpSpPr>
        <p:sp>
          <p:nvSpPr>
            <p:cNvPr id="19" name="Line 14"/>
            <p:cNvSpPr>
              <a:spLocks noChangeShapeType="1"/>
            </p:cNvSpPr>
            <p:nvPr/>
          </p:nvSpPr>
          <p:spPr bwMode="auto">
            <a:xfrm>
              <a:off x="3681" y="2783"/>
              <a:ext cx="0" cy="317"/>
            </a:xfrm>
            <a:prstGeom prst="line">
              <a:avLst/>
            </a:prstGeom>
            <a:noFill/>
            <a:ln w="1270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0" name="AutoShape 15"/>
            <p:cNvSpPr>
              <a:spLocks noChangeArrowheads="1"/>
            </p:cNvSpPr>
            <p:nvPr/>
          </p:nvSpPr>
          <p:spPr bwMode="auto">
            <a:xfrm>
              <a:off x="1418" y="2370"/>
              <a:ext cx="2416" cy="247"/>
            </a:xfrm>
            <a:prstGeom prst="cube">
              <a:avLst>
                <a:gd name="adj" fmla="val 24995"/>
              </a:avLst>
            </a:prstGeom>
            <a:solidFill>
              <a:srgbClr val="FF0000"/>
            </a:solidFill>
            <a:ln w="12700">
              <a:solidFill>
                <a:schemeClr val="tx1"/>
              </a:solidFill>
              <a:miter lim="800000"/>
              <a:headEnd/>
              <a:tailEnd/>
            </a:ln>
            <a:effectLst>
              <a:outerShdw dist="107763" dir="2700000" algn="ctr" rotWithShape="0">
                <a:schemeClr val="bg2"/>
              </a:outerShdw>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1" name="Rectangle 16"/>
            <p:cNvSpPr>
              <a:spLocks noChangeArrowheads="1"/>
            </p:cNvSpPr>
            <p:nvPr/>
          </p:nvSpPr>
          <p:spPr bwMode="auto">
            <a:xfrm>
              <a:off x="1661" y="2447"/>
              <a:ext cx="132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sz="1200" b="1">
                  <a:solidFill>
                    <a:schemeClr val="bg1"/>
                  </a:solidFill>
                </a:rPr>
                <a:t>Segment Register (16 bits)</a:t>
              </a:r>
            </a:p>
          </p:txBody>
        </p:sp>
        <p:sp>
          <p:nvSpPr>
            <p:cNvPr id="22" name="Line 17"/>
            <p:cNvSpPr>
              <a:spLocks noChangeShapeType="1"/>
            </p:cNvSpPr>
            <p:nvPr/>
          </p:nvSpPr>
          <p:spPr bwMode="auto">
            <a:xfrm flipH="1">
              <a:off x="2365" y="2781"/>
              <a:ext cx="1318" cy="0"/>
            </a:xfrm>
            <a:prstGeom prst="line">
              <a:avLst/>
            </a:prstGeom>
            <a:noFill/>
            <a:ln w="12700">
              <a:solidFill>
                <a:schemeClr val="tx1"/>
              </a:solidFill>
              <a:round/>
              <a:headEnd type="none" w="sm" len="sm"/>
              <a:tailEnd type="none" w="sm" len="sm"/>
            </a:ln>
            <a:effectLst/>
          </p:spPr>
          <p:txBody>
            <a:bodyPr/>
            <a:lstStyle/>
            <a:p>
              <a:pPr>
                <a:defRPr/>
              </a:pPr>
              <a:endParaRPr lang="en-US">
                <a:effectLst>
                  <a:outerShdw blurRad="38100" dist="38100" dir="2700000" algn="tl">
                    <a:srgbClr val="000000">
                      <a:alpha val="43137"/>
                    </a:srgbClr>
                  </a:outerShdw>
                </a:effectLst>
              </a:endParaRPr>
            </a:p>
          </p:txBody>
        </p:sp>
        <p:sp>
          <p:nvSpPr>
            <p:cNvPr id="23" name="Line 18"/>
            <p:cNvSpPr>
              <a:spLocks noChangeShapeType="1"/>
            </p:cNvSpPr>
            <p:nvPr/>
          </p:nvSpPr>
          <p:spPr bwMode="auto">
            <a:xfrm>
              <a:off x="2365" y="2622"/>
              <a:ext cx="0" cy="160"/>
            </a:xfrm>
            <a:prstGeom prst="line">
              <a:avLst/>
            </a:prstGeom>
            <a:noFill/>
            <a:ln w="12700">
              <a:solidFill>
                <a:schemeClr val="tx1"/>
              </a:solidFill>
              <a:round/>
              <a:headEnd type="none" w="sm" len="sm"/>
              <a:tailEnd type="none" w="sm" len="sm"/>
            </a:ln>
            <a:effectLst/>
          </p:spPr>
          <p:txBody>
            <a:bodyPr/>
            <a:lstStyle/>
            <a:p>
              <a:pPr>
                <a:defRPr/>
              </a:pPr>
              <a:endParaRPr lang="en-US">
                <a:effectLst>
                  <a:outerShdw blurRad="38100" dist="38100" dir="2700000" algn="tl">
                    <a:srgbClr val="000000">
                      <a:alpha val="43137"/>
                    </a:srgbClr>
                  </a:outerShdw>
                </a:effectLst>
              </a:endParaRPr>
            </a:p>
          </p:txBody>
        </p:sp>
        <p:sp>
          <p:nvSpPr>
            <p:cNvPr id="24" name="AutoShape 19"/>
            <p:cNvSpPr>
              <a:spLocks noChangeArrowheads="1"/>
            </p:cNvSpPr>
            <p:nvPr/>
          </p:nvSpPr>
          <p:spPr bwMode="auto">
            <a:xfrm>
              <a:off x="3189" y="2376"/>
              <a:ext cx="642" cy="247"/>
            </a:xfrm>
            <a:prstGeom prst="cube">
              <a:avLst>
                <a:gd name="adj" fmla="val 24995"/>
              </a:avLst>
            </a:prstGeom>
            <a:solidFill>
              <a:srgbClr val="FFCC00"/>
            </a:solidFill>
            <a:ln w="12700">
              <a:solidFill>
                <a:schemeClr val="tx1"/>
              </a:solidFill>
              <a:miter lim="800000"/>
              <a:headEnd/>
              <a:tailEnd/>
            </a:ln>
            <a:effectLst>
              <a:outerShdw dist="107763" dir="2700000" algn="ctr" rotWithShape="0">
                <a:schemeClr val="bg2"/>
              </a:outerShdw>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6" name="Rectangle 20"/>
            <p:cNvSpPr>
              <a:spLocks noChangeArrowheads="1"/>
            </p:cNvSpPr>
            <p:nvPr/>
          </p:nvSpPr>
          <p:spPr bwMode="auto">
            <a:xfrm>
              <a:off x="3249" y="2416"/>
              <a:ext cx="50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sz="1600" b="1">
                  <a:solidFill>
                    <a:schemeClr val="bg1"/>
                  </a:solidFill>
                </a:rPr>
                <a:t>0 0 0 0</a:t>
              </a:r>
            </a:p>
          </p:txBody>
        </p:sp>
      </p:grpSp>
      <p:grpSp>
        <p:nvGrpSpPr>
          <p:cNvPr id="27" name="Group 21"/>
          <p:cNvGrpSpPr>
            <a:grpSpLocks/>
          </p:cNvGrpSpPr>
          <p:nvPr/>
        </p:nvGrpSpPr>
        <p:grpSpPr bwMode="auto">
          <a:xfrm>
            <a:off x="3065463" y="1425575"/>
            <a:ext cx="3030537" cy="1987550"/>
            <a:chOff x="3253" y="1786"/>
            <a:chExt cx="1909" cy="1252"/>
          </a:xfrm>
        </p:grpSpPr>
        <p:grpSp>
          <p:nvGrpSpPr>
            <p:cNvPr id="28" name="Group 22"/>
            <p:cNvGrpSpPr>
              <a:grpSpLocks/>
            </p:cNvGrpSpPr>
            <p:nvPr/>
          </p:nvGrpSpPr>
          <p:grpSpPr bwMode="auto">
            <a:xfrm>
              <a:off x="3253" y="1786"/>
              <a:ext cx="1909" cy="269"/>
              <a:chOff x="2109" y="1688"/>
              <a:chExt cx="1909" cy="269"/>
            </a:xfrm>
          </p:grpSpPr>
          <p:sp>
            <p:nvSpPr>
              <p:cNvPr id="30" name="AutoShape 23"/>
              <p:cNvSpPr>
                <a:spLocks noChangeArrowheads="1"/>
              </p:cNvSpPr>
              <p:nvPr/>
            </p:nvSpPr>
            <p:spPr bwMode="auto">
              <a:xfrm>
                <a:off x="2109" y="1688"/>
                <a:ext cx="1909" cy="262"/>
              </a:xfrm>
              <a:prstGeom prst="cube">
                <a:avLst>
                  <a:gd name="adj" fmla="val 24995"/>
                </a:avLst>
              </a:prstGeom>
              <a:solidFill>
                <a:srgbClr val="FF0000"/>
              </a:solidFill>
              <a:ln w="12700">
                <a:solidFill>
                  <a:schemeClr val="tx1"/>
                </a:solidFill>
                <a:miter lim="800000"/>
                <a:headEnd/>
                <a:tailEnd/>
              </a:ln>
              <a:effectLst>
                <a:outerShdw dist="107763" dir="2700000" algn="ctr" rotWithShape="0">
                  <a:schemeClr val="bg2"/>
                </a:outerShdw>
              </a:effectLst>
            </p:spPr>
            <p:txBody>
              <a:bodyPr wrap="none" anchor="ctr"/>
              <a:lstStyle/>
              <a:p>
                <a:pPr>
                  <a:defRPr/>
                </a:pPr>
                <a:endParaRPr lang="en-US" dirty="0">
                  <a:solidFill>
                    <a:srgbClr val="FF0000"/>
                  </a:solidFill>
                  <a:effectLst>
                    <a:outerShdw blurRad="38100" dist="38100" dir="2700000" algn="tl">
                      <a:srgbClr val="000000">
                        <a:alpha val="43137"/>
                      </a:srgbClr>
                    </a:outerShdw>
                  </a:effectLst>
                </a:endParaRPr>
              </a:p>
            </p:txBody>
          </p:sp>
          <p:sp>
            <p:nvSpPr>
              <p:cNvPr id="31" name="Rectangle 24"/>
              <p:cNvSpPr>
                <a:spLocks noChangeArrowheads="1"/>
              </p:cNvSpPr>
              <p:nvPr/>
            </p:nvSpPr>
            <p:spPr bwMode="auto">
              <a:xfrm>
                <a:off x="2426" y="1786"/>
                <a:ext cx="1069"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sz="1200" b="1" dirty="0">
                    <a:solidFill>
                      <a:schemeClr val="bg1"/>
                    </a:solidFill>
                  </a:rPr>
                  <a:t>Offset Value (16 bits)</a:t>
                </a:r>
              </a:p>
            </p:txBody>
          </p:sp>
        </p:grpSp>
        <p:sp>
          <p:nvSpPr>
            <p:cNvPr id="29" name="Line 25"/>
            <p:cNvSpPr>
              <a:spLocks noChangeShapeType="1"/>
            </p:cNvSpPr>
            <p:nvPr/>
          </p:nvSpPr>
          <p:spPr bwMode="auto">
            <a:xfrm>
              <a:off x="3987" y="2074"/>
              <a:ext cx="0" cy="964"/>
            </a:xfrm>
            <a:prstGeom prst="line">
              <a:avLst/>
            </a:prstGeom>
            <a:noFill/>
            <a:ln w="12700">
              <a:solidFill>
                <a:schemeClr val="tx1"/>
              </a:solidFill>
              <a:round/>
              <a:headEnd/>
              <a:tailEnd type="triangle" w="med" len="med"/>
            </a:ln>
            <a:effectLst/>
          </p:spPr>
          <p:txBody>
            <a:bodyPr wrap="none" anchor="ctr"/>
            <a:lstStyle/>
            <a:p>
              <a:pPr>
                <a:defRPr/>
              </a:pPr>
              <a:endParaRPr lang="en-US">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2295294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up)">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up)">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Addressing Modes : Memory Access</a:t>
            </a:r>
          </a:p>
        </p:txBody>
      </p:sp>
      <p:sp>
        <p:nvSpPr>
          <p:cNvPr id="3" name="Slide Number Placeholder 2"/>
          <p:cNvSpPr>
            <a:spLocks noGrp="1"/>
          </p:cNvSpPr>
          <p:nvPr>
            <p:ph type="sldNum" sz="quarter" idx="12"/>
          </p:nvPr>
        </p:nvSpPr>
        <p:spPr/>
        <p:txBody>
          <a:bodyPr/>
          <a:lstStyle/>
          <a:p>
            <a:fld id="{85E6815B-E59C-4D87-B1F6-ECBDD22AF1DC}" type="slidenum">
              <a:rPr lang="en-US" smtClean="0"/>
              <a:pPr/>
              <a:t>54</a:t>
            </a:fld>
            <a:endParaRPr lang="en-US" dirty="0"/>
          </a:p>
        </p:txBody>
      </p:sp>
      <p:sp>
        <p:nvSpPr>
          <p:cNvPr id="4" name="TextBox 3"/>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5" name="Rectangle 4"/>
          <p:cNvSpPr/>
          <p:nvPr/>
        </p:nvSpPr>
        <p:spPr>
          <a:xfrm>
            <a:off x="304801" y="990600"/>
            <a:ext cx="5638799" cy="4478149"/>
          </a:xfrm>
          <a:prstGeom prst="rect">
            <a:avLst/>
          </a:prstGeom>
        </p:spPr>
        <p:txBody>
          <a:bodyPr wrap="square">
            <a:spAutoFit/>
          </a:bodyPr>
          <a:lstStyle/>
          <a:p>
            <a:pPr marL="285750" indent="-285750">
              <a:buBlip>
                <a:blip r:embed="rId3"/>
              </a:buBlip>
            </a:pPr>
            <a:r>
              <a:rPr lang="en-US" sz="1500" b="1" dirty="0"/>
              <a:t>20 Address lines  </a:t>
            </a:r>
            <a:r>
              <a:rPr lang="en-US" sz="1500" b="1" dirty="0">
                <a:sym typeface="Symbol"/>
              </a:rPr>
              <a:t>  8086 can address up to          2</a:t>
            </a:r>
            <a:r>
              <a:rPr lang="en-US" sz="1500" b="1" baseline="30000" dirty="0">
                <a:sym typeface="Symbol"/>
              </a:rPr>
              <a:t>20</a:t>
            </a:r>
            <a:r>
              <a:rPr lang="en-US" sz="1500" b="1" dirty="0">
                <a:sym typeface="Symbol"/>
              </a:rPr>
              <a:t> = 1M bytes of memory</a:t>
            </a:r>
            <a:br>
              <a:rPr lang="en-US" sz="1500" b="1" dirty="0"/>
            </a:br>
            <a:endParaRPr lang="en-US" sz="1500" b="1" dirty="0"/>
          </a:p>
          <a:p>
            <a:pPr marL="285750" indent="-285750">
              <a:buBlip>
                <a:blip r:embed="rId3"/>
              </a:buBlip>
            </a:pPr>
            <a:r>
              <a:rPr lang="en-US" sz="1500" b="1" dirty="0"/>
              <a:t>However, the largest register is only 16 bits</a:t>
            </a:r>
          </a:p>
          <a:p>
            <a:pPr marL="285750" indent="-285750">
              <a:buBlip>
                <a:blip r:embed="rId3"/>
              </a:buBlip>
            </a:pPr>
            <a:endParaRPr lang="en-US" sz="1500" b="1" dirty="0"/>
          </a:p>
          <a:p>
            <a:pPr marL="285750" indent="-285750">
              <a:buBlip>
                <a:blip r:embed="rId3"/>
              </a:buBlip>
            </a:pPr>
            <a:r>
              <a:rPr lang="en-US" sz="1500" b="1" dirty="0"/>
              <a:t>Physical Address will have to be calculated    </a:t>
            </a:r>
            <a:r>
              <a:rPr lang="en-US" sz="1500" b="1" dirty="0">
                <a:solidFill>
                  <a:srgbClr val="CC0066"/>
                </a:solidFill>
              </a:rPr>
              <a:t>Physical Address : Actual address of a byte in memory. i.e. the value which goes out onto the address bus.</a:t>
            </a:r>
          </a:p>
          <a:p>
            <a:pPr marL="285750" indent="-285750">
              <a:buBlip>
                <a:blip r:embed="rId3"/>
              </a:buBlip>
            </a:pPr>
            <a:endParaRPr lang="en-US" sz="1500" b="1" dirty="0">
              <a:solidFill>
                <a:srgbClr val="CC0066"/>
              </a:solidFill>
            </a:endParaRPr>
          </a:p>
          <a:p>
            <a:pPr marL="285750" indent="-285750">
              <a:buBlip>
                <a:blip r:embed="rId3"/>
              </a:buBlip>
            </a:pPr>
            <a:r>
              <a:rPr lang="en-US" sz="1500" b="1" dirty="0"/>
              <a:t>Memory Address represented in the form –          </a:t>
            </a:r>
            <a:r>
              <a:rPr lang="en-US" sz="1500" b="1" dirty="0" err="1">
                <a:solidFill>
                  <a:srgbClr val="CC0066"/>
                </a:solidFill>
              </a:rPr>
              <a:t>Seg</a:t>
            </a:r>
            <a:r>
              <a:rPr lang="en-US" sz="1500" b="1" dirty="0">
                <a:solidFill>
                  <a:srgbClr val="CC0066"/>
                </a:solidFill>
              </a:rPr>
              <a:t> : Offset   </a:t>
            </a:r>
            <a:r>
              <a:rPr lang="en-US" sz="1500" b="1" dirty="0"/>
              <a:t>(</a:t>
            </a:r>
            <a:r>
              <a:rPr lang="en-US" sz="1500" b="1" dirty="0" err="1"/>
              <a:t>Eg</a:t>
            </a:r>
            <a:r>
              <a:rPr lang="en-US" sz="1500" b="1" dirty="0"/>
              <a:t> - 89AB:F012)</a:t>
            </a:r>
          </a:p>
          <a:p>
            <a:pPr marL="285750" indent="-285750">
              <a:buBlip>
                <a:blip r:embed="rId3"/>
              </a:buBlip>
            </a:pPr>
            <a:endParaRPr lang="en-US" sz="1500" b="1" dirty="0"/>
          </a:p>
          <a:p>
            <a:pPr marL="285750" indent="-285750">
              <a:buBlip>
                <a:blip r:embed="rId3"/>
              </a:buBlip>
            </a:pPr>
            <a:r>
              <a:rPr lang="en-US" sz="1500" b="1" dirty="0"/>
              <a:t>Each time the processor wants to  access memory, it takes the contents of a segment register, shifts it one hexadecimal place to the left (same as multiplying by 16</a:t>
            </a:r>
            <a:r>
              <a:rPr lang="en-US" sz="1500" b="1" baseline="-25000" dirty="0"/>
              <a:t>10</a:t>
            </a:r>
            <a:r>
              <a:rPr lang="en-US" sz="1500" b="1" dirty="0"/>
              <a:t>), then add the required offset to form the 20- bit address</a:t>
            </a:r>
          </a:p>
          <a:p>
            <a:endParaRPr lang="en-US" sz="1500" b="1" dirty="0"/>
          </a:p>
        </p:txBody>
      </p:sp>
      <p:pic>
        <p:nvPicPr>
          <p:cNvPr id="25" name="Picture 2" descr="C:\Users\AMMU\Desktop\Microprocessor\Register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5471" y="1004134"/>
            <a:ext cx="2466129" cy="242486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533400" y="5468749"/>
            <a:ext cx="8153400" cy="954107"/>
          </a:xfrm>
          <a:prstGeom prst="rect">
            <a:avLst/>
          </a:prstGeom>
        </p:spPr>
        <p:txBody>
          <a:bodyPr wrap="square">
            <a:spAutoFit/>
          </a:bodyPr>
          <a:lstStyle/>
          <a:p>
            <a:r>
              <a:rPr lang="en-US" sz="1400" b="1" dirty="0">
                <a:solidFill>
                  <a:srgbClr val="CC0066"/>
                </a:solidFill>
              </a:rPr>
              <a:t>89AB : F012  </a:t>
            </a:r>
            <a:r>
              <a:rPr lang="en-US" sz="1400" b="1" dirty="0">
                <a:solidFill>
                  <a:srgbClr val="CC0066"/>
                </a:solidFill>
                <a:sym typeface="Symbol"/>
              </a:rPr>
              <a:t>  89AB    89AB0  (Paragraph to byte  89AB x 10 = 89AB0)</a:t>
            </a:r>
          </a:p>
          <a:p>
            <a:r>
              <a:rPr lang="en-US" sz="1400" b="1" dirty="0">
                <a:solidFill>
                  <a:srgbClr val="CC0066"/>
                </a:solidFill>
                <a:sym typeface="Symbol"/>
              </a:rPr>
              <a:t>                           F012     0F012   (Offset is already in byte unit)</a:t>
            </a:r>
          </a:p>
          <a:p>
            <a:r>
              <a:rPr lang="en-US" sz="1400" b="1" dirty="0">
                <a:solidFill>
                  <a:srgbClr val="CC0066"/>
                </a:solidFill>
                <a:sym typeface="Symbol"/>
              </a:rPr>
              <a:t>                                       + -------</a:t>
            </a:r>
          </a:p>
          <a:p>
            <a:r>
              <a:rPr lang="en-US" sz="1400" b="1" dirty="0">
                <a:solidFill>
                  <a:srgbClr val="CC0066"/>
                </a:solidFill>
                <a:sym typeface="Symbol"/>
              </a:rPr>
              <a:t>                                           98AC2   (The absolute address)</a:t>
            </a:r>
            <a:endParaRPr lang="en-US" sz="1400" b="1" dirty="0">
              <a:solidFill>
                <a:srgbClr val="CC0066"/>
              </a:solidFill>
            </a:endParaRPr>
          </a:p>
        </p:txBody>
      </p:sp>
      <p:sp>
        <p:nvSpPr>
          <p:cNvPr id="11" name="Line Callout 1 10"/>
          <p:cNvSpPr/>
          <p:nvPr/>
        </p:nvSpPr>
        <p:spPr>
          <a:xfrm>
            <a:off x="6854371" y="4575556"/>
            <a:ext cx="1808327" cy="427346"/>
          </a:xfrm>
          <a:prstGeom prst="borderCallout1">
            <a:avLst>
              <a:gd name="adj1" fmla="val 49795"/>
              <a:gd name="adj2" fmla="val -725"/>
              <a:gd name="adj3" fmla="val 223499"/>
              <a:gd name="adj4" fmla="val -119947"/>
            </a:avLst>
          </a:prstGeom>
          <a:solidFill>
            <a:srgbClr val="FFFFCC"/>
          </a:solidFill>
          <a:ln w="6350">
            <a:solidFill>
              <a:srgbClr val="CC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16 bytes of contiguous memory</a:t>
            </a:r>
          </a:p>
        </p:txBody>
      </p:sp>
    </p:spTree>
    <p:extLst>
      <p:ext uri="{BB962C8B-B14F-4D97-AF65-F5344CB8AC3E}">
        <p14:creationId xmlns:p14="http://schemas.microsoft.com/office/powerpoint/2010/main" val="1002336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Addressing Modes : Memory Access</a:t>
            </a:r>
          </a:p>
        </p:txBody>
      </p:sp>
      <p:sp>
        <p:nvSpPr>
          <p:cNvPr id="3" name="Slide Number Placeholder 2"/>
          <p:cNvSpPr>
            <a:spLocks noGrp="1"/>
          </p:cNvSpPr>
          <p:nvPr>
            <p:ph type="sldNum" sz="quarter" idx="12"/>
          </p:nvPr>
        </p:nvSpPr>
        <p:spPr/>
        <p:txBody>
          <a:bodyPr/>
          <a:lstStyle/>
          <a:p>
            <a:fld id="{85E6815B-E59C-4D87-B1F6-ECBDD22AF1DC}" type="slidenum">
              <a:rPr lang="en-US" smtClean="0"/>
              <a:pPr/>
              <a:t>55</a:t>
            </a:fld>
            <a:endParaRPr lang="en-US" dirty="0"/>
          </a:p>
        </p:txBody>
      </p:sp>
      <p:sp>
        <p:nvSpPr>
          <p:cNvPr id="4" name="TextBox 3"/>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5" name="Rectangle 4"/>
          <p:cNvSpPr/>
          <p:nvPr/>
        </p:nvSpPr>
        <p:spPr>
          <a:xfrm>
            <a:off x="304801" y="990600"/>
            <a:ext cx="6096000" cy="1938992"/>
          </a:xfrm>
          <a:prstGeom prst="rect">
            <a:avLst/>
          </a:prstGeom>
        </p:spPr>
        <p:txBody>
          <a:bodyPr wrap="square">
            <a:spAutoFit/>
          </a:bodyPr>
          <a:lstStyle/>
          <a:p>
            <a:pPr marL="285750" indent="-285750">
              <a:buBlip>
                <a:blip r:embed="rId3"/>
              </a:buBlip>
            </a:pPr>
            <a:r>
              <a:rPr lang="en-US" sz="1500" b="1" dirty="0"/>
              <a:t>To access memory we use these four registers:   </a:t>
            </a:r>
            <a:r>
              <a:rPr lang="en-US" sz="1500" b="1" dirty="0">
                <a:solidFill>
                  <a:srgbClr val="CC0066"/>
                </a:solidFill>
              </a:rPr>
              <a:t>BX, SI, DI, BP</a:t>
            </a:r>
            <a:br>
              <a:rPr lang="en-US" sz="1500" b="1" dirty="0"/>
            </a:br>
            <a:endParaRPr lang="en-US" sz="1500" b="1" dirty="0"/>
          </a:p>
          <a:p>
            <a:pPr marL="285750" indent="-285750">
              <a:buBlip>
                <a:blip r:embed="rId3"/>
              </a:buBlip>
            </a:pPr>
            <a:r>
              <a:rPr lang="en-US" sz="1500" b="1" dirty="0"/>
              <a:t>Combining these registers inside [ ] symbols, we can get different memory locations (</a:t>
            </a:r>
            <a:r>
              <a:rPr lang="en-US" sz="1500" b="1" dirty="0">
                <a:solidFill>
                  <a:srgbClr val="CC0066"/>
                </a:solidFill>
              </a:rPr>
              <a:t>Effective Address, EA</a:t>
            </a:r>
            <a:r>
              <a:rPr lang="en-US" sz="1500" b="1" dirty="0"/>
              <a:t>) </a:t>
            </a:r>
          </a:p>
          <a:p>
            <a:pPr marL="285750" indent="-285750">
              <a:buBlip>
                <a:blip r:embed="rId3"/>
              </a:buBlip>
            </a:pPr>
            <a:endParaRPr lang="en-US" sz="1500" b="1" dirty="0"/>
          </a:p>
          <a:p>
            <a:pPr marL="285750" indent="-285750">
              <a:buBlip>
                <a:blip r:embed="rId3"/>
              </a:buBlip>
            </a:pPr>
            <a:r>
              <a:rPr lang="en-US" sz="1500" b="1" dirty="0"/>
              <a:t>Supported combinations:</a:t>
            </a:r>
          </a:p>
        </p:txBody>
      </p:sp>
      <p:graphicFrame>
        <p:nvGraphicFramePr>
          <p:cNvPr id="9" name="Table 8"/>
          <p:cNvGraphicFramePr>
            <a:graphicFrameLocks noGrp="1"/>
          </p:cNvGraphicFramePr>
          <p:nvPr/>
        </p:nvGraphicFramePr>
        <p:xfrm>
          <a:off x="699448" y="3048000"/>
          <a:ext cx="5715000" cy="2766060"/>
        </p:xfrm>
        <a:graphic>
          <a:graphicData uri="http://schemas.openxmlformats.org/drawingml/2006/table">
            <a:tbl>
              <a:tblPr/>
              <a:tblGrid>
                <a:gridCol w="1390135">
                  <a:extLst>
                    <a:ext uri="{9D8B030D-6E8A-4147-A177-3AD203B41FA5}">
                      <a16:colId xmlns:a16="http://schemas.microsoft.com/office/drawing/2014/main" val="20000"/>
                    </a:ext>
                  </a:extLst>
                </a:gridCol>
                <a:gridCol w="2717520">
                  <a:extLst>
                    <a:ext uri="{9D8B030D-6E8A-4147-A177-3AD203B41FA5}">
                      <a16:colId xmlns:a16="http://schemas.microsoft.com/office/drawing/2014/main" val="20001"/>
                    </a:ext>
                  </a:extLst>
                </a:gridCol>
                <a:gridCol w="1607345">
                  <a:extLst>
                    <a:ext uri="{9D8B030D-6E8A-4147-A177-3AD203B41FA5}">
                      <a16:colId xmlns:a16="http://schemas.microsoft.com/office/drawing/2014/main" val="20002"/>
                    </a:ext>
                  </a:extLst>
                </a:gridCol>
              </a:tblGrid>
              <a:tr h="1295400">
                <a:tc>
                  <a:txBody>
                    <a:bodyPr/>
                    <a:lstStyle/>
                    <a:p>
                      <a:r>
                        <a:rPr lang="it-IT" sz="1400" dirty="0"/>
                        <a:t>[BX + SI]</a:t>
                      </a:r>
                      <a:br>
                        <a:rPr lang="it-IT" sz="1400" dirty="0"/>
                      </a:br>
                      <a:r>
                        <a:rPr lang="it-IT" sz="1400" dirty="0"/>
                        <a:t>[BX + DI]</a:t>
                      </a:r>
                      <a:br>
                        <a:rPr lang="it-IT" sz="1400" dirty="0"/>
                      </a:br>
                      <a:r>
                        <a:rPr lang="it-IT" sz="1400" dirty="0"/>
                        <a:t>[BP + SI]</a:t>
                      </a:r>
                      <a:br>
                        <a:rPr lang="it-IT" sz="1400" dirty="0"/>
                      </a:br>
                      <a:r>
                        <a:rPr lang="it-IT" sz="1400" dirty="0"/>
                        <a:t>[BP + DI]</a:t>
                      </a:r>
                      <a:br>
                        <a:rPr lang="it-IT" sz="1400" dirty="0"/>
                      </a:br>
                      <a:endParaRPr lang="it-IT" sz="1400" dirty="0"/>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it-IT" sz="1400" dirty="0"/>
                        <a:t>[SI]</a:t>
                      </a:r>
                      <a:br>
                        <a:rPr lang="it-IT" sz="1400" dirty="0"/>
                      </a:br>
                      <a:r>
                        <a:rPr lang="it-IT" sz="1400" dirty="0"/>
                        <a:t>[DI]</a:t>
                      </a:r>
                      <a:br>
                        <a:rPr lang="it-IT" sz="1400" dirty="0"/>
                      </a:br>
                      <a:r>
                        <a:rPr lang="it-IT" sz="1400" dirty="0"/>
                        <a:t>d16 (variable offset only)</a:t>
                      </a:r>
                      <a:br>
                        <a:rPr lang="it-IT" sz="1400" dirty="0"/>
                      </a:br>
                      <a:r>
                        <a:rPr lang="it-IT" sz="1400" dirty="0"/>
                        <a:t>[BX]</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it-IT" sz="1400" dirty="0"/>
                        <a:t>[BX + SI + d8]</a:t>
                      </a:r>
                      <a:br>
                        <a:rPr lang="it-IT" sz="1400" dirty="0"/>
                      </a:br>
                      <a:r>
                        <a:rPr lang="it-IT" sz="1400" dirty="0"/>
                        <a:t>[BX + DI + d8]</a:t>
                      </a:r>
                      <a:br>
                        <a:rPr lang="it-IT" sz="1400" dirty="0"/>
                      </a:br>
                      <a:r>
                        <a:rPr lang="it-IT" sz="1400" dirty="0"/>
                        <a:t>[BP + SI + d8]</a:t>
                      </a:r>
                      <a:br>
                        <a:rPr lang="it-IT" sz="1400" dirty="0"/>
                      </a:br>
                      <a:r>
                        <a:rPr lang="it-IT" sz="1400" dirty="0"/>
                        <a:t>[BP + DI + d8]</a:t>
                      </a:r>
                      <a:br>
                        <a:rPr lang="it-IT" sz="1400" dirty="0"/>
                      </a:br>
                      <a:endParaRPr lang="it-IT" sz="1400" dirty="0"/>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endParaRPr lang="it-IT" sz="1400" dirty="0"/>
                    </a:p>
                    <a:p>
                      <a:r>
                        <a:rPr lang="it-IT" sz="1400" dirty="0"/>
                        <a:t>[SI + d8]</a:t>
                      </a:r>
                      <a:br>
                        <a:rPr lang="it-IT" sz="1400" dirty="0"/>
                      </a:br>
                      <a:r>
                        <a:rPr lang="it-IT" sz="1400" dirty="0"/>
                        <a:t>[DI + d8]</a:t>
                      </a:r>
                      <a:br>
                        <a:rPr lang="it-IT" sz="1400" dirty="0"/>
                      </a:br>
                      <a:r>
                        <a:rPr lang="it-IT" sz="1400" dirty="0"/>
                        <a:t>[BP + d8]</a:t>
                      </a:r>
                      <a:br>
                        <a:rPr lang="it-IT" sz="1400" dirty="0"/>
                      </a:br>
                      <a:r>
                        <a:rPr lang="it-IT" sz="1400" dirty="0"/>
                        <a:t>[BX + d8]</a:t>
                      </a:r>
                      <a:br>
                        <a:rPr lang="it-IT" sz="1400" dirty="0"/>
                      </a:br>
                      <a:endParaRPr lang="it-IT" sz="1400" dirty="0"/>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endParaRPr lang="it-IT" sz="1400" dirty="0"/>
                    </a:p>
                    <a:p>
                      <a:r>
                        <a:rPr lang="it-IT" sz="1400" dirty="0"/>
                        <a:t>[BX + SI + d16]</a:t>
                      </a:r>
                      <a:br>
                        <a:rPr lang="it-IT" sz="1400" dirty="0"/>
                      </a:br>
                      <a:r>
                        <a:rPr lang="it-IT" sz="1400" dirty="0"/>
                        <a:t>[BX + DI + d16] </a:t>
                      </a:r>
                      <a:br>
                        <a:rPr lang="it-IT" sz="1400" dirty="0"/>
                      </a:br>
                      <a:r>
                        <a:rPr lang="it-IT" sz="1400" dirty="0"/>
                        <a:t>[BP + SI + d16]</a:t>
                      </a:r>
                      <a:br>
                        <a:rPr lang="it-IT" sz="1400" dirty="0"/>
                      </a:br>
                      <a:r>
                        <a:rPr lang="it-IT" sz="1400" dirty="0"/>
                        <a:t>[BP + DI + d16]</a:t>
                      </a:r>
                      <a:br>
                        <a:rPr lang="it-IT" sz="1400" dirty="0"/>
                      </a:br>
                      <a:endParaRPr lang="it-IT" sz="1400" dirty="0"/>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it-IT" sz="1400" dirty="0"/>
                        <a:t>[SI + d16]</a:t>
                      </a:r>
                      <a:br>
                        <a:rPr lang="it-IT" sz="1400" dirty="0"/>
                      </a:br>
                      <a:r>
                        <a:rPr lang="it-IT" sz="1400" dirty="0"/>
                        <a:t>[DI + d16]</a:t>
                      </a:r>
                      <a:br>
                        <a:rPr lang="it-IT" sz="1400" dirty="0"/>
                      </a:br>
                      <a:r>
                        <a:rPr lang="it-IT" sz="1400" dirty="0"/>
                        <a:t>[BP + d16]</a:t>
                      </a:r>
                      <a:br>
                        <a:rPr lang="it-IT" sz="1400" dirty="0"/>
                      </a:br>
                      <a:r>
                        <a:rPr lang="it-IT" sz="1400" dirty="0"/>
                        <a:t>[BX + d16]</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graphicFrame>
        <p:nvGraphicFramePr>
          <p:cNvPr id="10" name="Table 9"/>
          <p:cNvGraphicFramePr>
            <a:graphicFrameLocks noGrp="1"/>
          </p:cNvGraphicFramePr>
          <p:nvPr/>
        </p:nvGraphicFramePr>
        <p:xfrm>
          <a:off x="699448" y="6019800"/>
          <a:ext cx="2331493" cy="731520"/>
        </p:xfrm>
        <a:graphic>
          <a:graphicData uri="http://schemas.openxmlformats.org/drawingml/2006/table">
            <a:tbl>
              <a:tblPr firstRow="1" bandRow="1">
                <a:tableStyleId>{5C22544A-7EE6-4342-B048-85BDC9FD1C3A}</a:tableStyleId>
              </a:tblPr>
              <a:tblGrid>
                <a:gridCol w="647637">
                  <a:extLst>
                    <a:ext uri="{9D8B030D-6E8A-4147-A177-3AD203B41FA5}">
                      <a16:colId xmlns:a16="http://schemas.microsoft.com/office/drawing/2014/main" val="20000"/>
                    </a:ext>
                  </a:extLst>
                </a:gridCol>
                <a:gridCol w="712401">
                  <a:extLst>
                    <a:ext uri="{9D8B030D-6E8A-4147-A177-3AD203B41FA5}">
                      <a16:colId xmlns:a16="http://schemas.microsoft.com/office/drawing/2014/main" val="20001"/>
                    </a:ext>
                  </a:extLst>
                </a:gridCol>
                <a:gridCol w="971455">
                  <a:extLst>
                    <a:ext uri="{9D8B030D-6E8A-4147-A177-3AD203B41FA5}">
                      <a16:colId xmlns:a16="http://schemas.microsoft.com/office/drawing/2014/main" val="20002"/>
                    </a:ext>
                  </a:extLst>
                </a:gridCol>
              </a:tblGrid>
              <a:tr h="370840">
                <a:tc>
                  <a:txBody>
                    <a:bodyPr/>
                    <a:lstStyle/>
                    <a:p>
                      <a:r>
                        <a:rPr lang="en-US" sz="1400" dirty="0">
                          <a:solidFill>
                            <a:srgbClr val="FF0000"/>
                          </a:solidFill>
                        </a:rPr>
                        <a:t>BX</a:t>
                      </a:r>
                    </a:p>
                    <a:p>
                      <a:endParaRPr lang="en-US" sz="1400" dirty="0">
                        <a:solidFill>
                          <a:srgbClr val="FF0000"/>
                        </a:solidFill>
                      </a:endParaRPr>
                    </a:p>
                    <a:p>
                      <a:r>
                        <a:rPr lang="en-US" sz="1400" dirty="0">
                          <a:solidFill>
                            <a:srgbClr val="FF0000"/>
                          </a:solidFill>
                        </a:rPr>
                        <a:t>BP</a:t>
                      </a:r>
                    </a:p>
                  </a:txBody>
                  <a:tcPr>
                    <a:solidFill>
                      <a:srgbClr val="FFC000"/>
                    </a:solidFill>
                  </a:tcPr>
                </a:tc>
                <a:tc>
                  <a:txBody>
                    <a:bodyPr/>
                    <a:lstStyle/>
                    <a:p>
                      <a:r>
                        <a:rPr lang="en-US" sz="1400" dirty="0">
                          <a:solidFill>
                            <a:srgbClr val="FF0000"/>
                          </a:solidFill>
                        </a:rPr>
                        <a:t>SI</a:t>
                      </a:r>
                    </a:p>
                    <a:p>
                      <a:endParaRPr lang="en-US" sz="1400" dirty="0">
                        <a:solidFill>
                          <a:srgbClr val="FF0000"/>
                        </a:solidFill>
                      </a:endParaRPr>
                    </a:p>
                    <a:p>
                      <a:r>
                        <a:rPr lang="en-US" sz="1400" dirty="0">
                          <a:solidFill>
                            <a:srgbClr val="FF0000"/>
                          </a:solidFill>
                        </a:rPr>
                        <a:t>DI</a:t>
                      </a:r>
                    </a:p>
                  </a:txBody>
                  <a:tcPr>
                    <a:solidFill>
                      <a:srgbClr val="FFC000"/>
                    </a:solidFill>
                  </a:tcPr>
                </a:tc>
                <a:tc>
                  <a:txBody>
                    <a:bodyPr/>
                    <a:lstStyle/>
                    <a:p>
                      <a:endParaRPr lang="en-US" sz="1400" dirty="0">
                        <a:solidFill>
                          <a:srgbClr val="FF0000"/>
                        </a:solidFill>
                      </a:endParaRPr>
                    </a:p>
                    <a:p>
                      <a:r>
                        <a:rPr lang="en-US" sz="1400" dirty="0">
                          <a:solidFill>
                            <a:srgbClr val="FF0000"/>
                          </a:solidFill>
                        </a:rPr>
                        <a:t>+ </a:t>
                      </a:r>
                      <a:r>
                        <a:rPr lang="en-US" sz="1400" dirty="0" err="1">
                          <a:solidFill>
                            <a:srgbClr val="FF0000"/>
                          </a:solidFill>
                        </a:rPr>
                        <a:t>disp</a:t>
                      </a:r>
                      <a:endParaRPr lang="en-US" sz="1400" dirty="0">
                        <a:solidFill>
                          <a:srgbClr val="FF0000"/>
                        </a:solidFill>
                      </a:endParaRPr>
                    </a:p>
                  </a:txBody>
                  <a:tcPr>
                    <a:solidFill>
                      <a:srgbClr val="FFC000"/>
                    </a:solidFill>
                  </a:tcPr>
                </a:tc>
                <a:extLst>
                  <a:ext uri="{0D108BD9-81ED-4DB2-BD59-A6C34878D82A}">
                    <a16:rowId xmlns:a16="http://schemas.microsoft.com/office/drawing/2014/main" val="10000"/>
                  </a:ext>
                </a:extLst>
              </a:tr>
            </a:tbl>
          </a:graphicData>
        </a:graphic>
      </p:graphicFrame>
      <p:pic>
        <p:nvPicPr>
          <p:cNvPr id="25" name="Picture 2" descr="C:\Users\AMMU\Desktop\Microprocessor\Register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5471" y="1004134"/>
            <a:ext cx="2466129" cy="2424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2687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6934200" y="5195248"/>
            <a:ext cx="1488505"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242397" y="4343400"/>
            <a:ext cx="2822580"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4191000" y="4128448"/>
            <a:ext cx="1752600"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3725840" y="3429898"/>
            <a:ext cx="1961864" cy="553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152400" y="1573714"/>
            <a:ext cx="3264190" cy="421134"/>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Addressing Modes</a:t>
            </a:r>
          </a:p>
        </p:txBody>
      </p:sp>
      <p:sp>
        <p:nvSpPr>
          <p:cNvPr id="3" name="Slide Number Placeholder 2"/>
          <p:cNvSpPr>
            <a:spLocks noGrp="1"/>
          </p:cNvSpPr>
          <p:nvPr>
            <p:ph type="sldNum" sz="quarter" idx="12"/>
          </p:nvPr>
        </p:nvSpPr>
        <p:spPr/>
        <p:txBody>
          <a:bodyPr/>
          <a:lstStyle/>
          <a:p>
            <a:fld id="{85E6815B-E59C-4D87-B1F6-ECBDD22AF1DC}" type="slidenum">
              <a:rPr lang="en-US" smtClean="0"/>
              <a:pPr/>
              <a:t>56</a:t>
            </a:fld>
            <a:endParaRPr lang="en-US" dirty="0"/>
          </a:p>
        </p:txBody>
      </p:sp>
      <p:sp>
        <p:nvSpPr>
          <p:cNvPr id="4" name="TextBox 3"/>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9" name="Rectangle 8"/>
          <p:cNvSpPr/>
          <p:nvPr/>
        </p:nvSpPr>
        <p:spPr>
          <a:xfrm>
            <a:off x="163776" y="838393"/>
            <a:ext cx="3252814" cy="4693593"/>
          </a:xfrm>
          <a:prstGeom prst="rect">
            <a:avLst/>
          </a:prstGeom>
        </p:spPr>
        <p:txBody>
          <a:bodyPr wrap="none">
            <a:spAutoFit/>
          </a:bodyPr>
          <a:lstStyle/>
          <a:p>
            <a:pPr marL="342900" indent="-342900">
              <a:buAutoNum type="arabicPeriod"/>
            </a:pPr>
            <a:r>
              <a:rPr lang="en-US" sz="1300" b="1" dirty="0">
                <a:solidFill>
                  <a:srgbClr val="FF0066"/>
                </a:solidFill>
                <a:latin typeface="Verdana" pitchFamily="34" charset="0"/>
                <a:ea typeface="Verdana" pitchFamily="34" charset="0"/>
                <a:cs typeface="Verdana" pitchFamily="34" charset="0"/>
              </a:rPr>
              <a:t>Register Addressing</a:t>
            </a:r>
          </a:p>
          <a:p>
            <a:pPr marL="342900" indent="-342900">
              <a:buAutoNum type="arabicPeriod"/>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2"/>
            </a:pPr>
            <a:r>
              <a:rPr lang="en-US" sz="1300" b="1" dirty="0">
                <a:solidFill>
                  <a:srgbClr val="FF0066"/>
                </a:solidFill>
                <a:latin typeface="Verdana" pitchFamily="34" charset="0"/>
                <a:ea typeface="Verdana" pitchFamily="34" charset="0"/>
                <a:cs typeface="Verdana" pitchFamily="34" charset="0"/>
              </a:rPr>
              <a:t>Immediate Addressing</a:t>
            </a:r>
          </a:p>
          <a:p>
            <a:pPr marL="342900" indent="-342900">
              <a:buAutoNum type="arabicPeriod" startAt="2"/>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3"/>
            </a:pPr>
            <a:r>
              <a:rPr lang="en-US" sz="1300" b="1" dirty="0">
                <a:solidFill>
                  <a:srgbClr val="990033"/>
                </a:solidFill>
                <a:latin typeface="Verdana" pitchFamily="34" charset="0"/>
                <a:ea typeface="Verdana" pitchFamily="34" charset="0"/>
                <a:cs typeface="Verdana" pitchFamily="34" charset="0"/>
              </a:rPr>
              <a:t>Direct Addressing</a:t>
            </a:r>
          </a:p>
          <a:p>
            <a:pPr marL="342900" indent="-342900">
              <a:buAutoNum type="arabicPeriod" startAt="3"/>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4"/>
            </a:pPr>
            <a:r>
              <a:rPr lang="en-US" sz="1300" b="1" dirty="0">
                <a:solidFill>
                  <a:srgbClr val="990033"/>
                </a:solidFill>
                <a:latin typeface="Verdana" pitchFamily="34" charset="0"/>
                <a:ea typeface="Verdana" pitchFamily="34" charset="0"/>
                <a:cs typeface="Verdana" pitchFamily="34" charset="0"/>
              </a:rPr>
              <a:t>Register Indirect Addressing</a:t>
            </a:r>
          </a:p>
          <a:p>
            <a:pPr marL="342900" indent="-342900">
              <a:buAutoNum type="arabicPeriod" startAt="4"/>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5"/>
            </a:pPr>
            <a:r>
              <a:rPr lang="en-US" sz="1300" b="1" dirty="0">
                <a:solidFill>
                  <a:srgbClr val="990033"/>
                </a:solidFill>
                <a:latin typeface="Verdana" pitchFamily="34" charset="0"/>
                <a:ea typeface="Verdana" pitchFamily="34" charset="0"/>
                <a:cs typeface="Verdana" pitchFamily="34" charset="0"/>
              </a:rPr>
              <a:t>Based Addressing</a:t>
            </a:r>
          </a:p>
          <a:p>
            <a:pPr marL="342900" indent="-342900">
              <a:buAutoNum type="arabicPeriod" startAt="5"/>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6"/>
            </a:pPr>
            <a:r>
              <a:rPr lang="en-US" sz="1300" b="1" dirty="0">
                <a:solidFill>
                  <a:srgbClr val="990033"/>
                </a:solidFill>
                <a:latin typeface="Verdana" pitchFamily="34" charset="0"/>
                <a:ea typeface="Verdana" pitchFamily="34" charset="0"/>
                <a:cs typeface="Verdana" pitchFamily="34" charset="0"/>
              </a:rPr>
              <a:t>Indexed Addressing</a:t>
            </a:r>
          </a:p>
          <a:p>
            <a:pPr marL="342900" indent="-342900">
              <a:buAutoNum type="arabicPeriod" startAt="6"/>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7"/>
            </a:pPr>
            <a:r>
              <a:rPr lang="en-US" sz="1300" b="1" dirty="0">
                <a:solidFill>
                  <a:srgbClr val="990033"/>
                </a:solidFill>
                <a:latin typeface="Verdana" pitchFamily="34" charset="0"/>
                <a:ea typeface="Verdana" pitchFamily="34" charset="0"/>
                <a:cs typeface="Verdana" pitchFamily="34" charset="0"/>
              </a:rPr>
              <a:t>Based Index Addressing</a:t>
            </a:r>
          </a:p>
          <a:p>
            <a:pPr marL="342900" indent="-342900">
              <a:buAutoNum type="arabicPeriod" startAt="7"/>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8"/>
            </a:pPr>
            <a:r>
              <a:rPr lang="en-US" sz="1300" b="1" dirty="0">
                <a:solidFill>
                  <a:srgbClr val="990033"/>
                </a:solidFill>
                <a:latin typeface="Verdana" pitchFamily="34" charset="0"/>
                <a:ea typeface="Verdana" pitchFamily="34" charset="0"/>
                <a:cs typeface="Verdana" pitchFamily="34" charset="0"/>
              </a:rPr>
              <a:t>String Addressing</a:t>
            </a:r>
          </a:p>
          <a:p>
            <a:pPr marL="342900" indent="-342900">
              <a:buAutoNum type="arabicPeriod" startAt="8"/>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9"/>
            </a:pPr>
            <a:r>
              <a:rPr lang="en-US" sz="1300" b="1" dirty="0">
                <a:solidFill>
                  <a:srgbClr val="FF0066"/>
                </a:solidFill>
                <a:latin typeface="Verdana" pitchFamily="34" charset="0"/>
                <a:ea typeface="Verdana" pitchFamily="34" charset="0"/>
                <a:cs typeface="Verdana" pitchFamily="34" charset="0"/>
              </a:rPr>
              <a:t>Direct I/O port Addressing</a:t>
            </a:r>
          </a:p>
          <a:p>
            <a:pPr marL="342900" indent="-342900">
              <a:buAutoNum type="arabicPeriod" startAt="9"/>
            </a:pPr>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10. Indirect I/O port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11. Relative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12. Implied Addressing</a:t>
            </a:r>
          </a:p>
        </p:txBody>
      </p:sp>
      <p:sp>
        <p:nvSpPr>
          <p:cNvPr id="12" name="Rectangle 11"/>
          <p:cNvSpPr/>
          <p:nvPr/>
        </p:nvSpPr>
        <p:spPr>
          <a:xfrm>
            <a:off x="3657600" y="1524000"/>
            <a:ext cx="5257800" cy="4495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just"/>
            <a:r>
              <a:rPr lang="en-US" sz="1400" b="1" dirty="0">
                <a:solidFill>
                  <a:schemeClr val="tx1"/>
                </a:solidFill>
                <a:latin typeface="Verdana" pitchFamily="34" charset="0"/>
                <a:ea typeface="Verdana" pitchFamily="34" charset="0"/>
                <a:cs typeface="Verdana" pitchFamily="34" charset="0"/>
              </a:rPr>
              <a:t>Here, the effective  address of the memory location at which the data operand is stored  is given in the instruction. </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The  effective address is just a 16-bit number  written directly in the instruction. </a:t>
            </a:r>
          </a:p>
          <a:p>
            <a:pPr algn="just"/>
            <a:r>
              <a:rPr lang="en-US" sz="1400" b="1" dirty="0">
                <a:solidFill>
                  <a:schemeClr val="tx1"/>
                </a:solidFill>
                <a:latin typeface="Verdana" pitchFamily="34" charset="0"/>
                <a:ea typeface="Verdana" pitchFamily="34" charset="0"/>
                <a:cs typeface="Verdana" pitchFamily="34" charset="0"/>
              </a:rPr>
              <a:t> </a:t>
            </a:r>
          </a:p>
          <a:p>
            <a:pPr algn="just"/>
            <a:r>
              <a:rPr lang="en-US" sz="1400" b="1" dirty="0">
                <a:solidFill>
                  <a:srgbClr val="FF0000"/>
                </a:solidFill>
                <a:latin typeface="Verdana" pitchFamily="34" charset="0"/>
                <a:ea typeface="Verdana" pitchFamily="34" charset="0"/>
                <a:cs typeface="Verdana" pitchFamily="34" charset="0"/>
              </a:rPr>
              <a:t>Example:</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MOV   BX, [1354H] </a:t>
            </a:r>
          </a:p>
          <a:p>
            <a:pPr algn="just"/>
            <a:r>
              <a:rPr lang="en-US" sz="1400" b="1" dirty="0">
                <a:solidFill>
                  <a:schemeClr val="tx1"/>
                </a:solidFill>
                <a:latin typeface="Verdana" pitchFamily="34" charset="0"/>
                <a:ea typeface="Verdana" pitchFamily="34" charset="0"/>
                <a:cs typeface="Verdana" pitchFamily="34" charset="0"/>
              </a:rPr>
              <a:t>MOV   BL,  [0400H]</a:t>
            </a:r>
          </a:p>
          <a:p>
            <a:pPr algn="just"/>
            <a:r>
              <a:rPr lang="en-US" sz="1400" b="1" dirty="0">
                <a:solidFill>
                  <a:schemeClr val="tx1"/>
                </a:solidFill>
                <a:latin typeface="Verdana" pitchFamily="34" charset="0"/>
                <a:ea typeface="Verdana" pitchFamily="34" charset="0"/>
                <a:cs typeface="Verdana" pitchFamily="34" charset="0"/>
              </a:rPr>
              <a:t> </a:t>
            </a:r>
          </a:p>
          <a:p>
            <a:pPr algn="just"/>
            <a:r>
              <a:rPr lang="en-US" sz="1400" b="1" dirty="0">
                <a:solidFill>
                  <a:schemeClr val="tx1"/>
                </a:solidFill>
                <a:latin typeface="Verdana" pitchFamily="34" charset="0"/>
                <a:ea typeface="Verdana" pitchFamily="34" charset="0"/>
                <a:cs typeface="Verdana" pitchFamily="34" charset="0"/>
              </a:rPr>
              <a:t>The square brackets around the  1354</a:t>
            </a:r>
            <a:r>
              <a:rPr lang="en-US" sz="1400" b="1" baseline="-25000" dirty="0">
                <a:solidFill>
                  <a:schemeClr val="tx1"/>
                </a:solidFill>
                <a:latin typeface="Verdana" pitchFamily="34" charset="0"/>
                <a:ea typeface="Verdana" pitchFamily="34" charset="0"/>
                <a:cs typeface="Verdana" pitchFamily="34" charset="0"/>
              </a:rPr>
              <a:t>H</a:t>
            </a:r>
            <a:r>
              <a:rPr lang="en-US" sz="1400" b="1" dirty="0">
                <a:solidFill>
                  <a:schemeClr val="tx1"/>
                </a:solidFill>
                <a:latin typeface="Verdana" pitchFamily="34" charset="0"/>
                <a:ea typeface="Verdana" pitchFamily="34" charset="0"/>
                <a:cs typeface="Verdana" pitchFamily="34" charset="0"/>
              </a:rPr>
              <a:t> denotes the contents of the memory location. When executed, this instruction will copy the contents of the memory location into BX register. </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This addressing mode is called direct because the displacement of the operand from the segment base is specified directly in the instruction. </a:t>
            </a:r>
          </a:p>
        </p:txBody>
      </p:sp>
      <p:pic>
        <p:nvPicPr>
          <p:cNvPr id="26" name="Picture 2" descr="C:\Users\AMMU\Desktop\Microprocessor\Regist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485" y="5547752"/>
            <a:ext cx="1323129" cy="130099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6136368" y="127323"/>
            <a:ext cx="2768796" cy="461665"/>
          </a:xfrm>
          <a:prstGeom prst="rect">
            <a:avLst/>
          </a:prstGeom>
          <a:noFill/>
        </p:spPr>
        <p:txBody>
          <a:bodyPr wrap="square" rtlCol="0">
            <a:spAutoFit/>
          </a:bodyPr>
          <a:lstStyle/>
          <a:p>
            <a:pPr algn="r"/>
            <a:r>
              <a:rPr lang="en-US" sz="1200" b="1" dirty="0">
                <a:solidFill>
                  <a:srgbClr val="FF0000"/>
                </a:solidFill>
              </a:rPr>
              <a:t>Group II : Addressing modes for memory data</a:t>
            </a:r>
          </a:p>
        </p:txBody>
      </p:sp>
    </p:spTree>
    <p:extLst>
      <p:ext uri="{BB962C8B-B14F-4D97-AF65-F5344CB8AC3E}">
        <p14:creationId xmlns:p14="http://schemas.microsoft.com/office/powerpoint/2010/main" val="39315297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5501091" y="2743200"/>
            <a:ext cx="1353186"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p:nvPr/>
        </p:nvSpPr>
        <p:spPr>
          <a:xfrm>
            <a:off x="8367602" y="2756848"/>
            <a:ext cx="521712"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p:nvSpPr>
        <p:spPr>
          <a:xfrm>
            <a:off x="3777927" y="2968388"/>
            <a:ext cx="2179321"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p:nvSpPr>
        <p:spPr>
          <a:xfrm>
            <a:off x="3780432" y="2321256"/>
            <a:ext cx="1981200"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477000" y="1066800"/>
            <a:ext cx="2506640"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3753136" y="3771900"/>
            <a:ext cx="1608160" cy="32129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152400" y="1941066"/>
            <a:ext cx="3264190" cy="421134"/>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Addressing Modes</a:t>
            </a:r>
          </a:p>
        </p:txBody>
      </p:sp>
      <p:sp>
        <p:nvSpPr>
          <p:cNvPr id="3" name="Slide Number Placeholder 2"/>
          <p:cNvSpPr>
            <a:spLocks noGrp="1"/>
          </p:cNvSpPr>
          <p:nvPr>
            <p:ph type="sldNum" sz="quarter" idx="12"/>
          </p:nvPr>
        </p:nvSpPr>
        <p:spPr/>
        <p:txBody>
          <a:bodyPr/>
          <a:lstStyle/>
          <a:p>
            <a:fld id="{85E6815B-E59C-4D87-B1F6-ECBDD22AF1DC}" type="slidenum">
              <a:rPr lang="en-US" smtClean="0"/>
              <a:pPr/>
              <a:t>57</a:t>
            </a:fld>
            <a:endParaRPr lang="en-US" dirty="0"/>
          </a:p>
        </p:txBody>
      </p:sp>
      <p:sp>
        <p:nvSpPr>
          <p:cNvPr id="4" name="TextBox 3"/>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9" name="Rectangle 8"/>
          <p:cNvSpPr/>
          <p:nvPr/>
        </p:nvSpPr>
        <p:spPr>
          <a:xfrm>
            <a:off x="163776" y="838393"/>
            <a:ext cx="3252814" cy="4693593"/>
          </a:xfrm>
          <a:prstGeom prst="rect">
            <a:avLst/>
          </a:prstGeom>
        </p:spPr>
        <p:txBody>
          <a:bodyPr wrap="none">
            <a:spAutoFit/>
          </a:bodyPr>
          <a:lstStyle/>
          <a:p>
            <a:pPr marL="342900" indent="-342900">
              <a:buAutoNum type="arabicPeriod"/>
            </a:pPr>
            <a:r>
              <a:rPr lang="en-US" sz="1300" b="1" dirty="0">
                <a:solidFill>
                  <a:srgbClr val="FF0066"/>
                </a:solidFill>
                <a:latin typeface="Verdana" pitchFamily="34" charset="0"/>
                <a:ea typeface="Verdana" pitchFamily="34" charset="0"/>
                <a:cs typeface="Verdana" pitchFamily="34" charset="0"/>
              </a:rPr>
              <a:t>Register Addressing</a:t>
            </a:r>
          </a:p>
          <a:p>
            <a:pPr marL="342900" indent="-342900">
              <a:buAutoNum type="arabicPeriod"/>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2"/>
            </a:pPr>
            <a:r>
              <a:rPr lang="en-US" sz="1300" b="1" dirty="0">
                <a:solidFill>
                  <a:srgbClr val="FF0066"/>
                </a:solidFill>
                <a:latin typeface="Verdana" pitchFamily="34" charset="0"/>
                <a:ea typeface="Verdana" pitchFamily="34" charset="0"/>
                <a:cs typeface="Verdana" pitchFamily="34" charset="0"/>
              </a:rPr>
              <a:t>Immediate Addressing</a:t>
            </a:r>
          </a:p>
          <a:p>
            <a:pPr marL="342900" indent="-342900">
              <a:buAutoNum type="arabicPeriod" startAt="2"/>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3"/>
            </a:pPr>
            <a:r>
              <a:rPr lang="en-US" sz="1300" b="1" dirty="0">
                <a:solidFill>
                  <a:srgbClr val="990033"/>
                </a:solidFill>
                <a:latin typeface="Verdana" pitchFamily="34" charset="0"/>
                <a:ea typeface="Verdana" pitchFamily="34" charset="0"/>
                <a:cs typeface="Verdana" pitchFamily="34" charset="0"/>
              </a:rPr>
              <a:t>Direct Addressing</a:t>
            </a:r>
          </a:p>
          <a:p>
            <a:pPr marL="342900" indent="-342900">
              <a:buAutoNum type="arabicPeriod" startAt="3"/>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4"/>
            </a:pPr>
            <a:r>
              <a:rPr lang="en-US" sz="1300" b="1" dirty="0">
                <a:solidFill>
                  <a:srgbClr val="990033"/>
                </a:solidFill>
                <a:latin typeface="Verdana" pitchFamily="34" charset="0"/>
                <a:ea typeface="Verdana" pitchFamily="34" charset="0"/>
                <a:cs typeface="Verdana" pitchFamily="34" charset="0"/>
              </a:rPr>
              <a:t>Register Indirect Addressing</a:t>
            </a:r>
          </a:p>
          <a:p>
            <a:pPr marL="342900" indent="-342900">
              <a:buAutoNum type="arabicPeriod" startAt="4"/>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5"/>
            </a:pPr>
            <a:r>
              <a:rPr lang="en-US" sz="1300" b="1" dirty="0">
                <a:solidFill>
                  <a:srgbClr val="990033"/>
                </a:solidFill>
                <a:latin typeface="Verdana" pitchFamily="34" charset="0"/>
                <a:ea typeface="Verdana" pitchFamily="34" charset="0"/>
                <a:cs typeface="Verdana" pitchFamily="34" charset="0"/>
              </a:rPr>
              <a:t>Based Addressing</a:t>
            </a:r>
          </a:p>
          <a:p>
            <a:pPr marL="342900" indent="-342900">
              <a:buAutoNum type="arabicPeriod" startAt="5"/>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6"/>
            </a:pPr>
            <a:r>
              <a:rPr lang="en-US" sz="1300" b="1" dirty="0">
                <a:solidFill>
                  <a:srgbClr val="990033"/>
                </a:solidFill>
                <a:latin typeface="Verdana" pitchFamily="34" charset="0"/>
                <a:ea typeface="Verdana" pitchFamily="34" charset="0"/>
                <a:cs typeface="Verdana" pitchFamily="34" charset="0"/>
              </a:rPr>
              <a:t>Indexed Addressing</a:t>
            </a:r>
          </a:p>
          <a:p>
            <a:pPr marL="342900" indent="-342900">
              <a:buAutoNum type="arabicPeriod" startAt="6"/>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7"/>
            </a:pPr>
            <a:r>
              <a:rPr lang="en-US" sz="1300" b="1" dirty="0">
                <a:solidFill>
                  <a:srgbClr val="990033"/>
                </a:solidFill>
                <a:latin typeface="Verdana" pitchFamily="34" charset="0"/>
                <a:ea typeface="Verdana" pitchFamily="34" charset="0"/>
                <a:cs typeface="Verdana" pitchFamily="34" charset="0"/>
              </a:rPr>
              <a:t>Based Index Addressing</a:t>
            </a:r>
          </a:p>
          <a:p>
            <a:pPr marL="342900" indent="-342900">
              <a:buAutoNum type="arabicPeriod" startAt="7"/>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8"/>
            </a:pPr>
            <a:r>
              <a:rPr lang="en-US" sz="1300" b="1" dirty="0">
                <a:solidFill>
                  <a:srgbClr val="990033"/>
                </a:solidFill>
                <a:latin typeface="Verdana" pitchFamily="34" charset="0"/>
                <a:ea typeface="Verdana" pitchFamily="34" charset="0"/>
                <a:cs typeface="Verdana" pitchFamily="34" charset="0"/>
              </a:rPr>
              <a:t>String Addressing</a:t>
            </a:r>
          </a:p>
          <a:p>
            <a:pPr marL="342900" indent="-342900">
              <a:buAutoNum type="arabicPeriod" startAt="8"/>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9"/>
            </a:pPr>
            <a:r>
              <a:rPr lang="en-US" sz="1300" b="1" dirty="0">
                <a:solidFill>
                  <a:srgbClr val="FF0066"/>
                </a:solidFill>
                <a:latin typeface="Verdana" pitchFamily="34" charset="0"/>
                <a:ea typeface="Verdana" pitchFamily="34" charset="0"/>
                <a:cs typeface="Verdana" pitchFamily="34" charset="0"/>
              </a:rPr>
              <a:t>Direct I/O port Addressing</a:t>
            </a:r>
          </a:p>
          <a:p>
            <a:pPr marL="342900" indent="-342900">
              <a:buAutoNum type="arabicPeriod" startAt="9"/>
            </a:pPr>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10. Indirect I/O port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11. Relative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12. Implied Addressing</a:t>
            </a:r>
          </a:p>
        </p:txBody>
      </p:sp>
      <p:sp>
        <p:nvSpPr>
          <p:cNvPr id="13" name="Rectangle 12"/>
          <p:cNvSpPr/>
          <p:nvPr/>
        </p:nvSpPr>
        <p:spPr>
          <a:xfrm>
            <a:off x="3725840" y="783608"/>
            <a:ext cx="5257800" cy="5867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just"/>
            <a:r>
              <a:rPr lang="en-US" sz="1400" b="1" dirty="0">
                <a:solidFill>
                  <a:schemeClr val="tx1"/>
                </a:solidFill>
                <a:latin typeface="Verdana" pitchFamily="34" charset="0"/>
                <a:ea typeface="Verdana" pitchFamily="34" charset="0"/>
                <a:cs typeface="Verdana" pitchFamily="34" charset="0"/>
              </a:rPr>
              <a:t>In Register indirect addressing, name of the register which holds the effective address (EA) will be specified in the instruction. </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Registers used to hold EA are any of the following registers: </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BX, BP, DI and SI. </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Content of the DS register is used for base address calculation.</a:t>
            </a:r>
          </a:p>
          <a:p>
            <a:pPr algn="just"/>
            <a:r>
              <a:rPr lang="en-US" sz="1400" b="1" dirty="0">
                <a:solidFill>
                  <a:srgbClr val="FF0000"/>
                </a:solidFill>
                <a:latin typeface="Verdana" pitchFamily="34" charset="0"/>
                <a:ea typeface="Verdana" pitchFamily="34" charset="0"/>
                <a:cs typeface="Verdana" pitchFamily="34" charset="0"/>
              </a:rPr>
              <a:t> </a:t>
            </a:r>
          </a:p>
          <a:p>
            <a:pPr algn="just"/>
            <a:r>
              <a:rPr lang="en-US" sz="1400" b="1" dirty="0">
                <a:solidFill>
                  <a:srgbClr val="FF0000"/>
                </a:solidFill>
                <a:latin typeface="Verdana" pitchFamily="34" charset="0"/>
                <a:ea typeface="Verdana" pitchFamily="34" charset="0"/>
                <a:cs typeface="Verdana" pitchFamily="34" charset="0"/>
              </a:rPr>
              <a:t>Example:</a:t>
            </a:r>
          </a:p>
          <a:p>
            <a:pPr algn="just"/>
            <a:endParaRPr lang="en-US" sz="1400" b="1" dirty="0">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MOV CX, [BX]</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         </a:t>
            </a:r>
            <a:r>
              <a:rPr lang="en-US" sz="1400" b="1" dirty="0">
                <a:solidFill>
                  <a:srgbClr val="C00000"/>
                </a:solidFill>
                <a:latin typeface="Verdana" pitchFamily="34" charset="0"/>
                <a:ea typeface="Verdana" pitchFamily="34" charset="0"/>
                <a:cs typeface="Verdana" pitchFamily="34" charset="0"/>
              </a:rPr>
              <a:t>Operations:</a:t>
            </a:r>
          </a:p>
          <a:p>
            <a:pPr algn="just"/>
            <a:endParaRPr lang="en-US" sz="1400" b="1" dirty="0">
              <a:solidFill>
                <a:srgbClr val="C00000"/>
              </a:solidFill>
              <a:latin typeface="Verdana" pitchFamily="34" charset="0"/>
              <a:ea typeface="Verdana" pitchFamily="34" charset="0"/>
              <a:cs typeface="Verdana" pitchFamily="34" charset="0"/>
            </a:endParaRPr>
          </a:p>
          <a:p>
            <a:pPr lvl="2" algn="just"/>
            <a:r>
              <a:rPr lang="en-US" sz="1400" b="1" dirty="0">
                <a:solidFill>
                  <a:srgbClr val="C00000"/>
                </a:solidFill>
                <a:latin typeface="Verdana" pitchFamily="34" charset="0"/>
                <a:ea typeface="Verdana" pitchFamily="34" charset="0"/>
                <a:cs typeface="Verdana" pitchFamily="34" charset="0"/>
              </a:rPr>
              <a:t>EA = (BX)</a:t>
            </a:r>
          </a:p>
          <a:p>
            <a:pPr lvl="2" algn="just"/>
            <a:r>
              <a:rPr lang="en-US" sz="1400" b="1" dirty="0">
                <a:solidFill>
                  <a:srgbClr val="C00000"/>
                </a:solidFill>
                <a:latin typeface="Verdana" pitchFamily="34" charset="0"/>
                <a:ea typeface="Verdana" pitchFamily="34" charset="0"/>
                <a:cs typeface="Verdana" pitchFamily="34" charset="0"/>
              </a:rPr>
              <a:t>BA = (DS) x 16</a:t>
            </a:r>
            <a:r>
              <a:rPr lang="en-US" sz="1400" b="1" baseline="-25000" dirty="0">
                <a:solidFill>
                  <a:srgbClr val="C00000"/>
                </a:solidFill>
                <a:latin typeface="Verdana" pitchFamily="34" charset="0"/>
                <a:ea typeface="Verdana" pitchFamily="34" charset="0"/>
                <a:cs typeface="Verdana" pitchFamily="34" charset="0"/>
              </a:rPr>
              <a:t>10</a:t>
            </a:r>
            <a:endParaRPr lang="en-US" sz="1400" b="1" dirty="0">
              <a:solidFill>
                <a:srgbClr val="C00000"/>
              </a:solidFill>
              <a:latin typeface="Verdana" pitchFamily="34" charset="0"/>
              <a:ea typeface="Verdana" pitchFamily="34" charset="0"/>
              <a:cs typeface="Verdana" pitchFamily="34" charset="0"/>
            </a:endParaRPr>
          </a:p>
          <a:p>
            <a:pPr lvl="2" algn="just"/>
            <a:r>
              <a:rPr lang="en-US" sz="1400" b="1" dirty="0">
                <a:solidFill>
                  <a:srgbClr val="C00000"/>
                </a:solidFill>
                <a:latin typeface="Verdana" pitchFamily="34" charset="0"/>
                <a:ea typeface="Verdana" pitchFamily="34" charset="0"/>
                <a:cs typeface="Verdana" pitchFamily="34" charset="0"/>
              </a:rPr>
              <a:t>MA = BA + EA</a:t>
            </a:r>
          </a:p>
          <a:p>
            <a:pPr lvl="2" algn="just"/>
            <a:endParaRPr lang="en-US" sz="1400" b="1" dirty="0">
              <a:solidFill>
                <a:srgbClr val="C00000"/>
              </a:solidFill>
              <a:latin typeface="Verdana" pitchFamily="34" charset="0"/>
              <a:ea typeface="Verdana" pitchFamily="34" charset="0"/>
              <a:cs typeface="Verdana" pitchFamily="34" charset="0"/>
            </a:endParaRPr>
          </a:p>
          <a:p>
            <a:pPr lvl="2" algn="just"/>
            <a:r>
              <a:rPr lang="en-US" sz="1400" b="1" dirty="0">
                <a:solidFill>
                  <a:srgbClr val="C00000"/>
                </a:solidFill>
                <a:latin typeface="Verdana" pitchFamily="34" charset="0"/>
                <a:ea typeface="Verdana" pitchFamily="34" charset="0"/>
                <a:cs typeface="Verdana" pitchFamily="34" charset="0"/>
              </a:rPr>
              <a:t>(CX) </a:t>
            </a:r>
            <a:r>
              <a:rPr lang="en-US" sz="1400" b="1" dirty="0">
                <a:solidFill>
                  <a:srgbClr val="C00000"/>
                </a:solidFill>
                <a:latin typeface="Verdana" pitchFamily="34" charset="0"/>
                <a:ea typeface="Verdana" pitchFamily="34" charset="0"/>
                <a:cs typeface="Verdana" pitchFamily="34" charset="0"/>
                <a:sym typeface="Symbol"/>
              </a:rPr>
              <a:t> (MA)   or,</a:t>
            </a:r>
          </a:p>
          <a:p>
            <a:pPr lvl="2" algn="just"/>
            <a:endParaRPr lang="en-US" sz="1400" b="1" dirty="0">
              <a:solidFill>
                <a:srgbClr val="C00000"/>
              </a:solidFill>
              <a:latin typeface="Verdana" pitchFamily="34" charset="0"/>
              <a:ea typeface="Verdana" pitchFamily="34" charset="0"/>
              <a:cs typeface="Verdana" pitchFamily="34" charset="0"/>
              <a:sym typeface="Symbol"/>
            </a:endParaRPr>
          </a:p>
          <a:p>
            <a:pPr lvl="2" algn="just"/>
            <a:r>
              <a:rPr lang="en-US" sz="1400" b="1" dirty="0">
                <a:solidFill>
                  <a:srgbClr val="C00000"/>
                </a:solidFill>
                <a:latin typeface="Verdana" pitchFamily="34" charset="0"/>
                <a:ea typeface="Verdana" pitchFamily="34" charset="0"/>
                <a:cs typeface="Verdana" pitchFamily="34" charset="0"/>
                <a:sym typeface="Symbol"/>
              </a:rPr>
              <a:t>(CL)  (MA)</a:t>
            </a:r>
          </a:p>
          <a:p>
            <a:pPr lvl="2" algn="just"/>
            <a:r>
              <a:rPr lang="en-US" sz="1400" b="1" dirty="0">
                <a:solidFill>
                  <a:srgbClr val="C00000"/>
                </a:solidFill>
                <a:latin typeface="Verdana" pitchFamily="34" charset="0"/>
                <a:ea typeface="Verdana" pitchFamily="34" charset="0"/>
                <a:cs typeface="Verdana" pitchFamily="34" charset="0"/>
                <a:sym typeface="Symbol"/>
              </a:rPr>
              <a:t>(CH)   (MA +1)</a:t>
            </a:r>
          </a:p>
          <a:p>
            <a:pPr algn="just"/>
            <a:r>
              <a:rPr lang="en-US" sz="1400" b="1" dirty="0">
                <a:solidFill>
                  <a:schemeClr val="tx1"/>
                </a:solidFill>
                <a:latin typeface="Verdana" pitchFamily="34" charset="0"/>
                <a:ea typeface="Verdana" pitchFamily="34" charset="0"/>
                <a:cs typeface="Verdana" pitchFamily="34" charset="0"/>
              </a:rPr>
              <a:t> </a:t>
            </a:r>
          </a:p>
          <a:p>
            <a:pPr algn="just"/>
            <a:endParaRPr lang="en-US" sz="1400" b="1" dirty="0">
              <a:solidFill>
                <a:schemeClr val="tx1"/>
              </a:solidFill>
              <a:latin typeface="Verdana" pitchFamily="34" charset="0"/>
              <a:ea typeface="Verdana" pitchFamily="34" charset="0"/>
              <a:cs typeface="Verdana" pitchFamily="34" charset="0"/>
            </a:endParaRPr>
          </a:p>
        </p:txBody>
      </p:sp>
      <p:pic>
        <p:nvPicPr>
          <p:cNvPr id="26" name="Picture 2" descr="C:\Users\AMMU\Desktop\Microprocessor\Regist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485" y="5547752"/>
            <a:ext cx="1323129" cy="130099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6136368" y="127323"/>
            <a:ext cx="2768796" cy="461665"/>
          </a:xfrm>
          <a:prstGeom prst="rect">
            <a:avLst/>
          </a:prstGeom>
          <a:noFill/>
        </p:spPr>
        <p:txBody>
          <a:bodyPr wrap="square" rtlCol="0">
            <a:spAutoFit/>
          </a:bodyPr>
          <a:lstStyle/>
          <a:p>
            <a:pPr algn="r"/>
            <a:r>
              <a:rPr lang="en-US" sz="1200" b="1" dirty="0">
                <a:solidFill>
                  <a:srgbClr val="FF0000"/>
                </a:solidFill>
              </a:rPr>
              <a:t>Group II : Addressing modes for memory data</a:t>
            </a:r>
          </a:p>
        </p:txBody>
      </p:sp>
      <p:sp>
        <p:nvSpPr>
          <p:cNvPr id="6" name="Line Callout 1 5"/>
          <p:cNvSpPr/>
          <p:nvPr/>
        </p:nvSpPr>
        <p:spPr>
          <a:xfrm>
            <a:off x="6726073" y="3505200"/>
            <a:ext cx="2286000" cy="854692"/>
          </a:xfrm>
          <a:prstGeom prst="borderCallout1">
            <a:avLst>
              <a:gd name="adj1" fmla="val 49795"/>
              <a:gd name="adj2" fmla="val -725"/>
              <a:gd name="adj3" fmla="val 143659"/>
              <a:gd name="adj4" fmla="val -43720"/>
            </a:avLst>
          </a:prstGeom>
          <a:solidFill>
            <a:srgbClr val="FFFFCC"/>
          </a:solidFill>
          <a:ln w="6350">
            <a:solidFill>
              <a:srgbClr val="CC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200" dirty="0">
                <a:solidFill>
                  <a:schemeClr val="tx1"/>
                </a:solidFill>
              </a:rPr>
              <a:t>Note : Register/ memory enclosed in brackets refer to content of register/ memory</a:t>
            </a:r>
          </a:p>
        </p:txBody>
      </p:sp>
    </p:spTree>
    <p:extLst>
      <p:ext uri="{BB962C8B-B14F-4D97-AF65-F5344CB8AC3E}">
        <p14:creationId xmlns:p14="http://schemas.microsoft.com/office/powerpoint/2010/main" val="34093932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7606352" y="3124200"/>
            <a:ext cx="1066800" cy="25146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4365008" y="3137848"/>
            <a:ext cx="495299" cy="25146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383441" y="2734563"/>
            <a:ext cx="1066800" cy="25146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4419601" y="2496751"/>
            <a:ext cx="495299" cy="25146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4114800" y="1225457"/>
            <a:ext cx="1600200"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7450869" y="1868492"/>
            <a:ext cx="1437235" cy="25146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19999" y="1020171"/>
            <a:ext cx="1246495"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019800" y="791571"/>
            <a:ext cx="990600"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3802040" y="4142096"/>
            <a:ext cx="2217760" cy="32129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152400" y="2398266"/>
            <a:ext cx="3264190" cy="421134"/>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Addressing Modes</a:t>
            </a:r>
          </a:p>
        </p:txBody>
      </p:sp>
      <p:sp>
        <p:nvSpPr>
          <p:cNvPr id="3" name="Slide Number Placeholder 2"/>
          <p:cNvSpPr>
            <a:spLocks noGrp="1"/>
          </p:cNvSpPr>
          <p:nvPr>
            <p:ph type="sldNum" sz="quarter" idx="12"/>
          </p:nvPr>
        </p:nvSpPr>
        <p:spPr/>
        <p:txBody>
          <a:bodyPr/>
          <a:lstStyle/>
          <a:p>
            <a:fld id="{85E6815B-E59C-4D87-B1F6-ECBDD22AF1DC}" type="slidenum">
              <a:rPr lang="en-US" smtClean="0"/>
              <a:pPr/>
              <a:t>58</a:t>
            </a:fld>
            <a:endParaRPr lang="en-US" dirty="0"/>
          </a:p>
        </p:txBody>
      </p:sp>
      <p:sp>
        <p:nvSpPr>
          <p:cNvPr id="4" name="TextBox 3"/>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9" name="Rectangle 8"/>
          <p:cNvSpPr/>
          <p:nvPr/>
        </p:nvSpPr>
        <p:spPr>
          <a:xfrm>
            <a:off x="163776" y="838393"/>
            <a:ext cx="3252814" cy="4693593"/>
          </a:xfrm>
          <a:prstGeom prst="rect">
            <a:avLst/>
          </a:prstGeom>
        </p:spPr>
        <p:txBody>
          <a:bodyPr wrap="none">
            <a:spAutoFit/>
          </a:bodyPr>
          <a:lstStyle/>
          <a:p>
            <a:pPr marL="342900" indent="-342900">
              <a:buAutoNum type="arabicPeriod"/>
            </a:pPr>
            <a:r>
              <a:rPr lang="en-US" sz="1300" b="1" dirty="0">
                <a:solidFill>
                  <a:srgbClr val="FF0066"/>
                </a:solidFill>
                <a:latin typeface="Verdana" pitchFamily="34" charset="0"/>
                <a:ea typeface="Verdana" pitchFamily="34" charset="0"/>
                <a:cs typeface="Verdana" pitchFamily="34" charset="0"/>
              </a:rPr>
              <a:t>Register Addressing</a:t>
            </a:r>
          </a:p>
          <a:p>
            <a:pPr marL="342900" indent="-342900">
              <a:buAutoNum type="arabicPeriod"/>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2"/>
            </a:pPr>
            <a:r>
              <a:rPr lang="en-US" sz="1300" b="1" dirty="0">
                <a:solidFill>
                  <a:srgbClr val="FF0066"/>
                </a:solidFill>
                <a:latin typeface="Verdana" pitchFamily="34" charset="0"/>
                <a:ea typeface="Verdana" pitchFamily="34" charset="0"/>
                <a:cs typeface="Verdana" pitchFamily="34" charset="0"/>
              </a:rPr>
              <a:t>Immediate Addressing</a:t>
            </a:r>
          </a:p>
          <a:p>
            <a:pPr marL="342900" indent="-342900">
              <a:buAutoNum type="arabicPeriod" startAt="2"/>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3"/>
            </a:pPr>
            <a:r>
              <a:rPr lang="en-US" sz="1300" b="1" dirty="0">
                <a:solidFill>
                  <a:srgbClr val="990033"/>
                </a:solidFill>
                <a:latin typeface="Verdana" pitchFamily="34" charset="0"/>
                <a:ea typeface="Verdana" pitchFamily="34" charset="0"/>
                <a:cs typeface="Verdana" pitchFamily="34" charset="0"/>
              </a:rPr>
              <a:t>Direct Addressing</a:t>
            </a:r>
          </a:p>
          <a:p>
            <a:pPr marL="342900" indent="-342900">
              <a:buAutoNum type="arabicPeriod" startAt="3"/>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4"/>
            </a:pPr>
            <a:r>
              <a:rPr lang="en-US" sz="1300" b="1" dirty="0">
                <a:solidFill>
                  <a:srgbClr val="990033"/>
                </a:solidFill>
                <a:latin typeface="Verdana" pitchFamily="34" charset="0"/>
                <a:ea typeface="Verdana" pitchFamily="34" charset="0"/>
                <a:cs typeface="Verdana" pitchFamily="34" charset="0"/>
              </a:rPr>
              <a:t>Register Indirect Addressing</a:t>
            </a:r>
          </a:p>
          <a:p>
            <a:pPr marL="342900" indent="-342900">
              <a:buAutoNum type="arabicPeriod" startAt="4"/>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5"/>
            </a:pPr>
            <a:r>
              <a:rPr lang="en-US" sz="1300" b="1" dirty="0">
                <a:solidFill>
                  <a:srgbClr val="990033"/>
                </a:solidFill>
                <a:latin typeface="Verdana" pitchFamily="34" charset="0"/>
                <a:ea typeface="Verdana" pitchFamily="34" charset="0"/>
                <a:cs typeface="Verdana" pitchFamily="34" charset="0"/>
              </a:rPr>
              <a:t>Based Addressing</a:t>
            </a:r>
          </a:p>
          <a:p>
            <a:pPr marL="342900" indent="-342900">
              <a:buAutoNum type="arabicPeriod" startAt="5"/>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6"/>
            </a:pPr>
            <a:r>
              <a:rPr lang="en-US" sz="1300" b="1" dirty="0">
                <a:solidFill>
                  <a:srgbClr val="990033"/>
                </a:solidFill>
                <a:latin typeface="Verdana" pitchFamily="34" charset="0"/>
                <a:ea typeface="Verdana" pitchFamily="34" charset="0"/>
                <a:cs typeface="Verdana" pitchFamily="34" charset="0"/>
              </a:rPr>
              <a:t>Indexed Addressing</a:t>
            </a:r>
          </a:p>
          <a:p>
            <a:pPr marL="342900" indent="-342900">
              <a:buAutoNum type="arabicPeriod" startAt="6"/>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7"/>
            </a:pPr>
            <a:r>
              <a:rPr lang="en-US" sz="1300" b="1" dirty="0">
                <a:solidFill>
                  <a:srgbClr val="990033"/>
                </a:solidFill>
                <a:latin typeface="Verdana" pitchFamily="34" charset="0"/>
                <a:ea typeface="Verdana" pitchFamily="34" charset="0"/>
                <a:cs typeface="Verdana" pitchFamily="34" charset="0"/>
              </a:rPr>
              <a:t>Based Index Addressing</a:t>
            </a:r>
          </a:p>
          <a:p>
            <a:pPr marL="342900" indent="-342900">
              <a:buAutoNum type="arabicPeriod" startAt="7"/>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8"/>
            </a:pPr>
            <a:r>
              <a:rPr lang="en-US" sz="1300" b="1" dirty="0">
                <a:solidFill>
                  <a:srgbClr val="990033"/>
                </a:solidFill>
                <a:latin typeface="Verdana" pitchFamily="34" charset="0"/>
                <a:ea typeface="Verdana" pitchFamily="34" charset="0"/>
                <a:cs typeface="Verdana" pitchFamily="34" charset="0"/>
              </a:rPr>
              <a:t>String Addressing</a:t>
            </a:r>
          </a:p>
          <a:p>
            <a:pPr marL="342900" indent="-342900">
              <a:buAutoNum type="arabicPeriod" startAt="8"/>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9"/>
            </a:pPr>
            <a:r>
              <a:rPr lang="en-US" sz="1300" b="1" dirty="0">
                <a:solidFill>
                  <a:srgbClr val="FF0066"/>
                </a:solidFill>
                <a:latin typeface="Verdana" pitchFamily="34" charset="0"/>
                <a:ea typeface="Verdana" pitchFamily="34" charset="0"/>
                <a:cs typeface="Verdana" pitchFamily="34" charset="0"/>
              </a:rPr>
              <a:t>Direct I/O port Addressing</a:t>
            </a:r>
          </a:p>
          <a:p>
            <a:pPr marL="342900" indent="-342900">
              <a:buAutoNum type="arabicPeriod" startAt="9"/>
            </a:pPr>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10. Indirect I/O port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11. Relative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12. Implied Addressing</a:t>
            </a:r>
          </a:p>
        </p:txBody>
      </p:sp>
      <p:sp>
        <p:nvSpPr>
          <p:cNvPr id="14" name="Rectangle 13"/>
          <p:cNvSpPr/>
          <p:nvPr/>
        </p:nvSpPr>
        <p:spPr>
          <a:xfrm>
            <a:off x="3733800" y="762000"/>
            <a:ext cx="5257800" cy="594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just"/>
            <a:r>
              <a:rPr lang="en-US" sz="1400" b="1" dirty="0">
                <a:solidFill>
                  <a:schemeClr val="tx1"/>
                </a:solidFill>
                <a:latin typeface="Verdana" pitchFamily="34" charset="0"/>
                <a:ea typeface="Verdana" pitchFamily="34" charset="0"/>
                <a:cs typeface="Verdana" pitchFamily="34" charset="0"/>
              </a:rPr>
              <a:t>In Based Addressing, BX or BP is used to hold the base value for effective address and a signed 8-bit or unsigned 16-bit displacement will be specified in the instruction.</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In case of 8-bit displacement, it is sign extended to 16-bit before adding to the base value.</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When BX holds the base value of EA, 20-bit physical address is calculated from BX and DS.</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When BP holds the base value of EA, BP and SS is used.</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rgbClr val="FF0000"/>
                </a:solidFill>
                <a:latin typeface="Verdana" pitchFamily="34" charset="0"/>
                <a:ea typeface="Verdana" pitchFamily="34" charset="0"/>
                <a:cs typeface="Verdana" pitchFamily="34" charset="0"/>
              </a:rPr>
              <a:t>Example:</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MOV AX, [BX + 08H]</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          </a:t>
            </a:r>
            <a:r>
              <a:rPr lang="en-US" sz="1400" b="1" dirty="0">
                <a:solidFill>
                  <a:srgbClr val="C00000"/>
                </a:solidFill>
                <a:latin typeface="Verdana" pitchFamily="34" charset="0"/>
                <a:ea typeface="Verdana" pitchFamily="34" charset="0"/>
                <a:cs typeface="Verdana" pitchFamily="34" charset="0"/>
              </a:rPr>
              <a:t>Operations:</a:t>
            </a:r>
          </a:p>
          <a:p>
            <a:pPr algn="just"/>
            <a:endParaRPr lang="en-US" sz="1400" b="1" dirty="0">
              <a:solidFill>
                <a:schemeClr val="tx1"/>
              </a:solidFill>
              <a:latin typeface="Verdana" pitchFamily="34" charset="0"/>
              <a:ea typeface="Verdana" pitchFamily="34" charset="0"/>
              <a:cs typeface="Verdana" pitchFamily="34" charset="0"/>
            </a:endParaRPr>
          </a:p>
          <a:p>
            <a:pPr lvl="2" algn="just"/>
            <a:r>
              <a:rPr lang="en-US" sz="1200" b="1" dirty="0">
                <a:solidFill>
                  <a:srgbClr val="C00000"/>
                </a:solidFill>
                <a:latin typeface="Verdana" pitchFamily="34" charset="0"/>
                <a:ea typeface="Verdana" pitchFamily="34" charset="0"/>
                <a:cs typeface="Verdana" pitchFamily="34" charset="0"/>
              </a:rPr>
              <a:t>0008</a:t>
            </a:r>
            <a:r>
              <a:rPr lang="en-US" sz="1200" b="1" baseline="-25000" dirty="0">
                <a:solidFill>
                  <a:srgbClr val="C00000"/>
                </a:solidFill>
                <a:latin typeface="Verdana" pitchFamily="34" charset="0"/>
                <a:ea typeface="Verdana" pitchFamily="34" charset="0"/>
                <a:cs typeface="Verdana" pitchFamily="34" charset="0"/>
              </a:rPr>
              <a:t>H</a:t>
            </a:r>
            <a:r>
              <a:rPr lang="en-US" sz="1200" b="1" dirty="0">
                <a:solidFill>
                  <a:srgbClr val="C00000"/>
                </a:solidFill>
                <a:latin typeface="Verdana" pitchFamily="34" charset="0"/>
                <a:ea typeface="Verdana" pitchFamily="34" charset="0"/>
                <a:cs typeface="Verdana" pitchFamily="34" charset="0"/>
              </a:rPr>
              <a:t> </a:t>
            </a:r>
            <a:r>
              <a:rPr lang="en-US" sz="1200" b="1" dirty="0">
                <a:solidFill>
                  <a:srgbClr val="C00000"/>
                </a:solidFill>
                <a:latin typeface="Verdana" pitchFamily="34" charset="0"/>
                <a:ea typeface="Verdana" pitchFamily="34" charset="0"/>
                <a:cs typeface="Verdana" pitchFamily="34" charset="0"/>
                <a:sym typeface="Symbol"/>
              </a:rPr>
              <a:t>  08</a:t>
            </a:r>
            <a:r>
              <a:rPr lang="en-US" sz="1200" b="1" baseline="-25000" dirty="0">
                <a:solidFill>
                  <a:srgbClr val="C00000"/>
                </a:solidFill>
                <a:latin typeface="Verdana" pitchFamily="34" charset="0"/>
                <a:ea typeface="Verdana" pitchFamily="34" charset="0"/>
                <a:cs typeface="Verdana" pitchFamily="34" charset="0"/>
                <a:sym typeface="Symbol"/>
              </a:rPr>
              <a:t>H</a:t>
            </a:r>
            <a:r>
              <a:rPr lang="en-US" sz="1200" b="1" dirty="0">
                <a:solidFill>
                  <a:srgbClr val="C00000"/>
                </a:solidFill>
                <a:latin typeface="Verdana" pitchFamily="34" charset="0"/>
                <a:ea typeface="Verdana" pitchFamily="34" charset="0"/>
                <a:cs typeface="Verdana" pitchFamily="34" charset="0"/>
                <a:sym typeface="Symbol"/>
              </a:rPr>
              <a:t>  (Sign extended)</a:t>
            </a:r>
          </a:p>
          <a:p>
            <a:pPr lvl="2" algn="just"/>
            <a:r>
              <a:rPr lang="en-US" sz="1200" b="1" dirty="0">
                <a:solidFill>
                  <a:srgbClr val="C00000"/>
                </a:solidFill>
                <a:latin typeface="Verdana" pitchFamily="34" charset="0"/>
                <a:ea typeface="Verdana" pitchFamily="34" charset="0"/>
                <a:cs typeface="Verdana" pitchFamily="34" charset="0"/>
                <a:sym typeface="Symbol"/>
              </a:rPr>
              <a:t>EA = (BX) + 0008</a:t>
            </a:r>
            <a:r>
              <a:rPr lang="en-US" sz="1200" b="1" baseline="-25000" dirty="0">
                <a:solidFill>
                  <a:srgbClr val="C00000"/>
                </a:solidFill>
                <a:latin typeface="Verdana" pitchFamily="34" charset="0"/>
                <a:ea typeface="Verdana" pitchFamily="34" charset="0"/>
                <a:cs typeface="Verdana" pitchFamily="34" charset="0"/>
                <a:sym typeface="Symbol"/>
              </a:rPr>
              <a:t>H</a:t>
            </a:r>
            <a:endParaRPr lang="en-US" sz="1200" b="1" dirty="0">
              <a:solidFill>
                <a:srgbClr val="C00000"/>
              </a:solidFill>
              <a:latin typeface="Verdana" pitchFamily="34" charset="0"/>
              <a:ea typeface="Verdana" pitchFamily="34" charset="0"/>
              <a:cs typeface="Verdana" pitchFamily="34" charset="0"/>
              <a:sym typeface="Symbol"/>
            </a:endParaRPr>
          </a:p>
          <a:p>
            <a:pPr lvl="2" algn="just"/>
            <a:r>
              <a:rPr lang="en-US" sz="1200" b="1" dirty="0">
                <a:solidFill>
                  <a:srgbClr val="C00000"/>
                </a:solidFill>
                <a:latin typeface="Verdana" pitchFamily="34" charset="0"/>
                <a:ea typeface="Verdana" pitchFamily="34" charset="0"/>
                <a:cs typeface="Verdana" pitchFamily="34" charset="0"/>
                <a:sym typeface="Symbol"/>
              </a:rPr>
              <a:t>BA = (DS) x 16</a:t>
            </a:r>
            <a:r>
              <a:rPr lang="en-US" sz="1200" b="1" baseline="-25000" dirty="0">
                <a:solidFill>
                  <a:srgbClr val="C00000"/>
                </a:solidFill>
                <a:latin typeface="Verdana" pitchFamily="34" charset="0"/>
                <a:ea typeface="Verdana" pitchFamily="34" charset="0"/>
                <a:cs typeface="Verdana" pitchFamily="34" charset="0"/>
                <a:sym typeface="Symbol"/>
              </a:rPr>
              <a:t>10</a:t>
            </a:r>
            <a:endParaRPr lang="en-US" sz="1200" b="1" dirty="0">
              <a:solidFill>
                <a:srgbClr val="C00000"/>
              </a:solidFill>
              <a:latin typeface="Verdana" pitchFamily="34" charset="0"/>
              <a:ea typeface="Verdana" pitchFamily="34" charset="0"/>
              <a:cs typeface="Verdana" pitchFamily="34" charset="0"/>
              <a:sym typeface="Symbol"/>
            </a:endParaRPr>
          </a:p>
          <a:p>
            <a:pPr lvl="2" algn="just"/>
            <a:r>
              <a:rPr lang="en-US" sz="1200" b="1" dirty="0">
                <a:solidFill>
                  <a:srgbClr val="C00000"/>
                </a:solidFill>
                <a:latin typeface="Verdana" pitchFamily="34" charset="0"/>
                <a:ea typeface="Verdana" pitchFamily="34" charset="0"/>
                <a:cs typeface="Verdana" pitchFamily="34" charset="0"/>
                <a:sym typeface="Symbol"/>
              </a:rPr>
              <a:t>MA = BA + EA</a:t>
            </a:r>
          </a:p>
          <a:p>
            <a:pPr lvl="2" algn="just"/>
            <a:endParaRPr lang="en-US" sz="1200" b="1" dirty="0">
              <a:solidFill>
                <a:srgbClr val="C00000"/>
              </a:solidFill>
              <a:latin typeface="Verdana" pitchFamily="34" charset="0"/>
              <a:ea typeface="Verdana" pitchFamily="34" charset="0"/>
              <a:cs typeface="Verdana" pitchFamily="34" charset="0"/>
              <a:sym typeface="Symbol"/>
            </a:endParaRPr>
          </a:p>
          <a:p>
            <a:pPr lvl="2" algn="just"/>
            <a:r>
              <a:rPr lang="en-US" sz="1200" b="1" dirty="0">
                <a:solidFill>
                  <a:srgbClr val="C00000"/>
                </a:solidFill>
                <a:latin typeface="Verdana" pitchFamily="34" charset="0"/>
                <a:ea typeface="Verdana" pitchFamily="34" charset="0"/>
                <a:cs typeface="Verdana" pitchFamily="34" charset="0"/>
                <a:sym typeface="Symbol"/>
              </a:rPr>
              <a:t>(AX)  (MA)     or,</a:t>
            </a:r>
          </a:p>
          <a:p>
            <a:pPr lvl="2" algn="just"/>
            <a:endParaRPr lang="en-US" sz="1200" b="1" dirty="0">
              <a:solidFill>
                <a:srgbClr val="C00000"/>
              </a:solidFill>
              <a:latin typeface="Verdana" pitchFamily="34" charset="0"/>
              <a:ea typeface="Verdana" pitchFamily="34" charset="0"/>
              <a:cs typeface="Verdana" pitchFamily="34" charset="0"/>
              <a:sym typeface="Symbol"/>
            </a:endParaRPr>
          </a:p>
          <a:p>
            <a:pPr lvl="2" algn="just"/>
            <a:r>
              <a:rPr lang="en-US" sz="1200" b="1" dirty="0">
                <a:solidFill>
                  <a:srgbClr val="C00000"/>
                </a:solidFill>
                <a:latin typeface="Verdana" pitchFamily="34" charset="0"/>
                <a:ea typeface="Verdana" pitchFamily="34" charset="0"/>
                <a:cs typeface="Verdana" pitchFamily="34" charset="0"/>
                <a:sym typeface="Symbol"/>
              </a:rPr>
              <a:t>(AL)  (MA)</a:t>
            </a:r>
          </a:p>
          <a:p>
            <a:pPr lvl="2" algn="just"/>
            <a:r>
              <a:rPr lang="en-US" sz="1200" b="1" dirty="0">
                <a:solidFill>
                  <a:srgbClr val="C00000"/>
                </a:solidFill>
                <a:latin typeface="Verdana" pitchFamily="34" charset="0"/>
                <a:ea typeface="Verdana" pitchFamily="34" charset="0"/>
                <a:cs typeface="Verdana" pitchFamily="34" charset="0"/>
                <a:sym typeface="Symbol"/>
              </a:rPr>
              <a:t>(AH)  (MA + 1)</a:t>
            </a:r>
            <a:endParaRPr lang="en-US" sz="1200" b="1" dirty="0">
              <a:solidFill>
                <a:srgbClr val="C00000"/>
              </a:solidFill>
              <a:latin typeface="Verdana" pitchFamily="34" charset="0"/>
              <a:ea typeface="Verdana" pitchFamily="34" charset="0"/>
              <a:cs typeface="Verdana" pitchFamily="34" charset="0"/>
            </a:endParaRPr>
          </a:p>
          <a:p>
            <a:pPr algn="just"/>
            <a:endParaRPr lang="en-US" sz="1200" b="1" dirty="0">
              <a:solidFill>
                <a:srgbClr val="C00000"/>
              </a:solidFill>
              <a:latin typeface="Verdana" pitchFamily="34" charset="0"/>
              <a:ea typeface="Verdana" pitchFamily="34" charset="0"/>
              <a:cs typeface="Verdana" pitchFamily="34" charset="0"/>
            </a:endParaRPr>
          </a:p>
          <a:p>
            <a:pPr algn="just"/>
            <a:endParaRPr lang="en-US" sz="1200" b="1" dirty="0">
              <a:solidFill>
                <a:srgbClr val="C00000"/>
              </a:solidFill>
              <a:latin typeface="Verdana" pitchFamily="34" charset="0"/>
              <a:ea typeface="Verdana" pitchFamily="34" charset="0"/>
              <a:cs typeface="Verdana" pitchFamily="34" charset="0"/>
            </a:endParaRPr>
          </a:p>
          <a:p>
            <a:pPr algn="just"/>
            <a:endParaRPr lang="en-US" sz="1200" b="1" dirty="0">
              <a:solidFill>
                <a:srgbClr val="C00000"/>
              </a:solidFill>
              <a:latin typeface="Verdana" pitchFamily="34" charset="0"/>
              <a:ea typeface="Verdana" pitchFamily="34" charset="0"/>
              <a:cs typeface="Verdana" pitchFamily="34" charset="0"/>
            </a:endParaRPr>
          </a:p>
          <a:p>
            <a:pPr algn="just"/>
            <a:endParaRPr lang="en-US" sz="1400" b="1" dirty="0">
              <a:solidFill>
                <a:schemeClr val="tx1"/>
              </a:solidFill>
              <a:latin typeface="Verdana" pitchFamily="34" charset="0"/>
              <a:ea typeface="Verdana" pitchFamily="34" charset="0"/>
              <a:cs typeface="Verdana" pitchFamily="34" charset="0"/>
            </a:endParaRPr>
          </a:p>
        </p:txBody>
      </p:sp>
      <p:pic>
        <p:nvPicPr>
          <p:cNvPr id="26" name="Picture 2" descr="C:\Users\AMMU\Desktop\Microprocessor\Regist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485" y="5547752"/>
            <a:ext cx="1323129" cy="130099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6136368" y="127323"/>
            <a:ext cx="2768796" cy="461665"/>
          </a:xfrm>
          <a:prstGeom prst="rect">
            <a:avLst/>
          </a:prstGeom>
          <a:noFill/>
        </p:spPr>
        <p:txBody>
          <a:bodyPr wrap="square" rtlCol="0">
            <a:spAutoFit/>
          </a:bodyPr>
          <a:lstStyle/>
          <a:p>
            <a:pPr algn="r"/>
            <a:r>
              <a:rPr lang="en-US" sz="1200" b="1" dirty="0">
                <a:solidFill>
                  <a:srgbClr val="FF0000"/>
                </a:solidFill>
              </a:rPr>
              <a:t>Group II : Addressing modes for memory data</a:t>
            </a:r>
          </a:p>
        </p:txBody>
      </p:sp>
    </p:spTree>
    <p:extLst>
      <p:ext uri="{BB962C8B-B14F-4D97-AF65-F5344CB8AC3E}">
        <p14:creationId xmlns:p14="http://schemas.microsoft.com/office/powerpoint/2010/main" val="12443601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3733800" y="791571"/>
            <a:ext cx="818677"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3733800" y="3733800"/>
            <a:ext cx="2217760" cy="32129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152400" y="2743200"/>
            <a:ext cx="3264190" cy="421134"/>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Addressing Modes</a:t>
            </a:r>
          </a:p>
        </p:txBody>
      </p:sp>
      <p:sp>
        <p:nvSpPr>
          <p:cNvPr id="3" name="Slide Number Placeholder 2"/>
          <p:cNvSpPr>
            <a:spLocks noGrp="1"/>
          </p:cNvSpPr>
          <p:nvPr>
            <p:ph type="sldNum" sz="quarter" idx="12"/>
          </p:nvPr>
        </p:nvSpPr>
        <p:spPr/>
        <p:txBody>
          <a:bodyPr/>
          <a:lstStyle/>
          <a:p>
            <a:fld id="{85E6815B-E59C-4D87-B1F6-ECBDD22AF1DC}" type="slidenum">
              <a:rPr lang="en-US" smtClean="0"/>
              <a:pPr/>
              <a:t>59</a:t>
            </a:fld>
            <a:endParaRPr lang="en-US" dirty="0"/>
          </a:p>
        </p:txBody>
      </p:sp>
      <p:sp>
        <p:nvSpPr>
          <p:cNvPr id="4" name="TextBox 3"/>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9" name="Rectangle 8"/>
          <p:cNvSpPr/>
          <p:nvPr/>
        </p:nvSpPr>
        <p:spPr>
          <a:xfrm>
            <a:off x="163776" y="838393"/>
            <a:ext cx="3252814" cy="4693593"/>
          </a:xfrm>
          <a:prstGeom prst="rect">
            <a:avLst/>
          </a:prstGeom>
        </p:spPr>
        <p:txBody>
          <a:bodyPr wrap="none">
            <a:spAutoFit/>
          </a:bodyPr>
          <a:lstStyle/>
          <a:p>
            <a:pPr marL="342900" indent="-342900">
              <a:buAutoNum type="arabicPeriod"/>
            </a:pPr>
            <a:r>
              <a:rPr lang="en-US" sz="1300" b="1" dirty="0">
                <a:solidFill>
                  <a:srgbClr val="FF0066"/>
                </a:solidFill>
                <a:latin typeface="Verdana" pitchFamily="34" charset="0"/>
                <a:ea typeface="Verdana" pitchFamily="34" charset="0"/>
                <a:cs typeface="Verdana" pitchFamily="34" charset="0"/>
              </a:rPr>
              <a:t>Register Addressing</a:t>
            </a:r>
          </a:p>
          <a:p>
            <a:pPr marL="342900" indent="-342900">
              <a:buAutoNum type="arabicPeriod"/>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2"/>
            </a:pPr>
            <a:r>
              <a:rPr lang="en-US" sz="1300" b="1" dirty="0">
                <a:solidFill>
                  <a:srgbClr val="FF0066"/>
                </a:solidFill>
                <a:latin typeface="Verdana" pitchFamily="34" charset="0"/>
                <a:ea typeface="Verdana" pitchFamily="34" charset="0"/>
                <a:cs typeface="Verdana" pitchFamily="34" charset="0"/>
              </a:rPr>
              <a:t>Immediate Addressing</a:t>
            </a:r>
          </a:p>
          <a:p>
            <a:pPr marL="342900" indent="-342900">
              <a:buAutoNum type="arabicPeriod" startAt="2"/>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3"/>
            </a:pPr>
            <a:r>
              <a:rPr lang="en-US" sz="1300" b="1" dirty="0">
                <a:solidFill>
                  <a:srgbClr val="990033"/>
                </a:solidFill>
                <a:latin typeface="Verdana" pitchFamily="34" charset="0"/>
                <a:ea typeface="Verdana" pitchFamily="34" charset="0"/>
                <a:cs typeface="Verdana" pitchFamily="34" charset="0"/>
              </a:rPr>
              <a:t>Direct Addressing</a:t>
            </a:r>
          </a:p>
          <a:p>
            <a:pPr marL="342900" indent="-342900">
              <a:buAutoNum type="arabicPeriod" startAt="3"/>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4"/>
            </a:pPr>
            <a:r>
              <a:rPr lang="en-US" sz="1300" b="1" dirty="0">
                <a:solidFill>
                  <a:srgbClr val="990033"/>
                </a:solidFill>
                <a:latin typeface="Verdana" pitchFamily="34" charset="0"/>
                <a:ea typeface="Verdana" pitchFamily="34" charset="0"/>
                <a:cs typeface="Verdana" pitchFamily="34" charset="0"/>
              </a:rPr>
              <a:t>Register Indirect Addressing</a:t>
            </a:r>
          </a:p>
          <a:p>
            <a:pPr marL="342900" indent="-342900">
              <a:buAutoNum type="arabicPeriod" startAt="4"/>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5"/>
            </a:pPr>
            <a:r>
              <a:rPr lang="en-US" sz="1300" b="1" dirty="0">
                <a:solidFill>
                  <a:srgbClr val="990033"/>
                </a:solidFill>
                <a:latin typeface="Verdana" pitchFamily="34" charset="0"/>
                <a:ea typeface="Verdana" pitchFamily="34" charset="0"/>
                <a:cs typeface="Verdana" pitchFamily="34" charset="0"/>
              </a:rPr>
              <a:t>Based Addressing</a:t>
            </a:r>
          </a:p>
          <a:p>
            <a:pPr marL="342900" indent="-342900">
              <a:buAutoNum type="arabicPeriod" startAt="5"/>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6"/>
            </a:pPr>
            <a:r>
              <a:rPr lang="en-US" sz="1300" b="1" dirty="0">
                <a:solidFill>
                  <a:srgbClr val="990033"/>
                </a:solidFill>
                <a:latin typeface="Verdana" pitchFamily="34" charset="0"/>
                <a:ea typeface="Verdana" pitchFamily="34" charset="0"/>
                <a:cs typeface="Verdana" pitchFamily="34" charset="0"/>
              </a:rPr>
              <a:t>Indexed Addressing</a:t>
            </a:r>
          </a:p>
          <a:p>
            <a:pPr marL="342900" indent="-342900">
              <a:buAutoNum type="arabicPeriod" startAt="6"/>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7"/>
            </a:pPr>
            <a:r>
              <a:rPr lang="en-US" sz="1300" b="1" dirty="0">
                <a:solidFill>
                  <a:srgbClr val="990033"/>
                </a:solidFill>
                <a:latin typeface="Verdana" pitchFamily="34" charset="0"/>
                <a:ea typeface="Verdana" pitchFamily="34" charset="0"/>
                <a:cs typeface="Verdana" pitchFamily="34" charset="0"/>
              </a:rPr>
              <a:t>Based Index Addressing</a:t>
            </a:r>
          </a:p>
          <a:p>
            <a:pPr marL="342900" indent="-342900">
              <a:buAutoNum type="arabicPeriod" startAt="7"/>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8"/>
            </a:pPr>
            <a:r>
              <a:rPr lang="en-US" sz="1300" b="1" dirty="0">
                <a:solidFill>
                  <a:srgbClr val="990033"/>
                </a:solidFill>
                <a:latin typeface="Verdana" pitchFamily="34" charset="0"/>
                <a:ea typeface="Verdana" pitchFamily="34" charset="0"/>
                <a:cs typeface="Verdana" pitchFamily="34" charset="0"/>
              </a:rPr>
              <a:t>String Addressing</a:t>
            </a:r>
          </a:p>
          <a:p>
            <a:pPr marL="342900" indent="-342900">
              <a:buAutoNum type="arabicPeriod" startAt="8"/>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9"/>
            </a:pPr>
            <a:r>
              <a:rPr lang="en-US" sz="1300" b="1" dirty="0">
                <a:solidFill>
                  <a:srgbClr val="FF0066"/>
                </a:solidFill>
                <a:latin typeface="Verdana" pitchFamily="34" charset="0"/>
                <a:ea typeface="Verdana" pitchFamily="34" charset="0"/>
                <a:cs typeface="Verdana" pitchFamily="34" charset="0"/>
              </a:rPr>
              <a:t>Direct I/O port Addressing</a:t>
            </a:r>
          </a:p>
          <a:p>
            <a:pPr marL="342900" indent="-342900">
              <a:buAutoNum type="arabicPeriod" startAt="9"/>
            </a:pPr>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10. Indirect I/O port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11. Relative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12. Implied Addressing</a:t>
            </a:r>
          </a:p>
        </p:txBody>
      </p:sp>
      <p:sp>
        <p:nvSpPr>
          <p:cNvPr id="15" name="Rectangle 14"/>
          <p:cNvSpPr/>
          <p:nvPr/>
        </p:nvSpPr>
        <p:spPr>
          <a:xfrm>
            <a:off x="3657600" y="762000"/>
            <a:ext cx="5257800" cy="5715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just"/>
            <a:r>
              <a:rPr lang="en-US" sz="1400" b="1" dirty="0">
                <a:solidFill>
                  <a:schemeClr val="tx1"/>
                </a:solidFill>
                <a:latin typeface="Verdana" pitchFamily="34" charset="0"/>
                <a:ea typeface="Verdana" pitchFamily="34" charset="0"/>
                <a:cs typeface="Verdana" pitchFamily="34" charset="0"/>
              </a:rPr>
              <a:t>SI or DI register is used to hold an index value for memory data and a signed 8-bit or unsigned 16-bit displacement will be specified in the instruction.</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Displacement is added to the index value in SI or DI register to obtain the EA. </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In case of 8-bit displacement, it is sign extended to 16-bit before adding to the base value.</a:t>
            </a:r>
          </a:p>
          <a:p>
            <a:pPr algn="just"/>
            <a:endParaRPr lang="en-US" sz="1400" b="1" dirty="0">
              <a:solidFill>
                <a:schemeClr val="tx1"/>
              </a:solidFill>
              <a:latin typeface="Verdana" pitchFamily="34" charset="0"/>
              <a:ea typeface="Verdana" pitchFamily="34" charset="0"/>
              <a:cs typeface="Verdana" pitchFamily="34" charset="0"/>
            </a:endParaRP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rgbClr val="FF0000"/>
                </a:solidFill>
                <a:latin typeface="Verdana" pitchFamily="34" charset="0"/>
                <a:ea typeface="Verdana" pitchFamily="34" charset="0"/>
                <a:cs typeface="Verdana" pitchFamily="34" charset="0"/>
              </a:rPr>
              <a:t>Example:</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MOV CX, [SI + 0A2H]</a:t>
            </a:r>
          </a:p>
          <a:p>
            <a:pPr algn="just"/>
            <a:endParaRPr lang="en-US" sz="1400" b="1" dirty="0">
              <a:solidFill>
                <a:schemeClr val="tx1"/>
              </a:solidFill>
              <a:latin typeface="Verdana" pitchFamily="34" charset="0"/>
              <a:ea typeface="Verdana" pitchFamily="34" charset="0"/>
              <a:cs typeface="Verdana" pitchFamily="34" charset="0"/>
            </a:endParaRPr>
          </a:p>
          <a:p>
            <a:pPr lvl="2" algn="just"/>
            <a:r>
              <a:rPr lang="en-US" sz="1400" b="1" dirty="0">
                <a:solidFill>
                  <a:srgbClr val="C00000"/>
                </a:solidFill>
                <a:latin typeface="Verdana" pitchFamily="34" charset="0"/>
                <a:ea typeface="Verdana" pitchFamily="34" charset="0"/>
                <a:cs typeface="Verdana" pitchFamily="34" charset="0"/>
              </a:rPr>
              <a:t>Operations: </a:t>
            </a:r>
          </a:p>
          <a:p>
            <a:pPr lvl="2" algn="just"/>
            <a:endParaRPr lang="en-US" sz="1400" b="1" dirty="0">
              <a:solidFill>
                <a:srgbClr val="C00000"/>
              </a:solidFill>
              <a:latin typeface="Verdana" pitchFamily="34" charset="0"/>
              <a:ea typeface="Verdana" pitchFamily="34" charset="0"/>
              <a:cs typeface="Verdana" pitchFamily="34" charset="0"/>
            </a:endParaRPr>
          </a:p>
          <a:p>
            <a:pPr lvl="3" algn="just"/>
            <a:r>
              <a:rPr lang="en-US" sz="1200" b="1" dirty="0">
                <a:solidFill>
                  <a:srgbClr val="C00000"/>
                </a:solidFill>
                <a:latin typeface="Verdana" pitchFamily="34" charset="0"/>
                <a:ea typeface="Verdana" pitchFamily="34" charset="0"/>
                <a:cs typeface="Verdana" pitchFamily="34" charset="0"/>
              </a:rPr>
              <a:t>FFA2</a:t>
            </a:r>
            <a:r>
              <a:rPr lang="en-US" sz="1200" b="1" baseline="-25000" dirty="0">
                <a:solidFill>
                  <a:srgbClr val="C00000"/>
                </a:solidFill>
                <a:latin typeface="Verdana" pitchFamily="34" charset="0"/>
                <a:ea typeface="Verdana" pitchFamily="34" charset="0"/>
                <a:cs typeface="Verdana" pitchFamily="34" charset="0"/>
              </a:rPr>
              <a:t>H</a:t>
            </a:r>
            <a:r>
              <a:rPr lang="en-US" sz="1200" b="1" dirty="0">
                <a:solidFill>
                  <a:srgbClr val="C00000"/>
                </a:solidFill>
                <a:latin typeface="Verdana" pitchFamily="34" charset="0"/>
                <a:ea typeface="Verdana" pitchFamily="34" charset="0"/>
                <a:cs typeface="Verdana" pitchFamily="34" charset="0"/>
              </a:rPr>
              <a:t> </a:t>
            </a:r>
            <a:r>
              <a:rPr lang="en-US" sz="1200" b="1" dirty="0">
                <a:solidFill>
                  <a:srgbClr val="C00000"/>
                </a:solidFill>
                <a:latin typeface="Verdana" pitchFamily="34" charset="0"/>
                <a:ea typeface="Verdana" pitchFamily="34" charset="0"/>
                <a:cs typeface="Verdana" pitchFamily="34" charset="0"/>
                <a:sym typeface="Symbol"/>
              </a:rPr>
              <a:t> A2</a:t>
            </a:r>
            <a:r>
              <a:rPr lang="en-US" sz="1200" b="1" baseline="-25000" dirty="0">
                <a:solidFill>
                  <a:srgbClr val="C00000"/>
                </a:solidFill>
                <a:latin typeface="Verdana" pitchFamily="34" charset="0"/>
                <a:ea typeface="Verdana" pitchFamily="34" charset="0"/>
                <a:cs typeface="Verdana" pitchFamily="34" charset="0"/>
                <a:sym typeface="Symbol"/>
              </a:rPr>
              <a:t>H</a:t>
            </a:r>
            <a:r>
              <a:rPr lang="en-US" sz="1200" b="1" dirty="0">
                <a:solidFill>
                  <a:srgbClr val="C00000"/>
                </a:solidFill>
                <a:latin typeface="Verdana" pitchFamily="34" charset="0"/>
                <a:ea typeface="Verdana" pitchFamily="34" charset="0"/>
                <a:cs typeface="Verdana" pitchFamily="34" charset="0"/>
                <a:sym typeface="Symbol"/>
              </a:rPr>
              <a:t>  (Sign extended)</a:t>
            </a:r>
          </a:p>
          <a:p>
            <a:pPr lvl="3" algn="just"/>
            <a:endParaRPr lang="en-US" sz="1200" b="1" dirty="0">
              <a:solidFill>
                <a:srgbClr val="C00000"/>
              </a:solidFill>
              <a:latin typeface="Verdana" pitchFamily="34" charset="0"/>
              <a:ea typeface="Verdana" pitchFamily="34" charset="0"/>
              <a:cs typeface="Verdana" pitchFamily="34" charset="0"/>
              <a:sym typeface="Symbol"/>
            </a:endParaRPr>
          </a:p>
          <a:p>
            <a:pPr lvl="3" algn="just"/>
            <a:r>
              <a:rPr lang="en-US" sz="1200" b="1" dirty="0">
                <a:solidFill>
                  <a:srgbClr val="C00000"/>
                </a:solidFill>
                <a:latin typeface="Verdana" pitchFamily="34" charset="0"/>
                <a:ea typeface="Verdana" pitchFamily="34" charset="0"/>
                <a:cs typeface="Verdana" pitchFamily="34" charset="0"/>
                <a:sym typeface="Symbol"/>
              </a:rPr>
              <a:t>EA = (SI) + FFA2</a:t>
            </a:r>
            <a:r>
              <a:rPr lang="en-US" sz="1200" b="1" baseline="-25000" dirty="0">
                <a:solidFill>
                  <a:srgbClr val="C00000"/>
                </a:solidFill>
                <a:latin typeface="Verdana" pitchFamily="34" charset="0"/>
                <a:ea typeface="Verdana" pitchFamily="34" charset="0"/>
                <a:cs typeface="Verdana" pitchFamily="34" charset="0"/>
                <a:sym typeface="Symbol"/>
              </a:rPr>
              <a:t>H</a:t>
            </a:r>
            <a:endParaRPr lang="en-US" sz="1200" b="1" dirty="0">
              <a:solidFill>
                <a:srgbClr val="C00000"/>
              </a:solidFill>
              <a:latin typeface="Verdana" pitchFamily="34" charset="0"/>
              <a:ea typeface="Verdana" pitchFamily="34" charset="0"/>
              <a:cs typeface="Verdana" pitchFamily="34" charset="0"/>
              <a:sym typeface="Symbol"/>
            </a:endParaRPr>
          </a:p>
          <a:p>
            <a:pPr lvl="3" algn="just"/>
            <a:r>
              <a:rPr lang="en-US" sz="1200" b="1" dirty="0">
                <a:solidFill>
                  <a:srgbClr val="C00000"/>
                </a:solidFill>
                <a:latin typeface="Verdana" pitchFamily="34" charset="0"/>
                <a:ea typeface="Verdana" pitchFamily="34" charset="0"/>
                <a:cs typeface="Verdana" pitchFamily="34" charset="0"/>
                <a:sym typeface="Symbol"/>
              </a:rPr>
              <a:t>BA = (DS) x 16</a:t>
            </a:r>
            <a:r>
              <a:rPr lang="en-US" sz="1200" b="1" baseline="-25000" dirty="0">
                <a:solidFill>
                  <a:srgbClr val="C00000"/>
                </a:solidFill>
                <a:latin typeface="Verdana" pitchFamily="34" charset="0"/>
                <a:ea typeface="Verdana" pitchFamily="34" charset="0"/>
                <a:cs typeface="Verdana" pitchFamily="34" charset="0"/>
                <a:sym typeface="Symbol"/>
              </a:rPr>
              <a:t>10</a:t>
            </a:r>
            <a:endParaRPr lang="en-US" sz="1200" b="1" dirty="0">
              <a:solidFill>
                <a:srgbClr val="C00000"/>
              </a:solidFill>
              <a:latin typeface="Verdana" pitchFamily="34" charset="0"/>
              <a:ea typeface="Verdana" pitchFamily="34" charset="0"/>
              <a:cs typeface="Verdana" pitchFamily="34" charset="0"/>
              <a:sym typeface="Symbol"/>
            </a:endParaRPr>
          </a:p>
          <a:p>
            <a:pPr lvl="3" algn="just"/>
            <a:r>
              <a:rPr lang="en-US" sz="1200" b="1" dirty="0">
                <a:solidFill>
                  <a:srgbClr val="C00000"/>
                </a:solidFill>
                <a:latin typeface="Verdana" pitchFamily="34" charset="0"/>
                <a:ea typeface="Verdana" pitchFamily="34" charset="0"/>
                <a:cs typeface="Verdana" pitchFamily="34" charset="0"/>
                <a:sym typeface="Symbol"/>
              </a:rPr>
              <a:t>MA = BA + EA</a:t>
            </a:r>
          </a:p>
          <a:p>
            <a:pPr lvl="3" algn="just"/>
            <a:endParaRPr lang="en-US" sz="1200" b="1" dirty="0">
              <a:solidFill>
                <a:srgbClr val="C00000"/>
              </a:solidFill>
              <a:latin typeface="Verdana" pitchFamily="34" charset="0"/>
              <a:ea typeface="Verdana" pitchFamily="34" charset="0"/>
              <a:cs typeface="Verdana" pitchFamily="34" charset="0"/>
              <a:sym typeface="Symbol"/>
            </a:endParaRPr>
          </a:p>
          <a:p>
            <a:pPr lvl="3" algn="just"/>
            <a:r>
              <a:rPr lang="en-US" sz="1200" b="1" dirty="0">
                <a:solidFill>
                  <a:srgbClr val="C00000"/>
                </a:solidFill>
                <a:latin typeface="Verdana" pitchFamily="34" charset="0"/>
                <a:ea typeface="Verdana" pitchFamily="34" charset="0"/>
                <a:cs typeface="Verdana" pitchFamily="34" charset="0"/>
                <a:sym typeface="Symbol"/>
              </a:rPr>
              <a:t>(CX)  (MA)   or,</a:t>
            </a:r>
          </a:p>
          <a:p>
            <a:pPr lvl="3" algn="just"/>
            <a:endParaRPr lang="en-US" sz="1200" b="1" dirty="0">
              <a:solidFill>
                <a:srgbClr val="C00000"/>
              </a:solidFill>
              <a:latin typeface="Verdana" pitchFamily="34" charset="0"/>
              <a:ea typeface="Verdana" pitchFamily="34" charset="0"/>
              <a:cs typeface="Verdana" pitchFamily="34" charset="0"/>
              <a:sym typeface="Symbol"/>
            </a:endParaRPr>
          </a:p>
          <a:p>
            <a:pPr lvl="3" algn="just"/>
            <a:r>
              <a:rPr lang="en-US" sz="1200" b="1" dirty="0">
                <a:solidFill>
                  <a:srgbClr val="C00000"/>
                </a:solidFill>
                <a:latin typeface="Verdana" pitchFamily="34" charset="0"/>
                <a:ea typeface="Verdana" pitchFamily="34" charset="0"/>
                <a:cs typeface="Verdana" pitchFamily="34" charset="0"/>
                <a:sym typeface="Symbol"/>
              </a:rPr>
              <a:t>(CL)  (MA)</a:t>
            </a:r>
          </a:p>
          <a:p>
            <a:pPr lvl="3" algn="just"/>
            <a:r>
              <a:rPr lang="en-US" sz="1200" b="1" dirty="0">
                <a:solidFill>
                  <a:srgbClr val="C00000"/>
                </a:solidFill>
                <a:latin typeface="Verdana" pitchFamily="34" charset="0"/>
                <a:ea typeface="Verdana" pitchFamily="34" charset="0"/>
                <a:cs typeface="Verdana" pitchFamily="34" charset="0"/>
                <a:sym typeface="Symbol"/>
              </a:rPr>
              <a:t>(CH)  (MA + 1)</a:t>
            </a:r>
            <a:endParaRPr lang="en-US" sz="1200" b="1" dirty="0">
              <a:solidFill>
                <a:srgbClr val="C00000"/>
              </a:solidFill>
              <a:latin typeface="Verdana" pitchFamily="34" charset="0"/>
              <a:ea typeface="Verdana" pitchFamily="34" charset="0"/>
              <a:cs typeface="Verdana" pitchFamily="34" charset="0"/>
            </a:endParaRPr>
          </a:p>
        </p:txBody>
      </p:sp>
      <p:pic>
        <p:nvPicPr>
          <p:cNvPr id="26" name="Picture 2" descr="C:\Users\AMMU\Desktop\Microprocessor\Regist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485" y="5547752"/>
            <a:ext cx="1323129" cy="130099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6136368" y="127323"/>
            <a:ext cx="2768796" cy="461665"/>
          </a:xfrm>
          <a:prstGeom prst="rect">
            <a:avLst/>
          </a:prstGeom>
          <a:noFill/>
        </p:spPr>
        <p:txBody>
          <a:bodyPr wrap="square" rtlCol="0">
            <a:spAutoFit/>
          </a:bodyPr>
          <a:lstStyle/>
          <a:p>
            <a:pPr algn="r"/>
            <a:r>
              <a:rPr lang="en-US" sz="1200" b="1" dirty="0">
                <a:solidFill>
                  <a:srgbClr val="FF0000"/>
                </a:solidFill>
              </a:rPr>
              <a:t>Group II : Addressing modes for memory data</a:t>
            </a:r>
          </a:p>
        </p:txBody>
      </p:sp>
    </p:spTree>
    <p:extLst>
      <p:ext uri="{BB962C8B-B14F-4D97-AF65-F5344CB8AC3E}">
        <p14:creationId xmlns:p14="http://schemas.microsoft.com/office/powerpoint/2010/main" val="34588768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3784599" y="1447800"/>
            <a:ext cx="1930400"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784599" y="1219200"/>
            <a:ext cx="5155993"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010193" y="1025290"/>
            <a:ext cx="1930400"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3802040" y="2209800"/>
            <a:ext cx="2674960" cy="32129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152400" y="3160266"/>
            <a:ext cx="3264190" cy="421134"/>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Addressing Modes</a:t>
            </a:r>
          </a:p>
        </p:txBody>
      </p:sp>
      <p:sp>
        <p:nvSpPr>
          <p:cNvPr id="3" name="Slide Number Placeholder 2"/>
          <p:cNvSpPr>
            <a:spLocks noGrp="1"/>
          </p:cNvSpPr>
          <p:nvPr>
            <p:ph type="sldNum" sz="quarter" idx="12"/>
          </p:nvPr>
        </p:nvSpPr>
        <p:spPr/>
        <p:txBody>
          <a:bodyPr/>
          <a:lstStyle/>
          <a:p>
            <a:fld id="{85E6815B-E59C-4D87-B1F6-ECBDD22AF1DC}" type="slidenum">
              <a:rPr lang="en-US" smtClean="0"/>
              <a:pPr/>
              <a:t>60</a:t>
            </a:fld>
            <a:endParaRPr lang="en-US" dirty="0"/>
          </a:p>
        </p:txBody>
      </p:sp>
      <p:sp>
        <p:nvSpPr>
          <p:cNvPr id="4" name="TextBox 3"/>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9" name="Rectangle 8"/>
          <p:cNvSpPr/>
          <p:nvPr/>
        </p:nvSpPr>
        <p:spPr>
          <a:xfrm>
            <a:off x="163776" y="838393"/>
            <a:ext cx="3252814" cy="4693593"/>
          </a:xfrm>
          <a:prstGeom prst="rect">
            <a:avLst/>
          </a:prstGeom>
        </p:spPr>
        <p:txBody>
          <a:bodyPr wrap="none">
            <a:spAutoFit/>
          </a:bodyPr>
          <a:lstStyle/>
          <a:p>
            <a:pPr marL="342900" indent="-342900">
              <a:buAutoNum type="arabicPeriod"/>
            </a:pPr>
            <a:r>
              <a:rPr lang="en-US" sz="1300" b="1" dirty="0">
                <a:solidFill>
                  <a:srgbClr val="FF0066"/>
                </a:solidFill>
                <a:latin typeface="Verdana" pitchFamily="34" charset="0"/>
                <a:ea typeface="Verdana" pitchFamily="34" charset="0"/>
                <a:cs typeface="Verdana" pitchFamily="34" charset="0"/>
              </a:rPr>
              <a:t>Register Addressing</a:t>
            </a:r>
          </a:p>
          <a:p>
            <a:pPr marL="342900" indent="-342900">
              <a:buAutoNum type="arabicPeriod"/>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2"/>
            </a:pPr>
            <a:r>
              <a:rPr lang="en-US" sz="1300" b="1" dirty="0">
                <a:solidFill>
                  <a:srgbClr val="FF0066"/>
                </a:solidFill>
                <a:latin typeface="Verdana" pitchFamily="34" charset="0"/>
                <a:ea typeface="Verdana" pitchFamily="34" charset="0"/>
                <a:cs typeface="Verdana" pitchFamily="34" charset="0"/>
              </a:rPr>
              <a:t>Immediate Addressing</a:t>
            </a:r>
          </a:p>
          <a:p>
            <a:pPr marL="342900" indent="-342900">
              <a:buAutoNum type="arabicPeriod" startAt="2"/>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3"/>
            </a:pPr>
            <a:r>
              <a:rPr lang="en-US" sz="1300" b="1" dirty="0">
                <a:solidFill>
                  <a:srgbClr val="990033"/>
                </a:solidFill>
                <a:latin typeface="Verdana" pitchFamily="34" charset="0"/>
                <a:ea typeface="Verdana" pitchFamily="34" charset="0"/>
                <a:cs typeface="Verdana" pitchFamily="34" charset="0"/>
              </a:rPr>
              <a:t>Direct Addressing</a:t>
            </a:r>
          </a:p>
          <a:p>
            <a:pPr marL="342900" indent="-342900">
              <a:buAutoNum type="arabicPeriod" startAt="3"/>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4"/>
            </a:pPr>
            <a:r>
              <a:rPr lang="en-US" sz="1300" b="1" dirty="0">
                <a:solidFill>
                  <a:srgbClr val="990033"/>
                </a:solidFill>
                <a:latin typeface="Verdana" pitchFamily="34" charset="0"/>
                <a:ea typeface="Verdana" pitchFamily="34" charset="0"/>
                <a:cs typeface="Verdana" pitchFamily="34" charset="0"/>
              </a:rPr>
              <a:t>Register Indirect Addressing</a:t>
            </a:r>
          </a:p>
          <a:p>
            <a:pPr marL="342900" indent="-342900">
              <a:buAutoNum type="arabicPeriod" startAt="4"/>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5"/>
            </a:pPr>
            <a:r>
              <a:rPr lang="en-US" sz="1300" b="1" dirty="0">
                <a:solidFill>
                  <a:srgbClr val="990033"/>
                </a:solidFill>
                <a:latin typeface="Verdana" pitchFamily="34" charset="0"/>
                <a:ea typeface="Verdana" pitchFamily="34" charset="0"/>
                <a:cs typeface="Verdana" pitchFamily="34" charset="0"/>
              </a:rPr>
              <a:t>Based Addressing</a:t>
            </a:r>
          </a:p>
          <a:p>
            <a:pPr marL="342900" indent="-342900">
              <a:buAutoNum type="arabicPeriod" startAt="5"/>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6"/>
            </a:pPr>
            <a:r>
              <a:rPr lang="en-US" sz="1300" b="1" dirty="0">
                <a:solidFill>
                  <a:srgbClr val="990033"/>
                </a:solidFill>
                <a:latin typeface="Verdana" pitchFamily="34" charset="0"/>
                <a:ea typeface="Verdana" pitchFamily="34" charset="0"/>
                <a:cs typeface="Verdana" pitchFamily="34" charset="0"/>
              </a:rPr>
              <a:t>Indexed Addressing</a:t>
            </a:r>
          </a:p>
          <a:p>
            <a:pPr marL="342900" indent="-342900">
              <a:buAutoNum type="arabicPeriod" startAt="6"/>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7"/>
            </a:pPr>
            <a:r>
              <a:rPr lang="en-US" sz="1300" b="1" dirty="0">
                <a:solidFill>
                  <a:srgbClr val="990033"/>
                </a:solidFill>
                <a:latin typeface="Verdana" pitchFamily="34" charset="0"/>
                <a:ea typeface="Verdana" pitchFamily="34" charset="0"/>
                <a:cs typeface="Verdana" pitchFamily="34" charset="0"/>
              </a:rPr>
              <a:t>Based Index Addressing</a:t>
            </a:r>
          </a:p>
          <a:p>
            <a:pPr marL="342900" indent="-342900">
              <a:buAutoNum type="arabicPeriod" startAt="7"/>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8"/>
            </a:pPr>
            <a:r>
              <a:rPr lang="en-US" sz="1300" b="1" dirty="0">
                <a:solidFill>
                  <a:srgbClr val="990033"/>
                </a:solidFill>
                <a:latin typeface="Verdana" pitchFamily="34" charset="0"/>
                <a:ea typeface="Verdana" pitchFamily="34" charset="0"/>
                <a:cs typeface="Verdana" pitchFamily="34" charset="0"/>
              </a:rPr>
              <a:t>String Addressing</a:t>
            </a:r>
          </a:p>
          <a:p>
            <a:pPr marL="342900" indent="-342900">
              <a:buAutoNum type="arabicPeriod" startAt="8"/>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9"/>
            </a:pPr>
            <a:r>
              <a:rPr lang="en-US" sz="1300" b="1" dirty="0">
                <a:solidFill>
                  <a:srgbClr val="FF0066"/>
                </a:solidFill>
                <a:latin typeface="Verdana" pitchFamily="34" charset="0"/>
                <a:ea typeface="Verdana" pitchFamily="34" charset="0"/>
                <a:cs typeface="Verdana" pitchFamily="34" charset="0"/>
              </a:rPr>
              <a:t>Direct I/O port Addressing</a:t>
            </a:r>
          </a:p>
          <a:p>
            <a:pPr marL="342900" indent="-342900">
              <a:buAutoNum type="arabicPeriod" startAt="9"/>
            </a:pPr>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10. Indirect I/O port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11. Relative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12. Implied Addressing</a:t>
            </a:r>
          </a:p>
        </p:txBody>
      </p:sp>
      <p:sp>
        <p:nvSpPr>
          <p:cNvPr id="16" name="Rectangle 15"/>
          <p:cNvSpPr/>
          <p:nvPr/>
        </p:nvSpPr>
        <p:spPr>
          <a:xfrm>
            <a:off x="3733800" y="762000"/>
            <a:ext cx="5257800" cy="5562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just"/>
            <a:r>
              <a:rPr lang="en-US" sz="1400" b="1" dirty="0">
                <a:solidFill>
                  <a:schemeClr val="tx1"/>
                </a:solidFill>
                <a:latin typeface="Verdana" pitchFamily="34" charset="0"/>
                <a:ea typeface="Verdana" pitchFamily="34" charset="0"/>
                <a:cs typeface="Verdana" pitchFamily="34" charset="0"/>
              </a:rPr>
              <a:t>In Based Index Addressing, the effective address is computed from the sum of a base register (BX or BP), an index register (SI or DI) and a displacement.  </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rgbClr val="FF0000"/>
                </a:solidFill>
                <a:latin typeface="Verdana" pitchFamily="34" charset="0"/>
                <a:ea typeface="Verdana" pitchFamily="34" charset="0"/>
                <a:cs typeface="Verdana" pitchFamily="34" charset="0"/>
              </a:rPr>
              <a:t>Example:</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MOV DX, [BX + SI + 0AH]</a:t>
            </a:r>
          </a:p>
          <a:p>
            <a:pPr algn="just"/>
            <a:endParaRPr lang="en-US" sz="1400" b="1" dirty="0">
              <a:solidFill>
                <a:schemeClr val="tx1"/>
              </a:solidFill>
              <a:latin typeface="Verdana" pitchFamily="34" charset="0"/>
              <a:ea typeface="Verdana" pitchFamily="34" charset="0"/>
              <a:cs typeface="Verdana" pitchFamily="34" charset="0"/>
            </a:endParaRPr>
          </a:p>
          <a:p>
            <a:pPr lvl="2" algn="just"/>
            <a:r>
              <a:rPr lang="en-US" sz="1400" b="1" dirty="0">
                <a:solidFill>
                  <a:srgbClr val="C00000"/>
                </a:solidFill>
                <a:latin typeface="Verdana" pitchFamily="34" charset="0"/>
                <a:ea typeface="Verdana" pitchFamily="34" charset="0"/>
                <a:cs typeface="Verdana" pitchFamily="34" charset="0"/>
              </a:rPr>
              <a:t>Operations:</a:t>
            </a:r>
          </a:p>
          <a:p>
            <a:pPr lvl="2" algn="just"/>
            <a:endParaRPr lang="en-US" sz="1400" b="1" dirty="0">
              <a:solidFill>
                <a:srgbClr val="C00000"/>
              </a:solidFill>
              <a:latin typeface="Verdana" pitchFamily="34" charset="0"/>
              <a:ea typeface="Verdana" pitchFamily="34" charset="0"/>
              <a:cs typeface="Verdana" pitchFamily="34" charset="0"/>
            </a:endParaRPr>
          </a:p>
          <a:p>
            <a:pPr lvl="3" algn="just"/>
            <a:r>
              <a:rPr lang="en-US" sz="1400" b="1" dirty="0">
                <a:solidFill>
                  <a:srgbClr val="C00000"/>
                </a:solidFill>
                <a:latin typeface="Verdana" pitchFamily="34" charset="0"/>
                <a:ea typeface="Verdana" pitchFamily="34" charset="0"/>
                <a:cs typeface="Verdana" pitchFamily="34" charset="0"/>
              </a:rPr>
              <a:t>000A</a:t>
            </a:r>
            <a:r>
              <a:rPr lang="en-US" sz="1400" b="1" baseline="-25000" dirty="0">
                <a:solidFill>
                  <a:srgbClr val="C00000"/>
                </a:solidFill>
                <a:latin typeface="Verdana" pitchFamily="34" charset="0"/>
                <a:ea typeface="Verdana" pitchFamily="34" charset="0"/>
                <a:cs typeface="Verdana" pitchFamily="34" charset="0"/>
              </a:rPr>
              <a:t>H</a:t>
            </a:r>
            <a:r>
              <a:rPr lang="en-US" sz="1400" b="1" dirty="0">
                <a:solidFill>
                  <a:srgbClr val="C00000"/>
                </a:solidFill>
                <a:latin typeface="Verdana" pitchFamily="34" charset="0"/>
                <a:ea typeface="Verdana" pitchFamily="34" charset="0"/>
                <a:cs typeface="Verdana" pitchFamily="34" charset="0"/>
              </a:rPr>
              <a:t> </a:t>
            </a:r>
            <a:r>
              <a:rPr lang="en-US" sz="1400" b="1" dirty="0">
                <a:solidFill>
                  <a:srgbClr val="C00000"/>
                </a:solidFill>
                <a:latin typeface="Verdana" pitchFamily="34" charset="0"/>
                <a:ea typeface="Verdana" pitchFamily="34" charset="0"/>
                <a:cs typeface="Verdana" pitchFamily="34" charset="0"/>
                <a:sym typeface="Symbol"/>
              </a:rPr>
              <a:t> 0A</a:t>
            </a:r>
            <a:r>
              <a:rPr lang="en-US" sz="1400" b="1" baseline="-25000" dirty="0">
                <a:solidFill>
                  <a:srgbClr val="C00000"/>
                </a:solidFill>
                <a:latin typeface="Verdana" pitchFamily="34" charset="0"/>
                <a:ea typeface="Verdana" pitchFamily="34" charset="0"/>
                <a:cs typeface="Verdana" pitchFamily="34" charset="0"/>
                <a:sym typeface="Symbol"/>
              </a:rPr>
              <a:t>H</a:t>
            </a:r>
            <a:r>
              <a:rPr lang="en-US" sz="1400" b="1" dirty="0">
                <a:solidFill>
                  <a:srgbClr val="C00000"/>
                </a:solidFill>
                <a:latin typeface="Verdana" pitchFamily="34" charset="0"/>
                <a:ea typeface="Verdana" pitchFamily="34" charset="0"/>
                <a:cs typeface="Verdana" pitchFamily="34" charset="0"/>
                <a:sym typeface="Symbol"/>
              </a:rPr>
              <a:t>  (Sign extended)</a:t>
            </a:r>
          </a:p>
          <a:p>
            <a:pPr lvl="3" algn="just"/>
            <a:endParaRPr lang="en-US" sz="1400" b="1" dirty="0">
              <a:solidFill>
                <a:srgbClr val="C00000"/>
              </a:solidFill>
              <a:latin typeface="Verdana" pitchFamily="34" charset="0"/>
              <a:ea typeface="Verdana" pitchFamily="34" charset="0"/>
              <a:cs typeface="Verdana" pitchFamily="34" charset="0"/>
              <a:sym typeface="Symbol"/>
            </a:endParaRPr>
          </a:p>
          <a:p>
            <a:pPr lvl="3" algn="just"/>
            <a:r>
              <a:rPr lang="en-US" sz="1400" b="1" dirty="0">
                <a:solidFill>
                  <a:srgbClr val="C00000"/>
                </a:solidFill>
                <a:latin typeface="Verdana" pitchFamily="34" charset="0"/>
                <a:ea typeface="Verdana" pitchFamily="34" charset="0"/>
                <a:cs typeface="Verdana" pitchFamily="34" charset="0"/>
                <a:sym typeface="Symbol"/>
              </a:rPr>
              <a:t>EA = (BX) + (SI) + 000A</a:t>
            </a:r>
            <a:r>
              <a:rPr lang="en-US" sz="1400" b="1" baseline="-25000" dirty="0">
                <a:solidFill>
                  <a:srgbClr val="C00000"/>
                </a:solidFill>
                <a:latin typeface="Verdana" pitchFamily="34" charset="0"/>
                <a:ea typeface="Verdana" pitchFamily="34" charset="0"/>
                <a:cs typeface="Verdana" pitchFamily="34" charset="0"/>
                <a:sym typeface="Symbol"/>
              </a:rPr>
              <a:t>H</a:t>
            </a:r>
          </a:p>
          <a:p>
            <a:pPr lvl="3" algn="just"/>
            <a:r>
              <a:rPr lang="en-US" sz="1400" b="1" dirty="0">
                <a:solidFill>
                  <a:srgbClr val="C00000"/>
                </a:solidFill>
                <a:latin typeface="Verdana" pitchFamily="34" charset="0"/>
                <a:ea typeface="Verdana" pitchFamily="34" charset="0"/>
                <a:cs typeface="Verdana" pitchFamily="34" charset="0"/>
                <a:sym typeface="Symbol"/>
              </a:rPr>
              <a:t>BA = (DS) x 16</a:t>
            </a:r>
            <a:r>
              <a:rPr lang="en-US" sz="1400" b="1" baseline="-25000" dirty="0">
                <a:solidFill>
                  <a:srgbClr val="C00000"/>
                </a:solidFill>
                <a:latin typeface="Verdana" pitchFamily="34" charset="0"/>
                <a:ea typeface="Verdana" pitchFamily="34" charset="0"/>
                <a:cs typeface="Verdana" pitchFamily="34" charset="0"/>
                <a:sym typeface="Symbol"/>
              </a:rPr>
              <a:t>10</a:t>
            </a:r>
            <a:endParaRPr lang="en-US" sz="1400" b="1" dirty="0">
              <a:solidFill>
                <a:srgbClr val="C00000"/>
              </a:solidFill>
              <a:latin typeface="Verdana" pitchFamily="34" charset="0"/>
              <a:ea typeface="Verdana" pitchFamily="34" charset="0"/>
              <a:cs typeface="Verdana" pitchFamily="34" charset="0"/>
              <a:sym typeface="Symbol"/>
            </a:endParaRPr>
          </a:p>
          <a:p>
            <a:pPr lvl="3" algn="just"/>
            <a:r>
              <a:rPr lang="en-US" sz="1400" b="1" dirty="0">
                <a:solidFill>
                  <a:srgbClr val="C00000"/>
                </a:solidFill>
                <a:latin typeface="Verdana" pitchFamily="34" charset="0"/>
                <a:ea typeface="Verdana" pitchFamily="34" charset="0"/>
                <a:cs typeface="Verdana" pitchFamily="34" charset="0"/>
                <a:sym typeface="Symbol"/>
              </a:rPr>
              <a:t>MA = BA + EA</a:t>
            </a:r>
          </a:p>
          <a:p>
            <a:pPr lvl="3" algn="just"/>
            <a:endParaRPr lang="en-US" sz="1400" b="1" dirty="0">
              <a:solidFill>
                <a:srgbClr val="C00000"/>
              </a:solidFill>
              <a:latin typeface="Verdana" pitchFamily="34" charset="0"/>
              <a:ea typeface="Verdana" pitchFamily="34" charset="0"/>
              <a:cs typeface="Verdana" pitchFamily="34" charset="0"/>
              <a:sym typeface="Symbol"/>
            </a:endParaRPr>
          </a:p>
          <a:p>
            <a:pPr lvl="3" algn="just"/>
            <a:r>
              <a:rPr lang="en-US" sz="1400" b="1" dirty="0">
                <a:solidFill>
                  <a:srgbClr val="C00000"/>
                </a:solidFill>
                <a:latin typeface="Verdana" pitchFamily="34" charset="0"/>
                <a:ea typeface="Verdana" pitchFamily="34" charset="0"/>
                <a:cs typeface="Verdana" pitchFamily="34" charset="0"/>
                <a:sym typeface="Symbol"/>
              </a:rPr>
              <a:t>(DX)  (MA)  or,</a:t>
            </a:r>
          </a:p>
          <a:p>
            <a:pPr lvl="3" algn="just"/>
            <a:endParaRPr lang="en-US" sz="1400" b="1" dirty="0">
              <a:solidFill>
                <a:srgbClr val="C00000"/>
              </a:solidFill>
              <a:latin typeface="Verdana" pitchFamily="34" charset="0"/>
              <a:ea typeface="Verdana" pitchFamily="34" charset="0"/>
              <a:cs typeface="Verdana" pitchFamily="34" charset="0"/>
              <a:sym typeface="Symbol"/>
            </a:endParaRPr>
          </a:p>
          <a:p>
            <a:pPr lvl="3" algn="just"/>
            <a:r>
              <a:rPr lang="en-US" sz="1400" b="1" dirty="0">
                <a:solidFill>
                  <a:srgbClr val="C00000"/>
                </a:solidFill>
                <a:latin typeface="Verdana" pitchFamily="34" charset="0"/>
                <a:ea typeface="Verdana" pitchFamily="34" charset="0"/>
                <a:cs typeface="Verdana" pitchFamily="34" charset="0"/>
                <a:sym typeface="Symbol"/>
              </a:rPr>
              <a:t>(DL)  (MA)</a:t>
            </a:r>
          </a:p>
          <a:p>
            <a:pPr lvl="3" algn="just"/>
            <a:r>
              <a:rPr lang="en-US" sz="1400" b="1" dirty="0">
                <a:solidFill>
                  <a:srgbClr val="C00000"/>
                </a:solidFill>
                <a:latin typeface="Verdana" pitchFamily="34" charset="0"/>
                <a:ea typeface="Verdana" pitchFamily="34" charset="0"/>
                <a:cs typeface="Verdana" pitchFamily="34" charset="0"/>
                <a:sym typeface="Symbol"/>
              </a:rPr>
              <a:t>(DH)  (MA + 1)</a:t>
            </a:r>
            <a:endParaRPr lang="en-US" sz="1400" b="1" dirty="0">
              <a:solidFill>
                <a:srgbClr val="C00000"/>
              </a:solidFill>
              <a:latin typeface="Verdana" pitchFamily="34" charset="0"/>
              <a:ea typeface="Verdana" pitchFamily="34" charset="0"/>
              <a:cs typeface="Verdana" pitchFamily="34" charset="0"/>
            </a:endParaRPr>
          </a:p>
        </p:txBody>
      </p:sp>
      <p:pic>
        <p:nvPicPr>
          <p:cNvPr id="26" name="Picture 2" descr="C:\Users\AMMU\Desktop\Microprocessor\Regist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485" y="5547752"/>
            <a:ext cx="1323129" cy="130099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6136368" y="127323"/>
            <a:ext cx="2768796" cy="461665"/>
          </a:xfrm>
          <a:prstGeom prst="rect">
            <a:avLst/>
          </a:prstGeom>
          <a:noFill/>
        </p:spPr>
        <p:txBody>
          <a:bodyPr wrap="square" rtlCol="0">
            <a:spAutoFit/>
          </a:bodyPr>
          <a:lstStyle/>
          <a:p>
            <a:pPr algn="r"/>
            <a:r>
              <a:rPr lang="en-US" sz="1200" b="1" dirty="0">
                <a:solidFill>
                  <a:srgbClr val="FF0000"/>
                </a:solidFill>
              </a:rPr>
              <a:t>Group II : Addressing modes for memory data</a:t>
            </a:r>
          </a:p>
        </p:txBody>
      </p:sp>
    </p:spTree>
    <p:extLst>
      <p:ext uri="{BB962C8B-B14F-4D97-AF65-F5344CB8AC3E}">
        <p14:creationId xmlns:p14="http://schemas.microsoft.com/office/powerpoint/2010/main" val="19818337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3810000" y="2272352"/>
            <a:ext cx="1760846"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000500" y="2729552"/>
            <a:ext cx="419100"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257800" y="2499246"/>
            <a:ext cx="419100"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810000" y="1891352"/>
            <a:ext cx="1143000"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024952" y="1662752"/>
            <a:ext cx="1143000"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4778992" y="3336308"/>
            <a:ext cx="1357376" cy="32129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152400" y="3581400"/>
            <a:ext cx="3264190" cy="421134"/>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Addressing Modes</a:t>
            </a:r>
          </a:p>
        </p:txBody>
      </p:sp>
      <p:sp>
        <p:nvSpPr>
          <p:cNvPr id="3" name="Slide Number Placeholder 2"/>
          <p:cNvSpPr>
            <a:spLocks noGrp="1"/>
          </p:cNvSpPr>
          <p:nvPr>
            <p:ph type="sldNum" sz="quarter" idx="12"/>
          </p:nvPr>
        </p:nvSpPr>
        <p:spPr/>
        <p:txBody>
          <a:bodyPr/>
          <a:lstStyle/>
          <a:p>
            <a:fld id="{85E6815B-E59C-4D87-B1F6-ECBDD22AF1DC}" type="slidenum">
              <a:rPr lang="en-US" smtClean="0"/>
              <a:pPr/>
              <a:t>61</a:t>
            </a:fld>
            <a:endParaRPr lang="en-US" dirty="0"/>
          </a:p>
        </p:txBody>
      </p:sp>
      <p:sp>
        <p:nvSpPr>
          <p:cNvPr id="4" name="TextBox 3"/>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9" name="Rectangle 8"/>
          <p:cNvSpPr/>
          <p:nvPr/>
        </p:nvSpPr>
        <p:spPr>
          <a:xfrm>
            <a:off x="163776" y="838393"/>
            <a:ext cx="3252814" cy="4693593"/>
          </a:xfrm>
          <a:prstGeom prst="rect">
            <a:avLst/>
          </a:prstGeom>
        </p:spPr>
        <p:txBody>
          <a:bodyPr wrap="none">
            <a:spAutoFit/>
          </a:bodyPr>
          <a:lstStyle/>
          <a:p>
            <a:pPr marL="342900" indent="-342900">
              <a:buAutoNum type="arabicPeriod"/>
            </a:pPr>
            <a:r>
              <a:rPr lang="en-US" sz="1300" b="1" dirty="0">
                <a:solidFill>
                  <a:srgbClr val="FF0066"/>
                </a:solidFill>
                <a:latin typeface="Verdana" pitchFamily="34" charset="0"/>
                <a:ea typeface="Verdana" pitchFamily="34" charset="0"/>
                <a:cs typeface="Verdana" pitchFamily="34" charset="0"/>
              </a:rPr>
              <a:t>Register Addressing</a:t>
            </a:r>
          </a:p>
          <a:p>
            <a:pPr marL="342900" indent="-342900">
              <a:buAutoNum type="arabicPeriod"/>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2"/>
            </a:pPr>
            <a:r>
              <a:rPr lang="en-US" sz="1300" b="1" dirty="0">
                <a:solidFill>
                  <a:srgbClr val="FF0066"/>
                </a:solidFill>
                <a:latin typeface="Verdana" pitchFamily="34" charset="0"/>
                <a:ea typeface="Verdana" pitchFamily="34" charset="0"/>
                <a:cs typeface="Verdana" pitchFamily="34" charset="0"/>
              </a:rPr>
              <a:t>Immediate Addressing</a:t>
            </a:r>
          </a:p>
          <a:p>
            <a:pPr marL="342900" indent="-342900">
              <a:buAutoNum type="arabicPeriod" startAt="2"/>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3"/>
            </a:pPr>
            <a:r>
              <a:rPr lang="en-US" sz="1300" b="1" dirty="0">
                <a:solidFill>
                  <a:srgbClr val="990033"/>
                </a:solidFill>
                <a:latin typeface="Verdana" pitchFamily="34" charset="0"/>
                <a:ea typeface="Verdana" pitchFamily="34" charset="0"/>
                <a:cs typeface="Verdana" pitchFamily="34" charset="0"/>
              </a:rPr>
              <a:t>Direct Addressing</a:t>
            </a:r>
          </a:p>
          <a:p>
            <a:pPr marL="342900" indent="-342900">
              <a:buAutoNum type="arabicPeriod" startAt="3"/>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4"/>
            </a:pPr>
            <a:r>
              <a:rPr lang="en-US" sz="1300" b="1" dirty="0">
                <a:solidFill>
                  <a:srgbClr val="990033"/>
                </a:solidFill>
                <a:latin typeface="Verdana" pitchFamily="34" charset="0"/>
                <a:ea typeface="Verdana" pitchFamily="34" charset="0"/>
                <a:cs typeface="Verdana" pitchFamily="34" charset="0"/>
              </a:rPr>
              <a:t>Register Indirect Addressing</a:t>
            </a:r>
          </a:p>
          <a:p>
            <a:pPr marL="342900" indent="-342900">
              <a:buAutoNum type="arabicPeriod" startAt="4"/>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5"/>
            </a:pPr>
            <a:r>
              <a:rPr lang="en-US" sz="1300" b="1" dirty="0">
                <a:solidFill>
                  <a:srgbClr val="990033"/>
                </a:solidFill>
                <a:latin typeface="Verdana" pitchFamily="34" charset="0"/>
                <a:ea typeface="Verdana" pitchFamily="34" charset="0"/>
                <a:cs typeface="Verdana" pitchFamily="34" charset="0"/>
              </a:rPr>
              <a:t>Based Addressing</a:t>
            </a:r>
          </a:p>
          <a:p>
            <a:pPr marL="342900" indent="-342900">
              <a:buAutoNum type="arabicPeriod" startAt="5"/>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6"/>
            </a:pPr>
            <a:r>
              <a:rPr lang="en-US" sz="1300" b="1" dirty="0">
                <a:solidFill>
                  <a:srgbClr val="990033"/>
                </a:solidFill>
                <a:latin typeface="Verdana" pitchFamily="34" charset="0"/>
                <a:ea typeface="Verdana" pitchFamily="34" charset="0"/>
                <a:cs typeface="Verdana" pitchFamily="34" charset="0"/>
              </a:rPr>
              <a:t>Indexed Addressing</a:t>
            </a:r>
          </a:p>
          <a:p>
            <a:pPr marL="342900" indent="-342900">
              <a:buAutoNum type="arabicPeriod" startAt="6"/>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7"/>
            </a:pPr>
            <a:r>
              <a:rPr lang="en-US" sz="1300" b="1" dirty="0">
                <a:solidFill>
                  <a:srgbClr val="990033"/>
                </a:solidFill>
                <a:latin typeface="Verdana" pitchFamily="34" charset="0"/>
                <a:ea typeface="Verdana" pitchFamily="34" charset="0"/>
                <a:cs typeface="Verdana" pitchFamily="34" charset="0"/>
              </a:rPr>
              <a:t>Based Index Addressing</a:t>
            </a:r>
          </a:p>
          <a:p>
            <a:pPr marL="342900" indent="-342900">
              <a:buAutoNum type="arabicPeriod" startAt="7"/>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8"/>
            </a:pPr>
            <a:r>
              <a:rPr lang="en-US" sz="1300" b="1" dirty="0">
                <a:solidFill>
                  <a:srgbClr val="990033"/>
                </a:solidFill>
                <a:latin typeface="Verdana" pitchFamily="34" charset="0"/>
                <a:ea typeface="Verdana" pitchFamily="34" charset="0"/>
                <a:cs typeface="Verdana" pitchFamily="34" charset="0"/>
              </a:rPr>
              <a:t>String Addressing</a:t>
            </a:r>
          </a:p>
          <a:p>
            <a:pPr marL="342900" indent="-342900">
              <a:buAutoNum type="arabicPeriod" startAt="8"/>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9"/>
            </a:pPr>
            <a:r>
              <a:rPr lang="en-US" sz="1300" b="1" dirty="0">
                <a:solidFill>
                  <a:srgbClr val="FF0066"/>
                </a:solidFill>
                <a:latin typeface="Verdana" pitchFamily="34" charset="0"/>
                <a:ea typeface="Verdana" pitchFamily="34" charset="0"/>
                <a:cs typeface="Verdana" pitchFamily="34" charset="0"/>
              </a:rPr>
              <a:t>Direct I/O port Addressing</a:t>
            </a:r>
          </a:p>
          <a:p>
            <a:pPr marL="342900" indent="-342900">
              <a:buAutoNum type="arabicPeriod" startAt="9"/>
            </a:pPr>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10. Indirect I/O port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11. Relative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12. Implied Addressing</a:t>
            </a:r>
          </a:p>
        </p:txBody>
      </p:sp>
      <p:sp>
        <p:nvSpPr>
          <p:cNvPr id="16" name="Rectangle 15"/>
          <p:cNvSpPr/>
          <p:nvPr/>
        </p:nvSpPr>
        <p:spPr>
          <a:xfrm>
            <a:off x="3733800" y="762000"/>
            <a:ext cx="5257800" cy="609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just"/>
            <a:r>
              <a:rPr lang="en-US" sz="1400" b="1" dirty="0">
                <a:solidFill>
                  <a:schemeClr val="tx1"/>
                </a:solidFill>
                <a:latin typeface="Verdana" pitchFamily="34" charset="0"/>
                <a:ea typeface="Verdana" pitchFamily="34" charset="0"/>
                <a:cs typeface="Verdana" pitchFamily="34" charset="0"/>
              </a:rPr>
              <a:t>Employed in string operations to operate on string data.</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The effective address (EA) of source data is stored in SI register and the EA of destination is stored in DI register.</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Segment register for calculating base address of </a:t>
            </a:r>
          </a:p>
          <a:p>
            <a:pPr algn="just"/>
            <a:r>
              <a:rPr lang="en-US" sz="1400" b="1" dirty="0">
                <a:solidFill>
                  <a:schemeClr val="tx1"/>
                </a:solidFill>
                <a:latin typeface="Verdana" pitchFamily="34" charset="0"/>
                <a:ea typeface="Verdana" pitchFamily="34" charset="0"/>
                <a:cs typeface="Verdana" pitchFamily="34" charset="0"/>
              </a:rPr>
              <a:t>source data is DS and that of the destination data is ES</a:t>
            </a:r>
          </a:p>
          <a:p>
            <a:pPr algn="just"/>
            <a:endParaRPr lang="en-US" sz="1400" b="1" dirty="0">
              <a:solidFill>
                <a:schemeClr val="tx1"/>
              </a:solidFill>
              <a:latin typeface="Verdana" pitchFamily="34" charset="0"/>
              <a:ea typeface="Verdana" pitchFamily="34" charset="0"/>
              <a:cs typeface="Verdana" pitchFamily="34" charset="0"/>
            </a:endParaRPr>
          </a:p>
          <a:p>
            <a:pPr algn="just"/>
            <a:endParaRPr lang="en-US" sz="1400" b="1" dirty="0">
              <a:solidFill>
                <a:schemeClr val="tx1"/>
              </a:solidFill>
              <a:latin typeface="Verdana" pitchFamily="34" charset="0"/>
              <a:ea typeface="Verdana" pitchFamily="34" charset="0"/>
              <a:cs typeface="Verdana" pitchFamily="34" charset="0"/>
            </a:endParaRPr>
          </a:p>
          <a:p>
            <a:pPr marL="0" lvl="2" algn="just"/>
            <a:r>
              <a:rPr lang="en-US" sz="1400" b="1" dirty="0">
                <a:solidFill>
                  <a:srgbClr val="FF0000"/>
                </a:solidFill>
                <a:latin typeface="Verdana" pitchFamily="34" charset="0"/>
                <a:ea typeface="Verdana" pitchFamily="34" charset="0"/>
                <a:cs typeface="Verdana" pitchFamily="34" charset="0"/>
              </a:rPr>
              <a:t>Example: </a:t>
            </a:r>
            <a:r>
              <a:rPr lang="en-US" sz="1400" b="1" dirty="0">
                <a:solidFill>
                  <a:schemeClr val="tx1"/>
                </a:solidFill>
                <a:latin typeface="Verdana" pitchFamily="34" charset="0"/>
                <a:ea typeface="Verdana" pitchFamily="34" charset="0"/>
                <a:cs typeface="Verdana" pitchFamily="34" charset="0"/>
              </a:rPr>
              <a:t>MOVS BYTE</a:t>
            </a:r>
          </a:p>
          <a:p>
            <a:pPr algn="just"/>
            <a:endParaRPr lang="en-US" sz="1400" b="1" dirty="0">
              <a:solidFill>
                <a:srgbClr val="FF0000"/>
              </a:solidFill>
              <a:latin typeface="Verdana" pitchFamily="34" charset="0"/>
              <a:ea typeface="Verdana" pitchFamily="34" charset="0"/>
              <a:cs typeface="Verdana" pitchFamily="34" charset="0"/>
            </a:endParaRPr>
          </a:p>
          <a:p>
            <a:pPr algn="just"/>
            <a:r>
              <a:rPr lang="en-US" sz="1400" b="1" dirty="0">
                <a:solidFill>
                  <a:srgbClr val="C00000"/>
                </a:solidFill>
                <a:latin typeface="Verdana" pitchFamily="34" charset="0"/>
                <a:ea typeface="Verdana" pitchFamily="34" charset="0"/>
                <a:cs typeface="Verdana" pitchFamily="34" charset="0"/>
              </a:rPr>
              <a:t>Operations:</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accent2">
                    <a:lumMod val="50000"/>
                  </a:schemeClr>
                </a:solidFill>
                <a:latin typeface="Verdana" pitchFamily="34" charset="0"/>
                <a:ea typeface="Verdana" pitchFamily="34" charset="0"/>
                <a:cs typeface="Verdana" pitchFamily="34" charset="0"/>
              </a:rPr>
              <a:t>Calculation of source memory location:</a:t>
            </a:r>
          </a:p>
          <a:p>
            <a:pPr algn="just"/>
            <a:r>
              <a:rPr lang="it-IT" sz="1400" b="1" dirty="0">
                <a:solidFill>
                  <a:srgbClr val="C00000"/>
                </a:solidFill>
                <a:latin typeface="Verdana" pitchFamily="34" charset="0"/>
                <a:ea typeface="Verdana" pitchFamily="34" charset="0"/>
                <a:cs typeface="Verdana" pitchFamily="34" charset="0"/>
              </a:rPr>
              <a:t>EA = (SI)      BA = (DS) x 16</a:t>
            </a:r>
            <a:r>
              <a:rPr lang="it-IT" sz="1400" b="1" baseline="-25000" dirty="0">
                <a:solidFill>
                  <a:srgbClr val="C00000"/>
                </a:solidFill>
                <a:latin typeface="Verdana" pitchFamily="34" charset="0"/>
                <a:ea typeface="Verdana" pitchFamily="34" charset="0"/>
                <a:cs typeface="Verdana" pitchFamily="34" charset="0"/>
              </a:rPr>
              <a:t>10</a:t>
            </a:r>
            <a:r>
              <a:rPr lang="it-IT" sz="1400" b="1" dirty="0">
                <a:solidFill>
                  <a:srgbClr val="C00000"/>
                </a:solidFill>
                <a:latin typeface="Verdana" pitchFamily="34" charset="0"/>
                <a:ea typeface="Verdana" pitchFamily="34" charset="0"/>
                <a:cs typeface="Verdana" pitchFamily="34" charset="0"/>
              </a:rPr>
              <a:t>        MA = BA + EA</a:t>
            </a:r>
          </a:p>
          <a:p>
            <a:pPr algn="just"/>
            <a:endParaRPr lang="it-IT" sz="1400" b="1" dirty="0">
              <a:solidFill>
                <a:srgbClr val="C00000"/>
              </a:solidFill>
              <a:latin typeface="Verdana" pitchFamily="34" charset="0"/>
              <a:ea typeface="Verdana" pitchFamily="34" charset="0"/>
              <a:cs typeface="Verdana" pitchFamily="34" charset="0"/>
            </a:endParaRPr>
          </a:p>
          <a:p>
            <a:pPr algn="just"/>
            <a:r>
              <a:rPr lang="en-US" sz="1400" b="1" dirty="0">
                <a:solidFill>
                  <a:schemeClr val="accent2">
                    <a:lumMod val="50000"/>
                  </a:schemeClr>
                </a:solidFill>
                <a:latin typeface="Verdana" pitchFamily="34" charset="0"/>
                <a:ea typeface="Verdana" pitchFamily="34" charset="0"/>
                <a:cs typeface="Verdana" pitchFamily="34" charset="0"/>
              </a:rPr>
              <a:t>Calculation of destination memory location:</a:t>
            </a:r>
            <a:endParaRPr lang="it-IT" sz="1400" b="1" dirty="0">
              <a:solidFill>
                <a:schemeClr val="accent2">
                  <a:lumMod val="50000"/>
                </a:schemeClr>
              </a:solidFill>
              <a:latin typeface="Verdana" pitchFamily="34" charset="0"/>
              <a:ea typeface="Verdana" pitchFamily="34" charset="0"/>
              <a:cs typeface="Verdana" pitchFamily="34" charset="0"/>
            </a:endParaRPr>
          </a:p>
          <a:p>
            <a:pPr algn="just"/>
            <a:r>
              <a:rPr lang="it-IT" sz="1400" b="1" dirty="0">
                <a:solidFill>
                  <a:srgbClr val="C00000"/>
                </a:solidFill>
                <a:latin typeface="Verdana" pitchFamily="34" charset="0"/>
                <a:ea typeface="Verdana" pitchFamily="34" charset="0"/>
                <a:cs typeface="Verdana" pitchFamily="34" charset="0"/>
              </a:rPr>
              <a:t>EA</a:t>
            </a:r>
            <a:r>
              <a:rPr lang="it-IT" sz="1400" b="1" baseline="-25000" dirty="0">
                <a:solidFill>
                  <a:srgbClr val="C00000"/>
                </a:solidFill>
                <a:latin typeface="Verdana" pitchFamily="34" charset="0"/>
                <a:ea typeface="Verdana" pitchFamily="34" charset="0"/>
                <a:cs typeface="Verdana" pitchFamily="34" charset="0"/>
              </a:rPr>
              <a:t>E</a:t>
            </a:r>
            <a:r>
              <a:rPr lang="it-IT" sz="1400" b="1" dirty="0">
                <a:solidFill>
                  <a:srgbClr val="C00000"/>
                </a:solidFill>
                <a:latin typeface="Verdana" pitchFamily="34" charset="0"/>
                <a:ea typeface="Verdana" pitchFamily="34" charset="0"/>
                <a:cs typeface="Verdana" pitchFamily="34" charset="0"/>
              </a:rPr>
              <a:t> = (DI)     BA</a:t>
            </a:r>
            <a:r>
              <a:rPr lang="it-IT" sz="1400" b="1" baseline="-25000" dirty="0">
                <a:solidFill>
                  <a:srgbClr val="C00000"/>
                </a:solidFill>
                <a:latin typeface="Verdana" pitchFamily="34" charset="0"/>
                <a:ea typeface="Verdana" pitchFamily="34" charset="0"/>
                <a:cs typeface="Verdana" pitchFamily="34" charset="0"/>
              </a:rPr>
              <a:t>E</a:t>
            </a:r>
            <a:r>
              <a:rPr lang="it-IT" sz="1400" b="1" dirty="0">
                <a:solidFill>
                  <a:srgbClr val="C00000"/>
                </a:solidFill>
                <a:latin typeface="Verdana" pitchFamily="34" charset="0"/>
                <a:ea typeface="Verdana" pitchFamily="34" charset="0"/>
                <a:cs typeface="Verdana" pitchFamily="34" charset="0"/>
              </a:rPr>
              <a:t>  = (ES) x 16</a:t>
            </a:r>
            <a:r>
              <a:rPr lang="it-IT" sz="1400" b="1" baseline="-25000" dirty="0">
                <a:solidFill>
                  <a:srgbClr val="C00000"/>
                </a:solidFill>
                <a:latin typeface="Verdana" pitchFamily="34" charset="0"/>
                <a:ea typeface="Verdana" pitchFamily="34" charset="0"/>
                <a:cs typeface="Verdana" pitchFamily="34" charset="0"/>
              </a:rPr>
              <a:t>10       </a:t>
            </a:r>
            <a:r>
              <a:rPr lang="it-IT" sz="1400" b="1" dirty="0">
                <a:solidFill>
                  <a:srgbClr val="C00000"/>
                </a:solidFill>
                <a:latin typeface="Verdana" pitchFamily="34" charset="0"/>
                <a:ea typeface="Verdana" pitchFamily="34" charset="0"/>
                <a:cs typeface="Verdana" pitchFamily="34" charset="0"/>
              </a:rPr>
              <a:t>MA</a:t>
            </a:r>
            <a:r>
              <a:rPr lang="it-IT" sz="1400" b="1" baseline="-25000" dirty="0">
                <a:solidFill>
                  <a:srgbClr val="C00000"/>
                </a:solidFill>
                <a:latin typeface="Verdana" pitchFamily="34" charset="0"/>
                <a:ea typeface="Verdana" pitchFamily="34" charset="0"/>
                <a:cs typeface="Verdana" pitchFamily="34" charset="0"/>
              </a:rPr>
              <a:t>E</a:t>
            </a:r>
            <a:r>
              <a:rPr lang="it-IT" sz="1400" b="1" dirty="0">
                <a:solidFill>
                  <a:srgbClr val="C00000"/>
                </a:solidFill>
                <a:latin typeface="Verdana" pitchFamily="34" charset="0"/>
                <a:ea typeface="Verdana" pitchFamily="34" charset="0"/>
                <a:cs typeface="Verdana" pitchFamily="34" charset="0"/>
              </a:rPr>
              <a:t> = BA</a:t>
            </a:r>
            <a:r>
              <a:rPr lang="it-IT" sz="1400" b="1" baseline="-25000" dirty="0">
                <a:solidFill>
                  <a:srgbClr val="C00000"/>
                </a:solidFill>
                <a:latin typeface="Verdana" pitchFamily="34" charset="0"/>
                <a:ea typeface="Verdana" pitchFamily="34" charset="0"/>
                <a:cs typeface="Verdana" pitchFamily="34" charset="0"/>
              </a:rPr>
              <a:t>E</a:t>
            </a:r>
            <a:r>
              <a:rPr lang="it-IT" sz="1400" b="1" dirty="0">
                <a:solidFill>
                  <a:srgbClr val="C00000"/>
                </a:solidFill>
                <a:latin typeface="Verdana" pitchFamily="34" charset="0"/>
                <a:ea typeface="Verdana" pitchFamily="34" charset="0"/>
                <a:cs typeface="Verdana" pitchFamily="34" charset="0"/>
              </a:rPr>
              <a:t> + EA</a:t>
            </a:r>
            <a:r>
              <a:rPr lang="it-IT" sz="1400" b="1" baseline="-25000" dirty="0">
                <a:solidFill>
                  <a:srgbClr val="C00000"/>
                </a:solidFill>
                <a:latin typeface="Verdana" pitchFamily="34" charset="0"/>
                <a:ea typeface="Verdana" pitchFamily="34" charset="0"/>
                <a:cs typeface="Verdana" pitchFamily="34" charset="0"/>
              </a:rPr>
              <a:t>E</a:t>
            </a:r>
          </a:p>
          <a:p>
            <a:pPr algn="just"/>
            <a:endParaRPr lang="it-IT" sz="1400" b="1" dirty="0">
              <a:solidFill>
                <a:srgbClr val="C00000"/>
              </a:solidFill>
              <a:latin typeface="Verdana" pitchFamily="34" charset="0"/>
              <a:ea typeface="Verdana" pitchFamily="34" charset="0"/>
              <a:cs typeface="Verdana" pitchFamily="34" charset="0"/>
            </a:endParaRPr>
          </a:p>
          <a:p>
            <a:pPr algn="just"/>
            <a:endParaRPr lang="it-IT" sz="1400" b="1" dirty="0">
              <a:solidFill>
                <a:srgbClr val="C00000"/>
              </a:solidFill>
              <a:latin typeface="Verdana" pitchFamily="34" charset="0"/>
              <a:ea typeface="Verdana" pitchFamily="34" charset="0"/>
              <a:cs typeface="Verdana" pitchFamily="34" charset="0"/>
            </a:endParaRPr>
          </a:p>
          <a:p>
            <a:pPr algn="just"/>
            <a:r>
              <a:rPr lang="it-IT" sz="1400" b="1" dirty="0">
                <a:solidFill>
                  <a:srgbClr val="C00000"/>
                </a:solidFill>
                <a:latin typeface="Verdana" pitchFamily="34" charset="0"/>
                <a:ea typeface="Verdana" pitchFamily="34" charset="0"/>
                <a:cs typeface="Verdana" pitchFamily="34" charset="0"/>
              </a:rPr>
              <a:t>(MAE) </a:t>
            </a:r>
            <a:r>
              <a:rPr lang="it-IT" sz="1400" b="1" dirty="0">
                <a:solidFill>
                  <a:srgbClr val="C00000"/>
                </a:solidFill>
                <a:latin typeface="Verdana" pitchFamily="34" charset="0"/>
                <a:ea typeface="Verdana" pitchFamily="34" charset="0"/>
                <a:cs typeface="Verdana" pitchFamily="34" charset="0"/>
                <a:sym typeface="Symbol"/>
              </a:rPr>
              <a:t></a:t>
            </a:r>
            <a:r>
              <a:rPr lang="it-IT" sz="1400" b="1" dirty="0">
                <a:solidFill>
                  <a:srgbClr val="C00000"/>
                </a:solidFill>
                <a:latin typeface="Verdana" pitchFamily="34" charset="0"/>
                <a:ea typeface="Verdana" pitchFamily="34" charset="0"/>
                <a:cs typeface="Verdana" pitchFamily="34" charset="0"/>
              </a:rPr>
              <a:t> (MA)</a:t>
            </a:r>
          </a:p>
          <a:p>
            <a:pPr algn="just"/>
            <a:endParaRPr lang="it-IT" sz="1400" b="1" dirty="0">
              <a:solidFill>
                <a:srgbClr val="C00000"/>
              </a:solidFill>
              <a:latin typeface="Verdana" pitchFamily="34" charset="0"/>
              <a:ea typeface="Verdana" pitchFamily="34" charset="0"/>
              <a:cs typeface="Verdana" pitchFamily="34" charset="0"/>
            </a:endParaRPr>
          </a:p>
          <a:p>
            <a:pPr algn="just"/>
            <a:r>
              <a:rPr lang="it-IT" sz="1400" b="1" dirty="0">
                <a:solidFill>
                  <a:srgbClr val="C00000"/>
                </a:solidFill>
                <a:latin typeface="Verdana" pitchFamily="34" charset="0"/>
                <a:ea typeface="Verdana" pitchFamily="34" charset="0"/>
                <a:cs typeface="Verdana" pitchFamily="34" charset="0"/>
              </a:rPr>
              <a:t>If DF = 1, then (SI) </a:t>
            </a:r>
            <a:r>
              <a:rPr lang="it-IT" sz="1400" b="1" dirty="0">
                <a:solidFill>
                  <a:srgbClr val="C00000"/>
                </a:solidFill>
                <a:latin typeface="Verdana" pitchFamily="34" charset="0"/>
                <a:ea typeface="Verdana" pitchFamily="34" charset="0"/>
                <a:cs typeface="Verdana" pitchFamily="34" charset="0"/>
                <a:sym typeface="Symbol"/>
              </a:rPr>
              <a:t></a:t>
            </a:r>
            <a:r>
              <a:rPr lang="it-IT" sz="1400" b="1" dirty="0">
                <a:solidFill>
                  <a:srgbClr val="C00000"/>
                </a:solidFill>
                <a:latin typeface="Verdana" pitchFamily="34" charset="0"/>
                <a:ea typeface="Verdana" pitchFamily="34" charset="0"/>
                <a:cs typeface="Verdana" pitchFamily="34" charset="0"/>
              </a:rPr>
              <a:t> (SI) – 1 and (DI) = (DI) - 1 </a:t>
            </a:r>
          </a:p>
          <a:p>
            <a:pPr algn="just"/>
            <a:r>
              <a:rPr lang="it-IT" sz="1400" b="1" dirty="0">
                <a:solidFill>
                  <a:srgbClr val="C00000"/>
                </a:solidFill>
                <a:latin typeface="Verdana" pitchFamily="34" charset="0"/>
                <a:ea typeface="Verdana" pitchFamily="34" charset="0"/>
                <a:cs typeface="Verdana" pitchFamily="34" charset="0"/>
              </a:rPr>
              <a:t>If DF = 0, then (SI) </a:t>
            </a:r>
            <a:r>
              <a:rPr lang="it-IT" sz="1400" b="1" dirty="0">
                <a:solidFill>
                  <a:srgbClr val="C00000"/>
                </a:solidFill>
                <a:latin typeface="Verdana" pitchFamily="34" charset="0"/>
                <a:ea typeface="Verdana" pitchFamily="34" charset="0"/>
                <a:cs typeface="Verdana" pitchFamily="34" charset="0"/>
                <a:sym typeface="Symbol"/>
              </a:rPr>
              <a:t></a:t>
            </a:r>
            <a:r>
              <a:rPr lang="it-IT" sz="1400" b="1" dirty="0">
                <a:solidFill>
                  <a:srgbClr val="C00000"/>
                </a:solidFill>
                <a:latin typeface="Verdana" pitchFamily="34" charset="0"/>
                <a:ea typeface="Verdana" pitchFamily="34" charset="0"/>
                <a:cs typeface="Verdana" pitchFamily="34" charset="0"/>
              </a:rPr>
              <a:t> (SI) +1 and (DI) = (DI) + 1 </a:t>
            </a:r>
          </a:p>
          <a:p>
            <a:pPr algn="just"/>
            <a:endParaRPr lang="en-US" sz="1400" b="1" dirty="0">
              <a:solidFill>
                <a:srgbClr val="C00000"/>
              </a:solidFill>
              <a:latin typeface="Verdana" pitchFamily="34" charset="0"/>
              <a:ea typeface="Verdana" pitchFamily="34" charset="0"/>
              <a:cs typeface="Verdana" pitchFamily="34" charset="0"/>
            </a:endParaRPr>
          </a:p>
        </p:txBody>
      </p:sp>
      <p:sp>
        <p:nvSpPr>
          <p:cNvPr id="10" name="TextBox 9"/>
          <p:cNvSpPr txBox="1"/>
          <p:nvPr/>
        </p:nvSpPr>
        <p:spPr>
          <a:xfrm>
            <a:off x="6136368" y="147935"/>
            <a:ext cx="2768796" cy="461665"/>
          </a:xfrm>
          <a:prstGeom prst="rect">
            <a:avLst/>
          </a:prstGeom>
          <a:noFill/>
        </p:spPr>
        <p:txBody>
          <a:bodyPr wrap="square" rtlCol="0">
            <a:spAutoFit/>
          </a:bodyPr>
          <a:lstStyle/>
          <a:p>
            <a:pPr algn="r"/>
            <a:r>
              <a:rPr lang="en-US" sz="1200" b="1" dirty="0">
                <a:solidFill>
                  <a:srgbClr val="FF0000"/>
                </a:solidFill>
              </a:rPr>
              <a:t>Group II : Addressing modes for memory data</a:t>
            </a:r>
          </a:p>
        </p:txBody>
      </p:sp>
      <p:sp>
        <p:nvSpPr>
          <p:cNvPr id="17" name="Line Callout 1 16"/>
          <p:cNvSpPr/>
          <p:nvPr/>
        </p:nvSpPr>
        <p:spPr>
          <a:xfrm>
            <a:off x="914400" y="5715000"/>
            <a:ext cx="2286000" cy="427346"/>
          </a:xfrm>
          <a:prstGeom prst="borderCallout1">
            <a:avLst>
              <a:gd name="adj1" fmla="val 1890"/>
              <a:gd name="adj2" fmla="val 98976"/>
              <a:gd name="adj3" fmla="val -124603"/>
              <a:gd name="adj4" fmla="val 126429"/>
            </a:avLst>
          </a:prstGeom>
          <a:solidFill>
            <a:srgbClr val="FFFFCC"/>
          </a:solidFill>
          <a:ln w="6350">
            <a:solidFill>
              <a:srgbClr val="CC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200" dirty="0">
                <a:solidFill>
                  <a:schemeClr val="tx1"/>
                </a:solidFill>
              </a:rPr>
              <a:t>Note : Effective address of the Extra segment register</a:t>
            </a:r>
          </a:p>
        </p:txBody>
      </p:sp>
    </p:spTree>
    <p:extLst>
      <p:ext uri="{BB962C8B-B14F-4D97-AF65-F5344CB8AC3E}">
        <p14:creationId xmlns:p14="http://schemas.microsoft.com/office/powerpoint/2010/main" val="26925858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4813111" y="4833012"/>
            <a:ext cx="1583708" cy="32129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4778992" y="2057400"/>
            <a:ext cx="1583708" cy="32129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152400" y="4038600"/>
            <a:ext cx="3264190" cy="678240"/>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Addressing Modes</a:t>
            </a:r>
          </a:p>
        </p:txBody>
      </p:sp>
      <p:sp>
        <p:nvSpPr>
          <p:cNvPr id="3" name="Slide Number Placeholder 2"/>
          <p:cNvSpPr>
            <a:spLocks noGrp="1"/>
          </p:cNvSpPr>
          <p:nvPr>
            <p:ph type="sldNum" sz="quarter" idx="12"/>
          </p:nvPr>
        </p:nvSpPr>
        <p:spPr/>
        <p:txBody>
          <a:bodyPr/>
          <a:lstStyle/>
          <a:p>
            <a:fld id="{85E6815B-E59C-4D87-B1F6-ECBDD22AF1DC}" type="slidenum">
              <a:rPr lang="en-US" smtClean="0"/>
              <a:pPr/>
              <a:t>62</a:t>
            </a:fld>
            <a:endParaRPr lang="en-US" dirty="0"/>
          </a:p>
        </p:txBody>
      </p:sp>
      <p:sp>
        <p:nvSpPr>
          <p:cNvPr id="4" name="TextBox 3"/>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9" name="Rectangle 8"/>
          <p:cNvSpPr/>
          <p:nvPr/>
        </p:nvSpPr>
        <p:spPr>
          <a:xfrm>
            <a:off x="163776" y="838393"/>
            <a:ext cx="3252814" cy="4693593"/>
          </a:xfrm>
          <a:prstGeom prst="rect">
            <a:avLst/>
          </a:prstGeom>
        </p:spPr>
        <p:txBody>
          <a:bodyPr wrap="none">
            <a:spAutoFit/>
          </a:bodyPr>
          <a:lstStyle/>
          <a:p>
            <a:pPr marL="342900" indent="-342900">
              <a:buAutoNum type="arabicPeriod"/>
            </a:pPr>
            <a:r>
              <a:rPr lang="en-US" sz="1300" b="1" dirty="0">
                <a:solidFill>
                  <a:srgbClr val="FF0066"/>
                </a:solidFill>
                <a:latin typeface="Verdana" pitchFamily="34" charset="0"/>
                <a:ea typeface="Verdana" pitchFamily="34" charset="0"/>
                <a:cs typeface="Verdana" pitchFamily="34" charset="0"/>
              </a:rPr>
              <a:t>Register Addressing</a:t>
            </a:r>
          </a:p>
          <a:p>
            <a:pPr marL="342900" indent="-342900">
              <a:buAutoNum type="arabicPeriod"/>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2"/>
            </a:pPr>
            <a:r>
              <a:rPr lang="en-US" sz="1300" b="1" dirty="0">
                <a:solidFill>
                  <a:srgbClr val="FF0066"/>
                </a:solidFill>
                <a:latin typeface="Verdana" pitchFamily="34" charset="0"/>
                <a:ea typeface="Verdana" pitchFamily="34" charset="0"/>
                <a:cs typeface="Verdana" pitchFamily="34" charset="0"/>
              </a:rPr>
              <a:t>Immediate Addressing</a:t>
            </a:r>
          </a:p>
          <a:p>
            <a:pPr marL="342900" indent="-342900">
              <a:buAutoNum type="arabicPeriod" startAt="2"/>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3"/>
            </a:pPr>
            <a:r>
              <a:rPr lang="en-US" sz="1300" b="1" dirty="0">
                <a:solidFill>
                  <a:srgbClr val="990033"/>
                </a:solidFill>
                <a:latin typeface="Verdana" pitchFamily="34" charset="0"/>
                <a:ea typeface="Verdana" pitchFamily="34" charset="0"/>
                <a:cs typeface="Verdana" pitchFamily="34" charset="0"/>
              </a:rPr>
              <a:t>Direct Addressing</a:t>
            </a:r>
          </a:p>
          <a:p>
            <a:pPr marL="342900" indent="-342900">
              <a:buAutoNum type="arabicPeriod" startAt="3"/>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4"/>
            </a:pPr>
            <a:r>
              <a:rPr lang="en-US" sz="1300" b="1" dirty="0">
                <a:solidFill>
                  <a:srgbClr val="990033"/>
                </a:solidFill>
                <a:latin typeface="Verdana" pitchFamily="34" charset="0"/>
                <a:ea typeface="Verdana" pitchFamily="34" charset="0"/>
                <a:cs typeface="Verdana" pitchFamily="34" charset="0"/>
              </a:rPr>
              <a:t>Register Indirect Addressing</a:t>
            </a:r>
          </a:p>
          <a:p>
            <a:pPr marL="342900" indent="-342900">
              <a:buAutoNum type="arabicPeriod" startAt="4"/>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5"/>
            </a:pPr>
            <a:r>
              <a:rPr lang="en-US" sz="1300" b="1" dirty="0">
                <a:solidFill>
                  <a:srgbClr val="990033"/>
                </a:solidFill>
                <a:latin typeface="Verdana" pitchFamily="34" charset="0"/>
                <a:ea typeface="Verdana" pitchFamily="34" charset="0"/>
                <a:cs typeface="Verdana" pitchFamily="34" charset="0"/>
              </a:rPr>
              <a:t>Based Addressing</a:t>
            </a:r>
          </a:p>
          <a:p>
            <a:pPr marL="342900" indent="-342900">
              <a:buAutoNum type="arabicPeriod" startAt="5"/>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6"/>
            </a:pPr>
            <a:r>
              <a:rPr lang="en-US" sz="1300" b="1" dirty="0">
                <a:solidFill>
                  <a:srgbClr val="990033"/>
                </a:solidFill>
                <a:latin typeface="Verdana" pitchFamily="34" charset="0"/>
                <a:ea typeface="Verdana" pitchFamily="34" charset="0"/>
                <a:cs typeface="Verdana" pitchFamily="34" charset="0"/>
              </a:rPr>
              <a:t>Indexed Addressing</a:t>
            </a:r>
          </a:p>
          <a:p>
            <a:pPr marL="342900" indent="-342900">
              <a:buAutoNum type="arabicPeriod" startAt="6"/>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7"/>
            </a:pPr>
            <a:r>
              <a:rPr lang="en-US" sz="1300" b="1" dirty="0">
                <a:solidFill>
                  <a:srgbClr val="990033"/>
                </a:solidFill>
                <a:latin typeface="Verdana" pitchFamily="34" charset="0"/>
                <a:ea typeface="Verdana" pitchFamily="34" charset="0"/>
                <a:cs typeface="Verdana" pitchFamily="34" charset="0"/>
              </a:rPr>
              <a:t>Based Index Addressing</a:t>
            </a:r>
          </a:p>
          <a:p>
            <a:pPr marL="342900" indent="-342900">
              <a:buAutoNum type="arabicPeriod" startAt="7"/>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8"/>
            </a:pPr>
            <a:r>
              <a:rPr lang="en-US" sz="1300" b="1" dirty="0">
                <a:solidFill>
                  <a:srgbClr val="990033"/>
                </a:solidFill>
                <a:latin typeface="Verdana" pitchFamily="34" charset="0"/>
                <a:ea typeface="Verdana" pitchFamily="34" charset="0"/>
                <a:cs typeface="Verdana" pitchFamily="34" charset="0"/>
              </a:rPr>
              <a:t>String Addressing</a:t>
            </a:r>
          </a:p>
          <a:p>
            <a:pPr marL="342900" indent="-342900">
              <a:buAutoNum type="arabicPeriod" startAt="8"/>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9"/>
            </a:pPr>
            <a:r>
              <a:rPr lang="en-US" sz="1300" b="1" dirty="0">
                <a:solidFill>
                  <a:srgbClr val="FF0066"/>
                </a:solidFill>
                <a:latin typeface="Verdana" pitchFamily="34" charset="0"/>
                <a:ea typeface="Verdana" pitchFamily="34" charset="0"/>
                <a:cs typeface="Verdana" pitchFamily="34" charset="0"/>
              </a:rPr>
              <a:t>Direct I/O port Addressing</a:t>
            </a:r>
          </a:p>
          <a:p>
            <a:pPr marL="342900" indent="-342900">
              <a:buAutoNum type="arabicPeriod" startAt="9"/>
            </a:pPr>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10. Indirect I/O port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11. Relative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12. Implied Addressing</a:t>
            </a:r>
          </a:p>
        </p:txBody>
      </p:sp>
      <p:sp>
        <p:nvSpPr>
          <p:cNvPr id="16" name="Rectangle 15"/>
          <p:cNvSpPr/>
          <p:nvPr/>
        </p:nvSpPr>
        <p:spPr>
          <a:xfrm>
            <a:off x="3733800" y="762000"/>
            <a:ext cx="5257800" cy="5715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just"/>
            <a:r>
              <a:rPr lang="en-US" sz="1400" b="1" dirty="0">
                <a:solidFill>
                  <a:schemeClr val="tx1"/>
                </a:solidFill>
                <a:latin typeface="Verdana" pitchFamily="34" charset="0"/>
                <a:ea typeface="Verdana" pitchFamily="34" charset="0"/>
                <a:cs typeface="Verdana" pitchFamily="34" charset="0"/>
              </a:rPr>
              <a:t>These addressing modes are used to access data from standard I/O mapped devices or ports.</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In </a:t>
            </a:r>
            <a:r>
              <a:rPr lang="en-US" sz="1400" b="1" dirty="0">
                <a:solidFill>
                  <a:srgbClr val="0070C0"/>
                </a:solidFill>
                <a:latin typeface="Verdana" pitchFamily="34" charset="0"/>
                <a:ea typeface="Verdana" pitchFamily="34" charset="0"/>
                <a:cs typeface="Verdana" pitchFamily="34" charset="0"/>
              </a:rPr>
              <a:t>direct port addressing mode</a:t>
            </a:r>
            <a:r>
              <a:rPr lang="en-US" sz="1400" b="1" dirty="0">
                <a:solidFill>
                  <a:schemeClr val="tx1"/>
                </a:solidFill>
                <a:latin typeface="Verdana" pitchFamily="34" charset="0"/>
                <a:ea typeface="Verdana" pitchFamily="34" charset="0"/>
                <a:cs typeface="Verdana" pitchFamily="34" charset="0"/>
              </a:rPr>
              <a:t>, an 8-bit port address is directly specified in the instruction.</a:t>
            </a:r>
          </a:p>
          <a:p>
            <a:pPr algn="just"/>
            <a:endParaRPr lang="en-US" sz="1400" b="1" dirty="0">
              <a:solidFill>
                <a:schemeClr val="tx1"/>
              </a:solidFill>
              <a:latin typeface="Verdana" pitchFamily="34" charset="0"/>
              <a:ea typeface="Verdana" pitchFamily="34" charset="0"/>
              <a:cs typeface="Verdana" pitchFamily="34" charset="0"/>
            </a:endParaRPr>
          </a:p>
          <a:p>
            <a:pPr marL="0" lvl="2" algn="just"/>
            <a:r>
              <a:rPr lang="en-US" sz="1400" b="1" dirty="0">
                <a:solidFill>
                  <a:srgbClr val="FF0000"/>
                </a:solidFill>
                <a:latin typeface="Verdana" pitchFamily="34" charset="0"/>
                <a:ea typeface="Verdana" pitchFamily="34" charset="0"/>
                <a:cs typeface="Verdana" pitchFamily="34" charset="0"/>
              </a:rPr>
              <a:t>Example:  </a:t>
            </a:r>
            <a:r>
              <a:rPr lang="en-US" sz="1400" b="1" dirty="0">
                <a:solidFill>
                  <a:schemeClr val="tx1"/>
                </a:solidFill>
                <a:latin typeface="Verdana" pitchFamily="34" charset="0"/>
                <a:ea typeface="Verdana" pitchFamily="34" charset="0"/>
                <a:cs typeface="Verdana" pitchFamily="34" charset="0"/>
              </a:rPr>
              <a:t>IN AL, [09H]</a:t>
            </a:r>
          </a:p>
          <a:p>
            <a:pPr algn="just"/>
            <a:endParaRPr lang="en-US" sz="1400" b="1" dirty="0">
              <a:solidFill>
                <a:srgbClr val="FF0000"/>
              </a:solidFill>
              <a:latin typeface="Verdana" pitchFamily="34" charset="0"/>
              <a:ea typeface="Verdana" pitchFamily="34" charset="0"/>
              <a:cs typeface="Verdana" pitchFamily="34" charset="0"/>
            </a:endParaRPr>
          </a:p>
          <a:p>
            <a:pPr algn="just"/>
            <a:r>
              <a:rPr lang="en-US" sz="1400" b="1" dirty="0">
                <a:solidFill>
                  <a:srgbClr val="C00000"/>
                </a:solidFill>
                <a:latin typeface="Verdana" pitchFamily="34" charset="0"/>
                <a:ea typeface="Verdana" pitchFamily="34" charset="0"/>
                <a:cs typeface="Verdana" pitchFamily="34" charset="0"/>
              </a:rPr>
              <a:t>Operations: </a:t>
            </a:r>
            <a:r>
              <a:rPr lang="it-IT" sz="1400" b="1" dirty="0">
                <a:solidFill>
                  <a:srgbClr val="C00000"/>
                </a:solidFill>
                <a:latin typeface="Verdana" pitchFamily="34" charset="0"/>
                <a:ea typeface="Verdana" pitchFamily="34" charset="0"/>
                <a:cs typeface="Verdana" pitchFamily="34" charset="0"/>
              </a:rPr>
              <a:t>  PORT</a:t>
            </a:r>
            <a:r>
              <a:rPr lang="it-IT" sz="1400" b="1" baseline="-25000" dirty="0">
                <a:solidFill>
                  <a:srgbClr val="C00000"/>
                </a:solidFill>
                <a:latin typeface="Verdana" pitchFamily="34" charset="0"/>
                <a:ea typeface="Verdana" pitchFamily="34" charset="0"/>
                <a:cs typeface="Verdana" pitchFamily="34" charset="0"/>
              </a:rPr>
              <a:t>addr</a:t>
            </a:r>
            <a:r>
              <a:rPr lang="it-IT" sz="1400" b="1" dirty="0">
                <a:solidFill>
                  <a:srgbClr val="C00000"/>
                </a:solidFill>
                <a:latin typeface="Verdana" pitchFamily="34" charset="0"/>
                <a:ea typeface="Verdana" pitchFamily="34" charset="0"/>
                <a:cs typeface="Verdana" pitchFamily="34" charset="0"/>
              </a:rPr>
              <a:t> = 09</a:t>
            </a:r>
            <a:r>
              <a:rPr lang="it-IT" sz="1400" b="1" baseline="-25000" dirty="0">
                <a:solidFill>
                  <a:srgbClr val="C00000"/>
                </a:solidFill>
                <a:latin typeface="Verdana" pitchFamily="34" charset="0"/>
                <a:ea typeface="Verdana" pitchFamily="34" charset="0"/>
                <a:cs typeface="Verdana" pitchFamily="34" charset="0"/>
              </a:rPr>
              <a:t>H</a:t>
            </a:r>
            <a:endParaRPr lang="it-IT" sz="1400" b="1" dirty="0">
              <a:solidFill>
                <a:srgbClr val="C00000"/>
              </a:solidFill>
              <a:latin typeface="Verdana" pitchFamily="34" charset="0"/>
              <a:ea typeface="Verdana" pitchFamily="34" charset="0"/>
              <a:cs typeface="Verdana" pitchFamily="34" charset="0"/>
            </a:endParaRPr>
          </a:p>
          <a:p>
            <a:pPr algn="just"/>
            <a:r>
              <a:rPr lang="it-IT" sz="1400" b="1" dirty="0">
                <a:solidFill>
                  <a:srgbClr val="C00000"/>
                </a:solidFill>
                <a:latin typeface="Verdana" pitchFamily="34" charset="0"/>
                <a:ea typeface="Verdana" pitchFamily="34" charset="0"/>
                <a:cs typeface="Verdana" pitchFamily="34" charset="0"/>
              </a:rPr>
              <a:t>	       (AL) </a:t>
            </a:r>
            <a:r>
              <a:rPr lang="it-IT" sz="1400" b="1" dirty="0">
                <a:solidFill>
                  <a:srgbClr val="C00000"/>
                </a:solidFill>
                <a:latin typeface="Verdana" pitchFamily="34" charset="0"/>
                <a:ea typeface="Verdana" pitchFamily="34" charset="0"/>
                <a:cs typeface="Verdana" pitchFamily="34" charset="0"/>
                <a:sym typeface="Symbol"/>
              </a:rPr>
              <a:t></a:t>
            </a:r>
            <a:r>
              <a:rPr lang="it-IT" sz="1400" b="1" dirty="0">
                <a:solidFill>
                  <a:srgbClr val="C00000"/>
                </a:solidFill>
                <a:latin typeface="Verdana" pitchFamily="34" charset="0"/>
                <a:ea typeface="Verdana" pitchFamily="34" charset="0"/>
                <a:cs typeface="Verdana" pitchFamily="34" charset="0"/>
              </a:rPr>
              <a:t> (PORT)  </a:t>
            </a:r>
          </a:p>
          <a:p>
            <a:pPr algn="just"/>
            <a:endParaRPr lang="it-IT" sz="1400" b="1" dirty="0">
              <a:solidFill>
                <a:srgbClr val="C00000"/>
              </a:solidFill>
              <a:latin typeface="Verdana" pitchFamily="34" charset="0"/>
              <a:ea typeface="Verdana" pitchFamily="34" charset="0"/>
              <a:cs typeface="Verdana" pitchFamily="34" charset="0"/>
            </a:endParaRPr>
          </a:p>
          <a:p>
            <a:pPr algn="just"/>
            <a:r>
              <a:rPr lang="it-IT" sz="1400" b="1" dirty="0">
                <a:solidFill>
                  <a:srgbClr val="C00000"/>
                </a:solidFill>
                <a:latin typeface="Verdana" pitchFamily="34" charset="0"/>
                <a:ea typeface="Verdana" pitchFamily="34" charset="0"/>
                <a:cs typeface="Verdana" pitchFamily="34" charset="0"/>
              </a:rPr>
              <a:t>	       Content of port with address 09</a:t>
            </a:r>
            <a:r>
              <a:rPr lang="it-IT" sz="1400" b="1" baseline="-25000" dirty="0">
                <a:solidFill>
                  <a:srgbClr val="C00000"/>
                </a:solidFill>
                <a:latin typeface="Verdana" pitchFamily="34" charset="0"/>
                <a:ea typeface="Verdana" pitchFamily="34" charset="0"/>
                <a:cs typeface="Verdana" pitchFamily="34" charset="0"/>
              </a:rPr>
              <a:t>H</a:t>
            </a:r>
            <a:r>
              <a:rPr lang="it-IT" sz="1400" b="1" dirty="0">
                <a:solidFill>
                  <a:srgbClr val="C00000"/>
                </a:solidFill>
                <a:latin typeface="Verdana" pitchFamily="34" charset="0"/>
                <a:ea typeface="Verdana" pitchFamily="34" charset="0"/>
                <a:cs typeface="Verdana" pitchFamily="34" charset="0"/>
              </a:rPr>
              <a:t> is 	       moved to AL register</a:t>
            </a:r>
          </a:p>
          <a:p>
            <a:pPr algn="just"/>
            <a:endParaRPr lang="en-US" sz="1400" b="1" dirty="0">
              <a:solidFill>
                <a:srgbClr val="C00000"/>
              </a:solidFill>
              <a:latin typeface="Verdana" pitchFamily="34" charset="0"/>
              <a:ea typeface="Verdana" pitchFamily="34" charset="0"/>
              <a:cs typeface="Verdana" pitchFamily="34" charset="0"/>
            </a:endParaRPr>
          </a:p>
          <a:p>
            <a:pPr algn="just"/>
            <a:r>
              <a:rPr lang="en-US" sz="1400" b="1" dirty="0">
                <a:solidFill>
                  <a:srgbClr val="0070C0"/>
                </a:solidFill>
                <a:latin typeface="Verdana" pitchFamily="34" charset="0"/>
                <a:ea typeface="Verdana" pitchFamily="34" charset="0"/>
                <a:cs typeface="Verdana" pitchFamily="34" charset="0"/>
              </a:rPr>
              <a:t>In indirect port addressing mode</a:t>
            </a:r>
            <a:r>
              <a:rPr lang="en-US" sz="1400" b="1" dirty="0">
                <a:solidFill>
                  <a:schemeClr val="tx1"/>
                </a:solidFill>
                <a:latin typeface="Verdana" pitchFamily="34" charset="0"/>
                <a:ea typeface="Verdana" pitchFamily="34" charset="0"/>
                <a:cs typeface="Verdana" pitchFamily="34" charset="0"/>
              </a:rPr>
              <a:t>, the instruction will specify the name of the register which holds the port address. In 8086, the 16-bit port address is stored in the DX register.</a:t>
            </a:r>
          </a:p>
          <a:p>
            <a:pPr algn="just"/>
            <a:endParaRPr lang="en-US" sz="1400" b="1" dirty="0">
              <a:solidFill>
                <a:srgbClr val="C00000"/>
              </a:solidFill>
              <a:latin typeface="Verdana" pitchFamily="34" charset="0"/>
              <a:ea typeface="Verdana" pitchFamily="34" charset="0"/>
              <a:cs typeface="Verdana" pitchFamily="34" charset="0"/>
            </a:endParaRPr>
          </a:p>
          <a:p>
            <a:pPr marL="0" lvl="2" algn="just"/>
            <a:r>
              <a:rPr lang="en-US" sz="1400" b="1" dirty="0">
                <a:solidFill>
                  <a:srgbClr val="FF0000"/>
                </a:solidFill>
                <a:latin typeface="Verdana" pitchFamily="34" charset="0"/>
                <a:ea typeface="Verdana" pitchFamily="34" charset="0"/>
                <a:cs typeface="Verdana" pitchFamily="34" charset="0"/>
              </a:rPr>
              <a:t>Example:  </a:t>
            </a:r>
            <a:r>
              <a:rPr lang="en-US" sz="1400" b="1" dirty="0">
                <a:solidFill>
                  <a:schemeClr val="tx1"/>
                </a:solidFill>
                <a:latin typeface="Verdana" pitchFamily="34" charset="0"/>
                <a:ea typeface="Verdana" pitchFamily="34" charset="0"/>
                <a:cs typeface="Verdana" pitchFamily="34" charset="0"/>
              </a:rPr>
              <a:t>OUT [DX], AX</a:t>
            </a:r>
            <a:endParaRPr lang="en-US" sz="1400" b="1" dirty="0">
              <a:solidFill>
                <a:srgbClr val="FF0000"/>
              </a:solidFill>
              <a:latin typeface="Verdana" pitchFamily="34" charset="0"/>
              <a:ea typeface="Verdana" pitchFamily="34" charset="0"/>
              <a:cs typeface="Verdana" pitchFamily="34" charset="0"/>
            </a:endParaRPr>
          </a:p>
          <a:p>
            <a:pPr algn="just"/>
            <a:endParaRPr lang="en-US" sz="1400" b="1" dirty="0">
              <a:solidFill>
                <a:srgbClr val="FF0000"/>
              </a:solidFill>
              <a:latin typeface="Verdana" pitchFamily="34" charset="0"/>
              <a:ea typeface="Verdana" pitchFamily="34" charset="0"/>
              <a:cs typeface="Verdana" pitchFamily="34" charset="0"/>
            </a:endParaRPr>
          </a:p>
          <a:p>
            <a:pPr algn="just"/>
            <a:r>
              <a:rPr lang="en-US" sz="1400" b="1" dirty="0">
                <a:solidFill>
                  <a:srgbClr val="C00000"/>
                </a:solidFill>
                <a:latin typeface="Verdana" pitchFamily="34" charset="0"/>
                <a:ea typeface="Verdana" pitchFamily="34" charset="0"/>
                <a:cs typeface="Verdana" pitchFamily="34" charset="0"/>
              </a:rPr>
              <a:t>Operations:   P</a:t>
            </a:r>
            <a:r>
              <a:rPr lang="it-IT" sz="1400" b="1" dirty="0">
                <a:solidFill>
                  <a:srgbClr val="C00000"/>
                </a:solidFill>
                <a:latin typeface="Verdana" pitchFamily="34" charset="0"/>
                <a:ea typeface="Verdana" pitchFamily="34" charset="0"/>
                <a:cs typeface="Verdana" pitchFamily="34" charset="0"/>
              </a:rPr>
              <a:t>ORT</a:t>
            </a:r>
            <a:r>
              <a:rPr lang="it-IT" sz="1400" b="1" baseline="-25000" dirty="0">
                <a:solidFill>
                  <a:srgbClr val="C00000"/>
                </a:solidFill>
                <a:latin typeface="Verdana" pitchFamily="34" charset="0"/>
                <a:ea typeface="Verdana" pitchFamily="34" charset="0"/>
                <a:cs typeface="Verdana" pitchFamily="34" charset="0"/>
              </a:rPr>
              <a:t>addr</a:t>
            </a:r>
            <a:r>
              <a:rPr lang="it-IT" sz="1400" b="1" dirty="0">
                <a:solidFill>
                  <a:srgbClr val="C00000"/>
                </a:solidFill>
                <a:latin typeface="Verdana" pitchFamily="34" charset="0"/>
                <a:ea typeface="Verdana" pitchFamily="34" charset="0"/>
                <a:cs typeface="Verdana" pitchFamily="34" charset="0"/>
              </a:rPr>
              <a:t> = (DX)</a:t>
            </a:r>
          </a:p>
          <a:p>
            <a:pPr algn="just"/>
            <a:r>
              <a:rPr lang="it-IT" sz="1400" b="1" dirty="0">
                <a:solidFill>
                  <a:srgbClr val="C00000"/>
                </a:solidFill>
                <a:latin typeface="Verdana" pitchFamily="34" charset="0"/>
                <a:ea typeface="Verdana" pitchFamily="34" charset="0"/>
                <a:cs typeface="Verdana" pitchFamily="34" charset="0"/>
              </a:rPr>
              <a:t>	       (PORT) </a:t>
            </a:r>
            <a:r>
              <a:rPr lang="it-IT" sz="1400" b="1" dirty="0">
                <a:solidFill>
                  <a:srgbClr val="C00000"/>
                </a:solidFill>
                <a:latin typeface="Verdana" pitchFamily="34" charset="0"/>
                <a:ea typeface="Verdana" pitchFamily="34" charset="0"/>
                <a:cs typeface="Verdana" pitchFamily="34" charset="0"/>
                <a:sym typeface="Symbol"/>
              </a:rPr>
              <a:t></a:t>
            </a:r>
            <a:r>
              <a:rPr lang="it-IT" sz="1400" b="1" dirty="0">
                <a:solidFill>
                  <a:srgbClr val="C00000"/>
                </a:solidFill>
                <a:latin typeface="Verdana" pitchFamily="34" charset="0"/>
                <a:ea typeface="Verdana" pitchFamily="34" charset="0"/>
                <a:cs typeface="Verdana" pitchFamily="34" charset="0"/>
              </a:rPr>
              <a:t> (AX)  </a:t>
            </a:r>
          </a:p>
          <a:p>
            <a:pPr algn="just"/>
            <a:endParaRPr lang="it-IT" sz="1400" b="1" dirty="0">
              <a:solidFill>
                <a:srgbClr val="C00000"/>
              </a:solidFill>
              <a:latin typeface="Verdana" pitchFamily="34" charset="0"/>
              <a:ea typeface="Verdana" pitchFamily="34" charset="0"/>
              <a:cs typeface="Verdana" pitchFamily="34" charset="0"/>
            </a:endParaRPr>
          </a:p>
          <a:p>
            <a:pPr algn="just"/>
            <a:r>
              <a:rPr lang="it-IT" sz="1400" b="1" dirty="0">
                <a:solidFill>
                  <a:srgbClr val="C00000"/>
                </a:solidFill>
                <a:latin typeface="Verdana" pitchFamily="34" charset="0"/>
                <a:ea typeface="Verdana" pitchFamily="34" charset="0"/>
                <a:cs typeface="Verdana" pitchFamily="34" charset="0"/>
              </a:rPr>
              <a:t>	     Content of AX is moved to port 		     whose address is specified by DX       	     register.</a:t>
            </a:r>
          </a:p>
          <a:p>
            <a:pPr algn="just"/>
            <a:endParaRPr lang="en-US" sz="1400" b="1" dirty="0">
              <a:solidFill>
                <a:srgbClr val="C00000"/>
              </a:solidFill>
              <a:latin typeface="Verdana" pitchFamily="34" charset="0"/>
              <a:ea typeface="Verdana" pitchFamily="34" charset="0"/>
              <a:cs typeface="Verdana" pitchFamily="34" charset="0"/>
            </a:endParaRPr>
          </a:p>
        </p:txBody>
      </p:sp>
      <p:pic>
        <p:nvPicPr>
          <p:cNvPr id="26" name="Picture 2" descr="C:\Users\AMMU\Desktop\Microprocessor\Regist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485" y="5547752"/>
            <a:ext cx="1323129" cy="130099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810000" y="3806873"/>
            <a:ext cx="5257800" cy="28927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6362700" y="147935"/>
            <a:ext cx="2495166" cy="461665"/>
          </a:xfrm>
          <a:prstGeom prst="rect">
            <a:avLst/>
          </a:prstGeom>
          <a:noFill/>
        </p:spPr>
        <p:txBody>
          <a:bodyPr wrap="square" rtlCol="0">
            <a:spAutoFit/>
          </a:bodyPr>
          <a:lstStyle/>
          <a:p>
            <a:pPr algn="r"/>
            <a:r>
              <a:rPr lang="en-US" sz="1200" b="1" dirty="0">
                <a:solidFill>
                  <a:srgbClr val="FF0000"/>
                </a:solidFill>
              </a:rPr>
              <a:t>Group III : Addressing modes for I/O ports</a:t>
            </a:r>
          </a:p>
        </p:txBody>
      </p:sp>
    </p:spTree>
    <p:extLst>
      <p:ext uri="{BB962C8B-B14F-4D97-AF65-F5344CB8AC3E}">
        <p14:creationId xmlns:p14="http://schemas.microsoft.com/office/powerpoint/2010/main" val="2639480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6629400" y="1877704"/>
            <a:ext cx="2303060"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793539" y="2106304"/>
            <a:ext cx="2835861" cy="228600"/>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800600" y="2664156"/>
            <a:ext cx="893963" cy="32129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152400" y="4724400"/>
            <a:ext cx="3264190" cy="421134"/>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Addressing Modes</a:t>
            </a:r>
          </a:p>
        </p:txBody>
      </p:sp>
      <p:sp>
        <p:nvSpPr>
          <p:cNvPr id="3" name="Slide Number Placeholder 2"/>
          <p:cNvSpPr>
            <a:spLocks noGrp="1"/>
          </p:cNvSpPr>
          <p:nvPr>
            <p:ph type="sldNum" sz="quarter" idx="12"/>
          </p:nvPr>
        </p:nvSpPr>
        <p:spPr/>
        <p:txBody>
          <a:bodyPr/>
          <a:lstStyle/>
          <a:p>
            <a:fld id="{85E6815B-E59C-4D87-B1F6-ECBDD22AF1DC}" type="slidenum">
              <a:rPr lang="en-US" smtClean="0"/>
              <a:pPr/>
              <a:t>63</a:t>
            </a:fld>
            <a:endParaRPr lang="en-US" dirty="0"/>
          </a:p>
        </p:txBody>
      </p:sp>
      <p:sp>
        <p:nvSpPr>
          <p:cNvPr id="4" name="TextBox 3"/>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9" name="Rectangle 8"/>
          <p:cNvSpPr/>
          <p:nvPr/>
        </p:nvSpPr>
        <p:spPr>
          <a:xfrm>
            <a:off x="163776" y="838393"/>
            <a:ext cx="3252814" cy="4693593"/>
          </a:xfrm>
          <a:prstGeom prst="rect">
            <a:avLst/>
          </a:prstGeom>
        </p:spPr>
        <p:txBody>
          <a:bodyPr wrap="none">
            <a:spAutoFit/>
          </a:bodyPr>
          <a:lstStyle/>
          <a:p>
            <a:pPr marL="342900" indent="-342900">
              <a:buAutoNum type="arabicPeriod"/>
            </a:pPr>
            <a:r>
              <a:rPr lang="en-US" sz="1300" b="1" dirty="0">
                <a:solidFill>
                  <a:srgbClr val="FF0066"/>
                </a:solidFill>
                <a:latin typeface="Verdana" pitchFamily="34" charset="0"/>
                <a:ea typeface="Verdana" pitchFamily="34" charset="0"/>
                <a:cs typeface="Verdana" pitchFamily="34" charset="0"/>
              </a:rPr>
              <a:t>Register Addressing</a:t>
            </a:r>
          </a:p>
          <a:p>
            <a:pPr marL="342900" indent="-342900">
              <a:buAutoNum type="arabicPeriod"/>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2"/>
            </a:pPr>
            <a:r>
              <a:rPr lang="en-US" sz="1300" b="1" dirty="0">
                <a:solidFill>
                  <a:srgbClr val="FF0066"/>
                </a:solidFill>
                <a:latin typeface="Verdana" pitchFamily="34" charset="0"/>
                <a:ea typeface="Verdana" pitchFamily="34" charset="0"/>
                <a:cs typeface="Verdana" pitchFamily="34" charset="0"/>
              </a:rPr>
              <a:t>Immediate Addressing</a:t>
            </a:r>
          </a:p>
          <a:p>
            <a:pPr marL="342900" indent="-342900">
              <a:buAutoNum type="arabicPeriod" startAt="2"/>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3"/>
            </a:pPr>
            <a:r>
              <a:rPr lang="en-US" sz="1300" b="1" dirty="0">
                <a:solidFill>
                  <a:srgbClr val="990033"/>
                </a:solidFill>
                <a:latin typeface="Verdana" pitchFamily="34" charset="0"/>
                <a:ea typeface="Verdana" pitchFamily="34" charset="0"/>
                <a:cs typeface="Verdana" pitchFamily="34" charset="0"/>
              </a:rPr>
              <a:t>Direct Addressing</a:t>
            </a:r>
          </a:p>
          <a:p>
            <a:pPr marL="342900" indent="-342900">
              <a:buAutoNum type="arabicPeriod" startAt="3"/>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4"/>
            </a:pPr>
            <a:r>
              <a:rPr lang="en-US" sz="1300" b="1" dirty="0">
                <a:solidFill>
                  <a:srgbClr val="990033"/>
                </a:solidFill>
                <a:latin typeface="Verdana" pitchFamily="34" charset="0"/>
                <a:ea typeface="Verdana" pitchFamily="34" charset="0"/>
                <a:cs typeface="Verdana" pitchFamily="34" charset="0"/>
              </a:rPr>
              <a:t>Register Indirect Addressing</a:t>
            </a:r>
          </a:p>
          <a:p>
            <a:pPr marL="342900" indent="-342900">
              <a:buAutoNum type="arabicPeriod" startAt="4"/>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5"/>
            </a:pPr>
            <a:r>
              <a:rPr lang="en-US" sz="1300" b="1" dirty="0">
                <a:solidFill>
                  <a:srgbClr val="990033"/>
                </a:solidFill>
                <a:latin typeface="Verdana" pitchFamily="34" charset="0"/>
                <a:ea typeface="Verdana" pitchFamily="34" charset="0"/>
                <a:cs typeface="Verdana" pitchFamily="34" charset="0"/>
              </a:rPr>
              <a:t>Based Addressing</a:t>
            </a:r>
          </a:p>
          <a:p>
            <a:pPr marL="342900" indent="-342900">
              <a:buAutoNum type="arabicPeriod" startAt="5"/>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6"/>
            </a:pPr>
            <a:r>
              <a:rPr lang="en-US" sz="1300" b="1" dirty="0">
                <a:solidFill>
                  <a:srgbClr val="990033"/>
                </a:solidFill>
                <a:latin typeface="Verdana" pitchFamily="34" charset="0"/>
                <a:ea typeface="Verdana" pitchFamily="34" charset="0"/>
                <a:cs typeface="Verdana" pitchFamily="34" charset="0"/>
              </a:rPr>
              <a:t>Indexed Addressing</a:t>
            </a:r>
          </a:p>
          <a:p>
            <a:pPr marL="342900" indent="-342900">
              <a:buAutoNum type="arabicPeriod" startAt="6"/>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7"/>
            </a:pPr>
            <a:r>
              <a:rPr lang="en-US" sz="1300" b="1" dirty="0">
                <a:solidFill>
                  <a:srgbClr val="990033"/>
                </a:solidFill>
                <a:latin typeface="Verdana" pitchFamily="34" charset="0"/>
                <a:ea typeface="Verdana" pitchFamily="34" charset="0"/>
                <a:cs typeface="Verdana" pitchFamily="34" charset="0"/>
              </a:rPr>
              <a:t>Based Index Addressing</a:t>
            </a:r>
          </a:p>
          <a:p>
            <a:pPr marL="342900" indent="-342900">
              <a:buAutoNum type="arabicPeriod" startAt="7"/>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8"/>
            </a:pPr>
            <a:r>
              <a:rPr lang="en-US" sz="1300" b="1" dirty="0">
                <a:solidFill>
                  <a:srgbClr val="990033"/>
                </a:solidFill>
                <a:latin typeface="Verdana" pitchFamily="34" charset="0"/>
                <a:ea typeface="Verdana" pitchFamily="34" charset="0"/>
                <a:cs typeface="Verdana" pitchFamily="34" charset="0"/>
              </a:rPr>
              <a:t>String Addressing</a:t>
            </a:r>
          </a:p>
          <a:p>
            <a:pPr marL="342900" indent="-342900">
              <a:buAutoNum type="arabicPeriod" startAt="8"/>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9"/>
            </a:pPr>
            <a:r>
              <a:rPr lang="en-US" sz="1300" b="1" dirty="0">
                <a:solidFill>
                  <a:srgbClr val="FF0066"/>
                </a:solidFill>
                <a:latin typeface="Verdana" pitchFamily="34" charset="0"/>
                <a:ea typeface="Verdana" pitchFamily="34" charset="0"/>
                <a:cs typeface="Verdana" pitchFamily="34" charset="0"/>
              </a:rPr>
              <a:t>Direct I/O port Addressing</a:t>
            </a:r>
          </a:p>
          <a:p>
            <a:pPr marL="342900" indent="-342900">
              <a:buAutoNum type="arabicPeriod" startAt="9"/>
            </a:pPr>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10. Indirect I/O port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11. Relative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12. Implied Addressing</a:t>
            </a:r>
          </a:p>
        </p:txBody>
      </p:sp>
      <p:sp>
        <p:nvSpPr>
          <p:cNvPr id="25" name="Rectangle 24"/>
          <p:cNvSpPr/>
          <p:nvPr/>
        </p:nvSpPr>
        <p:spPr>
          <a:xfrm>
            <a:off x="3733800" y="762000"/>
            <a:ext cx="5181600" cy="563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just"/>
            <a:endParaRPr lang="en-US" sz="1400" b="1" dirty="0">
              <a:solidFill>
                <a:schemeClr val="tx1"/>
              </a:solidFill>
              <a:latin typeface="Verdana" pitchFamily="34" charset="0"/>
              <a:ea typeface="Verdana" pitchFamily="34" charset="0"/>
              <a:cs typeface="Verdana" pitchFamily="34" charset="0"/>
            </a:endParaRPr>
          </a:p>
          <a:p>
            <a:pPr algn="just"/>
            <a:endParaRPr lang="en-US" sz="1400" b="1" dirty="0">
              <a:solidFill>
                <a:schemeClr val="tx1"/>
              </a:solidFill>
              <a:latin typeface="Verdana" pitchFamily="34" charset="0"/>
              <a:ea typeface="Verdana" pitchFamily="34" charset="0"/>
              <a:cs typeface="Verdana" pitchFamily="34" charset="0"/>
            </a:endParaRPr>
          </a:p>
          <a:p>
            <a:pPr algn="just"/>
            <a:endParaRPr lang="en-US" sz="1400" b="1" dirty="0">
              <a:solidFill>
                <a:schemeClr val="tx1"/>
              </a:solidFill>
              <a:latin typeface="Verdana" pitchFamily="34" charset="0"/>
              <a:ea typeface="Verdana" pitchFamily="34" charset="0"/>
              <a:cs typeface="Verdana" pitchFamily="34" charset="0"/>
            </a:endParaRP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In this addressing mode, the effective address of a program instruction is specified relative to Instruction Pointer (IP) by an 8-bit signed displacement.</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rgbClr val="FF0000"/>
                </a:solidFill>
                <a:latin typeface="Verdana" pitchFamily="34" charset="0"/>
                <a:ea typeface="Verdana" pitchFamily="34" charset="0"/>
                <a:cs typeface="Verdana" pitchFamily="34" charset="0"/>
              </a:rPr>
              <a:t>Example:  </a:t>
            </a:r>
            <a:r>
              <a:rPr lang="en-US" sz="1400" b="1" dirty="0">
                <a:solidFill>
                  <a:schemeClr val="tx1"/>
                </a:solidFill>
                <a:latin typeface="Verdana" pitchFamily="34" charset="0"/>
                <a:ea typeface="Verdana" pitchFamily="34" charset="0"/>
                <a:cs typeface="Verdana" pitchFamily="34" charset="0"/>
              </a:rPr>
              <a:t>JZ 0AH</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   </a:t>
            </a:r>
            <a:r>
              <a:rPr lang="en-US" sz="1400" b="1" dirty="0">
                <a:solidFill>
                  <a:srgbClr val="C00000"/>
                </a:solidFill>
                <a:latin typeface="Verdana" pitchFamily="34" charset="0"/>
                <a:ea typeface="Verdana" pitchFamily="34" charset="0"/>
                <a:cs typeface="Verdana" pitchFamily="34" charset="0"/>
              </a:rPr>
              <a:t>Operations:</a:t>
            </a:r>
          </a:p>
          <a:p>
            <a:pPr lvl="1" algn="just"/>
            <a:endParaRPr lang="en-US" sz="1400" b="1" dirty="0">
              <a:solidFill>
                <a:srgbClr val="C00000"/>
              </a:solidFill>
              <a:latin typeface="Verdana" pitchFamily="34" charset="0"/>
              <a:ea typeface="Verdana" pitchFamily="34" charset="0"/>
              <a:cs typeface="Verdana" pitchFamily="34" charset="0"/>
            </a:endParaRPr>
          </a:p>
          <a:p>
            <a:pPr lvl="1" algn="just"/>
            <a:r>
              <a:rPr lang="en-US" sz="1400" b="1" dirty="0">
                <a:solidFill>
                  <a:srgbClr val="C00000"/>
                </a:solidFill>
                <a:latin typeface="Verdana" pitchFamily="34" charset="0"/>
                <a:ea typeface="Verdana" pitchFamily="34" charset="0"/>
                <a:cs typeface="Verdana" pitchFamily="34" charset="0"/>
              </a:rPr>
              <a:t>000A</a:t>
            </a:r>
            <a:r>
              <a:rPr lang="en-US" sz="1400" b="1" baseline="-25000" dirty="0">
                <a:solidFill>
                  <a:srgbClr val="C00000"/>
                </a:solidFill>
                <a:latin typeface="Verdana" pitchFamily="34" charset="0"/>
                <a:ea typeface="Verdana" pitchFamily="34" charset="0"/>
                <a:cs typeface="Verdana" pitchFamily="34" charset="0"/>
              </a:rPr>
              <a:t>H</a:t>
            </a:r>
            <a:r>
              <a:rPr lang="en-US" sz="1400" b="1" dirty="0">
                <a:solidFill>
                  <a:srgbClr val="C00000"/>
                </a:solidFill>
                <a:latin typeface="Verdana" pitchFamily="34" charset="0"/>
                <a:ea typeface="Verdana" pitchFamily="34" charset="0"/>
                <a:cs typeface="Verdana" pitchFamily="34" charset="0"/>
              </a:rPr>
              <a:t> </a:t>
            </a:r>
            <a:r>
              <a:rPr lang="en-US" sz="1400" b="1" dirty="0">
                <a:solidFill>
                  <a:srgbClr val="C00000"/>
                </a:solidFill>
                <a:latin typeface="Verdana" pitchFamily="34" charset="0"/>
                <a:ea typeface="Verdana" pitchFamily="34" charset="0"/>
                <a:cs typeface="Verdana" pitchFamily="34" charset="0"/>
                <a:sym typeface="Symbol"/>
              </a:rPr>
              <a:t> 0A</a:t>
            </a:r>
            <a:r>
              <a:rPr lang="en-US" sz="1400" b="1" baseline="-25000" dirty="0">
                <a:solidFill>
                  <a:srgbClr val="C00000"/>
                </a:solidFill>
                <a:latin typeface="Verdana" pitchFamily="34" charset="0"/>
                <a:ea typeface="Verdana" pitchFamily="34" charset="0"/>
                <a:cs typeface="Verdana" pitchFamily="34" charset="0"/>
                <a:sym typeface="Symbol"/>
              </a:rPr>
              <a:t>H</a:t>
            </a:r>
            <a:r>
              <a:rPr lang="en-US" sz="1400" b="1" dirty="0">
                <a:solidFill>
                  <a:srgbClr val="C00000"/>
                </a:solidFill>
                <a:latin typeface="Verdana" pitchFamily="34" charset="0"/>
                <a:ea typeface="Verdana" pitchFamily="34" charset="0"/>
                <a:cs typeface="Verdana" pitchFamily="34" charset="0"/>
                <a:sym typeface="Symbol"/>
              </a:rPr>
              <a:t>      (sign extend)</a:t>
            </a:r>
          </a:p>
          <a:p>
            <a:pPr lvl="1" algn="just"/>
            <a:endParaRPr lang="en-US" sz="1400" b="1" dirty="0">
              <a:solidFill>
                <a:srgbClr val="C00000"/>
              </a:solidFill>
              <a:latin typeface="Verdana" pitchFamily="34" charset="0"/>
              <a:ea typeface="Verdana" pitchFamily="34" charset="0"/>
              <a:cs typeface="Verdana" pitchFamily="34" charset="0"/>
              <a:sym typeface="Symbol"/>
            </a:endParaRPr>
          </a:p>
          <a:p>
            <a:pPr lvl="1" algn="just"/>
            <a:r>
              <a:rPr lang="en-US" sz="1400" b="1" dirty="0">
                <a:solidFill>
                  <a:srgbClr val="C00000"/>
                </a:solidFill>
                <a:latin typeface="Verdana" pitchFamily="34" charset="0"/>
                <a:ea typeface="Verdana" pitchFamily="34" charset="0"/>
                <a:cs typeface="Verdana" pitchFamily="34" charset="0"/>
                <a:sym typeface="Symbol"/>
              </a:rPr>
              <a:t>If ZF = 1, then</a:t>
            </a:r>
          </a:p>
          <a:p>
            <a:pPr lvl="1" algn="just"/>
            <a:endParaRPr lang="en-US" sz="1400" b="1" dirty="0">
              <a:solidFill>
                <a:srgbClr val="C00000"/>
              </a:solidFill>
              <a:latin typeface="Verdana" pitchFamily="34" charset="0"/>
              <a:ea typeface="Verdana" pitchFamily="34" charset="0"/>
              <a:cs typeface="Verdana" pitchFamily="34" charset="0"/>
              <a:sym typeface="Symbol"/>
            </a:endParaRPr>
          </a:p>
          <a:p>
            <a:pPr lvl="1" algn="just"/>
            <a:r>
              <a:rPr lang="en-US" sz="1400" b="1" dirty="0">
                <a:solidFill>
                  <a:srgbClr val="C00000"/>
                </a:solidFill>
                <a:latin typeface="Verdana" pitchFamily="34" charset="0"/>
                <a:ea typeface="Verdana" pitchFamily="34" charset="0"/>
                <a:cs typeface="Verdana" pitchFamily="34" charset="0"/>
                <a:sym typeface="Symbol"/>
              </a:rPr>
              <a:t>EA = (IP) + 000A</a:t>
            </a:r>
            <a:r>
              <a:rPr lang="en-US" sz="1400" b="1" baseline="-25000" dirty="0">
                <a:solidFill>
                  <a:srgbClr val="C00000"/>
                </a:solidFill>
                <a:latin typeface="Verdana" pitchFamily="34" charset="0"/>
                <a:ea typeface="Verdana" pitchFamily="34" charset="0"/>
                <a:cs typeface="Verdana" pitchFamily="34" charset="0"/>
                <a:sym typeface="Symbol"/>
              </a:rPr>
              <a:t>H</a:t>
            </a:r>
            <a:endParaRPr lang="en-US" sz="1400" b="1" dirty="0">
              <a:solidFill>
                <a:srgbClr val="C00000"/>
              </a:solidFill>
              <a:latin typeface="Verdana" pitchFamily="34" charset="0"/>
              <a:ea typeface="Verdana" pitchFamily="34" charset="0"/>
              <a:cs typeface="Verdana" pitchFamily="34" charset="0"/>
              <a:sym typeface="Symbol"/>
            </a:endParaRPr>
          </a:p>
          <a:p>
            <a:pPr lvl="1" algn="just"/>
            <a:r>
              <a:rPr lang="en-US" sz="1400" b="1" dirty="0">
                <a:solidFill>
                  <a:srgbClr val="C00000"/>
                </a:solidFill>
                <a:latin typeface="Verdana" pitchFamily="34" charset="0"/>
                <a:ea typeface="Verdana" pitchFamily="34" charset="0"/>
                <a:cs typeface="Verdana" pitchFamily="34" charset="0"/>
                <a:sym typeface="Symbol"/>
              </a:rPr>
              <a:t>BA = (CS) x 16</a:t>
            </a:r>
            <a:r>
              <a:rPr lang="en-US" sz="1400" b="1" baseline="-25000" dirty="0">
                <a:solidFill>
                  <a:srgbClr val="C00000"/>
                </a:solidFill>
                <a:latin typeface="Verdana" pitchFamily="34" charset="0"/>
                <a:ea typeface="Verdana" pitchFamily="34" charset="0"/>
                <a:cs typeface="Verdana" pitchFamily="34" charset="0"/>
                <a:sym typeface="Symbol"/>
              </a:rPr>
              <a:t>10</a:t>
            </a:r>
            <a:endParaRPr lang="en-US" sz="1400" b="1" dirty="0">
              <a:solidFill>
                <a:srgbClr val="C00000"/>
              </a:solidFill>
              <a:latin typeface="Verdana" pitchFamily="34" charset="0"/>
              <a:ea typeface="Verdana" pitchFamily="34" charset="0"/>
              <a:cs typeface="Verdana" pitchFamily="34" charset="0"/>
              <a:sym typeface="Symbol"/>
            </a:endParaRPr>
          </a:p>
          <a:p>
            <a:pPr lvl="1" algn="just"/>
            <a:r>
              <a:rPr lang="en-US" sz="1400" b="1" dirty="0">
                <a:solidFill>
                  <a:srgbClr val="C00000"/>
                </a:solidFill>
                <a:latin typeface="Verdana" pitchFamily="34" charset="0"/>
                <a:ea typeface="Verdana" pitchFamily="34" charset="0"/>
                <a:cs typeface="Verdana" pitchFamily="34" charset="0"/>
                <a:sym typeface="Symbol"/>
              </a:rPr>
              <a:t>MA = BA + EA</a:t>
            </a:r>
          </a:p>
          <a:p>
            <a:pPr lvl="1" algn="just"/>
            <a:endParaRPr lang="en-US" sz="1400" b="1" dirty="0">
              <a:solidFill>
                <a:srgbClr val="C00000"/>
              </a:solidFill>
              <a:latin typeface="Verdana" pitchFamily="34" charset="0"/>
              <a:ea typeface="Verdana" pitchFamily="34" charset="0"/>
              <a:cs typeface="Verdana" pitchFamily="34" charset="0"/>
              <a:sym typeface="Symbol"/>
            </a:endParaRPr>
          </a:p>
          <a:p>
            <a:pPr lvl="1" algn="just"/>
            <a:r>
              <a:rPr lang="en-US" sz="1400" b="1" dirty="0">
                <a:solidFill>
                  <a:srgbClr val="C00000"/>
                </a:solidFill>
                <a:latin typeface="Verdana" pitchFamily="34" charset="0"/>
                <a:ea typeface="Verdana" pitchFamily="34" charset="0"/>
                <a:cs typeface="Verdana" pitchFamily="34" charset="0"/>
                <a:sym typeface="Symbol"/>
              </a:rPr>
              <a:t>If ZF = 1, then the program control jumps to new address calculated above. </a:t>
            </a:r>
          </a:p>
          <a:p>
            <a:pPr lvl="1" algn="just"/>
            <a:endParaRPr lang="en-US" sz="1400" b="1" dirty="0">
              <a:solidFill>
                <a:srgbClr val="C00000"/>
              </a:solidFill>
              <a:latin typeface="Verdana" pitchFamily="34" charset="0"/>
              <a:ea typeface="Verdana" pitchFamily="34" charset="0"/>
              <a:cs typeface="Verdana" pitchFamily="34" charset="0"/>
              <a:sym typeface="Symbol"/>
            </a:endParaRPr>
          </a:p>
          <a:p>
            <a:pPr lvl="1" algn="just"/>
            <a:r>
              <a:rPr lang="en-US" sz="1400" b="1" dirty="0">
                <a:solidFill>
                  <a:srgbClr val="C00000"/>
                </a:solidFill>
                <a:latin typeface="Verdana" pitchFamily="34" charset="0"/>
                <a:ea typeface="Verdana" pitchFamily="34" charset="0"/>
                <a:cs typeface="Verdana" pitchFamily="34" charset="0"/>
                <a:sym typeface="Symbol"/>
              </a:rPr>
              <a:t>If ZF = 0, then next instruction of the program is executed.</a:t>
            </a:r>
            <a:endParaRPr lang="en-US" sz="1400" b="1" dirty="0">
              <a:solidFill>
                <a:srgbClr val="C00000"/>
              </a:solidFill>
              <a:latin typeface="Verdana" pitchFamily="34" charset="0"/>
              <a:ea typeface="Verdana" pitchFamily="34" charset="0"/>
              <a:cs typeface="Verdana" pitchFamily="34" charset="0"/>
            </a:endParaRPr>
          </a:p>
        </p:txBody>
      </p:sp>
      <p:pic>
        <p:nvPicPr>
          <p:cNvPr id="26" name="Picture 2" descr="C:\Users\AMMU\Desktop\Microprocessor\Regist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485" y="5547752"/>
            <a:ext cx="1323129" cy="130099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6615818" y="127323"/>
            <a:ext cx="2283660" cy="461665"/>
          </a:xfrm>
          <a:prstGeom prst="rect">
            <a:avLst/>
          </a:prstGeom>
          <a:noFill/>
        </p:spPr>
        <p:txBody>
          <a:bodyPr wrap="square" rtlCol="0">
            <a:spAutoFit/>
          </a:bodyPr>
          <a:lstStyle/>
          <a:p>
            <a:pPr algn="r"/>
            <a:r>
              <a:rPr lang="en-US" sz="1200" b="1" dirty="0">
                <a:solidFill>
                  <a:srgbClr val="FF0000"/>
                </a:solidFill>
              </a:rPr>
              <a:t>Group IV : Relative Addressing mode</a:t>
            </a:r>
          </a:p>
        </p:txBody>
      </p:sp>
    </p:spTree>
    <p:extLst>
      <p:ext uri="{BB962C8B-B14F-4D97-AF65-F5344CB8AC3E}">
        <p14:creationId xmlns:p14="http://schemas.microsoft.com/office/powerpoint/2010/main" val="37421275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p:cNvSpPr/>
          <p:nvPr/>
        </p:nvSpPr>
        <p:spPr>
          <a:xfrm>
            <a:off x="4884964" y="3747448"/>
            <a:ext cx="738813" cy="32129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152400" y="5181600"/>
            <a:ext cx="3264190" cy="421134"/>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Addressing Modes</a:t>
            </a:r>
          </a:p>
        </p:txBody>
      </p:sp>
      <p:sp>
        <p:nvSpPr>
          <p:cNvPr id="3" name="Slide Number Placeholder 2"/>
          <p:cNvSpPr>
            <a:spLocks noGrp="1"/>
          </p:cNvSpPr>
          <p:nvPr>
            <p:ph type="sldNum" sz="quarter" idx="12"/>
          </p:nvPr>
        </p:nvSpPr>
        <p:spPr/>
        <p:txBody>
          <a:bodyPr/>
          <a:lstStyle/>
          <a:p>
            <a:fld id="{85E6815B-E59C-4D87-B1F6-ECBDD22AF1DC}" type="slidenum">
              <a:rPr lang="en-US" smtClean="0"/>
              <a:pPr/>
              <a:t>64</a:t>
            </a:fld>
            <a:endParaRPr lang="en-US" dirty="0"/>
          </a:p>
        </p:txBody>
      </p:sp>
      <p:sp>
        <p:nvSpPr>
          <p:cNvPr id="4" name="TextBox 3"/>
          <p:cNvSpPr txBox="1"/>
          <p:nvPr/>
        </p:nvSpPr>
        <p:spPr>
          <a:xfrm>
            <a:off x="62552" y="65769"/>
            <a:ext cx="2438400" cy="584775"/>
          </a:xfrm>
          <a:prstGeom prst="rect">
            <a:avLst/>
          </a:prstGeom>
          <a:noFill/>
        </p:spPr>
        <p:txBody>
          <a:bodyPr wrap="square" rtlCol="0">
            <a:spAutoFit/>
          </a:bodyPr>
          <a:lstStyle/>
          <a:p>
            <a:pPr algn="ctr"/>
            <a:r>
              <a:rPr lang="en-US" sz="1600" b="1" dirty="0">
                <a:latin typeface="Octapost NBP" pitchFamily="2" charset="0"/>
              </a:rPr>
              <a:t>8086 Microprocessor</a:t>
            </a:r>
          </a:p>
        </p:txBody>
      </p:sp>
      <p:sp>
        <p:nvSpPr>
          <p:cNvPr id="9" name="Rectangle 8"/>
          <p:cNvSpPr/>
          <p:nvPr/>
        </p:nvSpPr>
        <p:spPr>
          <a:xfrm>
            <a:off x="163776" y="838393"/>
            <a:ext cx="3252814" cy="4693593"/>
          </a:xfrm>
          <a:prstGeom prst="rect">
            <a:avLst/>
          </a:prstGeom>
        </p:spPr>
        <p:txBody>
          <a:bodyPr wrap="none">
            <a:spAutoFit/>
          </a:bodyPr>
          <a:lstStyle/>
          <a:p>
            <a:pPr marL="342900" indent="-342900">
              <a:buAutoNum type="arabicPeriod"/>
            </a:pPr>
            <a:r>
              <a:rPr lang="en-US" sz="1300" b="1" dirty="0">
                <a:solidFill>
                  <a:srgbClr val="FF0066"/>
                </a:solidFill>
                <a:latin typeface="Verdana" pitchFamily="34" charset="0"/>
                <a:ea typeface="Verdana" pitchFamily="34" charset="0"/>
                <a:cs typeface="Verdana" pitchFamily="34" charset="0"/>
              </a:rPr>
              <a:t>Register Addressing</a:t>
            </a:r>
          </a:p>
          <a:p>
            <a:pPr marL="342900" indent="-342900">
              <a:buAutoNum type="arabicPeriod"/>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2"/>
            </a:pPr>
            <a:r>
              <a:rPr lang="en-US" sz="1300" b="1" dirty="0">
                <a:solidFill>
                  <a:srgbClr val="FF0066"/>
                </a:solidFill>
                <a:latin typeface="Verdana" pitchFamily="34" charset="0"/>
                <a:ea typeface="Verdana" pitchFamily="34" charset="0"/>
                <a:cs typeface="Verdana" pitchFamily="34" charset="0"/>
              </a:rPr>
              <a:t>Immediate Addressing</a:t>
            </a:r>
          </a:p>
          <a:p>
            <a:pPr marL="342900" indent="-342900">
              <a:buAutoNum type="arabicPeriod" startAt="2"/>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3"/>
            </a:pPr>
            <a:r>
              <a:rPr lang="en-US" sz="1300" b="1" dirty="0">
                <a:solidFill>
                  <a:srgbClr val="990033"/>
                </a:solidFill>
                <a:latin typeface="Verdana" pitchFamily="34" charset="0"/>
                <a:ea typeface="Verdana" pitchFamily="34" charset="0"/>
                <a:cs typeface="Verdana" pitchFamily="34" charset="0"/>
              </a:rPr>
              <a:t>Direct Addressing</a:t>
            </a:r>
          </a:p>
          <a:p>
            <a:pPr marL="342900" indent="-342900">
              <a:buAutoNum type="arabicPeriod" startAt="3"/>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4"/>
            </a:pPr>
            <a:r>
              <a:rPr lang="en-US" sz="1300" b="1" dirty="0">
                <a:solidFill>
                  <a:srgbClr val="990033"/>
                </a:solidFill>
                <a:latin typeface="Verdana" pitchFamily="34" charset="0"/>
                <a:ea typeface="Verdana" pitchFamily="34" charset="0"/>
                <a:cs typeface="Verdana" pitchFamily="34" charset="0"/>
              </a:rPr>
              <a:t>Register Indirect Addressing</a:t>
            </a:r>
          </a:p>
          <a:p>
            <a:pPr marL="342900" indent="-342900">
              <a:buAutoNum type="arabicPeriod" startAt="4"/>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5"/>
            </a:pPr>
            <a:r>
              <a:rPr lang="en-US" sz="1300" b="1" dirty="0">
                <a:solidFill>
                  <a:srgbClr val="990033"/>
                </a:solidFill>
                <a:latin typeface="Verdana" pitchFamily="34" charset="0"/>
                <a:ea typeface="Verdana" pitchFamily="34" charset="0"/>
                <a:cs typeface="Verdana" pitchFamily="34" charset="0"/>
              </a:rPr>
              <a:t>Based Addressing</a:t>
            </a:r>
          </a:p>
          <a:p>
            <a:pPr marL="342900" indent="-342900">
              <a:buAutoNum type="arabicPeriod" startAt="5"/>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6"/>
            </a:pPr>
            <a:r>
              <a:rPr lang="en-US" sz="1300" b="1" dirty="0">
                <a:solidFill>
                  <a:srgbClr val="990033"/>
                </a:solidFill>
                <a:latin typeface="Verdana" pitchFamily="34" charset="0"/>
                <a:ea typeface="Verdana" pitchFamily="34" charset="0"/>
                <a:cs typeface="Verdana" pitchFamily="34" charset="0"/>
              </a:rPr>
              <a:t>Indexed Addressing</a:t>
            </a:r>
          </a:p>
          <a:p>
            <a:pPr marL="342900" indent="-342900">
              <a:buAutoNum type="arabicPeriod" startAt="6"/>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7"/>
            </a:pPr>
            <a:r>
              <a:rPr lang="en-US" sz="1300" b="1" dirty="0">
                <a:solidFill>
                  <a:srgbClr val="990033"/>
                </a:solidFill>
                <a:latin typeface="Verdana" pitchFamily="34" charset="0"/>
                <a:ea typeface="Verdana" pitchFamily="34" charset="0"/>
                <a:cs typeface="Verdana" pitchFamily="34" charset="0"/>
              </a:rPr>
              <a:t>Based Index Addressing</a:t>
            </a:r>
          </a:p>
          <a:p>
            <a:pPr marL="342900" indent="-342900">
              <a:buAutoNum type="arabicPeriod" startAt="7"/>
            </a:pPr>
            <a:endParaRPr lang="en-US" sz="1300" b="1" dirty="0">
              <a:solidFill>
                <a:srgbClr val="990033"/>
              </a:solidFill>
              <a:latin typeface="Verdana" pitchFamily="34" charset="0"/>
              <a:ea typeface="Verdana" pitchFamily="34" charset="0"/>
              <a:cs typeface="Verdana" pitchFamily="34" charset="0"/>
            </a:endParaRPr>
          </a:p>
          <a:p>
            <a:pPr marL="342900" indent="-342900">
              <a:buAutoNum type="arabicPeriod" startAt="8"/>
            </a:pPr>
            <a:r>
              <a:rPr lang="en-US" sz="1300" b="1" dirty="0">
                <a:solidFill>
                  <a:srgbClr val="990033"/>
                </a:solidFill>
                <a:latin typeface="Verdana" pitchFamily="34" charset="0"/>
                <a:ea typeface="Verdana" pitchFamily="34" charset="0"/>
                <a:cs typeface="Verdana" pitchFamily="34" charset="0"/>
              </a:rPr>
              <a:t>String Addressing</a:t>
            </a:r>
          </a:p>
          <a:p>
            <a:pPr marL="342900" indent="-342900">
              <a:buAutoNum type="arabicPeriod" startAt="8"/>
            </a:pPr>
            <a:endParaRPr lang="en-US" sz="1300" b="1" dirty="0">
              <a:solidFill>
                <a:srgbClr val="FF0066"/>
              </a:solidFill>
              <a:latin typeface="Verdana" pitchFamily="34" charset="0"/>
              <a:ea typeface="Verdana" pitchFamily="34" charset="0"/>
              <a:cs typeface="Verdana" pitchFamily="34" charset="0"/>
            </a:endParaRPr>
          </a:p>
          <a:p>
            <a:pPr marL="342900" indent="-342900">
              <a:buAutoNum type="arabicPeriod" startAt="9"/>
            </a:pPr>
            <a:r>
              <a:rPr lang="en-US" sz="1300" b="1" dirty="0">
                <a:solidFill>
                  <a:srgbClr val="FF0066"/>
                </a:solidFill>
                <a:latin typeface="Verdana" pitchFamily="34" charset="0"/>
                <a:ea typeface="Verdana" pitchFamily="34" charset="0"/>
                <a:cs typeface="Verdana" pitchFamily="34" charset="0"/>
              </a:rPr>
              <a:t>Direct I/O port Addressing</a:t>
            </a:r>
          </a:p>
          <a:p>
            <a:pPr marL="342900" indent="-342900">
              <a:buAutoNum type="arabicPeriod" startAt="9"/>
            </a:pPr>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10. Indirect I/O port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11. Relative Addressing</a:t>
            </a:r>
          </a:p>
          <a:p>
            <a:endParaRPr lang="en-US" sz="1300" b="1" dirty="0">
              <a:solidFill>
                <a:srgbClr val="FF0066"/>
              </a:solidFill>
              <a:latin typeface="Verdana" pitchFamily="34" charset="0"/>
              <a:ea typeface="Verdana" pitchFamily="34" charset="0"/>
              <a:cs typeface="Verdana" pitchFamily="34" charset="0"/>
            </a:endParaRPr>
          </a:p>
          <a:p>
            <a:r>
              <a:rPr lang="en-US" sz="1300" b="1" dirty="0">
                <a:solidFill>
                  <a:srgbClr val="FF0066"/>
                </a:solidFill>
                <a:latin typeface="Verdana" pitchFamily="34" charset="0"/>
                <a:ea typeface="Verdana" pitchFamily="34" charset="0"/>
                <a:cs typeface="Verdana" pitchFamily="34" charset="0"/>
              </a:rPr>
              <a:t>12. Implied Addressing</a:t>
            </a:r>
          </a:p>
        </p:txBody>
      </p:sp>
      <p:sp>
        <p:nvSpPr>
          <p:cNvPr id="25" name="Rectangle 24"/>
          <p:cNvSpPr/>
          <p:nvPr/>
        </p:nvSpPr>
        <p:spPr>
          <a:xfrm>
            <a:off x="3810000" y="762000"/>
            <a:ext cx="5105400" cy="563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just"/>
            <a:endParaRPr lang="en-US" sz="1400" b="1" dirty="0">
              <a:solidFill>
                <a:schemeClr val="tx1"/>
              </a:solidFill>
              <a:latin typeface="Verdana" pitchFamily="34" charset="0"/>
              <a:ea typeface="Verdana" pitchFamily="34" charset="0"/>
              <a:cs typeface="Verdana" pitchFamily="34" charset="0"/>
            </a:endParaRPr>
          </a:p>
          <a:p>
            <a:pPr algn="just"/>
            <a:endParaRPr lang="en-US" sz="1400" b="1" dirty="0">
              <a:solidFill>
                <a:schemeClr val="tx1"/>
              </a:solidFill>
              <a:latin typeface="Verdana" pitchFamily="34" charset="0"/>
              <a:ea typeface="Verdana" pitchFamily="34" charset="0"/>
              <a:cs typeface="Verdana" pitchFamily="34" charset="0"/>
            </a:endParaRPr>
          </a:p>
          <a:p>
            <a:pPr algn="just"/>
            <a:endParaRPr lang="en-US" sz="1400" b="1" dirty="0">
              <a:solidFill>
                <a:schemeClr val="tx1"/>
              </a:solidFill>
              <a:latin typeface="Verdana" pitchFamily="34" charset="0"/>
              <a:ea typeface="Verdana" pitchFamily="34" charset="0"/>
              <a:cs typeface="Verdana" pitchFamily="34" charset="0"/>
            </a:endParaRPr>
          </a:p>
          <a:p>
            <a:pPr algn="just"/>
            <a:endParaRPr lang="en-US" sz="1400" b="1" dirty="0">
              <a:solidFill>
                <a:schemeClr val="tx1"/>
              </a:solidFill>
              <a:latin typeface="Verdana" pitchFamily="34" charset="0"/>
              <a:ea typeface="Verdana" pitchFamily="34" charset="0"/>
              <a:cs typeface="Verdana" pitchFamily="34" charset="0"/>
            </a:endParaRPr>
          </a:p>
          <a:p>
            <a:pPr algn="just"/>
            <a:endParaRPr lang="en-US" sz="1400" b="1" dirty="0">
              <a:solidFill>
                <a:schemeClr val="tx1"/>
              </a:solidFill>
              <a:latin typeface="Verdana" pitchFamily="34" charset="0"/>
              <a:ea typeface="Verdana" pitchFamily="34" charset="0"/>
              <a:cs typeface="Verdana" pitchFamily="34" charset="0"/>
            </a:endParaRPr>
          </a:p>
          <a:p>
            <a:pPr algn="just"/>
            <a:endParaRPr lang="en-US" sz="1400" b="1" dirty="0">
              <a:solidFill>
                <a:schemeClr val="tx1"/>
              </a:solidFill>
              <a:latin typeface="Verdana" pitchFamily="34" charset="0"/>
              <a:ea typeface="Verdana" pitchFamily="34" charset="0"/>
              <a:cs typeface="Verdana" pitchFamily="34" charset="0"/>
            </a:endParaRPr>
          </a:p>
          <a:p>
            <a:pPr algn="just"/>
            <a:endParaRPr lang="en-US" sz="1400" b="1" dirty="0">
              <a:solidFill>
                <a:schemeClr val="tx1"/>
              </a:solidFill>
              <a:latin typeface="Verdana" pitchFamily="34" charset="0"/>
              <a:ea typeface="Verdana" pitchFamily="34" charset="0"/>
              <a:cs typeface="Verdana" pitchFamily="34" charset="0"/>
            </a:endParaRPr>
          </a:p>
          <a:p>
            <a:pPr algn="just"/>
            <a:endParaRPr lang="en-US" sz="1400" b="1" dirty="0">
              <a:solidFill>
                <a:schemeClr val="tx1"/>
              </a:solidFill>
              <a:latin typeface="Verdana" pitchFamily="34" charset="0"/>
              <a:ea typeface="Verdana" pitchFamily="34" charset="0"/>
              <a:cs typeface="Verdana" pitchFamily="34" charset="0"/>
            </a:endParaRPr>
          </a:p>
          <a:p>
            <a:pPr algn="just"/>
            <a:endParaRPr lang="en-US" sz="1400" b="1" dirty="0">
              <a:solidFill>
                <a:schemeClr val="tx1"/>
              </a:solidFill>
              <a:latin typeface="Verdana" pitchFamily="34" charset="0"/>
              <a:ea typeface="Verdana" pitchFamily="34" charset="0"/>
              <a:cs typeface="Verdana" pitchFamily="34" charset="0"/>
            </a:endParaRP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Instructions using this mode have no operands. The instruction itself will specify the data to be operated by the instruction.</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rgbClr val="FF0000"/>
                </a:solidFill>
                <a:latin typeface="Verdana" pitchFamily="34" charset="0"/>
                <a:ea typeface="Verdana" pitchFamily="34" charset="0"/>
                <a:cs typeface="Verdana" pitchFamily="34" charset="0"/>
              </a:rPr>
              <a:t>Example:  </a:t>
            </a:r>
            <a:r>
              <a:rPr lang="en-US" sz="1400" b="1" dirty="0">
                <a:solidFill>
                  <a:schemeClr val="tx1"/>
                </a:solidFill>
                <a:latin typeface="Verdana" pitchFamily="34" charset="0"/>
                <a:ea typeface="Verdana" pitchFamily="34" charset="0"/>
                <a:cs typeface="Verdana" pitchFamily="34" charset="0"/>
              </a:rPr>
              <a:t>CLC</a:t>
            </a:r>
          </a:p>
          <a:p>
            <a:pPr algn="just"/>
            <a:endParaRPr lang="en-US" sz="1400" b="1" dirty="0">
              <a:solidFill>
                <a:schemeClr val="tx1"/>
              </a:solidFill>
              <a:latin typeface="Verdana" pitchFamily="34" charset="0"/>
              <a:ea typeface="Verdana" pitchFamily="34" charset="0"/>
              <a:cs typeface="Verdana" pitchFamily="34" charset="0"/>
            </a:endParaRPr>
          </a:p>
          <a:p>
            <a:pPr algn="just"/>
            <a:r>
              <a:rPr lang="en-US" sz="1400" b="1" dirty="0">
                <a:solidFill>
                  <a:schemeClr val="tx1"/>
                </a:solidFill>
                <a:latin typeface="Verdana" pitchFamily="34" charset="0"/>
                <a:ea typeface="Verdana" pitchFamily="34" charset="0"/>
                <a:cs typeface="Verdana" pitchFamily="34" charset="0"/>
              </a:rPr>
              <a:t>This clears the carry flag to zero.</a:t>
            </a:r>
          </a:p>
        </p:txBody>
      </p:sp>
      <p:pic>
        <p:nvPicPr>
          <p:cNvPr id="26" name="Picture 2" descr="C:\Users\AMMU\Desktop\Microprocessor\Regist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485" y="5547752"/>
            <a:ext cx="1323129" cy="130099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6615818" y="127323"/>
            <a:ext cx="2283660" cy="461665"/>
          </a:xfrm>
          <a:prstGeom prst="rect">
            <a:avLst/>
          </a:prstGeom>
          <a:noFill/>
        </p:spPr>
        <p:txBody>
          <a:bodyPr wrap="square" rtlCol="0">
            <a:spAutoFit/>
          </a:bodyPr>
          <a:lstStyle/>
          <a:p>
            <a:pPr algn="r"/>
            <a:r>
              <a:rPr lang="en-US" sz="1200" b="1" dirty="0">
                <a:solidFill>
                  <a:srgbClr val="FF0000"/>
                </a:solidFill>
              </a:rPr>
              <a:t>Group IV : Implied Addressing mode</a:t>
            </a:r>
          </a:p>
        </p:txBody>
      </p:sp>
    </p:spTree>
    <p:extLst>
      <p:ext uri="{BB962C8B-B14F-4D97-AF65-F5344CB8AC3E}">
        <p14:creationId xmlns:p14="http://schemas.microsoft.com/office/powerpoint/2010/main" val="22762745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5637</TotalTime>
  <Words>6005</Words>
  <Application>Microsoft Office PowerPoint</Application>
  <PresentationFormat>On-screen Show (4:3)</PresentationFormat>
  <Paragraphs>1325</Paragraphs>
  <Slides>64</Slides>
  <Notes>50</Notes>
  <HiddenSlides>2</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64</vt:i4>
      </vt:variant>
    </vt:vector>
  </HeadingPairs>
  <TitlesOfParts>
    <vt:vector size="79" baseType="lpstr">
      <vt:lpstr>Agency FB</vt:lpstr>
      <vt:lpstr>arial</vt:lpstr>
      <vt:lpstr>arial</vt:lpstr>
      <vt:lpstr>BioRhyme ExtraBold</vt:lpstr>
      <vt:lpstr>Calibri</vt:lpstr>
      <vt:lpstr>Cambria Math</vt:lpstr>
      <vt:lpstr>Octapost NBP</vt:lpstr>
      <vt:lpstr>Poppins</vt:lpstr>
      <vt:lpstr>Rockwell Extra Bold</vt:lpstr>
      <vt:lpstr>Symbol</vt:lpstr>
      <vt:lpstr>Times New Roman</vt:lpstr>
      <vt:lpstr>Verdana</vt:lpstr>
      <vt:lpstr>Wingdings</vt:lpstr>
      <vt:lpstr>Wingdings 2</vt:lpstr>
      <vt:lpstr>Office Theme</vt:lpstr>
      <vt:lpstr>PowerPoint Presentation</vt:lpstr>
      <vt:lpstr>PowerPoint Presentation</vt:lpstr>
      <vt:lpstr>To start your Learn in embedded domain, you need to have the following skills. </vt:lpstr>
      <vt:lpstr>Features of 8086</vt:lpstr>
      <vt:lpstr>PowerPoint Presentation</vt:lpstr>
      <vt:lpstr>Pins  and  signals</vt:lpstr>
      <vt:lpstr>Pins and Signals</vt:lpstr>
      <vt:lpstr>Pins and Signals</vt:lpstr>
      <vt:lpstr>Pins and Signals</vt:lpstr>
      <vt:lpstr>Pins and Signals</vt:lpstr>
      <vt:lpstr>Pins and Signals</vt:lpstr>
      <vt:lpstr>Pins and Signals</vt:lpstr>
      <vt:lpstr>Pins and Signals</vt:lpstr>
      <vt:lpstr>Pins and Signals</vt:lpstr>
      <vt:lpstr>Pins and Signals</vt:lpstr>
      <vt:lpstr>Pins and Signals</vt:lpstr>
      <vt:lpstr>Timing Diagram</vt:lpstr>
      <vt:lpstr>PowerPoint Presentation</vt:lpstr>
      <vt:lpstr>Architecture</vt:lpstr>
      <vt:lpstr>8086 ARCHITECTURE</vt:lpstr>
      <vt:lpstr>Architecture</vt:lpstr>
      <vt:lpstr>Architecture</vt:lpstr>
      <vt:lpstr>Architecture</vt:lpstr>
      <vt:lpstr>Architecture</vt:lpstr>
      <vt:lpstr>Architecture</vt:lpstr>
      <vt:lpstr>Architecture</vt:lpstr>
      <vt:lpstr>Architecture</vt:lpstr>
      <vt:lpstr>Architecture</vt:lpstr>
      <vt:lpstr>Architecture</vt:lpstr>
      <vt:lpstr>Architecture</vt:lpstr>
      <vt:lpstr>Architecture</vt:lpstr>
      <vt:lpstr>Architecture</vt:lpstr>
      <vt:lpstr>Architecture</vt:lpstr>
      <vt:lpstr>Architecture</vt:lpstr>
      <vt:lpstr>Architecture</vt:lpstr>
      <vt:lpstr>Architecture</vt:lpstr>
      <vt:lpstr>Architecture</vt:lpstr>
      <vt:lpstr>Practice Problems</vt:lpstr>
      <vt:lpstr>Architecture</vt:lpstr>
      <vt:lpstr>PowerPoint Presentation</vt:lpstr>
      <vt:lpstr>PowerPoint Presentation</vt:lpstr>
      <vt:lpstr>PowerPoint Presentation</vt:lpstr>
      <vt:lpstr>Default Segment &amp; Offset Registers</vt:lpstr>
      <vt:lpstr>Generating 20-bit Physical address</vt:lpstr>
      <vt:lpstr>PowerPoint Presentation</vt:lpstr>
      <vt:lpstr>PowerPoint Presentation</vt:lpstr>
      <vt:lpstr>Physical Memory organization</vt:lpstr>
      <vt:lpstr>Introduction</vt:lpstr>
      <vt:lpstr>ADDRESSING MODES</vt:lpstr>
      <vt:lpstr>Addressing Modes</vt:lpstr>
      <vt:lpstr>Addressing Modes</vt:lpstr>
      <vt:lpstr>Addressing Modes</vt:lpstr>
      <vt:lpstr>Addressing Modes : Memory Access</vt:lpstr>
      <vt:lpstr>Addressing Modes : Memory Access</vt:lpstr>
      <vt:lpstr>Addressing Modes : Memory Access</vt:lpstr>
      <vt:lpstr>Addressing Modes</vt:lpstr>
      <vt:lpstr>Addressing Modes</vt:lpstr>
      <vt:lpstr>Addressing Modes</vt:lpstr>
      <vt:lpstr>Addressing Modes</vt:lpstr>
      <vt:lpstr>Addressing Modes</vt:lpstr>
      <vt:lpstr>Addressing Modes</vt:lpstr>
      <vt:lpstr>Addressing Modes</vt:lpstr>
      <vt:lpstr>Addressing Modes</vt:lpstr>
      <vt:lpstr>Addressing Modes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AMMU</dc:creator>
  <cp:lastModifiedBy>Dr. Prabakaran N</cp:lastModifiedBy>
  <cp:revision>478</cp:revision>
  <cp:lastPrinted>2013-10-07T00:50:59Z</cp:lastPrinted>
  <dcterms:created xsi:type="dcterms:W3CDTF">2013-08-29T12:51:00Z</dcterms:created>
  <dcterms:modified xsi:type="dcterms:W3CDTF">2024-08-03T05:06:51Z</dcterms:modified>
</cp:coreProperties>
</file>