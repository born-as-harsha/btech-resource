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Lst>
  <p:notesMasterIdLst>
    <p:notesMasterId r:id="rId56"/>
  </p:notesMasterIdLst>
  <p:handoutMasterIdLst>
    <p:handoutMasterId r:id="rId57"/>
  </p:handoutMasterIdLst>
  <p:sldIdLst>
    <p:sldId id="390" r:id="rId2"/>
    <p:sldId id="440" r:id="rId3"/>
    <p:sldId id="442" r:id="rId4"/>
    <p:sldId id="443" r:id="rId5"/>
    <p:sldId id="445" r:id="rId6"/>
    <p:sldId id="446" r:id="rId7"/>
    <p:sldId id="391" r:id="rId8"/>
    <p:sldId id="392" r:id="rId9"/>
    <p:sldId id="448" r:id="rId10"/>
    <p:sldId id="450" r:id="rId11"/>
    <p:sldId id="449" r:id="rId12"/>
    <p:sldId id="1095" r:id="rId13"/>
    <p:sldId id="1096" r:id="rId14"/>
    <p:sldId id="1097" r:id="rId15"/>
    <p:sldId id="1098" r:id="rId16"/>
    <p:sldId id="1099" r:id="rId17"/>
    <p:sldId id="1100" r:id="rId18"/>
    <p:sldId id="1103" r:id="rId19"/>
    <p:sldId id="1104" r:id="rId20"/>
    <p:sldId id="1105" r:id="rId21"/>
    <p:sldId id="1106" r:id="rId22"/>
    <p:sldId id="458" r:id="rId23"/>
    <p:sldId id="459" r:id="rId24"/>
    <p:sldId id="460" r:id="rId25"/>
    <p:sldId id="463" r:id="rId26"/>
    <p:sldId id="461" r:id="rId27"/>
    <p:sldId id="462" r:id="rId28"/>
    <p:sldId id="516" r:id="rId29"/>
    <p:sldId id="518" r:id="rId30"/>
    <p:sldId id="519" r:id="rId31"/>
    <p:sldId id="523" r:id="rId32"/>
    <p:sldId id="524" r:id="rId33"/>
    <p:sldId id="525" r:id="rId34"/>
    <p:sldId id="1207" r:id="rId35"/>
    <p:sldId id="1208" r:id="rId36"/>
    <p:sldId id="1209" r:id="rId37"/>
    <p:sldId id="1210" r:id="rId38"/>
    <p:sldId id="1211" r:id="rId39"/>
    <p:sldId id="1212" r:id="rId40"/>
    <p:sldId id="1213" r:id="rId41"/>
    <p:sldId id="1214" r:id="rId42"/>
    <p:sldId id="1215" r:id="rId43"/>
    <p:sldId id="1216" r:id="rId44"/>
    <p:sldId id="1218" r:id="rId45"/>
    <p:sldId id="1219" r:id="rId46"/>
    <p:sldId id="1220" r:id="rId47"/>
    <p:sldId id="1221" r:id="rId48"/>
    <p:sldId id="1222" r:id="rId49"/>
    <p:sldId id="1223" r:id="rId50"/>
    <p:sldId id="1224" r:id="rId51"/>
    <p:sldId id="1225" r:id="rId52"/>
    <p:sldId id="1226" r:id="rId53"/>
    <p:sldId id="1227" r:id="rId54"/>
    <p:sldId id="1228" r:id="rId55"/>
  </p:sldIdLst>
  <p:sldSz cx="9144000" cy="6858000" type="screen4x3"/>
  <p:notesSz cx="6858000" cy="9144000"/>
  <p:defaultTextStyle>
    <a:defPPr>
      <a:defRPr lang="en-US"/>
    </a:defPPr>
    <a:lvl1pPr algn="l" rtl="0" fontAlgn="base">
      <a:spcBef>
        <a:spcPct val="0"/>
      </a:spcBef>
      <a:spcAft>
        <a:spcPct val="0"/>
      </a:spcAft>
      <a:defRPr sz="2000" kern="1200">
        <a:solidFill>
          <a:srgbClr val="000000"/>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CC00FF"/>
    <a:srgbClr val="2C2C78"/>
    <a:srgbClr val="CC99FF"/>
    <a:srgbClr val="FFFF66"/>
    <a:srgbClr val="FFFF00"/>
    <a:srgbClr val="0000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autoAdjust="0"/>
  </p:normalViewPr>
  <p:slideViewPr>
    <p:cSldViewPr>
      <p:cViewPr varScale="1">
        <p:scale>
          <a:sx n="78" d="100"/>
          <a:sy n="78" d="100"/>
        </p:scale>
        <p:origin x="176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FAEB13-5431-433B-A6D3-ACE8F904CC66}" type="datetimeFigureOut">
              <a:rPr lang="en-IN" smtClean="0"/>
              <a:t>24-11-2025</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F7D5E40-5BB1-4A73-BFAA-CA8CC66D195B}" type="slidenum">
              <a:rPr lang="en-IN" smtClean="0"/>
              <a:t>‹#›</a:t>
            </a:fld>
            <a:endParaRPr lang="en-IN"/>
          </a:p>
        </p:txBody>
      </p:sp>
    </p:spTree>
    <p:extLst>
      <p:ext uri="{BB962C8B-B14F-4D97-AF65-F5344CB8AC3E}">
        <p14:creationId xmlns:p14="http://schemas.microsoft.com/office/powerpoint/2010/main" val="27764117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latin typeface="Arial" pitchFamily="34" charset="0"/>
                <a:cs typeface="Arial" pitchFamily="34" charset="0"/>
              </a:defRPr>
            </a:lvl1pPr>
          </a:lstStyle>
          <a:p>
            <a:pPr>
              <a:defRPr/>
            </a:pPr>
            <a:endParaRPr lang="en-US"/>
          </a:p>
        </p:txBody>
      </p:sp>
      <p:sp>
        <p:nvSpPr>
          <p:cNvPr id="1105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latin typeface="Arial" pitchFamily="34" charset="0"/>
                <a:cs typeface="Arial" pitchFamily="34" charset="0"/>
              </a:defRPr>
            </a:lvl1pPr>
          </a:lstStyle>
          <a:p>
            <a:pPr>
              <a:defRPr/>
            </a:pPr>
            <a:endParaRPr lang="en-US"/>
          </a:p>
        </p:txBody>
      </p:sp>
      <p:sp>
        <p:nvSpPr>
          <p:cNvPr id="1710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05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latin typeface="Arial" pitchFamily="34" charset="0"/>
                <a:cs typeface="Arial" pitchFamily="34" charset="0"/>
              </a:defRPr>
            </a:lvl1pPr>
          </a:lstStyle>
          <a:p>
            <a:pPr>
              <a:defRPr/>
            </a:pPr>
            <a:endParaRPr lang="en-US"/>
          </a:p>
        </p:txBody>
      </p:sp>
      <p:sp>
        <p:nvSpPr>
          <p:cNvPr id="1105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latin typeface="Arial" pitchFamily="34" charset="0"/>
                <a:cs typeface="Arial" pitchFamily="34" charset="0"/>
              </a:defRPr>
            </a:lvl1pPr>
          </a:lstStyle>
          <a:p>
            <a:pPr>
              <a:defRPr/>
            </a:pPr>
            <a:fld id="{8FFC21A9-7A7A-41E5-B06F-08A08A897DEF}" type="slidenum">
              <a:rPr lang="en-US"/>
              <a:pPr>
                <a:defRPr/>
              </a:pPr>
              <a:t>‹#›</a:t>
            </a:fld>
            <a:endParaRPr lang="en-US"/>
          </a:p>
        </p:txBody>
      </p:sp>
    </p:spTree>
    <p:extLst>
      <p:ext uri="{BB962C8B-B14F-4D97-AF65-F5344CB8AC3E}">
        <p14:creationId xmlns:p14="http://schemas.microsoft.com/office/powerpoint/2010/main" val="190262346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a:ln/>
        </p:spPr>
      </p:sp>
      <p:sp>
        <p:nvSpPr>
          <p:cNvPr id="179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dirty="0">
              <a:latin typeface="Arial" charset="0"/>
              <a:cs typeface="Arial" charset="0"/>
            </a:endParaRPr>
          </a:p>
        </p:txBody>
      </p:sp>
      <p:sp>
        <p:nvSpPr>
          <p:cNvPr id="179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000000"/>
                </a:solidFill>
                <a:latin typeface="Arial" charset="0"/>
                <a:cs typeface="Arial" charset="0"/>
              </a:defRPr>
            </a:lvl1pPr>
            <a:lvl2pPr marL="742950" indent="-285750" eaLnBrk="0" hangingPunct="0">
              <a:defRPr sz="2000">
                <a:solidFill>
                  <a:srgbClr val="000000"/>
                </a:solidFill>
                <a:latin typeface="Arial" charset="0"/>
                <a:cs typeface="Arial" charset="0"/>
              </a:defRPr>
            </a:lvl2pPr>
            <a:lvl3pPr marL="1143000" indent="-228600" eaLnBrk="0" hangingPunct="0">
              <a:defRPr sz="2000">
                <a:solidFill>
                  <a:srgbClr val="000000"/>
                </a:solidFill>
                <a:latin typeface="Arial" charset="0"/>
                <a:cs typeface="Arial" charset="0"/>
              </a:defRPr>
            </a:lvl3pPr>
            <a:lvl4pPr marL="1600200" indent="-228600" eaLnBrk="0" hangingPunct="0">
              <a:defRPr sz="2000">
                <a:solidFill>
                  <a:srgbClr val="000000"/>
                </a:solidFill>
                <a:latin typeface="Arial" charset="0"/>
                <a:cs typeface="Arial" charset="0"/>
              </a:defRPr>
            </a:lvl4pPr>
            <a:lvl5pPr marL="2057400" indent="-228600" eaLnBrk="0" hangingPunct="0">
              <a:defRPr sz="2000">
                <a:solidFill>
                  <a:srgbClr val="000000"/>
                </a:solidFill>
                <a:latin typeface="Arial" charset="0"/>
                <a:cs typeface="Arial" charset="0"/>
              </a:defRPr>
            </a:lvl5pPr>
            <a:lvl6pPr marL="2514600" indent="-228600" eaLnBrk="0" fontAlgn="base" hangingPunct="0">
              <a:spcBef>
                <a:spcPct val="0"/>
              </a:spcBef>
              <a:spcAft>
                <a:spcPct val="0"/>
              </a:spcAft>
              <a:defRPr sz="2000">
                <a:solidFill>
                  <a:srgbClr val="000000"/>
                </a:solidFill>
                <a:latin typeface="Arial" charset="0"/>
                <a:cs typeface="Arial" charset="0"/>
              </a:defRPr>
            </a:lvl6pPr>
            <a:lvl7pPr marL="2971800" indent="-228600" eaLnBrk="0" fontAlgn="base" hangingPunct="0">
              <a:spcBef>
                <a:spcPct val="0"/>
              </a:spcBef>
              <a:spcAft>
                <a:spcPct val="0"/>
              </a:spcAft>
              <a:defRPr sz="2000">
                <a:solidFill>
                  <a:srgbClr val="000000"/>
                </a:solidFill>
                <a:latin typeface="Arial" charset="0"/>
                <a:cs typeface="Arial" charset="0"/>
              </a:defRPr>
            </a:lvl7pPr>
            <a:lvl8pPr marL="3429000" indent="-228600" eaLnBrk="0" fontAlgn="base" hangingPunct="0">
              <a:spcBef>
                <a:spcPct val="0"/>
              </a:spcBef>
              <a:spcAft>
                <a:spcPct val="0"/>
              </a:spcAft>
              <a:defRPr sz="2000">
                <a:solidFill>
                  <a:srgbClr val="000000"/>
                </a:solidFill>
                <a:latin typeface="Arial" charset="0"/>
                <a:cs typeface="Arial" charset="0"/>
              </a:defRPr>
            </a:lvl8pPr>
            <a:lvl9pPr marL="3886200" indent="-228600" eaLnBrk="0" fontAlgn="base" hangingPunct="0">
              <a:spcBef>
                <a:spcPct val="0"/>
              </a:spcBef>
              <a:spcAft>
                <a:spcPct val="0"/>
              </a:spcAft>
              <a:defRPr sz="2000">
                <a:solidFill>
                  <a:srgbClr val="000000"/>
                </a:solidFill>
                <a:latin typeface="Arial" charset="0"/>
                <a:cs typeface="Arial" charset="0"/>
              </a:defRPr>
            </a:lvl9pPr>
          </a:lstStyle>
          <a:p>
            <a:pPr eaLnBrk="1" hangingPunct="1"/>
            <a:fld id="{9DC56F74-D333-41FE-A1BD-C97F6AF3460F}" type="slidenum">
              <a:rPr lang="en-US" sz="1200" smtClean="0">
                <a:solidFill>
                  <a:schemeClr val="tx1"/>
                </a:solidFill>
              </a:rPr>
              <a:pPr eaLnBrk="1" hangingPunct="1"/>
              <a:t>54</a:t>
            </a:fld>
            <a:endParaRPr lang="en-US" sz="1200" dirty="0">
              <a:solidFill>
                <a:schemeClr val="tx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5B506B4A-E5B6-4071-B556-A68B1E6D79B3}" type="datetime2">
              <a:rPr lang="en-US" smtClean="0"/>
              <a:t>Monday, November 24,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K.V.PRASHANTH M.Sc.,M.Tech</a:t>
            </a:r>
          </a:p>
        </p:txBody>
      </p:sp>
      <p:sp>
        <p:nvSpPr>
          <p:cNvPr id="6" name="Slide Number Placeholder 5"/>
          <p:cNvSpPr>
            <a:spLocks noGrp="1"/>
          </p:cNvSpPr>
          <p:nvPr>
            <p:ph type="sldNum" sz="quarter" idx="12"/>
          </p:nvPr>
        </p:nvSpPr>
        <p:spPr/>
        <p:txBody>
          <a:bodyPr/>
          <a:lstStyle>
            <a:lvl1pPr>
              <a:defRPr/>
            </a:lvl1pPr>
          </a:lstStyle>
          <a:p>
            <a:pPr>
              <a:defRPr/>
            </a:pPr>
            <a:fld id="{681FC505-2800-4F7C-9BA0-95A9F87DFFBF}" type="slidenum">
              <a:rPr lang="en-US"/>
              <a:pPr>
                <a:defRPr/>
              </a:pPr>
              <a:t>‹#›</a:t>
            </a:fld>
            <a:endParaRPr lang="en-US"/>
          </a:p>
        </p:txBody>
      </p:sp>
    </p:spTree>
    <p:extLst>
      <p:ext uri="{BB962C8B-B14F-4D97-AF65-F5344CB8AC3E}">
        <p14:creationId xmlns:p14="http://schemas.microsoft.com/office/powerpoint/2010/main" val="181687180"/>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2A8F2CD-8F62-4878-BC1D-5A95AD5C9369}" type="datetime2">
              <a:rPr lang="en-US" smtClean="0"/>
              <a:t>Monday, November 24,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K.V.PRASHANTH M.Sc.,M.Tech</a:t>
            </a:r>
          </a:p>
        </p:txBody>
      </p:sp>
      <p:sp>
        <p:nvSpPr>
          <p:cNvPr id="6" name="Slide Number Placeholder 5"/>
          <p:cNvSpPr>
            <a:spLocks noGrp="1"/>
          </p:cNvSpPr>
          <p:nvPr>
            <p:ph type="sldNum" sz="quarter" idx="12"/>
          </p:nvPr>
        </p:nvSpPr>
        <p:spPr/>
        <p:txBody>
          <a:bodyPr/>
          <a:lstStyle>
            <a:lvl1pPr>
              <a:defRPr/>
            </a:lvl1pPr>
          </a:lstStyle>
          <a:p>
            <a:pPr>
              <a:defRPr/>
            </a:pPr>
            <a:fld id="{21DBE227-8F40-419F-9427-D506C86A5E4B}" type="slidenum">
              <a:rPr lang="en-US"/>
              <a:pPr>
                <a:defRPr/>
              </a:pPr>
              <a:t>‹#›</a:t>
            </a:fld>
            <a:endParaRPr lang="en-US"/>
          </a:p>
        </p:txBody>
      </p:sp>
    </p:spTree>
    <p:extLst>
      <p:ext uri="{BB962C8B-B14F-4D97-AF65-F5344CB8AC3E}">
        <p14:creationId xmlns:p14="http://schemas.microsoft.com/office/powerpoint/2010/main" val="3016022282"/>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3D170BA-5236-45E4-B12B-AC51FC999858}" type="datetime2">
              <a:rPr lang="en-US" smtClean="0"/>
              <a:t>Monday, November 24,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K.V.PRASHANTH M.Sc.,M.Tech</a:t>
            </a:r>
          </a:p>
        </p:txBody>
      </p:sp>
      <p:sp>
        <p:nvSpPr>
          <p:cNvPr id="6" name="Slide Number Placeholder 5"/>
          <p:cNvSpPr>
            <a:spLocks noGrp="1"/>
          </p:cNvSpPr>
          <p:nvPr>
            <p:ph type="sldNum" sz="quarter" idx="12"/>
          </p:nvPr>
        </p:nvSpPr>
        <p:spPr/>
        <p:txBody>
          <a:bodyPr/>
          <a:lstStyle>
            <a:lvl1pPr>
              <a:defRPr/>
            </a:lvl1pPr>
          </a:lstStyle>
          <a:p>
            <a:pPr>
              <a:defRPr/>
            </a:pPr>
            <a:fld id="{07396E74-87FE-408C-A241-BB0D6B9D91CF}" type="slidenum">
              <a:rPr lang="en-US"/>
              <a:pPr>
                <a:defRPr/>
              </a:pPr>
              <a:t>‹#›</a:t>
            </a:fld>
            <a:endParaRPr lang="en-US"/>
          </a:p>
        </p:txBody>
      </p:sp>
    </p:spTree>
    <p:extLst>
      <p:ext uri="{BB962C8B-B14F-4D97-AF65-F5344CB8AC3E}">
        <p14:creationId xmlns:p14="http://schemas.microsoft.com/office/powerpoint/2010/main" val="3081152249"/>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30C74E5-D63A-4256-81C2-1A1CB5E46BE7}" type="datetime2">
              <a:rPr lang="en-US" smtClean="0"/>
              <a:t>Monday, November 24, 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K.V.PRASHANTH M.Sc.,M.Tech</a:t>
            </a:r>
          </a:p>
        </p:txBody>
      </p:sp>
      <p:sp>
        <p:nvSpPr>
          <p:cNvPr id="7" name="Slide Number Placeholder 5"/>
          <p:cNvSpPr>
            <a:spLocks noGrp="1"/>
          </p:cNvSpPr>
          <p:nvPr>
            <p:ph type="sldNum" sz="quarter" idx="12"/>
          </p:nvPr>
        </p:nvSpPr>
        <p:spPr/>
        <p:txBody>
          <a:bodyPr/>
          <a:lstStyle>
            <a:lvl1pPr>
              <a:defRPr/>
            </a:lvl1pPr>
          </a:lstStyle>
          <a:p>
            <a:pPr>
              <a:defRPr/>
            </a:pPr>
            <a:fld id="{D1EBEFD2-B18E-4C1F-A15E-2C51B47340EA}" type="slidenum">
              <a:rPr lang="en-US"/>
              <a:pPr>
                <a:defRPr/>
              </a:pPr>
              <a:t>‹#›</a:t>
            </a:fld>
            <a:endParaRPr lang="en-US"/>
          </a:p>
        </p:txBody>
      </p:sp>
    </p:spTree>
    <p:extLst>
      <p:ext uri="{BB962C8B-B14F-4D97-AF65-F5344CB8AC3E}">
        <p14:creationId xmlns:p14="http://schemas.microsoft.com/office/powerpoint/2010/main" val="4015998381"/>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6753B867-151F-45DE-970C-7FCC0B3ED1A6}" type="datetime2">
              <a:rPr lang="en-US" smtClean="0"/>
              <a:t>Monday, November 24, 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K.V.PRASHANTH M.Sc.,M.Tech</a:t>
            </a:r>
          </a:p>
        </p:txBody>
      </p:sp>
      <p:sp>
        <p:nvSpPr>
          <p:cNvPr id="9" name="Slide Number Placeholder 5"/>
          <p:cNvSpPr>
            <a:spLocks noGrp="1"/>
          </p:cNvSpPr>
          <p:nvPr>
            <p:ph type="sldNum" sz="quarter" idx="12"/>
          </p:nvPr>
        </p:nvSpPr>
        <p:spPr/>
        <p:txBody>
          <a:bodyPr/>
          <a:lstStyle>
            <a:lvl1pPr>
              <a:defRPr/>
            </a:lvl1pPr>
          </a:lstStyle>
          <a:p>
            <a:pPr>
              <a:defRPr/>
            </a:pPr>
            <a:fld id="{4D5BBE16-5AE8-43FE-931B-7F4E26EBFC25}" type="slidenum">
              <a:rPr lang="en-US"/>
              <a:pPr>
                <a:defRPr/>
              </a:pPr>
              <a:t>‹#›</a:t>
            </a:fld>
            <a:endParaRPr lang="en-US"/>
          </a:p>
        </p:txBody>
      </p:sp>
    </p:spTree>
    <p:extLst>
      <p:ext uri="{BB962C8B-B14F-4D97-AF65-F5344CB8AC3E}">
        <p14:creationId xmlns:p14="http://schemas.microsoft.com/office/powerpoint/2010/main" val="2546045769"/>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0F856507-EABE-4AB6-AE0D-F2463D419B06}" type="datetime2">
              <a:rPr lang="en-US" smtClean="0"/>
              <a:t>Monday, November 24, 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K.V.PRASHANTH M.Sc.,M.Tech</a:t>
            </a:r>
          </a:p>
        </p:txBody>
      </p:sp>
      <p:sp>
        <p:nvSpPr>
          <p:cNvPr id="5" name="Slide Number Placeholder 5"/>
          <p:cNvSpPr>
            <a:spLocks noGrp="1"/>
          </p:cNvSpPr>
          <p:nvPr>
            <p:ph type="sldNum" sz="quarter" idx="12"/>
          </p:nvPr>
        </p:nvSpPr>
        <p:spPr/>
        <p:txBody>
          <a:bodyPr/>
          <a:lstStyle>
            <a:lvl1pPr>
              <a:defRPr/>
            </a:lvl1pPr>
          </a:lstStyle>
          <a:p>
            <a:pPr>
              <a:defRPr/>
            </a:pPr>
            <a:fld id="{E92BAFA8-B723-44FA-AFD8-491DDAE10237}" type="slidenum">
              <a:rPr lang="en-US"/>
              <a:pPr>
                <a:defRPr/>
              </a:pPr>
              <a:t>‹#›</a:t>
            </a:fld>
            <a:endParaRPr lang="en-US"/>
          </a:p>
        </p:txBody>
      </p:sp>
    </p:spTree>
    <p:extLst>
      <p:ext uri="{BB962C8B-B14F-4D97-AF65-F5344CB8AC3E}">
        <p14:creationId xmlns:p14="http://schemas.microsoft.com/office/powerpoint/2010/main" val="1674457090"/>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AF02911-C031-4978-BAD4-757EF1BAAE3F}" type="datetime2">
              <a:rPr lang="en-US" smtClean="0"/>
              <a:t>Monday, November 24, 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K.V.PRASHANTH M.Sc.,M.Tech</a:t>
            </a:r>
          </a:p>
        </p:txBody>
      </p:sp>
      <p:sp>
        <p:nvSpPr>
          <p:cNvPr id="4" name="Slide Number Placeholder 5"/>
          <p:cNvSpPr>
            <a:spLocks noGrp="1"/>
          </p:cNvSpPr>
          <p:nvPr>
            <p:ph type="sldNum" sz="quarter" idx="12"/>
          </p:nvPr>
        </p:nvSpPr>
        <p:spPr/>
        <p:txBody>
          <a:bodyPr/>
          <a:lstStyle>
            <a:lvl1pPr>
              <a:defRPr/>
            </a:lvl1pPr>
          </a:lstStyle>
          <a:p>
            <a:pPr>
              <a:defRPr/>
            </a:pPr>
            <a:fld id="{15222074-2EE5-42E2-9DCC-4A65092B209E}" type="slidenum">
              <a:rPr lang="en-US"/>
              <a:pPr>
                <a:defRPr/>
              </a:pPr>
              <a:t>‹#›</a:t>
            </a:fld>
            <a:endParaRPr lang="en-US"/>
          </a:p>
        </p:txBody>
      </p:sp>
    </p:spTree>
    <p:extLst>
      <p:ext uri="{BB962C8B-B14F-4D97-AF65-F5344CB8AC3E}">
        <p14:creationId xmlns:p14="http://schemas.microsoft.com/office/powerpoint/2010/main" val="83509349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58DA2BD-0284-4FC3-9095-746F9E5001D6}" type="datetime2">
              <a:rPr lang="en-US" smtClean="0"/>
              <a:t>Monday, November 24, 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K.V.PRASHANTH M.Sc.,M.Tech</a:t>
            </a:r>
          </a:p>
        </p:txBody>
      </p:sp>
      <p:sp>
        <p:nvSpPr>
          <p:cNvPr id="7" name="Slide Number Placeholder 5"/>
          <p:cNvSpPr>
            <a:spLocks noGrp="1"/>
          </p:cNvSpPr>
          <p:nvPr>
            <p:ph type="sldNum" sz="quarter" idx="12"/>
          </p:nvPr>
        </p:nvSpPr>
        <p:spPr/>
        <p:txBody>
          <a:bodyPr/>
          <a:lstStyle>
            <a:lvl1pPr>
              <a:defRPr/>
            </a:lvl1pPr>
          </a:lstStyle>
          <a:p>
            <a:pPr>
              <a:defRPr/>
            </a:pPr>
            <a:fld id="{9706A429-1D88-403C-9D43-4DC5E0904E88}" type="slidenum">
              <a:rPr lang="en-US"/>
              <a:pPr>
                <a:defRPr/>
              </a:pPr>
              <a:t>‹#›</a:t>
            </a:fld>
            <a:endParaRPr lang="en-US"/>
          </a:p>
        </p:txBody>
      </p:sp>
    </p:spTree>
    <p:extLst>
      <p:ext uri="{BB962C8B-B14F-4D97-AF65-F5344CB8AC3E}">
        <p14:creationId xmlns:p14="http://schemas.microsoft.com/office/powerpoint/2010/main" val="279458704"/>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BB64089-4B90-49F5-81D8-4D18B8329D98}" type="datetime2">
              <a:rPr lang="en-US" smtClean="0"/>
              <a:t>Monday, November 24, 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K.V.PRASHANTH M.Sc.,M.Tech</a:t>
            </a:r>
          </a:p>
        </p:txBody>
      </p:sp>
      <p:sp>
        <p:nvSpPr>
          <p:cNvPr id="7" name="Slide Number Placeholder 5"/>
          <p:cNvSpPr>
            <a:spLocks noGrp="1"/>
          </p:cNvSpPr>
          <p:nvPr>
            <p:ph type="sldNum" sz="quarter" idx="12"/>
          </p:nvPr>
        </p:nvSpPr>
        <p:spPr/>
        <p:txBody>
          <a:bodyPr/>
          <a:lstStyle>
            <a:lvl1pPr>
              <a:defRPr/>
            </a:lvl1pPr>
          </a:lstStyle>
          <a:p>
            <a:pPr>
              <a:defRPr/>
            </a:pPr>
            <a:fld id="{7E851CAC-28A6-4AF9-B71E-A0AFB461AF05}" type="slidenum">
              <a:rPr lang="en-US"/>
              <a:pPr>
                <a:defRPr/>
              </a:pPr>
              <a:t>‹#›</a:t>
            </a:fld>
            <a:endParaRPr lang="en-US"/>
          </a:p>
        </p:txBody>
      </p:sp>
    </p:spTree>
    <p:extLst>
      <p:ext uri="{BB962C8B-B14F-4D97-AF65-F5344CB8AC3E}">
        <p14:creationId xmlns:p14="http://schemas.microsoft.com/office/powerpoint/2010/main" val="2909228703"/>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74E9644-2A49-4F6B-968E-594AAC00B2AD}" type="datetime2">
              <a:rPr lang="en-US" smtClean="0"/>
              <a:t>Monday, November 24,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K.V.PRASHANTH M.Sc.,M.Tech</a:t>
            </a:r>
          </a:p>
        </p:txBody>
      </p:sp>
      <p:sp>
        <p:nvSpPr>
          <p:cNvPr id="6" name="Slide Number Placeholder 5"/>
          <p:cNvSpPr>
            <a:spLocks noGrp="1"/>
          </p:cNvSpPr>
          <p:nvPr>
            <p:ph type="sldNum" sz="quarter" idx="12"/>
          </p:nvPr>
        </p:nvSpPr>
        <p:spPr/>
        <p:txBody>
          <a:bodyPr/>
          <a:lstStyle>
            <a:lvl1pPr>
              <a:defRPr/>
            </a:lvl1pPr>
          </a:lstStyle>
          <a:p>
            <a:pPr>
              <a:defRPr/>
            </a:pPr>
            <a:fld id="{960CE79D-E249-4B7D-A10F-ED9E41963CD0}" type="slidenum">
              <a:rPr lang="en-US"/>
              <a:pPr>
                <a:defRPr/>
              </a:pPr>
              <a:t>‹#›</a:t>
            </a:fld>
            <a:endParaRPr lang="en-US"/>
          </a:p>
        </p:txBody>
      </p:sp>
    </p:spTree>
    <p:extLst>
      <p:ext uri="{BB962C8B-B14F-4D97-AF65-F5344CB8AC3E}">
        <p14:creationId xmlns:p14="http://schemas.microsoft.com/office/powerpoint/2010/main" val="669579777"/>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ECAC3CE-88EB-4B5C-8E26-7122063592F6}" type="datetime2">
              <a:rPr lang="en-US" smtClean="0"/>
              <a:t>Monday, November 24,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K.V.PRASHANTH M.Sc.,M.Tech</a:t>
            </a:r>
          </a:p>
        </p:txBody>
      </p:sp>
      <p:sp>
        <p:nvSpPr>
          <p:cNvPr id="6" name="Slide Number Placeholder 5"/>
          <p:cNvSpPr>
            <a:spLocks noGrp="1"/>
          </p:cNvSpPr>
          <p:nvPr>
            <p:ph type="sldNum" sz="quarter" idx="12"/>
          </p:nvPr>
        </p:nvSpPr>
        <p:spPr/>
        <p:txBody>
          <a:bodyPr/>
          <a:lstStyle>
            <a:lvl1pPr>
              <a:defRPr/>
            </a:lvl1pPr>
          </a:lstStyle>
          <a:p>
            <a:pPr>
              <a:defRPr/>
            </a:pPr>
            <a:fld id="{33E2529C-9C93-487F-AB0B-DA2DB2F768B4}" type="slidenum">
              <a:rPr lang="en-US"/>
              <a:pPr>
                <a:defRPr/>
              </a:pPr>
              <a:t>‹#›</a:t>
            </a:fld>
            <a:endParaRPr lang="en-US"/>
          </a:p>
        </p:txBody>
      </p:sp>
    </p:spTree>
    <p:extLst>
      <p:ext uri="{BB962C8B-B14F-4D97-AF65-F5344CB8AC3E}">
        <p14:creationId xmlns:p14="http://schemas.microsoft.com/office/powerpoint/2010/main" val="566068643"/>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A66A6E5-E4D8-4CA2-84CD-81B4C7CF9DF7}" type="datetime2">
              <a:rPr lang="en-US" smtClean="0"/>
              <a:t>Monday, November 24,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K.V.PRASHANTH M.Sc.,M.Tech</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5804C0F-9B08-436F-8BC1-D360A1EAA8F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ransition>
    <p:random/>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5"/>
          <p:cNvSpPr>
            <a:spLocks noGrp="1" noRot="1" noChangeArrowheads="1"/>
          </p:cNvSpPr>
          <p:nvPr>
            <p:ph type="title"/>
          </p:nvPr>
        </p:nvSpPr>
        <p:spPr>
          <a:xfrm>
            <a:off x="1393825" y="188913"/>
            <a:ext cx="6283325" cy="1039812"/>
          </a:xfrm>
        </p:spPr>
        <p:txBody>
          <a:bodyPr/>
          <a:lstStyle/>
          <a:p>
            <a:pPr eaLnBrk="1" hangingPunct="1"/>
            <a:r>
              <a:rPr lang="en-US" altLang="en-US" sz="4000" b="1">
                <a:solidFill>
                  <a:srgbClr val="FF0000"/>
                </a:solidFill>
              </a:rPr>
              <a:t>Serial Communication</a:t>
            </a:r>
          </a:p>
        </p:txBody>
      </p:sp>
      <p:pic>
        <p:nvPicPr>
          <p:cNvPr id="9421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2388" y="1125538"/>
            <a:ext cx="7210425" cy="3095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9421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228975"/>
            <a:ext cx="2209800"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94214"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04025" y="2609850"/>
            <a:ext cx="2228850" cy="2990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94215"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1188" y="4653136"/>
            <a:ext cx="5819775"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0"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2693705099"/>
      </p:ext>
    </p:ext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rrowheads="1"/>
          </p:cNvSpPr>
          <p:nvPr>
            <p:ph type="title"/>
          </p:nvPr>
        </p:nvSpPr>
        <p:spPr>
          <a:xfrm>
            <a:off x="468313" y="4763"/>
            <a:ext cx="8229600" cy="1143000"/>
          </a:xfrm>
        </p:spPr>
        <p:txBody>
          <a:bodyPr/>
          <a:lstStyle/>
          <a:p>
            <a:pPr eaLnBrk="1" hangingPunct="1"/>
            <a:r>
              <a:rPr lang="en-US" altLang="en-US" sz="3600" b="1">
                <a:solidFill>
                  <a:srgbClr val="FF0000"/>
                </a:solidFill>
                <a:latin typeface="Times New Roman" pitchFamily="18" charset="0"/>
                <a:ea typeface="굴림" pitchFamily="34" charset="-127"/>
                <a:cs typeface="Times New Roman" pitchFamily="18" charset="0"/>
              </a:rPr>
              <a:t>Serial vs. parallel Communication</a:t>
            </a:r>
          </a:p>
        </p:txBody>
      </p:sp>
      <p:pic>
        <p:nvPicPr>
          <p:cNvPr id="9523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813" y="981075"/>
            <a:ext cx="5903912" cy="2447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9523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9613" y="3641725"/>
            <a:ext cx="5329237" cy="274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8"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2819878603"/>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rrowheads="1"/>
          </p:cNvSpPr>
          <p:nvPr>
            <p:ph type="title"/>
          </p:nvPr>
        </p:nvSpPr>
        <p:spPr>
          <a:xfrm>
            <a:off x="468313" y="4763"/>
            <a:ext cx="8229600" cy="1143000"/>
          </a:xfrm>
        </p:spPr>
        <p:txBody>
          <a:bodyPr/>
          <a:lstStyle/>
          <a:p>
            <a:pPr eaLnBrk="1" hangingPunct="1"/>
            <a:r>
              <a:rPr lang="en-US" altLang="en-US" b="1" dirty="0">
                <a:solidFill>
                  <a:srgbClr val="FF0000"/>
                </a:solidFill>
                <a:latin typeface="Times New Roman" pitchFamily="18" charset="0"/>
                <a:ea typeface="굴림" pitchFamily="34" charset="-127"/>
                <a:cs typeface="Times New Roman" pitchFamily="18" charset="0"/>
              </a:rPr>
              <a:t>Synchronous vs. Asynchronous</a:t>
            </a:r>
          </a:p>
        </p:txBody>
      </p:sp>
      <p:sp>
        <p:nvSpPr>
          <p:cNvPr id="69635" name="Rectangle 3"/>
          <p:cNvSpPr>
            <a:spLocks noGrp="1" noRot="1" noChangeArrowheads="1"/>
          </p:cNvSpPr>
          <p:nvPr>
            <p:ph idx="1"/>
          </p:nvPr>
        </p:nvSpPr>
        <p:spPr>
          <a:xfrm>
            <a:off x="179388" y="981075"/>
            <a:ext cx="8785225" cy="5327650"/>
          </a:xfrm>
        </p:spPr>
        <p:txBody>
          <a:bodyPr/>
          <a:lstStyle/>
          <a:p>
            <a:pPr marL="0" indent="0" algn="just" eaLnBrk="1" hangingPunct="1">
              <a:lnSpc>
                <a:spcPct val="90000"/>
              </a:lnSpc>
              <a:buFont typeface="Arial" charset="0"/>
              <a:buNone/>
              <a:defRPr/>
            </a:pPr>
            <a:r>
              <a:rPr lang="en-US" altLang="en-US" sz="2200" dirty="0">
                <a:solidFill>
                  <a:srgbClr val="000000"/>
                </a:solidFill>
                <a:latin typeface="Times New Roman" pitchFamily="18" charset="0"/>
                <a:cs typeface="Times New Roman" pitchFamily="18" charset="0"/>
              </a:rPr>
              <a:t>Serial data communication uses two methods</a:t>
            </a:r>
          </a:p>
          <a:p>
            <a:pPr marL="457200" indent="-457200" algn="just" eaLnBrk="1" hangingPunct="1">
              <a:lnSpc>
                <a:spcPct val="90000"/>
              </a:lnSpc>
              <a:buFont typeface="Arial" charset="0"/>
              <a:buAutoNum type="arabicPeriod"/>
              <a:defRPr/>
            </a:pPr>
            <a:r>
              <a:rPr lang="en-US" altLang="en-US" sz="2200" dirty="0">
                <a:solidFill>
                  <a:srgbClr val="000000"/>
                </a:solidFill>
                <a:latin typeface="Times New Roman" pitchFamily="18" charset="0"/>
                <a:cs typeface="Times New Roman" pitchFamily="18" charset="0"/>
              </a:rPr>
              <a:t>Synchronous</a:t>
            </a:r>
          </a:p>
          <a:p>
            <a:pPr marL="457200" indent="-457200" algn="just" eaLnBrk="1" hangingPunct="1">
              <a:lnSpc>
                <a:spcPct val="90000"/>
              </a:lnSpc>
              <a:buFont typeface="Arial" charset="0"/>
              <a:buAutoNum type="arabicPeriod"/>
              <a:defRPr/>
            </a:pPr>
            <a:r>
              <a:rPr lang="en-US" altLang="en-US" sz="2200" dirty="0">
                <a:solidFill>
                  <a:srgbClr val="000000"/>
                </a:solidFill>
                <a:latin typeface="Times New Roman" pitchFamily="18" charset="0"/>
                <a:cs typeface="Times New Roman" pitchFamily="18" charset="0"/>
              </a:rPr>
              <a:t>Asynchronous </a:t>
            </a:r>
          </a:p>
          <a:p>
            <a:pPr marL="457200" indent="-457200" algn="just" eaLnBrk="1" hangingPunct="1">
              <a:lnSpc>
                <a:spcPct val="90000"/>
              </a:lnSpc>
              <a:buFont typeface="Arial" charset="0"/>
              <a:buAutoNum type="arabicPeriod"/>
              <a:defRPr/>
            </a:pPr>
            <a:endParaRPr lang="en-US" altLang="en-US" sz="2200" dirty="0">
              <a:solidFill>
                <a:srgbClr val="000000"/>
              </a:solidFill>
              <a:latin typeface="Times New Roman" pitchFamily="18" charset="0"/>
              <a:cs typeface="Times New Roman" pitchFamily="18" charset="0"/>
            </a:endParaRPr>
          </a:p>
          <a:p>
            <a:pPr marL="457200" indent="-457200" algn="just" eaLnBrk="1" hangingPunct="1">
              <a:lnSpc>
                <a:spcPct val="90000"/>
              </a:lnSpc>
              <a:buFont typeface="Arial" charset="0"/>
              <a:buAutoNum type="arabicPeriod"/>
              <a:defRPr/>
            </a:pPr>
            <a:endParaRPr lang="en-US" altLang="en-US" sz="2200" dirty="0">
              <a:solidFill>
                <a:srgbClr val="000000"/>
              </a:solidFill>
              <a:latin typeface="Times New Roman" pitchFamily="18" charset="0"/>
              <a:cs typeface="Times New Roman" pitchFamily="18" charset="0"/>
            </a:endParaRPr>
          </a:p>
          <a:p>
            <a:pPr marL="457200" indent="-457200" algn="just" eaLnBrk="1" hangingPunct="1">
              <a:lnSpc>
                <a:spcPct val="90000"/>
              </a:lnSpc>
              <a:buFont typeface="Arial" charset="0"/>
              <a:buAutoNum type="arabicPeriod"/>
              <a:defRPr/>
            </a:pPr>
            <a:endParaRPr lang="en-US" altLang="en-US" sz="2200" dirty="0">
              <a:solidFill>
                <a:srgbClr val="000000"/>
              </a:solidFill>
              <a:latin typeface="Times New Roman" pitchFamily="18" charset="0"/>
              <a:cs typeface="Times New Roman" pitchFamily="18" charset="0"/>
            </a:endParaRPr>
          </a:p>
          <a:p>
            <a:pPr marL="457200" indent="-457200" algn="just" eaLnBrk="1" hangingPunct="1">
              <a:lnSpc>
                <a:spcPct val="90000"/>
              </a:lnSpc>
              <a:buFont typeface="Arial" charset="0"/>
              <a:buAutoNum type="arabicPeriod"/>
              <a:defRPr/>
            </a:pPr>
            <a:endParaRPr lang="en-US" altLang="en-US" sz="2200" dirty="0">
              <a:solidFill>
                <a:srgbClr val="000000"/>
              </a:solidFill>
              <a:latin typeface="Times New Roman" pitchFamily="18" charset="0"/>
              <a:cs typeface="Times New Roman" pitchFamily="18" charset="0"/>
            </a:endParaRPr>
          </a:p>
          <a:p>
            <a:pPr marL="0" indent="0" algn="just" eaLnBrk="1" hangingPunct="1">
              <a:lnSpc>
                <a:spcPct val="90000"/>
              </a:lnSpc>
              <a:buFont typeface="Arial" charset="0"/>
              <a:buNone/>
              <a:defRPr/>
            </a:pPr>
            <a:endParaRPr lang="en-US" altLang="en-US" sz="2200" dirty="0">
              <a:solidFill>
                <a:srgbClr val="000000"/>
              </a:solidFill>
              <a:latin typeface="Times New Roman" pitchFamily="18" charset="0"/>
              <a:cs typeface="Times New Roman" pitchFamily="18" charset="0"/>
            </a:endParaRPr>
          </a:p>
          <a:p>
            <a:pPr marL="0" indent="0" algn="just" eaLnBrk="1" hangingPunct="1">
              <a:lnSpc>
                <a:spcPct val="90000"/>
              </a:lnSpc>
              <a:buFont typeface="Arial" charset="0"/>
              <a:buNone/>
              <a:defRPr/>
            </a:pPr>
            <a:endParaRPr lang="en-US" altLang="en-US" sz="2200" dirty="0">
              <a:solidFill>
                <a:srgbClr val="000000"/>
              </a:solidFill>
              <a:latin typeface="Times New Roman" pitchFamily="18" charset="0"/>
              <a:cs typeface="Times New Roman" pitchFamily="18" charset="0"/>
            </a:endParaRPr>
          </a:p>
          <a:p>
            <a:pPr marL="0" indent="0" algn="just" eaLnBrk="1" hangingPunct="1">
              <a:lnSpc>
                <a:spcPct val="90000"/>
              </a:lnSpc>
              <a:buFont typeface="Arial" charset="0"/>
              <a:buNone/>
              <a:defRPr/>
            </a:pPr>
            <a:endParaRPr lang="en-US" altLang="en-US" sz="2200" dirty="0">
              <a:solidFill>
                <a:srgbClr val="000000"/>
              </a:solidFill>
              <a:latin typeface="Times New Roman" pitchFamily="18" charset="0"/>
              <a:cs typeface="Times New Roman" pitchFamily="18" charset="0"/>
            </a:endParaRPr>
          </a:p>
          <a:p>
            <a:pPr marL="0" indent="0" algn="just" eaLnBrk="1" hangingPunct="1">
              <a:lnSpc>
                <a:spcPct val="90000"/>
              </a:lnSpc>
              <a:buFont typeface="Arial" charset="0"/>
              <a:buNone/>
              <a:defRPr/>
            </a:pPr>
            <a:r>
              <a:rPr lang="en-US" altLang="en-US" sz="2200" dirty="0">
                <a:solidFill>
                  <a:srgbClr val="000000"/>
                </a:solidFill>
                <a:latin typeface="Times New Roman" pitchFamily="18" charset="0"/>
                <a:cs typeface="Times New Roman" pitchFamily="18" charset="0"/>
              </a:rPr>
              <a:t>There are special IC chips made by many manufacturers for serial communications.</a:t>
            </a:r>
          </a:p>
          <a:p>
            <a:pPr marL="457200" indent="-457200" algn="just" eaLnBrk="1" hangingPunct="1">
              <a:lnSpc>
                <a:spcPct val="90000"/>
              </a:lnSpc>
              <a:buFont typeface="Arial" charset="0"/>
              <a:buAutoNum type="arabicPeriod"/>
              <a:defRPr/>
            </a:pPr>
            <a:r>
              <a:rPr lang="en-US" altLang="en-US" sz="2200" dirty="0">
                <a:solidFill>
                  <a:srgbClr val="000000"/>
                </a:solidFill>
                <a:latin typeface="Times New Roman" pitchFamily="18" charset="0"/>
                <a:cs typeface="Times New Roman" pitchFamily="18" charset="0"/>
              </a:rPr>
              <a:t>UART- universal asynchronous receiver-transmitter.</a:t>
            </a:r>
          </a:p>
          <a:p>
            <a:pPr marL="457200" indent="-457200" algn="just" eaLnBrk="1" hangingPunct="1">
              <a:lnSpc>
                <a:spcPct val="90000"/>
              </a:lnSpc>
              <a:buFont typeface="Arial" charset="0"/>
              <a:buAutoNum type="arabicPeriod"/>
              <a:defRPr/>
            </a:pPr>
            <a:r>
              <a:rPr lang="en-US" altLang="en-US" sz="2200" dirty="0">
                <a:solidFill>
                  <a:srgbClr val="000000"/>
                </a:solidFill>
                <a:latin typeface="Times New Roman" pitchFamily="18" charset="0"/>
                <a:cs typeface="Times New Roman" pitchFamily="18" charset="0"/>
              </a:rPr>
              <a:t>USART- universal synchronous - asynchronous receiver-transmitter </a:t>
            </a:r>
          </a:p>
        </p:txBody>
      </p:sp>
      <p:pic>
        <p:nvPicPr>
          <p:cNvPr id="9626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875" y="1512888"/>
            <a:ext cx="6264275" cy="2852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8"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1083545006"/>
      </p:ext>
    </p:extLst>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rrowheads="1"/>
          </p:cNvSpPr>
          <p:nvPr>
            <p:ph type="title"/>
          </p:nvPr>
        </p:nvSpPr>
        <p:spPr>
          <a:xfrm>
            <a:off x="468313" y="115888"/>
            <a:ext cx="8229600" cy="760412"/>
          </a:xfrm>
        </p:spPr>
        <p:txBody>
          <a:bodyPr/>
          <a:lstStyle/>
          <a:p>
            <a:pPr eaLnBrk="1" hangingPunct="1"/>
            <a:r>
              <a:rPr lang="en-US" altLang="en-US" b="1" dirty="0">
                <a:solidFill>
                  <a:srgbClr val="FF0000"/>
                </a:solidFill>
                <a:latin typeface="Times New Roman" pitchFamily="18" charset="0"/>
                <a:ea typeface="굴림" pitchFamily="34" charset="-127"/>
                <a:cs typeface="Times New Roman" pitchFamily="18" charset="0"/>
              </a:rPr>
              <a:t>Framing (Asynchronous )</a:t>
            </a:r>
          </a:p>
        </p:txBody>
      </p:sp>
      <p:pic>
        <p:nvPicPr>
          <p:cNvPr id="9728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9975" y="1052513"/>
            <a:ext cx="6335713" cy="4972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97285"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75" y="4005263"/>
            <a:ext cx="2246313" cy="719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8"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1422136807"/>
      </p:ext>
    </p:extLst>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8" y="1052513"/>
            <a:ext cx="7799387" cy="475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6"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900532844"/>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825" y="620713"/>
            <a:ext cx="8497888" cy="4764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6"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966788106"/>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Title 1"/>
          <p:cNvSpPr>
            <a:spLocks noGrp="1"/>
          </p:cNvSpPr>
          <p:nvPr>
            <p:ph type="title"/>
          </p:nvPr>
        </p:nvSpPr>
        <p:spPr>
          <a:xfrm>
            <a:off x="1476375" y="260350"/>
            <a:ext cx="5697538" cy="777875"/>
          </a:xfrm>
        </p:spPr>
        <p:txBody>
          <a:bodyPr/>
          <a:lstStyle/>
          <a:p>
            <a:r>
              <a:rPr lang="en-IN" altLang="en-US" b="1">
                <a:solidFill>
                  <a:srgbClr val="FF0000"/>
                </a:solidFill>
              </a:rPr>
              <a:t>SCON register</a:t>
            </a:r>
          </a:p>
        </p:txBody>
      </p:sp>
      <p:pic>
        <p:nvPicPr>
          <p:cNvPr id="101380" name="Picture 2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1122363"/>
            <a:ext cx="7272337" cy="381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01381" name="Picture 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4941168"/>
            <a:ext cx="3384376" cy="16226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8"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166360790"/>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4"/>
          <p:cNvSpPr>
            <a:spLocks noGrp="1" noRot="1" noChangeArrowheads="1"/>
          </p:cNvSpPr>
          <p:nvPr>
            <p:ph type="title"/>
          </p:nvPr>
        </p:nvSpPr>
        <p:spPr>
          <a:xfrm>
            <a:off x="146050" y="771525"/>
            <a:ext cx="8929688" cy="5465763"/>
          </a:xfrm>
        </p:spPr>
        <p:txBody>
          <a:bodyPr/>
          <a:lstStyle/>
          <a:p>
            <a:pPr algn="l" eaLnBrk="1" hangingPunct="1"/>
            <a:r>
              <a:rPr lang="en-US" altLang="en-US" sz="2000" b="1">
                <a:solidFill>
                  <a:srgbClr val="FF0000"/>
                </a:solidFill>
              </a:rPr>
              <a:t>There are two ways to increase the baud rate of data transfer in 8051.</a:t>
            </a:r>
            <a:br>
              <a:rPr lang="en-US" altLang="en-US" sz="2000" b="1">
                <a:solidFill>
                  <a:srgbClr val="FF0000"/>
                </a:solidFill>
              </a:rPr>
            </a:br>
            <a:r>
              <a:rPr lang="en-US" altLang="en-US" sz="2000" b="1">
                <a:solidFill>
                  <a:srgbClr val="FF0000"/>
                </a:solidFill>
              </a:rPr>
              <a:t>	1. Use a higher frequency crystal.</a:t>
            </a:r>
            <a:br>
              <a:rPr lang="en-US" altLang="en-US" sz="2000" b="1">
                <a:solidFill>
                  <a:srgbClr val="FF0000"/>
                </a:solidFill>
              </a:rPr>
            </a:br>
            <a:r>
              <a:rPr lang="en-US" altLang="en-US" sz="2000" b="1">
                <a:solidFill>
                  <a:srgbClr val="FF0000"/>
                </a:solidFill>
              </a:rPr>
              <a:t>	2. Change a D7-bit to 1 in the PCON register</a:t>
            </a:r>
            <a:br>
              <a:rPr lang="en-US" altLang="en-US" sz="2000" b="1">
                <a:solidFill>
                  <a:srgbClr val="FF0000"/>
                </a:solidFill>
              </a:rPr>
            </a:br>
            <a:br>
              <a:rPr lang="en-US" altLang="en-US" sz="2000" b="1">
                <a:solidFill>
                  <a:srgbClr val="FF0000"/>
                </a:solidFill>
              </a:rPr>
            </a:br>
            <a:r>
              <a:rPr lang="en-US" altLang="en-US" sz="2000" b="1">
                <a:solidFill>
                  <a:srgbClr val="FF0000"/>
                </a:solidFill>
              </a:rPr>
              <a:t>P</a:t>
            </a:r>
            <a:r>
              <a:rPr lang="en-US" altLang="en-US" sz="2000" b="1" u="sng">
                <a:solidFill>
                  <a:srgbClr val="FF0000"/>
                </a:solidFill>
              </a:rPr>
              <a:t>CON Register: ( Byte addressable)</a:t>
            </a:r>
            <a:br>
              <a:rPr lang="en-US" altLang="en-US" sz="2000" b="1">
                <a:solidFill>
                  <a:srgbClr val="FF0000"/>
                </a:solidFill>
              </a:rPr>
            </a:br>
            <a:br>
              <a:rPr lang="en-US" altLang="en-US" sz="2000" b="1">
                <a:solidFill>
                  <a:srgbClr val="FF0000"/>
                </a:solidFill>
              </a:rPr>
            </a:br>
            <a:br>
              <a:rPr lang="en-US" altLang="en-US" sz="2000" b="1">
                <a:solidFill>
                  <a:srgbClr val="FF0000"/>
                </a:solidFill>
              </a:rPr>
            </a:br>
            <a:br>
              <a:rPr lang="en-US" altLang="en-US" sz="3200" b="1" u="sng">
                <a:solidFill>
                  <a:srgbClr val="FF0000"/>
                </a:solidFill>
              </a:rPr>
            </a:br>
            <a:br>
              <a:rPr lang="en-US" altLang="en-US" sz="3200" b="1" u="sng">
                <a:solidFill>
                  <a:srgbClr val="FF0000"/>
                </a:solidFill>
              </a:rPr>
            </a:br>
            <a:endParaRPr lang="en-US" altLang="en-US" sz="3200" b="1" u="sng">
              <a:solidFill>
                <a:srgbClr val="FF0000"/>
              </a:solidFill>
            </a:endParaRPr>
          </a:p>
        </p:txBody>
      </p:sp>
      <p:sp>
        <p:nvSpPr>
          <p:cNvPr id="5" name="Rectangle 4"/>
          <p:cNvSpPr txBox="1">
            <a:spLocks noRot="1" noChangeArrowheads="1"/>
          </p:cNvSpPr>
          <p:nvPr/>
        </p:nvSpPr>
        <p:spPr bwMode="auto">
          <a:xfrm>
            <a:off x="2268538" y="123825"/>
            <a:ext cx="46847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fontAlgn="auto" hangingPunct="1">
              <a:spcAft>
                <a:spcPts val="0"/>
              </a:spcAft>
              <a:defRPr/>
            </a:pPr>
            <a:r>
              <a:rPr lang="en-US" sz="3200" b="1" u="sng" dirty="0">
                <a:solidFill>
                  <a:srgbClr val="FF0000"/>
                </a:solidFill>
              </a:rPr>
              <a:t>Doubling the baud rate</a:t>
            </a:r>
          </a:p>
        </p:txBody>
      </p:sp>
      <p:pic>
        <p:nvPicPr>
          <p:cNvPr id="102405" name="Picture 2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3284538"/>
            <a:ext cx="7656512" cy="658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02406" name="Picture 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1238" y="4292600"/>
            <a:ext cx="6296025"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02407" name="Picture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0113" y="4292600"/>
            <a:ext cx="1285875" cy="77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0"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1164599813"/>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800" y="692150"/>
            <a:ext cx="8570913" cy="5338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6"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2171644891"/>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p:nvPr>
        </p:nvSpPr>
        <p:spPr>
          <a:xfrm>
            <a:off x="467544" y="260648"/>
            <a:ext cx="8229600" cy="576263"/>
          </a:xfrm>
        </p:spPr>
        <p:txBody>
          <a:bodyPr/>
          <a:lstStyle/>
          <a:p>
            <a:r>
              <a:rPr lang="en-IN" altLang="en-US" sz="3200" b="1" dirty="0">
                <a:solidFill>
                  <a:srgbClr val="FF0000"/>
                </a:solidFill>
              </a:rPr>
              <a:t>Programming 8051 to transfer data serially </a:t>
            </a:r>
          </a:p>
        </p:txBody>
      </p:sp>
      <p:sp>
        <p:nvSpPr>
          <p:cNvPr id="3" name="Content Placeholder 2"/>
          <p:cNvSpPr>
            <a:spLocks noGrp="1"/>
          </p:cNvSpPr>
          <p:nvPr>
            <p:ph idx="1"/>
          </p:nvPr>
        </p:nvSpPr>
        <p:spPr>
          <a:xfrm>
            <a:off x="179388" y="908721"/>
            <a:ext cx="8856662" cy="5040560"/>
          </a:xfrm>
        </p:spPr>
        <p:txBody>
          <a:bodyPr/>
          <a:lstStyle/>
          <a:p>
            <a:pPr marL="0" indent="0" algn="just">
              <a:buFont typeface="Arial" charset="0"/>
              <a:buNone/>
              <a:defRPr/>
            </a:pPr>
            <a:endParaRPr lang="en-IN" sz="2000" dirty="0"/>
          </a:p>
          <a:p>
            <a:pPr marL="0" indent="0" algn="just">
              <a:buFont typeface="Arial" charset="0"/>
              <a:buNone/>
              <a:defRPr/>
            </a:pPr>
            <a:r>
              <a:rPr lang="en-IN" sz="2000" dirty="0"/>
              <a:t>In programming 8051 to transfer character bytes serially, the following steps must be taken</a:t>
            </a:r>
          </a:p>
          <a:p>
            <a:pPr marL="457200" indent="-457200" algn="just">
              <a:buFont typeface="Arial" charset="0"/>
              <a:buAutoNum type="arabicPeriod"/>
              <a:defRPr/>
            </a:pPr>
            <a:r>
              <a:rPr lang="en-IN" sz="2000" dirty="0"/>
              <a:t>The TMOD register is loaded with the value 20H , indicating the use of Timer 1 in mode 2(8-bit auto reload) to set the baud rate</a:t>
            </a:r>
          </a:p>
          <a:p>
            <a:pPr marL="457200" indent="-457200" algn="just">
              <a:buFont typeface="Arial" charset="0"/>
              <a:buAutoNum type="arabicPeriod"/>
              <a:defRPr/>
            </a:pPr>
            <a:r>
              <a:rPr lang="en-IN" sz="2000" dirty="0"/>
              <a:t>The TH1 is loaded with one of the values to set the baud rate for serial data transfer( assuming XTAL= 11.0592 MHz).</a:t>
            </a:r>
          </a:p>
          <a:p>
            <a:pPr marL="457200" indent="-457200" algn="just">
              <a:buFont typeface="Arial" charset="0"/>
              <a:buAutoNum type="arabicPeriod"/>
              <a:defRPr/>
            </a:pPr>
            <a:r>
              <a:rPr lang="en-IN" sz="2000" dirty="0"/>
              <a:t>The SCON register is loaded with the value 50H indicating serial mode 1, where an 8-bit data is framed with start &amp; stop bits.</a:t>
            </a:r>
          </a:p>
          <a:p>
            <a:pPr marL="457200" indent="-457200" algn="just">
              <a:buFont typeface="Arial" charset="0"/>
              <a:buAutoNum type="arabicPeriod"/>
              <a:defRPr/>
            </a:pPr>
            <a:r>
              <a:rPr lang="en-IN" sz="2000" dirty="0"/>
              <a:t>TR1 is SET to 1 to start Timer 1.</a:t>
            </a:r>
          </a:p>
          <a:p>
            <a:pPr marL="457200" indent="-457200" algn="just">
              <a:buFont typeface="Arial" charset="0"/>
              <a:buAutoNum type="arabicPeriod"/>
              <a:defRPr/>
            </a:pPr>
            <a:r>
              <a:rPr lang="en-IN" sz="2000" dirty="0"/>
              <a:t>TI is cleared when transmission is complete.</a:t>
            </a:r>
          </a:p>
          <a:p>
            <a:pPr marL="457200" indent="-457200" algn="just">
              <a:buFont typeface="Arial" charset="0"/>
              <a:buAutoNum type="arabicPeriod"/>
              <a:defRPr/>
            </a:pPr>
            <a:r>
              <a:rPr lang="en-IN" sz="2000" dirty="0"/>
              <a:t>The character byte to be transferred serially is written into SBUF register.</a:t>
            </a:r>
          </a:p>
          <a:p>
            <a:pPr marL="457200" indent="-457200" algn="just">
              <a:buFont typeface="Arial" charset="0"/>
              <a:buAutoNum type="arabicPeriod"/>
              <a:defRPr/>
            </a:pPr>
            <a:r>
              <a:rPr lang="en-IN" sz="2000" dirty="0"/>
              <a:t>TI is monitored for transmission .</a:t>
            </a:r>
          </a:p>
          <a:p>
            <a:pPr marL="457200" indent="-457200" algn="just">
              <a:buFont typeface="Arial" charset="0"/>
              <a:buAutoNum type="arabicPeriod"/>
              <a:defRPr/>
            </a:pPr>
            <a:r>
              <a:rPr lang="en-IN" sz="2000" dirty="0"/>
              <a:t>To transfer the next character go to step 5</a:t>
            </a:r>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262739374"/>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lstStyle/>
          <a:p>
            <a:r>
              <a:rPr lang="en-IN" altLang="en-US" sz="3200" b="1">
                <a:solidFill>
                  <a:srgbClr val="FF0000"/>
                </a:solidFill>
              </a:rPr>
              <a:t>Example Program for Serial Communication</a:t>
            </a:r>
          </a:p>
        </p:txBody>
      </p:sp>
      <p:sp>
        <p:nvSpPr>
          <p:cNvPr id="105475" name="Content Placeholder 2"/>
          <p:cNvSpPr>
            <a:spLocks noGrp="1"/>
          </p:cNvSpPr>
          <p:nvPr>
            <p:ph idx="1"/>
          </p:nvPr>
        </p:nvSpPr>
        <p:spPr>
          <a:xfrm>
            <a:off x="107950" y="1196975"/>
            <a:ext cx="8856663" cy="5189538"/>
          </a:xfrm>
        </p:spPr>
        <p:txBody>
          <a:bodyPr/>
          <a:lstStyle/>
          <a:p>
            <a:pPr marL="1371600" lvl="3" indent="0" algn="just">
              <a:spcBef>
                <a:spcPct val="0"/>
              </a:spcBef>
              <a:buFont typeface="Arial" charset="0"/>
              <a:buNone/>
            </a:pPr>
            <a:endParaRPr lang="en-IN" altLang="en-US" sz="1800" b="1"/>
          </a:p>
          <a:p>
            <a:pPr marL="1371600" lvl="3" indent="0" algn="just">
              <a:spcBef>
                <a:spcPct val="0"/>
              </a:spcBef>
              <a:buFont typeface="Arial" charset="0"/>
              <a:buNone/>
            </a:pPr>
            <a:endParaRPr lang="en-IN" altLang="en-US" sz="1800" b="1"/>
          </a:p>
          <a:p>
            <a:pPr marL="1371600" lvl="3" indent="0" algn="just">
              <a:spcBef>
                <a:spcPct val="0"/>
              </a:spcBef>
              <a:buFont typeface="Arial" charset="0"/>
              <a:buNone/>
            </a:pPr>
            <a:r>
              <a:rPr lang="en-IN" altLang="en-US" sz="1800" b="1"/>
              <a:t>ORG 0H</a:t>
            </a:r>
          </a:p>
          <a:p>
            <a:pPr marL="1371600" lvl="3" indent="0" algn="just">
              <a:spcBef>
                <a:spcPct val="0"/>
              </a:spcBef>
              <a:buFont typeface="Arial" charset="0"/>
              <a:buNone/>
            </a:pPr>
            <a:r>
              <a:rPr lang="en-IN" altLang="en-US" sz="1800" b="1"/>
              <a:t>	     MOV TMOD,#00100000B------(20H)</a:t>
            </a:r>
          </a:p>
          <a:p>
            <a:pPr marL="1371600" lvl="3" indent="0" algn="just">
              <a:spcBef>
                <a:spcPct val="0"/>
              </a:spcBef>
              <a:buFont typeface="Arial" charset="0"/>
              <a:buNone/>
            </a:pPr>
            <a:r>
              <a:rPr lang="en-IN" altLang="en-US" sz="1800" b="1"/>
              <a:t>	     MOV TH1,#-3</a:t>
            </a:r>
          </a:p>
          <a:p>
            <a:pPr marL="1371600" lvl="3" indent="0" algn="just">
              <a:spcBef>
                <a:spcPct val="0"/>
              </a:spcBef>
              <a:buFont typeface="Arial" charset="0"/>
              <a:buNone/>
            </a:pPr>
            <a:r>
              <a:rPr lang="en-IN" altLang="en-US" sz="1800" b="1"/>
              <a:t>	     MOV SCON,#01010000B-------(50H)</a:t>
            </a:r>
          </a:p>
          <a:p>
            <a:pPr marL="1371600" lvl="3" indent="0" algn="just">
              <a:spcBef>
                <a:spcPct val="0"/>
              </a:spcBef>
              <a:buFont typeface="Arial" charset="0"/>
              <a:buNone/>
            </a:pPr>
            <a:r>
              <a:rPr lang="en-IN" altLang="en-US" sz="1800" b="1"/>
              <a:t>	     SETB TR1</a:t>
            </a:r>
          </a:p>
          <a:p>
            <a:pPr marL="1371600" lvl="3" indent="0" algn="just">
              <a:spcBef>
                <a:spcPct val="0"/>
              </a:spcBef>
              <a:buFont typeface="Arial" charset="0"/>
              <a:buNone/>
            </a:pPr>
            <a:r>
              <a:rPr lang="en-IN" altLang="en-US" sz="1800" b="1"/>
              <a:t>AGAIN:MOV A,# ” “</a:t>
            </a:r>
          </a:p>
          <a:p>
            <a:pPr marL="1371600" lvl="3" indent="0" algn="just">
              <a:spcBef>
                <a:spcPct val="0"/>
              </a:spcBef>
              <a:buFont typeface="Arial" charset="0"/>
              <a:buNone/>
            </a:pPr>
            <a:r>
              <a:rPr lang="en-IN" altLang="en-US" sz="1800" b="1"/>
              <a:t>	     ACALL TRANSFER</a:t>
            </a:r>
          </a:p>
          <a:p>
            <a:pPr marL="1371600" lvl="3" indent="0" algn="just">
              <a:spcBef>
                <a:spcPct val="0"/>
              </a:spcBef>
              <a:buFont typeface="Arial" charset="0"/>
              <a:buNone/>
            </a:pPr>
            <a:r>
              <a:rPr lang="en-IN" altLang="en-US" sz="1800" b="1"/>
              <a:t>             MOV A,# ”K“</a:t>
            </a:r>
          </a:p>
          <a:p>
            <a:pPr marL="1371600" lvl="3" indent="0" algn="just">
              <a:spcBef>
                <a:spcPct val="0"/>
              </a:spcBef>
              <a:buFont typeface="Arial" charset="0"/>
              <a:buNone/>
            </a:pPr>
            <a:r>
              <a:rPr lang="en-IN" altLang="en-US" sz="1800" b="1"/>
              <a:t>	     ACALL TRANSFER</a:t>
            </a:r>
          </a:p>
          <a:p>
            <a:pPr marL="1371600" lvl="3" indent="0" algn="just">
              <a:spcBef>
                <a:spcPct val="0"/>
              </a:spcBef>
              <a:buFont typeface="Arial" charset="0"/>
              <a:buNone/>
            </a:pPr>
            <a:r>
              <a:rPr lang="en-IN" altLang="en-US" sz="1800" b="1"/>
              <a:t>	     MOV A,# ”L“</a:t>
            </a:r>
          </a:p>
          <a:p>
            <a:pPr marL="1371600" lvl="3" indent="0" algn="just">
              <a:spcBef>
                <a:spcPct val="0"/>
              </a:spcBef>
              <a:buFont typeface="Arial" charset="0"/>
              <a:buNone/>
            </a:pPr>
            <a:r>
              <a:rPr lang="en-IN" altLang="en-US" sz="1800" b="1"/>
              <a:t>	     ACALL TRANSFER</a:t>
            </a:r>
          </a:p>
          <a:p>
            <a:pPr marL="1371600" lvl="3" indent="0" algn="just">
              <a:spcBef>
                <a:spcPct val="0"/>
              </a:spcBef>
              <a:buFont typeface="Arial" charset="0"/>
              <a:buNone/>
            </a:pPr>
            <a:r>
              <a:rPr lang="en-IN" altLang="en-US" sz="1800" b="1"/>
              <a:t>	     MOV A,# ”U“		TRANSFER:  MOV SBUF,A</a:t>
            </a:r>
          </a:p>
          <a:p>
            <a:pPr marL="1371600" lvl="3" indent="0" algn="just">
              <a:spcBef>
                <a:spcPct val="0"/>
              </a:spcBef>
              <a:buFont typeface="Arial" charset="0"/>
              <a:buNone/>
            </a:pPr>
            <a:r>
              <a:rPr lang="en-IN" altLang="en-US" sz="1800" b="1"/>
              <a:t>	     ACALL TRANSFER	HERE:	     JNB TI, HERE</a:t>
            </a:r>
          </a:p>
          <a:p>
            <a:pPr marL="1371600" lvl="3" indent="0" algn="just">
              <a:spcBef>
                <a:spcPct val="0"/>
              </a:spcBef>
              <a:buFont typeface="Arial" charset="0"/>
              <a:buNone/>
            </a:pPr>
            <a:r>
              <a:rPr lang="en-IN" altLang="en-US" sz="1800" b="1"/>
              <a:t>	     MOV A,# ” “			    CLR TI</a:t>
            </a:r>
          </a:p>
          <a:p>
            <a:pPr marL="1371600" lvl="3" indent="0" algn="just">
              <a:spcBef>
                <a:spcPct val="0"/>
              </a:spcBef>
              <a:buFont typeface="Arial" charset="0"/>
              <a:buNone/>
            </a:pPr>
            <a:r>
              <a:rPr lang="en-IN" altLang="en-US" sz="1800" b="1"/>
              <a:t>	     ACALL TRANSFER		     RET</a:t>
            </a:r>
          </a:p>
          <a:p>
            <a:pPr marL="1371600" lvl="3" indent="0" algn="just">
              <a:spcBef>
                <a:spcPct val="0"/>
              </a:spcBef>
              <a:buFont typeface="Arial" charset="0"/>
              <a:buNone/>
            </a:pPr>
            <a:r>
              <a:rPr lang="en-IN" altLang="en-US" sz="1800" b="1"/>
              <a:t>	     SJMP AGAIN		</a:t>
            </a:r>
          </a:p>
          <a:p>
            <a:pPr marL="1371600" lvl="3" indent="0" algn="just">
              <a:spcBef>
                <a:spcPct val="0"/>
              </a:spcBef>
              <a:buFont typeface="Arial" charset="0"/>
              <a:buNone/>
            </a:pPr>
            <a:r>
              <a:rPr lang="en-IN" altLang="en-US" sz="1800" b="1"/>
              <a:t>END</a:t>
            </a:r>
          </a:p>
          <a:p>
            <a:pPr marL="1371600" lvl="3" indent="0" algn="just">
              <a:spcBef>
                <a:spcPct val="0"/>
              </a:spcBef>
              <a:buFont typeface="Arial" charset="0"/>
              <a:buNone/>
            </a:pPr>
            <a:r>
              <a:rPr lang="en-IN" altLang="en-US" sz="1800" b="1"/>
              <a:t>		</a:t>
            </a:r>
          </a:p>
          <a:p>
            <a:pPr marL="1371600" lvl="3" indent="0" algn="just">
              <a:spcBef>
                <a:spcPct val="0"/>
              </a:spcBef>
              <a:buFont typeface="Arial" charset="0"/>
              <a:buNone/>
            </a:pPr>
            <a:endParaRPr lang="en-IN" altLang="en-US" sz="1800" b="1"/>
          </a:p>
          <a:p>
            <a:pPr marL="1371600" lvl="3" indent="0" algn="just">
              <a:spcBef>
                <a:spcPct val="0"/>
              </a:spcBef>
              <a:buFont typeface="Arial" charset="0"/>
              <a:buNone/>
            </a:pPr>
            <a:r>
              <a:rPr lang="en-IN" altLang="en-US" sz="1800" b="1"/>
              <a:t>		</a:t>
            </a:r>
          </a:p>
          <a:p>
            <a:pPr marL="1371600" lvl="3" indent="0" algn="just">
              <a:spcBef>
                <a:spcPct val="0"/>
              </a:spcBef>
              <a:buFont typeface="Arial" charset="0"/>
              <a:buNone/>
            </a:pPr>
            <a:endParaRPr lang="en-IN" altLang="en-US" sz="1800" b="1"/>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363489780"/>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213" y="908050"/>
            <a:ext cx="7559675"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499" name="Rectangle 6"/>
          <p:cNvSpPr>
            <a:spLocks noGrp="1" noRot="1" noChangeArrowheads="1"/>
          </p:cNvSpPr>
          <p:nvPr>
            <p:ph type="title"/>
          </p:nvPr>
        </p:nvSpPr>
        <p:spPr>
          <a:xfrm>
            <a:off x="906463" y="115888"/>
            <a:ext cx="6911975" cy="719137"/>
          </a:xfrm>
        </p:spPr>
        <p:txBody>
          <a:bodyPr/>
          <a:lstStyle/>
          <a:p>
            <a:pPr eaLnBrk="1" hangingPunct="1"/>
            <a:r>
              <a:rPr lang="en-US" altLang="en-US" sz="4800" b="1">
                <a:solidFill>
                  <a:srgbClr val="FF0000"/>
                </a:solidFill>
              </a:rPr>
              <a:t>Interrupts</a:t>
            </a:r>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304912850"/>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a:xfrm>
            <a:off x="457200" y="274638"/>
            <a:ext cx="8229600" cy="633412"/>
          </a:xfrm>
        </p:spPr>
        <p:txBody>
          <a:bodyPr/>
          <a:lstStyle/>
          <a:p>
            <a:r>
              <a:rPr lang="en-IN" altLang="en-US" sz="4000" b="1">
                <a:solidFill>
                  <a:srgbClr val="FF0000"/>
                </a:solidFill>
              </a:rPr>
              <a:t>Concept behind Interrupt</a:t>
            </a:r>
          </a:p>
        </p:txBody>
      </p:sp>
      <p:sp>
        <p:nvSpPr>
          <p:cNvPr id="107523" name="Content Placeholder 2"/>
          <p:cNvSpPr>
            <a:spLocks noGrp="1"/>
          </p:cNvSpPr>
          <p:nvPr>
            <p:ph idx="1"/>
          </p:nvPr>
        </p:nvSpPr>
        <p:spPr>
          <a:xfrm>
            <a:off x="179388" y="947738"/>
            <a:ext cx="8713787" cy="5438775"/>
          </a:xfrm>
        </p:spPr>
        <p:txBody>
          <a:bodyPr/>
          <a:lstStyle/>
          <a:p>
            <a:pPr marL="0" indent="0" algn="just">
              <a:spcBef>
                <a:spcPct val="0"/>
              </a:spcBef>
              <a:buFont typeface="Arial" charset="0"/>
              <a:buNone/>
            </a:pPr>
            <a:endParaRPr lang="en-IN" altLang="en-US" sz="1050" dirty="0"/>
          </a:p>
          <a:p>
            <a:pPr marL="0" indent="0" algn="just">
              <a:spcBef>
                <a:spcPct val="0"/>
              </a:spcBef>
              <a:buFont typeface="Arial" charset="0"/>
              <a:buNone/>
            </a:pPr>
            <a:r>
              <a:rPr lang="en-IN" altLang="en-US" sz="2400" dirty="0"/>
              <a:t>An interrupt is an external or internal event that interrupts the microcontroller to inform it that a device needs its service</a:t>
            </a:r>
          </a:p>
          <a:p>
            <a:pPr marL="0" indent="0" algn="just">
              <a:spcBef>
                <a:spcPct val="0"/>
              </a:spcBef>
              <a:buFont typeface="Arial" charset="0"/>
              <a:buNone/>
            </a:pPr>
            <a:r>
              <a:rPr lang="en-IN" altLang="en-US" sz="2400" b="1" dirty="0">
                <a:solidFill>
                  <a:srgbClr val="FF0000"/>
                </a:solidFill>
              </a:rPr>
              <a:t>Upon activation of an interrupt, the microcontroller goes through the following steps</a:t>
            </a:r>
          </a:p>
          <a:p>
            <a:pPr marL="0" indent="0" algn="just">
              <a:spcBef>
                <a:spcPct val="0"/>
              </a:spcBef>
              <a:buFont typeface="Arial" charset="0"/>
              <a:buNone/>
            </a:pPr>
            <a:r>
              <a:rPr lang="en-IN" altLang="en-US" sz="2400" dirty="0"/>
              <a:t>1. It finishes the instruction it is executing and saves the address of the next instruction (PC) on the stack</a:t>
            </a:r>
          </a:p>
          <a:p>
            <a:pPr marL="0" indent="0" algn="just">
              <a:spcBef>
                <a:spcPct val="0"/>
              </a:spcBef>
              <a:buFont typeface="Arial" charset="0"/>
              <a:buNone/>
            </a:pPr>
            <a:r>
              <a:rPr lang="en-IN" altLang="en-US" sz="2400" dirty="0"/>
              <a:t>2. It also saves the current status of all the interrupts internally (i.e.: not on the stack)</a:t>
            </a:r>
          </a:p>
          <a:p>
            <a:pPr marL="0" indent="0" algn="just">
              <a:spcBef>
                <a:spcPct val="0"/>
              </a:spcBef>
              <a:buFont typeface="Arial" charset="0"/>
              <a:buNone/>
            </a:pPr>
            <a:r>
              <a:rPr lang="en-IN" altLang="en-US" sz="2400" dirty="0"/>
              <a:t>3. It jumps to a fixed location in memory, called the interrupt vector table, that holds the address of the ISR</a:t>
            </a:r>
          </a:p>
          <a:p>
            <a:pPr marL="0" indent="0" algn="just">
              <a:spcBef>
                <a:spcPct val="0"/>
              </a:spcBef>
              <a:buFont typeface="Arial" charset="0"/>
              <a:buNone/>
            </a:pPr>
            <a:r>
              <a:rPr lang="en-IN" altLang="en-US" sz="2400" dirty="0"/>
              <a:t>4. The microcontroller gets the address of the ISR from the interrupt vector table and jumps to it</a:t>
            </a:r>
          </a:p>
          <a:p>
            <a:pPr marL="0" indent="0" algn="just">
              <a:spcBef>
                <a:spcPct val="0"/>
              </a:spcBef>
              <a:buFont typeface="Arial" charset="0"/>
              <a:buNone/>
            </a:pPr>
            <a:r>
              <a:rPr lang="en-IN" altLang="en-US" sz="2400" dirty="0"/>
              <a:t>5. Upon executing the RETI instruction, the microcontroller returns to the place where it was interrupted</a:t>
            </a:r>
            <a:endParaRPr lang="en-IN" altLang="en-US" sz="2400" b="1" dirty="0">
              <a:solidFill>
                <a:srgbClr val="FF0000"/>
              </a:solidFill>
            </a:endParaRPr>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247312904"/>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Rot="1" noChangeArrowheads="1"/>
          </p:cNvSpPr>
          <p:nvPr>
            <p:ph type="title"/>
          </p:nvPr>
        </p:nvSpPr>
        <p:spPr>
          <a:xfrm>
            <a:off x="1271588" y="115888"/>
            <a:ext cx="6911975" cy="719137"/>
          </a:xfrm>
        </p:spPr>
        <p:txBody>
          <a:bodyPr/>
          <a:lstStyle/>
          <a:p>
            <a:pPr algn="l" eaLnBrk="1" hangingPunct="1"/>
            <a:br>
              <a:rPr lang="en-US" altLang="en-US" sz="4000" b="1" u="sng">
                <a:solidFill>
                  <a:srgbClr val="FF0000"/>
                </a:solidFill>
              </a:rPr>
            </a:br>
            <a:r>
              <a:rPr lang="en-US" altLang="en-US" sz="4000" b="1" u="sng">
                <a:solidFill>
                  <a:srgbClr val="FF0000"/>
                </a:solidFill>
              </a:rPr>
              <a:t>Interrupts &amp; Interrupt vectors:</a:t>
            </a:r>
            <a:br>
              <a:rPr lang="en-US" altLang="en-US" sz="4000" b="1" u="sng">
                <a:solidFill>
                  <a:srgbClr val="FF0000"/>
                </a:solidFill>
              </a:rPr>
            </a:br>
            <a:endParaRPr lang="en-US" altLang="en-US" sz="4000" b="1" u="sng">
              <a:solidFill>
                <a:srgbClr val="FF0000"/>
              </a:solidFill>
            </a:endParaRPr>
          </a:p>
        </p:txBody>
      </p:sp>
      <p:pic>
        <p:nvPicPr>
          <p:cNvPr id="108548" name="Picture 3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8" y="1052513"/>
            <a:ext cx="7561262" cy="530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3094862896"/>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5"/>
          <p:cNvSpPr>
            <a:spLocks noGrp="1" noRot="1" noChangeArrowheads="1"/>
          </p:cNvSpPr>
          <p:nvPr>
            <p:ph type="title"/>
          </p:nvPr>
        </p:nvSpPr>
        <p:spPr>
          <a:xfrm>
            <a:off x="1339850" y="14288"/>
            <a:ext cx="6337300" cy="692150"/>
          </a:xfrm>
        </p:spPr>
        <p:txBody>
          <a:bodyPr/>
          <a:lstStyle/>
          <a:p>
            <a:pPr eaLnBrk="1" hangingPunct="1"/>
            <a:r>
              <a:rPr lang="en-US" altLang="en-US" sz="3200" b="1">
                <a:solidFill>
                  <a:srgbClr val="FF0000"/>
                </a:solidFill>
              </a:rPr>
              <a:t>Interrupt Enable Register</a:t>
            </a:r>
          </a:p>
        </p:txBody>
      </p:sp>
      <p:pic>
        <p:nvPicPr>
          <p:cNvPr id="10957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8313" y="904875"/>
            <a:ext cx="8135937" cy="540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2033663492"/>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Title 1"/>
          <p:cNvSpPr>
            <a:spLocks noGrp="1"/>
          </p:cNvSpPr>
          <p:nvPr>
            <p:ph type="title"/>
          </p:nvPr>
        </p:nvSpPr>
        <p:spPr>
          <a:xfrm>
            <a:off x="457200" y="274638"/>
            <a:ext cx="7953375" cy="850900"/>
          </a:xfrm>
        </p:spPr>
        <p:txBody>
          <a:bodyPr/>
          <a:lstStyle/>
          <a:p>
            <a:r>
              <a:rPr lang="en-IN" altLang="en-US" b="1">
                <a:solidFill>
                  <a:srgbClr val="FF0000"/>
                </a:solidFill>
              </a:rPr>
              <a:t>TCON REGISTER</a:t>
            </a:r>
          </a:p>
        </p:txBody>
      </p:sp>
      <p:pic>
        <p:nvPicPr>
          <p:cNvPr id="110596" name="Picture 2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1196975"/>
            <a:ext cx="7200900" cy="5111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3711900266"/>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9" name="Picture 2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013" y="908051"/>
            <a:ext cx="6985000" cy="4753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6"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3504443099"/>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263" y="1196975"/>
            <a:ext cx="7397750" cy="4319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6"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1259192580"/>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3" name="Rectangle 5"/>
          <p:cNvSpPr>
            <a:spLocks noGrp="1" noRot="1" noChangeArrowheads="1"/>
          </p:cNvSpPr>
          <p:nvPr>
            <p:ph type="title"/>
          </p:nvPr>
        </p:nvSpPr>
        <p:spPr>
          <a:xfrm>
            <a:off x="457200" y="274638"/>
            <a:ext cx="8218488" cy="850900"/>
          </a:xfrm>
        </p:spPr>
        <p:txBody>
          <a:bodyPr rtlCol="0">
            <a:normAutofit fontScale="90000"/>
          </a:bodyPr>
          <a:lstStyle/>
          <a:p>
            <a:pPr eaLnBrk="1" fontAlgn="auto" hangingPunct="1">
              <a:spcAft>
                <a:spcPts val="0"/>
              </a:spcAft>
              <a:defRPr/>
            </a:pPr>
            <a:br>
              <a:rPr lang="en-US" b="1" u="sng" dirty="0">
                <a:solidFill>
                  <a:srgbClr val="FF0000"/>
                </a:solidFill>
              </a:rPr>
            </a:br>
            <a:r>
              <a:rPr lang="en-US" b="1" u="sng" dirty="0">
                <a:solidFill>
                  <a:srgbClr val="FF0000"/>
                </a:solidFill>
                <a:effectLst>
                  <a:outerShdw blurRad="38100" dist="38100" dir="2700000" algn="tl">
                    <a:srgbClr val="FFFFFF"/>
                  </a:outerShdw>
                </a:effectLst>
              </a:rPr>
              <a:t>Interrupt Priority register</a:t>
            </a:r>
            <a:br>
              <a:rPr lang="en-US" b="1" u="sng" dirty="0">
                <a:solidFill>
                  <a:srgbClr val="FF0000"/>
                </a:solidFill>
                <a:effectLst>
                  <a:outerShdw blurRad="38100" dist="38100" dir="2700000" algn="tl">
                    <a:srgbClr val="FFFFFF"/>
                  </a:outerShdw>
                </a:effectLst>
              </a:rPr>
            </a:br>
            <a:endParaRPr lang="en-US" sz="3200" b="1" u="sng" dirty="0">
              <a:solidFill>
                <a:srgbClr val="FF0000"/>
              </a:solidFill>
            </a:endParaRPr>
          </a:p>
        </p:txBody>
      </p:sp>
      <p:pic>
        <p:nvPicPr>
          <p:cNvPr id="1157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5075" y="1260475"/>
            <a:ext cx="6419850" cy="5114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1621463497"/>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5"/>
          <p:cNvSpPr>
            <a:spLocks noGrp="1" noRot="1" noChangeArrowheads="1"/>
          </p:cNvSpPr>
          <p:nvPr>
            <p:ph type="title"/>
          </p:nvPr>
        </p:nvSpPr>
        <p:spPr>
          <a:xfrm>
            <a:off x="251520" y="657225"/>
            <a:ext cx="8640960" cy="5796111"/>
          </a:xfrm>
        </p:spPr>
        <p:txBody>
          <a:bodyPr/>
          <a:lstStyle/>
          <a:p>
            <a:pPr algn="l"/>
            <a:br>
              <a:rPr lang="en-IN" sz="1800" dirty="0"/>
            </a:br>
            <a:br>
              <a:rPr lang="en-IN" sz="1800" dirty="0"/>
            </a:br>
            <a:br>
              <a:rPr lang="en-IN" sz="1800" dirty="0"/>
            </a:br>
            <a:br>
              <a:rPr lang="en-IN" sz="1800" dirty="0"/>
            </a:br>
            <a:r>
              <a:rPr lang="en-IN" sz="2000" dirty="0"/>
              <a:t>Write a program that continuously get 8-bit data from P0 and sends it to P1 while simultaneously creating a square wave of 200 </a:t>
            </a:r>
            <a:r>
              <a:rPr lang="en-IN" sz="2000" dirty="0" err="1"/>
              <a:t>μs</a:t>
            </a:r>
            <a:r>
              <a:rPr lang="en-IN" sz="2000" dirty="0"/>
              <a:t> period on pin P2.1. Use timer 0 to create the square wave. Assume that XTAL = 11.0592 </a:t>
            </a:r>
            <a:r>
              <a:rPr lang="en-IN" sz="2000" dirty="0" err="1"/>
              <a:t>MHz.</a:t>
            </a:r>
            <a:br>
              <a:rPr lang="en-IN" sz="1800" dirty="0"/>
            </a:br>
            <a:br>
              <a:rPr lang="en-IN" sz="1800" dirty="0"/>
            </a:br>
            <a:r>
              <a:rPr lang="en-IN" sz="1800" dirty="0"/>
              <a:t>	ORG 0000H</a:t>
            </a:r>
            <a:br>
              <a:rPr lang="en-IN" sz="1800" dirty="0"/>
            </a:br>
            <a:r>
              <a:rPr lang="en-IN" sz="1800" dirty="0"/>
              <a:t>		LJMP MAIN</a:t>
            </a:r>
            <a:br>
              <a:rPr lang="en-IN" sz="1800" dirty="0"/>
            </a:br>
            <a:r>
              <a:rPr lang="en-IN" sz="1800" dirty="0"/>
              <a:t>	ORG 000BH</a:t>
            </a:r>
            <a:br>
              <a:rPr lang="en-IN" sz="1800" dirty="0"/>
            </a:br>
            <a:r>
              <a:rPr lang="en-IN" sz="1800" dirty="0"/>
              <a:t>		CPL P2.1</a:t>
            </a:r>
            <a:br>
              <a:rPr lang="en-IN" sz="1800" dirty="0"/>
            </a:br>
            <a:r>
              <a:rPr lang="en-IN" sz="1800" dirty="0"/>
              <a:t>		RETI</a:t>
            </a:r>
            <a:br>
              <a:rPr lang="en-IN" sz="1800" dirty="0"/>
            </a:br>
            <a:r>
              <a:rPr lang="en-IN" sz="1800" dirty="0"/>
              <a:t>	ORG 0030H</a:t>
            </a:r>
            <a:br>
              <a:rPr lang="en-IN" sz="1800" dirty="0"/>
            </a:br>
            <a:r>
              <a:rPr lang="en-IN" sz="1800" dirty="0"/>
              <a:t>	MAIN: 	MOV TMOD,#02H</a:t>
            </a:r>
            <a:br>
              <a:rPr lang="en-IN" sz="1800" dirty="0"/>
            </a:br>
            <a:r>
              <a:rPr lang="en-IN" sz="1800" dirty="0"/>
              <a:t>		MOV P0,#0FFH</a:t>
            </a:r>
            <a:br>
              <a:rPr lang="en-IN" sz="1800" dirty="0"/>
            </a:br>
            <a:r>
              <a:rPr lang="en-IN" sz="1800" dirty="0"/>
              <a:t>		MOV TH0,#-92 (TH0=A4H)</a:t>
            </a:r>
            <a:br>
              <a:rPr lang="en-IN" sz="1800" dirty="0"/>
            </a:br>
            <a:r>
              <a:rPr lang="en-IN" sz="1800" dirty="0"/>
              <a:t>		</a:t>
            </a:r>
            <a:r>
              <a:rPr lang="de-DE" sz="1800" dirty="0"/>
              <a:t>MOV IE,#82H</a:t>
            </a:r>
            <a:br>
              <a:rPr lang="en-IN" sz="1800" dirty="0"/>
            </a:br>
            <a:r>
              <a:rPr lang="en-IN" sz="1800" dirty="0"/>
              <a:t>		SETB TR0</a:t>
            </a:r>
            <a:br>
              <a:rPr lang="en-IN" sz="1800" dirty="0"/>
            </a:br>
            <a:r>
              <a:rPr lang="en-IN" sz="1800" dirty="0"/>
              <a:t>	BACK: 	MOV A,P0</a:t>
            </a:r>
            <a:br>
              <a:rPr lang="en-IN" sz="1800" dirty="0"/>
            </a:br>
            <a:r>
              <a:rPr lang="en-IN" sz="1800" dirty="0"/>
              <a:t>		MOV P1,A</a:t>
            </a:r>
            <a:br>
              <a:rPr lang="en-IN" sz="1800" dirty="0"/>
            </a:br>
            <a:r>
              <a:rPr lang="en-IN" sz="1800" dirty="0"/>
              <a:t>		SJMP BACK</a:t>
            </a:r>
            <a:br>
              <a:rPr lang="en-IN" sz="1800" dirty="0"/>
            </a:br>
            <a:r>
              <a:rPr lang="en-IN" sz="1800" dirty="0"/>
              <a:t>END</a:t>
            </a:r>
            <a:br>
              <a:rPr lang="en-IN" sz="1800" dirty="0"/>
            </a:br>
            <a:br>
              <a:rPr lang="en-IN" sz="1800" dirty="0"/>
            </a:br>
            <a:br>
              <a:rPr lang="en-IN" sz="1800" dirty="0"/>
            </a:br>
            <a:br>
              <a:rPr lang="en-IN" sz="1800" dirty="0"/>
            </a:br>
            <a:endParaRPr lang="en-US" altLang="en-US" sz="1800" dirty="0"/>
          </a:p>
        </p:txBody>
      </p:sp>
      <p:sp>
        <p:nvSpPr>
          <p:cNvPr id="7" name="Rectangle 5"/>
          <p:cNvSpPr txBox="1">
            <a:spLocks noRot="1" noChangeArrowheads="1"/>
          </p:cNvSpPr>
          <p:nvPr/>
        </p:nvSpPr>
        <p:spPr bwMode="auto">
          <a:xfrm>
            <a:off x="2051050" y="188913"/>
            <a:ext cx="49688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fontScale="92500" lnSpcReduction="2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fontAlgn="auto" hangingPunct="1">
              <a:spcAft>
                <a:spcPts val="0"/>
              </a:spcAft>
              <a:defRPr/>
            </a:pPr>
            <a:r>
              <a:rPr lang="en-US" sz="3200" b="1" u="sng" dirty="0">
                <a:solidFill>
                  <a:srgbClr val="FF0000"/>
                </a:solidFill>
              </a:rPr>
              <a:t>EXAMPLE PROGRAMS</a:t>
            </a:r>
          </a:p>
        </p:txBody>
      </p:sp>
      <p:sp>
        <p:nvSpPr>
          <p:cNvPr id="9"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2236652561"/>
      </p:ext>
    </p:ext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5"/>
          <p:cNvSpPr>
            <a:spLocks noGrp="1" noRot="1" noChangeArrowheads="1"/>
          </p:cNvSpPr>
          <p:nvPr>
            <p:ph type="title"/>
          </p:nvPr>
        </p:nvSpPr>
        <p:spPr>
          <a:xfrm>
            <a:off x="251520" y="657225"/>
            <a:ext cx="8640960" cy="5796111"/>
          </a:xfrm>
        </p:spPr>
        <p:txBody>
          <a:bodyPr/>
          <a:lstStyle/>
          <a:p>
            <a:pPr algn="l"/>
            <a:r>
              <a:rPr lang="en-IN" sz="2000" dirty="0"/>
              <a:t>Write a program to generate a square wave if 50Hz frequency on pin P1.2. Assume that XTAL=11.0592MHz</a:t>
            </a:r>
            <a:br>
              <a:rPr lang="en-IN" sz="1800" dirty="0"/>
            </a:br>
            <a:br>
              <a:rPr lang="en-IN" sz="1800" dirty="0"/>
            </a:br>
            <a:r>
              <a:rPr lang="en-IN" sz="1800" dirty="0"/>
              <a:t>	ORG 0</a:t>
            </a:r>
            <a:br>
              <a:rPr lang="en-IN" sz="1800" dirty="0"/>
            </a:br>
            <a:r>
              <a:rPr lang="en-IN" sz="1800" dirty="0"/>
              <a:t>		LJMP MAIN</a:t>
            </a:r>
            <a:br>
              <a:rPr lang="en-IN" sz="1800" dirty="0"/>
            </a:br>
            <a:r>
              <a:rPr lang="en-IN" sz="1800" dirty="0"/>
              <a:t>	ORG 000BH</a:t>
            </a:r>
            <a:br>
              <a:rPr lang="en-IN" sz="1800" dirty="0"/>
            </a:br>
            <a:r>
              <a:rPr lang="en-IN" sz="1800" dirty="0"/>
              <a:t>		CPL P1.2</a:t>
            </a:r>
            <a:br>
              <a:rPr lang="en-IN" sz="1800" dirty="0"/>
            </a:br>
            <a:r>
              <a:rPr lang="en-IN" sz="1800" dirty="0"/>
              <a:t>		MOV TL0,#00</a:t>
            </a:r>
            <a:br>
              <a:rPr lang="en-IN" sz="1800" dirty="0"/>
            </a:br>
            <a:r>
              <a:rPr lang="en-IN" sz="1800" dirty="0"/>
              <a:t>		MOV TH0,#0DCH</a:t>
            </a:r>
            <a:br>
              <a:rPr lang="en-IN" sz="1800" dirty="0"/>
            </a:br>
            <a:r>
              <a:rPr lang="en-IN" sz="1800" dirty="0"/>
              <a:t>		RETI</a:t>
            </a:r>
            <a:br>
              <a:rPr lang="en-IN" sz="1800" dirty="0"/>
            </a:br>
            <a:r>
              <a:rPr lang="en-IN" sz="1800" dirty="0"/>
              <a:t>	ORG 30H</a:t>
            </a:r>
            <a:br>
              <a:rPr lang="en-IN" sz="1800" dirty="0"/>
            </a:br>
            <a:r>
              <a:rPr lang="en-IN" sz="1800" dirty="0"/>
              <a:t>	</a:t>
            </a:r>
            <a:r>
              <a:rPr lang="fr-FR" sz="1800" dirty="0"/>
              <a:t>MAIN:	MOV TM0D,#00000001B</a:t>
            </a:r>
            <a:br>
              <a:rPr lang="fr-FR" sz="1800" dirty="0"/>
            </a:br>
            <a:r>
              <a:rPr lang="fr-FR" sz="1800" dirty="0"/>
              <a:t>		</a:t>
            </a:r>
            <a:r>
              <a:rPr lang="en-IN" sz="1800" dirty="0"/>
              <a:t>MOV TL0,#00</a:t>
            </a:r>
            <a:br>
              <a:rPr lang="en-IN" sz="1800" dirty="0"/>
            </a:br>
            <a:r>
              <a:rPr lang="en-IN" sz="1800" dirty="0"/>
              <a:t>		MOV TH0,#0DCH</a:t>
            </a:r>
            <a:br>
              <a:rPr lang="en-IN" sz="1800" dirty="0"/>
            </a:br>
            <a:r>
              <a:rPr lang="en-IN" sz="1800" dirty="0"/>
              <a:t>		MOV IE,#82H</a:t>
            </a:r>
            <a:br>
              <a:rPr lang="en-IN" sz="1800" dirty="0"/>
            </a:br>
            <a:r>
              <a:rPr lang="en-IN" sz="1800" dirty="0"/>
              <a:t>		SETB TR0</a:t>
            </a:r>
            <a:br>
              <a:rPr lang="en-IN" sz="1800" dirty="0"/>
            </a:br>
            <a:r>
              <a:rPr lang="en-IN" sz="1800" dirty="0"/>
              <a:t>	HERE:	SJMP HERE</a:t>
            </a:r>
            <a:br>
              <a:rPr lang="en-IN" sz="1800" dirty="0"/>
            </a:br>
            <a:r>
              <a:rPr lang="en-IN" sz="1800" dirty="0"/>
              <a:t>	END</a:t>
            </a:r>
            <a:endParaRPr lang="en-US" altLang="en-US" sz="1800" dirty="0"/>
          </a:p>
        </p:txBody>
      </p:sp>
      <p:sp>
        <p:nvSpPr>
          <p:cNvPr id="7" name="Rectangle 5"/>
          <p:cNvSpPr txBox="1">
            <a:spLocks noRot="1" noChangeArrowheads="1"/>
          </p:cNvSpPr>
          <p:nvPr/>
        </p:nvSpPr>
        <p:spPr bwMode="auto">
          <a:xfrm>
            <a:off x="2051050" y="188913"/>
            <a:ext cx="49688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fontScale="92500" lnSpcReduction="2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fontAlgn="auto" hangingPunct="1">
              <a:spcAft>
                <a:spcPts val="0"/>
              </a:spcAft>
              <a:defRPr/>
            </a:pPr>
            <a:r>
              <a:rPr lang="en-US" sz="3200" b="1" u="sng" dirty="0">
                <a:solidFill>
                  <a:srgbClr val="FF0000"/>
                </a:solidFill>
              </a:rPr>
              <a:t>EXAMPLE PROGRAMS</a:t>
            </a:r>
          </a:p>
        </p:txBody>
      </p:sp>
      <p:sp>
        <p:nvSpPr>
          <p:cNvPr id="9"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1368587239"/>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p:cNvSpPr>
            <a:spLocks noGrp="1"/>
          </p:cNvSpPr>
          <p:nvPr>
            <p:ph type="title"/>
          </p:nvPr>
        </p:nvSpPr>
        <p:spPr>
          <a:xfrm>
            <a:off x="457200" y="260350"/>
            <a:ext cx="8229600" cy="1209675"/>
          </a:xfrm>
        </p:spPr>
        <p:txBody>
          <a:bodyPr/>
          <a:lstStyle/>
          <a:p>
            <a:r>
              <a:rPr lang="en-IN" altLang="en-US" sz="4000" b="1" u="sng">
                <a:solidFill>
                  <a:srgbClr val="FF0000"/>
                </a:solidFill>
              </a:rPr>
              <a:t>LCD Interfacing (16X2)</a:t>
            </a:r>
          </a:p>
        </p:txBody>
      </p:sp>
      <p:sp>
        <p:nvSpPr>
          <p:cNvPr id="116739" name="Content Placeholder 2"/>
          <p:cNvSpPr>
            <a:spLocks noGrp="1"/>
          </p:cNvSpPr>
          <p:nvPr>
            <p:ph idx="1"/>
          </p:nvPr>
        </p:nvSpPr>
        <p:spPr>
          <a:xfrm>
            <a:off x="215900" y="2349500"/>
            <a:ext cx="8712200" cy="2951163"/>
          </a:xfrm>
        </p:spPr>
        <p:txBody>
          <a:bodyPr/>
          <a:lstStyle/>
          <a:p>
            <a:pPr marL="0" indent="0">
              <a:buFont typeface="Arial" charset="0"/>
              <a:buNone/>
            </a:pPr>
            <a:endParaRPr lang="en-IN" altLang="en-US" sz="2800" b="1" dirty="0"/>
          </a:p>
          <a:p>
            <a:pPr marL="0" indent="0">
              <a:buFont typeface="Arial" charset="0"/>
              <a:buNone/>
            </a:pPr>
            <a:endParaRPr lang="en-IN" altLang="en-US" sz="2800" b="1" dirty="0"/>
          </a:p>
          <a:p>
            <a:pPr marL="0" indent="0">
              <a:buFont typeface="Arial" charset="0"/>
              <a:buNone/>
            </a:pPr>
            <a:endParaRPr lang="en-IN" altLang="en-US" sz="2800" b="1" dirty="0"/>
          </a:p>
          <a:p>
            <a:pPr marL="0" indent="0">
              <a:buFont typeface="Arial" charset="0"/>
              <a:buNone/>
            </a:pPr>
            <a:endParaRPr lang="en-IN" altLang="en-US" sz="1600" b="1" dirty="0"/>
          </a:p>
          <a:p>
            <a:pPr marL="0" indent="0">
              <a:buFont typeface="Arial" charset="0"/>
              <a:buNone/>
            </a:pPr>
            <a:r>
              <a:rPr lang="en-IN" altLang="en-US" sz="1600" b="1" dirty="0"/>
              <a:t>        </a:t>
            </a:r>
          </a:p>
          <a:p>
            <a:pPr marL="0" indent="0">
              <a:buFont typeface="Arial" charset="0"/>
              <a:buNone/>
            </a:pPr>
            <a:r>
              <a:rPr lang="en-IN" altLang="en-US" sz="1600" b="1" dirty="0"/>
              <a:t>          </a:t>
            </a:r>
            <a:r>
              <a:rPr lang="en-IN" altLang="en-US" sz="1600" b="1" dirty="0" err="1"/>
              <a:t>V</a:t>
            </a:r>
            <a:r>
              <a:rPr lang="en-IN" altLang="en-US" sz="1600" b="1" baseline="-25000" dirty="0" err="1"/>
              <a:t>ss</a:t>
            </a:r>
            <a:r>
              <a:rPr lang="en-IN" altLang="en-US" sz="1600" b="1" baseline="-25000" dirty="0"/>
              <a:t>       </a:t>
            </a:r>
            <a:r>
              <a:rPr lang="en-IN" altLang="en-US" sz="1600" b="1" dirty="0"/>
              <a:t>V</a:t>
            </a:r>
            <a:r>
              <a:rPr lang="en-IN" altLang="en-US" sz="1600" b="1" baseline="-25000" dirty="0"/>
              <a:t>cc </a:t>
            </a:r>
            <a:r>
              <a:rPr lang="en-IN" altLang="en-US" sz="1600" b="1" dirty="0"/>
              <a:t>V</a:t>
            </a:r>
            <a:r>
              <a:rPr lang="en-IN" altLang="en-US" sz="1600" b="1" baseline="-25000" dirty="0"/>
              <a:t>EE                                </a:t>
            </a:r>
            <a:r>
              <a:rPr lang="en-IN" altLang="en-US" sz="1600" b="1" dirty="0"/>
              <a:t>RS R/W  EN                   DB</a:t>
            </a:r>
            <a:r>
              <a:rPr lang="en-IN" altLang="en-US" sz="1600" b="1" baseline="-25000" dirty="0"/>
              <a:t>0  ---------------------------------------------</a:t>
            </a:r>
            <a:r>
              <a:rPr lang="en-IN" altLang="en-US" sz="1600" b="1" dirty="0"/>
              <a:t>DB</a:t>
            </a:r>
            <a:r>
              <a:rPr lang="en-IN" altLang="en-US" sz="1600" b="1" baseline="-25000" dirty="0"/>
              <a:t>7</a:t>
            </a:r>
            <a:r>
              <a:rPr lang="en-IN" altLang="en-US" sz="1600" b="1" dirty="0"/>
              <a:t>            +       -</a:t>
            </a:r>
            <a:endParaRPr lang="en-IN" altLang="en-US" sz="1600" dirty="0"/>
          </a:p>
          <a:p>
            <a:pPr marL="0" indent="0">
              <a:buFont typeface="Arial" charset="0"/>
              <a:buNone/>
            </a:pPr>
            <a:endParaRPr lang="en-IN" altLang="en-US" sz="1600" dirty="0"/>
          </a:p>
          <a:p>
            <a:pPr marL="0" indent="0">
              <a:buFont typeface="Arial" charset="0"/>
              <a:buNone/>
            </a:pPr>
            <a:endParaRPr lang="en-IN" altLang="en-US" sz="1600" b="1" dirty="0"/>
          </a:p>
          <a:p>
            <a:pPr marL="0" indent="0">
              <a:buFont typeface="Arial" charset="0"/>
              <a:buNone/>
            </a:pPr>
            <a:endParaRPr lang="en-IN" altLang="en-US" sz="1600" b="1" dirty="0"/>
          </a:p>
          <a:p>
            <a:pPr marL="0" indent="0">
              <a:buFont typeface="Arial" charset="0"/>
              <a:buNone/>
            </a:pPr>
            <a:endParaRPr lang="en-IN" altLang="en-US" sz="1600" b="1" dirty="0"/>
          </a:p>
          <a:p>
            <a:pPr marL="0" indent="0">
              <a:buFont typeface="Arial" charset="0"/>
              <a:buNone/>
            </a:pPr>
            <a:endParaRPr lang="en-IN" altLang="en-US" sz="1600" b="1" dirty="0"/>
          </a:p>
          <a:p>
            <a:pPr marL="0" indent="0">
              <a:buFont typeface="Arial" charset="0"/>
              <a:buNone/>
            </a:pPr>
            <a:endParaRPr lang="en-IN" altLang="en-US" sz="1600" b="1" dirty="0"/>
          </a:p>
          <a:p>
            <a:pPr marL="0" indent="0">
              <a:buFont typeface="Arial" charset="0"/>
              <a:buNone/>
            </a:pPr>
            <a:endParaRPr lang="en-IN" altLang="en-US" sz="1600" b="1" dirty="0"/>
          </a:p>
          <a:p>
            <a:pPr marL="0" indent="0">
              <a:buFont typeface="Arial" charset="0"/>
              <a:buNone/>
            </a:pPr>
            <a:endParaRPr lang="en-IN" altLang="en-US" sz="1600" b="1" dirty="0"/>
          </a:p>
          <a:p>
            <a:pPr marL="0" indent="0">
              <a:buFont typeface="Arial" charset="0"/>
              <a:buNone/>
            </a:pPr>
            <a:endParaRPr lang="en-IN" altLang="en-US" sz="2800" b="1" dirty="0"/>
          </a:p>
        </p:txBody>
      </p:sp>
      <p:sp>
        <p:nvSpPr>
          <p:cNvPr id="7" name="Rectangle 6"/>
          <p:cNvSpPr/>
          <p:nvPr/>
        </p:nvSpPr>
        <p:spPr>
          <a:xfrm>
            <a:off x="684213" y="2924175"/>
            <a:ext cx="7632700" cy="1081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5400" b="1" dirty="0">
                <a:solidFill>
                  <a:srgbClr val="FF0000"/>
                </a:solidFill>
              </a:rPr>
              <a:t>LCD</a:t>
            </a:r>
            <a:endParaRPr lang="en-IN" b="1" dirty="0">
              <a:solidFill>
                <a:srgbClr val="FF0000"/>
              </a:solidFill>
            </a:endParaRPr>
          </a:p>
          <a:p>
            <a:pPr algn="just">
              <a:defRPr/>
            </a:pPr>
            <a:r>
              <a:rPr lang="en-IN" sz="1600" b="1" dirty="0">
                <a:solidFill>
                  <a:srgbClr val="FF0000"/>
                </a:solidFill>
              </a:rPr>
              <a:t>1       2    3                        4     5      6                       7    8    9    10  11  12  13  14                15   16</a:t>
            </a:r>
          </a:p>
        </p:txBody>
      </p:sp>
      <p:sp>
        <p:nvSpPr>
          <p:cNvPr id="10" name="Down Arrow 9"/>
          <p:cNvSpPr/>
          <p:nvPr/>
        </p:nvSpPr>
        <p:spPr>
          <a:xfrm>
            <a:off x="755650" y="4005263"/>
            <a:ext cx="144463"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1" name="Down Arrow 10"/>
          <p:cNvSpPr/>
          <p:nvPr/>
        </p:nvSpPr>
        <p:spPr>
          <a:xfrm>
            <a:off x="1187450" y="4005263"/>
            <a:ext cx="144463"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4" name="Down Arrow 13"/>
          <p:cNvSpPr/>
          <p:nvPr/>
        </p:nvSpPr>
        <p:spPr>
          <a:xfrm>
            <a:off x="1476375" y="4005263"/>
            <a:ext cx="142875"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5" name="Down Arrow 14"/>
          <p:cNvSpPr/>
          <p:nvPr/>
        </p:nvSpPr>
        <p:spPr>
          <a:xfrm>
            <a:off x="2700338" y="4005263"/>
            <a:ext cx="142875"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6" name="Down Arrow 15"/>
          <p:cNvSpPr/>
          <p:nvPr/>
        </p:nvSpPr>
        <p:spPr>
          <a:xfrm>
            <a:off x="3419475" y="4005263"/>
            <a:ext cx="144463"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7" name="Down Arrow 16"/>
          <p:cNvSpPr/>
          <p:nvPr/>
        </p:nvSpPr>
        <p:spPr>
          <a:xfrm>
            <a:off x="4572000" y="4005263"/>
            <a:ext cx="144463"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8" name="Down Arrow 17"/>
          <p:cNvSpPr/>
          <p:nvPr/>
        </p:nvSpPr>
        <p:spPr>
          <a:xfrm>
            <a:off x="4859338" y="4005263"/>
            <a:ext cx="144462"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9" name="Down Arrow 18"/>
          <p:cNvSpPr/>
          <p:nvPr/>
        </p:nvSpPr>
        <p:spPr>
          <a:xfrm>
            <a:off x="5148263" y="4005263"/>
            <a:ext cx="144462"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0" name="Down Arrow 19"/>
          <p:cNvSpPr/>
          <p:nvPr/>
        </p:nvSpPr>
        <p:spPr>
          <a:xfrm>
            <a:off x="5508625" y="4005263"/>
            <a:ext cx="142875"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1" name="Down Arrow 20"/>
          <p:cNvSpPr/>
          <p:nvPr/>
        </p:nvSpPr>
        <p:spPr>
          <a:xfrm>
            <a:off x="5795963" y="4005263"/>
            <a:ext cx="144462"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2" name="Down Arrow 21"/>
          <p:cNvSpPr/>
          <p:nvPr/>
        </p:nvSpPr>
        <p:spPr>
          <a:xfrm>
            <a:off x="6084888" y="4005263"/>
            <a:ext cx="142875"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3" name="Down Arrow 22"/>
          <p:cNvSpPr/>
          <p:nvPr/>
        </p:nvSpPr>
        <p:spPr>
          <a:xfrm>
            <a:off x="6372225" y="4005263"/>
            <a:ext cx="144463"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4" name="Down Arrow 23"/>
          <p:cNvSpPr/>
          <p:nvPr/>
        </p:nvSpPr>
        <p:spPr>
          <a:xfrm>
            <a:off x="6732588" y="4005263"/>
            <a:ext cx="142875"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5" name="Down Arrow 24"/>
          <p:cNvSpPr/>
          <p:nvPr/>
        </p:nvSpPr>
        <p:spPr>
          <a:xfrm>
            <a:off x="7596188" y="4005263"/>
            <a:ext cx="144462"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6" name="Down Arrow 25"/>
          <p:cNvSpPr/>
          <p:nvPr/>
        </p:nvSpPr>
        <p:spPr>
          <a:xfrm>
            <a:off x="7956550" y="4005263"/>
            <a:ext cx="144463"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7" name="Down Arrow 26"/>
          <p:cNvSpPr/>
          <p:nvPr/>
        </p:nvSpPr>
        <p:spPr>
          <a:xfrm>
            <a:off x="3059113" y="4005263"/>
            <a:ext cx="144462"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29" name="Straight Connector 28"/>
          <p:cNvCxnSpPr/>
          <p:nvPr/>
        </p:nvCxnSpPr>
        <p:spPr>
          <a:xfrm>
            <a:off x="3132138" y="4508500"/>
            <a:ext cx="215900"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567903267"/>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33675" y="1506538"/>
            <a:ext cx="5162550" cy="484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1776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19313" y="3905250"/>
            <a:ext cx="561975" cy="2476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1776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0825" y="414338"/>
            <a:ext cx="4002088" cy="63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17766"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5288" y="3998913"/>
            <a:ext cx="1724025" cy="1952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9"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extLst>
      <p:ext uri="{BB962C8B-B14F-4D97-AF65-F5344CB8AC3E}">
        <p14:creationId xmlns:p14="http://schemas.microsoft.com/office/powerpoint/2010/main" val="942924112"/>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50" y="928688"/>
            <a:ext cx="5842000" cy="545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18788"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8313" y="404813"/>
            <a:ext cx="2735262"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p:cNvSpPr>
            <a:spLocks noGrp="1"/>
          </p:cNvSpPr>
          <p:nvPr>
            <p:ph type="title"/>
          </p:nvPr>
        </p:nvSpPr>
        <p:spPr/>
        <p:txBody>
          <a:bodyPr/>
          <a:lstStyle/>
          <a:p>
            <a:r>
              <a:rPr lang="en-IN" altLang="en-US" b="1" u="sng">
                <a:solidFill>
                  <a:srgbClr val="FF0000"/>
                </a:solidFill>
              </a:rPr>
              <a:t>Addresses of 16x2 LCD</a:t>
            </a:r>
          </a:p>
        </p:txBody>
      </p:sp>
      <p:graphicFrame>
        <p:nvGraphicFramePr>
          <p:cNvPr id="7" name="Table 6"/>
          <p:cNvGraphicFramePr>
            <a:graphicFrameLocks noGrp="1"/>
          </p:cNvGraphicFramePr>
          <p:nvPr/>
        </p:nvGraphicFramePr>
        <p:xfrm>
          <a:off x="395288" y="2420938"/>
          <a:ext cx="8353424" cy="647700"/>
        </p:xfrm>
        <a:graphic>
          <a:graphicData uri="http://schemas.openxmlformats.org/drawingml/2006/table">
            <a:tbl>
              <a:tblPr firstRow="1" bandRow="1">
                <a:tableStyleId>{5C22544A-7EE6-4342-B048-85BDC9FD1C3A}</a:tableStyleId>
              </a:tblPr>
              <a:tblGrid>
                <a:gridCol w="522089">
                  <a:extLst>
                    <a:ext uri="{9D8B030D-6E8A-4147-A177-3AD203B41FA5}">
                      <a16:colId xmlns:a16="http://schemas.microsoft.com/office/drawing/2014/main" val="20000"/>
                    </a:ext>
                  </a:extLst>
                </a:gridCol>
                <a:gridCol w="522089">
                  <a:extLst>
                    <a:ext uri="{9D8B030D-6E8A-4147-A177-3AD203B41FA5}">
                      <a16:colId xmlns:a16="http://schemas.microsoft.com/office/drawing/2014/main" val="20001"/>
                    </a:ext>
                  </a:extLst>
                </a:gridCol>
                <a:gridCol w="522089">
                  <a:extLst>
                    <a:ext uri="{9D8B030D-6E8A-4147-A177-3AD203B41FA5}">
                      <a16:colId xmlns:a16="http://schemas.microsoft.com/office/drawing/2014/main" val="20002"/>
                    </a:ext>
                  </a:extLst>
                </a:gridCol>
                <a:gridCol w="522089">
                  <a:extLst>
                    <a:ext uri="{9D8B030D-6E8A-4147-A177-3AD203B41FA5}">
                      <a16:colId xmlns:a16="http://schemas.microsoft.com/office/drawing/2014/main" val="20003"/>
                    </a:ext>
                  </a:extLst>
                </a:gridCol>
                <a:gridCol w="522089">
                  <a:extLst>
                    <a:ext uri="{9D8B030D-6E8A-4147-A177-3AD203B41FA5}">
                      <a16:colId xmlns:a16="http://schemas.microsoft.com/office/drawing/2014/main" val="20004"/>
                    </a:ext>
                  </a:extLst>
                </a:gridCol>
                <a:gridCol w="522089">
                  <a:extLst>
                    <a:ext uri="{9D8B030D-6E8A-4147-A177-3AD203B41FA5}">
                      <a16:colId xmlns:a16="http://schemas.microsoft.com/office/drawing/2014/main" val="20005"/>
                    </a:ext>
                  </a:extLst>
                </a:gridCol>
                <a:gridCol w="522089">
                  <a:extLst>
                    <a:ext uri="{9D8B030D-6E8A-4147-A177-3AD203B41FA5}">
                      <a16:colId xmlns:a16="http://schemas.microsoft.com/office/drawing/2014/main" val="20006"/>
                    </a:ext>
                  </a:extLst>
                </a:gridCol>
                <a:gridCol w="522089">
                  <a:extLst>
                    <a:ext uri="{9D8B030D-6E8A-4147-A177-3AD203B41FA5}">
                      <a16:colId xmlns:a16="http://schemas.microsoft.com/office/drawing/2014/main" val="20007"/>
                    </a:ext>
                  </a:extLst>
                </a:gridCol>
                <a:gridCol w="522089">
                  <a:extLst>
                    <a:ext uri="{9D8B030D-6E8A-4147-A177-3AD203B41FA5}">
                      <a16:colId xmlns:a16="http://schemas.microsoft.com/office/drawing/2014/main" val="20008"/>
                    </a:ext>
                  </a:extLst>
                </a:gridCol>
                <a:gridCol w="522089">
                  <a:extLst>
                    <a:ext uri="{9D8B030D-6E8A-4147-A177-3AD203B41FA5}">
                      <a16:colId xmlns:a16="http://schemas.microsoft.com/office/drawing/2014/main" val="20009"/>
                    </a:ext>
                  </a:extLst>
                </a:gridCol>
                <a:gridCol w="522089">
                  <a:extLst>
                    <a:ext uri="{9D8B030D-6E8A-4147-A177-3AD203B41FA5}">
                      <a16:colId xmlns:a16="http://schemas.microsoft.com/office/drawing/2014/main" val="20010"/>
                    </a:ext>
                  </a:extLst>
                </a:gridCol>
                <a:gridCol w="522089">
                  <a:extLst>
                    <a:ext uri="{9D8B030D-6E8A-4147-A177-3AD203B41FA5}">
                      <a16:colId xmlns:a16="http://schemas.microsoft.com/office/drawing/2014/main" val="20011"/>
                    </a:ext>
                  </a:extLst>
                </a:gridCol>
                <a:gridCol w="522089">
                  <a:extLst>
                    <a:ext uri="{9D8B030D-6E8A-4147-A177-3AD203B41FA5}">
                      <a16:colId xmlns:a16="http://schemas.microsoft.com/office/drawing/2014/main" val="20012"/>
                    </a:ext>
                  </a:extLst>
                </a:gridCol>
                <a:gridCol w="522089">
                  <a:extLst>
                    <a:ext uri="{9D8B030D-6E8A-4147-A177-3AD203B41FA5}">
                      <a16:colId xmlns:a16="http://schemas.microsoft.com/office/drawing/2014/main" val="20013"/>
                    </a:ext>
                  </a:extLst>
                </a:gridCol>
                <a:gridCol w="522089">
                  <a:extLst>
                    <a:ext uri="{9D8B030D-6E8A-4147-A177-3AD203B41FA5}">
                      <a16:colId xmlns:a16="http://schemas.microsoft.com/office/drawing/2014/main" val="20014"/>
                    </a:ext>
                  </a:extLst>
                </a:gridCol>
                <a:gridCol w="522089">
                  <a:extLst>
                    <a:ext uri="{9D8B030D-6E8A-4147-A177-3AD203B41FA5}">
                      <a16:colId xmlns:a16="http://schemas.microsoft.com/office/drawing/2014/main" val="20015"/>
                    </a:ext>
                  </a:extLst>
                </a:gridCol>
              </a:tblGrid>
              <a:tr h="647700">
                <a:tc>
                  <a:txBody>
                    <a:bodyPr/>
                    <a:lstStyle/>
                    <a:p>
                      <a:endParaRPr lang="en-IN" sz="1800" b="1" dirty="0">
                        <a:solidFill>
                          <a:srgbClr val="FF0000"/>
                        </a:solidFill>
                      </a:endParaRPr>
                    </a:p>
                    <a:p>
                      <a:r>
                        <a:rPr lang="en-IN" sz="1800" b="1" dirty="0">
                          <a:solidFill>
                            <a:srgbClr val="FF0000"/>
                          </a:solidFill>
                        </a:rPr>
                        <a:t> 80</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81</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82</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83</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84</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85</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86</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87</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88</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89</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8A</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8B</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8C</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8D</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8E</a:t>
                      </a:r>
                    </a:p>
                  </a:txBody>
                  <a:tcPr marL="91445" marR="91445" marT="45694" marB="45694"/>
                </a:tc>
                <a:tc>
                  <a:txBody>
                    <a:bodyPr/>
                    <a:lstStyle/>
                    <a:p>
                      <a:endParaRPr lang="en-IN" sz="1800" b="1" dirty="0">
                        <a:solidFill>
                          <a:srgbClr val="FF0000"/>
                        </a:solidFill>
                      </a:endParaRPr>
                    </a:p>
                    <a:p>
                      <a:r>
                        <a:rPr lang="en-IN" sz="1800" b="1" dirty="0">
                          <a:solidFill>
                            <a:srgbClr val="FF0000"/>
                          </a:solidFill>
                        </a:rPr>
                        <a:t> 8F</a:t>
                      </a:r>
                    </a:p>
                  </a:txBody>
                  <a:tcPr marL="91445" marR="91445" marT="45694" marB="45694"/>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nvGraphicFramePr>
        <p:xfrm>
          <a:off x="395288" y="3068638"/>
          <a:ext cx="8353424" cy="647700"/>
        </p:xfrm>
        <a:graphic>
          <a:graphicData uri="http://schemas.openxmlformats.org/drawingml/2006/table">
            <a:tbl>
              <a:tblPr firstRow="1" bandRow="1">
                <a:tableStyleId>{5C22544A-7EE6-4342-B048-85BDC9FD1C3A}</a:tableStyleId>
              </a:tblPr>
              <a:tblGrid>
                <a:gridCol w="522089">
                  <a:extLst>
                    <a:ext uri="{9D8B030D-6E8A-4147-A177-3AD203B41FA5}">
                      <a16:colId xmlns:a16="http://schemas.microsoft.com/office/drawing/2014/main" val="20000"/>
                    </a:ext>
                  </a:extLst>
                </a:gridCol>
                <a:gridCol w="522089">
                  <a:extLst>
                    <a:ext uri="{9D8B030D-6E8A-4147-A177-3AD203B41FA5}">
                      <a16:colId xmlns:a16="http://schemas.microsoft.com/office/drawing/2014/main" val="20001"/>
                    </a:ext>
                  </a:extLst>
                </a:gridCol>
                <a:gridCol w="522089">
                  <a:extLst>
                    <a:ext uri="{9D8B030D-6E8A-4147-A177-3AD203B41FA5}">
                      <a16:colId xmlns:a16="http://schemas.microsoft.com/office/drawing/2014/main" val="20002"/>
                    </a:ext>
                  </a:extLst>
                </a:gridCol>
                <a:gridCol w="522089">
                  <a:extLst>
                    <a:ext uri="{9D8B030D-6E8A-4147-A177-3AD203B41FA5}">
                      <a16:colId xmlns:a16="http://schemas.microsoft.com/office/drawing/2014/main" val="20003"/>
                    </a:ext>
                  </a:extLst>
                </a:gridCol>
                <a:gridCol w="522089">
                  <a:extLst>
                    <a:ext uri="{9D8B030D-6E8A-4147-A177-3AD203B41FA5}">
                      <a16:colId xmlns:a16="http://schemas.microsoft.com/office/drawing/2014/main" val="20004"/>
                    </a:ext>
                  </a:extLst>
                </a:gridCol>
                <a:gridCol w="522089">
                  <a:extLst>
                    <a:ext uri="{9D8B030D-6E8A-4147-A177-3AD203B41FA5}">
                      <a16:colId xmlns:a16="http://schemas.microsoft.com/office/drawing/2014/main" val="20005"/>
                    </a:ext>
                  </a:extLst>
                </a:gridCol>
                <a:gridCol w="522089">
                  <a:extLst>
                    <a:ext uri="{9D8B030D-6E8A-4147-A177-3AD203B41FA5}">
                      <a16:colId xmlns:a16="http://schemas.microsoft.com/office/drawing/2014/main" val="20006"/>
                    </a:ext>
                  </a:extLst>
                </a:gridCol>
                <a:gridCol w="522089">
                  <a:extLst>
                    <a:ext uri="{9D8B030D-6E8A-4147-A177-3AD203B41FA5}">
                      <a16:colId xmlns:a16="http://schemas.microsoft.com/office/drawing/2014/main" val="20007"/>
                    </a:ext>
                  </a:extLst>
                </a:gridCol>
                <a:gridCol w="522089">
                  <a:extLst>
                    <a:ext uri="{9D8B030D-6E8A-4147-A177-3AD203B41FA5}">
                      <a16:colId xmlns:a16="http://schemas.microsoft.com/office/drawing/2014/main" val="20008"/>
                    </a:ext>
                  </a:extLst>
                </a:gridCol>
                <a:gridCol w="522089">
                  <a:extLst>
                    <a:ext uri="{9D8B030D-6E8A-4147-A177-3AD203B41FA5}">
                      <a16:colId xmlns:a16="http://schemas.microsoft.com/office/drawing/2014/main" val="20009"/>
                    </a:ext>
                  </a:extLst>
                </a:gridCol>
                <a:gridCol w="522089">
                  <a:extLst>
                    <a:ext uri="{9D8B030D-6E8A-4147-A177-3AD203B41FA5}">
                      <a16:colId xmlns:a16="http://schemas.microsoft.com/office/drawing/2014/main" val="20010"/>
                    </a:ext>
                  </a:extLst>
                </a:gridCol>
                <a:gridCol w="522089">
                  <a:extLst>
                    <a:ext uri="{9D8B030D-6E8A-4147-A177-3AD203B41FA5}">
                      <a16:colId xmlns:a16="http://schemas.microsoft.com/office/drawing/2014/main" val="20011"/>
                    </a:ext>
                  </a:extLst>
                </a:gridCol>
                <a:gridCol w="522089">
                  <a:extLst>
                    <a:ext uri="{9D8B030D-6E8A-4147-A177-3AD203B41FA5}">
                      <a16:colId xmlns:a16="http://schemas.microsoft.com/office/drawing/2014/main" val="20012"/>
                    </a:ext>
                  </a:extLst>
                </a:gridCol>
                <a:gridCol w="522089">
                  <a:extLst>
                    <a:ext uri="{9D8B030D-6E8A-4147-A177-3AD203B41FA5}">
                      <a16:colId xmlns:a16="http://schemas.microsoft.com/office/drawing/2014/main" val="20013"/>
                    </a:ext>
                  </a:extLst>
                </a:gridCol>
                <a:gridCol w="522089">
                  <a:extLst>
                    <a:ext uri="{9D8B030D-6E8A-4147-A177-3AD203B41FA5}">
                      <a16:colId xmlns:a16="http://schemas.microsoft.com/office/drawing/2014/main" val="20014"/>
                    </a:ext>
                  </a:extLst>
                </a:gridCol>
                <a:gridCol w="522089">
                  <a:extLst>
                    <a:ext uri="{9D8B030D-6E8A-4147-A177-3AD203B41FA5}">
                      <a16:colId xmlns:a16="http://schemas.microsoft.com/office/drawing/2014/main" val="20015"/>
                    </a:ext>
                  </a:extLst>
                </a:gridCol>
              </a:tblGrid>
              <a:tr h="647700">
                <a:tc>
                  <a:txBody>
                    <a:bodyPr/>
                    <a:lstStyle/>
                    <a:p>
                      <a:endParaRPr lang="en-IN" sz="1800" dirty="0">
                        <a:solidFill>
                          <a:srgbClr val="FF0000"/>
                        </a:solidFill>
                      </a:endParaRPr>
                    </a:p>
                    <a:p>
                      <a:r>
                        <a:rPr lang="en-IN" sz="1800" dirty="0">
                          <a:solidFill>
                            <a:srgbClr val="FF0000"/>
                          </a:solidFill>
                        </a:rPr>
                        <a:t> C0</a:t>
                      </a:r>
                    </a:p>
                  </a:txBody>
                  <a:tcPr marL="91445" marR="91445" marT="45694" marB="45694"/>
                </a:tc>
                <a:tc>
                  <a:txBody>
                    <a:bodyPr/>
                    <a:lstStyle/>
                    <a:p>
                      <a:endParaRPr lang="en-IN" sz="1800" dirty="0">
                        <a:solidFill>
                          <a:srgbClr val="FF0000"/>
                        </a:solidFill>
                      </a:endParaRPr>
                    </a:p>
                    <a:p>
                      <a:r>
                        <a:rPr lang="en-IN" sz="1800" dirty="0">
                          <a:solidFill>
                            <a:srgbClr val="FF0000"/>
                          </a:solidFill>
                        </a:rPr>
                        <a:t> C1</a:t>
                      </a:r>
                    </a:p>
                  </a:txBody>
                  <a:tcPr marL="91445" marR="91445" marT="45694" marB="45694"/>
                </a:tc>
                <a:tc>
                  <a:txBody>
                    <a:bodyPr/>
                    <a:lstStyle/>
                    <a:p>
                      <a:endParaRPr lang="en-IN" sz="1800" dirty="0">
                        <a:solidFill>
                          <a:srgbClr val="FF0000"/>
                        </a:solidFill>
                      </a:endParaRPr>
                    </a:p>
                    <a:p>
                      <a:r>
                        <a:rPr lang="en-IN" sz="1800" dirty="0">
                          <a:solidFill>
                            <a:srgbClr val="FF0000"/>
                          </a:solidFill>
                        </a:rPr>
                        <a:t> C2</a:t>
                      </a:r>
                    </a:p>
                  </a:txBody>
                  <a:tcPr marL="91445" marR="91445" marT="45694" marB="45694"/>
                </a:tc>
                <a:tc>
                  <a:txBody>
                    <a:bodyPr/>
                    <a:lstStyle/>
                    <a:p>
                      <a:endParaRPr lang="en-IN" sz="1800" dirty="0">
                        <a:solidFill>
                          <a:srgbClr val="FF0000"/>
                        </a:solidFill>
                      </a:endParaRPr>
                    </a:p>
                    <a:p>
                      <a:r>
                        <a:rPr lang="en-IN" sz="1800" dirty="0">
                          <a:solidFill>
                            <a:srgbClr val="FF0000"/>
                          </a:solidFill>
                        </a:rPr>
                        <a:t> C3</a:t>
                      </a:r>
                    </a:p>
                  </a:txBody>
                  <a:tcPr marL="91445" marR="91445" marT="45694" marB="45694"/>
                </a:tc>
                <a:tc>
                  <a:txBody>
                    <a:bodyPr/>
                    <a:lstStyle/>
                    <a:p>
                      <a:endParaRPr lang="en-IN" sz="1800" dirty="0">
                        <a:solidFill>
                          <a:srgbClr val="FF0000"/>
                        </a:solidFill>
                      </a:endParaRPr>
                    </a:p>
                    <a:p>
                      <a:r>
                        <a:rPr lang="en-IN" sz="1800" dirty="0">
                          <a:solidFill>
                            <a:srgbClr val="FF0000"/>
                          </a:solidFill>
                        </a:rPr>
                        <a:t> C4</a:t>
                      </a:r>
                    </a:p>
                  </a:txBody>
                  <a:tcPr marL="91445" marR="91445" marT="45694" marB="45694"/>
                </a:tc>
                <a:tc>
                  <a:txBody>
                    <a:bodyPr/>
                    <a:lstStyle/>
                    <a:p>
                      <a:endParaRPr lang="en-IN" sz="1800" dirty="0">
                        <a:solidFill>
                          <a:srgbClr val="FF0000"/>
                        </a:solidFill>
                      </a:endParaRPr>
                    </a:p>
                    <a:p>
                      <a:r>
                        <a:rPr lang="en-IN" sz="1800" dirty="0">
                          <a:solidFill>
                            <a:srgbClr val="FF0000"/>
                          </a:solidFill>
                        </a:rPr>
                        <a:t> C5</a:t>
                      </a:r>
                    </a:p>
                  </a:txBody>
                  <a:tcPr marL="91445" marR="91445" marT="45694" marB="45694"/>
                </a:tc>
                <a:tc>
                  <a:txBody>
                    <a:bodyPr/>
                    <a:lstStyle/>
                    <a:p>
                      <a:endParaRPr lang="en-IN" sz="1800" dirty="0">
                        <a:solidFill>
                          <a:srgbClr val="FF0000"/>
                        </a:solidFill>
                      </a:endParaRPr>
                    </a:p>
                    <a:p>
                      <a:r>
                        <a:rPr lang="en-IN" sz="1800" dirty="0">
                          <a:solidFill>
                            <a:srgbClr val="FF0000"/>
                          </a:solidFill>
                        </a:rPr>
                        <a:t> C6</a:t>
                      </a:r>
                    </a:p>
                  </a:txBody>
                  <a:tcPr marL="91445" marR="91445" marT="45694" marB="45694"/>
                </a:tc>
                <a:tc>
                  <a:txBody>
                    <a:bodyPr/>
                    <a:lstStyle/>
                    <a:p>
                      <a:endParaRPr lang="en-IN" sz="1800" dirty="0">
                        <a:solidFill>
                          <a:srgbClr val="FF0000"/>
                        </a:solidFill>
                      </a:endParaRPr>
                    </a:p>
                    <a:p>
                      <a:r>
                        <a:rPr lang="en-IN" sz="1800" dirty="0">
                          <a:solidFill>
                            <a:srgbClr val="FF0000"/>
                          </a:solidFill>
                        </a:rPr>
                        <a:t> C7</a:t>
                      </a:r>
                    </a:p>
                  </a:txBody>
                  <a:tcPr marL="91445" marR="91445" marT="45694" marB="45694"/>
                </a:tc>
                <a:tc>
                  <a:txBody>
                    <a:bodyPr/>
                    <a:lstStyle/>
                    <a:p>
                      <a:endParaRPr lang="en-IN" sz="1800" dirty="0">
                        <a:solidFill>
                          <a:srgbClr val="FF0000"/>
                        </a:solidFill>
                      </a:endParaRPr>
                    </a:p>
                    <a:p>
                      <a:r>
                        <a:rPr lang="en-IN" sz="1800" dirty="0">
                          <a:solidFill>
                            <a:srgbClr val="FF0000"/>
                          </a:solidFill>
                        </a:rPr>
                        <a:t> C8</a:t>
                      </a:r>
                    </a:p>
                  </a:txBody>
                  <a:tcPr marL="91445" marR="91445" marT="45694" marB="45694"/>
                </a:tc>
                <a:tc>
                  <a:txBody>
                    <a:bodyPr/>
                    <a:lstStyle/>
                    <a:p>
                      <a:endParaRPr lang="en-IN" sz="1800" dirty="0">
                        <a:solidFill>
                          <a:srgbClr val="FF0000"/>
                        </a:solidFill>
                      </a:endParaRPr>
                    </a:p>
                    <a:p>
                      <a:r>
                        <a:rPr lang="en-IN" sz="1800" dirty="0">
                          <a:solidFill>
                            <a:srgbClr val="FF0000"/>
                          </a:solidFill>
                        </a:rPr>
                        <a:t> C9</a:t>
                      </a:r>
                    </a:p>
                  </a:txBody>
                  <a:tcPr marL="91445" marR="91445" marT="45694" marB="45694"/>
                </a:tc>
                <a:tc>
                  <a:txBody>
                    <a:bodyPr/>
                    <a:lstStyle/>
                    <a:p>
                      <a:endParaRPr lang="en-IN" sz="1800" dirty="0">
                        <a:solidFill>
                          <a:srgbClr val="FF0000"/>
                        </a:solidFill>
                      </a:endParaRPr>
                    </a:p>
                    <a:p>
                      <a:r>
                        <a:rPr lang="en-IN" sz="1800" dirty="0">
                          <a:solidFill>
                            <a:srgbClr val="FF0000"/>
                          </a:solidFill>
                        </a:rPr>
                        <a:t> CA</a:t>
                      </a:r>
                    </a:p>
                  </a:txBody>
                  <a:tcPr marL="91445" marR="91445" marT="45694" marB="45694"/>
                </a:tc>
                <a:tc>
                  <a:txBody>
                    <a:bodyPr/>
                    <a:lstStyle/>
                    <a:p>
                      <a:endParaRPr lang="en-IN" sz="1800" dirty="0">
                        <a:solidFill>
                          <a:srgbClr val="FF0000"/>
                        </a:solidFill>
                      </a:endParaRPr>
                    </a:p>
                    <a:p>
                      <a:r>
                        <a:rPr lang="en-IN" sz="1800" dirty="0">
                          <a:solidFill>
                            <a:srgbClr val="FF0000"/>
                          </a:solidFill>
                        </a:rPr>
                        <a:t> CB</a:t>
                      </a:r>
                    </a:p>
                  </a:txBody>
                  <a:tcPr marL="91445" marR="91445" marT="45694" marB="45694"/>
                </a:tc>
                <a:tc>
                  <a:txBody>
                    <a:bodyPr/>
                    <a:lstStyle/>
                    <a:p>
                      <a:endParaRPr lang="en-IN" sz="1800" dirty="0">
                        <a:solidFill>
                          <a:srgbClr val="FF0000"/>
                        </a:solidFill>
                      </a:endParaRPr>
                    </a:p>
                    <a:p>
                      <a:r>
                        <a:rPr lang="en-IN" sz="1800" dirty="0">
                          <a:solidFill>
                            <a:srgbClr val="FF0000"/>
                          </a:solidFill>
                        </a:rPr>
                        <a:t> CC</a:t>
                      </a:r>
                    </a:p>
                  </a:txBody>
                  <a:tcPr marL="91445" marR="91445" marT="45694" marB="45694"/>
                </a:tc>
                <a:tc>
                  <a:txBody>
                    <a:bodyPr/>
                    <a:lstStyle/>
                    <a:p>
                      <a:endParaRPr lang="en-IN" sz="1800" dirty="0">
                        <a:solidFill>
                          <a:srgbClr val="FF0000"/>
                        </a:solidFill>
                      </a:endParaRPr>
                    </a:p>
                    <a:p>
                      <a:r>
                        <a:rPr lang="en-IN" sz="1800" dirty="0">
                          <a:solidFill>
                            <a:srgbClr val="FF0000"/>
                          </a:solidFill>
                        </a:rPr>
                        <a:t> CD</a:t>
                      </a:r>
                    </a:p>
                  </a:txBody>
                  <a:tcPr marL="91445" marR="91445" marT="45694" marB="45694"/>
                </a:tc>
                <a:tc>
                  <a:txBody>
                    <a:bodyPr/>
                    <a:lstStyle/>
                    <a:p>
                      <a:endParaRPr lang="en-IN" sz="1800" dirty="0">
                        <a:solidFill>
                          <a:srgbClr val="FF0000"/>
                        </a:solidFill>
                      </a:endParaRPr>
                    </a:p>
                    <a:p>
                      <a:r>
                        <a:rPr lang="en-IN" sz="1800" dirty="0">
                          <a:solidFill>
                            <a:srgbClr val="FF0000"/>
                          </a:solidFill>
                        </a:rPr>
                        <a:t> CE</a:t>
                      </a:r>
                    </a:p>
                  </a:txBody>
                  <a:tcPr marL="91445" marR="91445" marT="45694" marB="45694"/>
                </a:tc>
                <a:tc>
                  <a:txBody>
                    <a:bodyPr/>
                    <a:lstStyle/>
                    <a:p>
                      <a:endParaRPr lang="en-IN" sz="1800" dirty="0">
                        <a:solidFill>
                          <a:srgbClr val="FF0000"/>
                        </a:solidFill>
                      </a:endParaRPr>
                    </a:p>
                    <a:p>
                      <a:r>
                        <a:rPr lang="en-IN" sz="1800" dirty="0">
                          <a:solidFill>
                            <a:srgbClr val="FF0000"/>
                          </a:solidFill>
                        </a:rPr>
                        <a:t> CF</a:t>
                      </a:r>
                    </a:p>
                  </a:txBody>
                  <a:tcPr marL="91445" marR="91445" marT="45694" marB="45694"/>
                </a:tc>
                <a:extLst>
                  <a:ext uri="{0D108BD9-81ED-4DB2-BD59-A6C34878D82A}">
                    <a16:rowId xmlns:a16="http://schemas.microsoft.com/office/drawing/2014/main" val="10000"/>
                  </a:ext>
                </a:extLst>
              </a:tr>
            </a:tbl>
          </a:graphicData>
        </a:graphic>
      </p:graphicFrame>
      <p:sp>
        <p:nvSpPr>
          <p:cNvPr id="10"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1"/>
          <p:cNvSpPr>
            <a:spLocks noGrp="1"/>
          </p:cNvSpPr>
          <p:nvPr>
            <p:ph type="title"/>
          </p:nvPr>
        </p:nvSpPr>
        <p:spPr>
          <a:xfrm>
            <a:off x="457200" y="274638"/>
            <a:ext cx="8229600" cy="777875"/>
          </a:xfrm>
        </p:spPr>
        <p:txBody>
          <a:bodyPr/>
          <a:lstStyle/>
          <a:p>
            <a:r>
              <a:rPr lang="en-IN" altLang="en-US" sz="4000" b="1" u="sng"/>
              <a:t>LCD INTERFACING TO 8051</a:t>
            </a:r>
          </a:p>
        </p:txBody>
      </p:sp>
      <p:pic>
        <p:nvPicPr>
          <p:cNvPr id="12083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875" y="1341438"/>
            <a:ext cx="3816350" cy="4103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20837"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06563" y="5624513"/>
            <a:ext cx="551497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8"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388" y="568052"/>
            <a:ext cx="4105275" cy="422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21860"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1513" y="548680"/>
            <a:ext cx="3929062" cy="4392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21861"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28725" y="5218137"/>
            <a:ext cx="6296025" cy="1019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8"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p:cNvSpPr>
            <a:spLocks noGrp="1"/>
          </p:cNvSpPr>
          <p:nvPr>
            <p:ph type="title"/>
          </p:nvPr>
        </p:nvSpPr>
        <p:spPr/>
        <p:txBody>
          <a:bodyPr/>
          <a:lstStyle/>
          <a:p>
            <a:r>
              <a:rPr lang="en-IN" altLang="en-US" sz="4000" b="1" u="sng">
                <a:solidFill>
                  <a:srgbClr val="FF0000"/>
                </a:solidFill>
              </a:rPr>
              <a:t>STEPPER MOTOR INTERFACING</a:t>
            </a:r>
          </a:p>
        </p:txBody>
      </p:sp>
      <p:sp>
        <p:nvSpPr>
          <p:cNvPr id="122883" name="Content Placeholder 2"/>
          <p:cNvSpPr>
            <a:spLocks noGrp="1"/>
          </p:cNvSpPr>
          <p:nvPr>
            <p:ph idx="1"/>
          </p:nvPr>
        </p:nvSpPr>
        <p:spPr/>
        <p:txBody>
          <a:bodyPr/>
          <a:lstStyle/>
          <a:p>
            <a:pPr algn="just">
              <a:buFont typeface="Wingdings" pitchFamily="2" charset="2"/>
              <a:buChar char="Ø"/>
            </a:pPr>
            <a:r>
              <a:rPr lang="en-IN" altLang="en-US" sz="2400" b="1"/>
              <a:t>A Stepper motor is a widely used device that translates electrical pulses into mechanical movement. </a:t>
            </a:r>
          </a:p>
          <a:p>
            <a:pPr algn="just">
              <a:buFont typeface="Wingdings" pitchFamily="2" charset="2"/>
              <a:buChar char="Ø"/>
            </a:pPr>
            <a:r>
              <a:rPr lang="en-IN" altLang="en-US" sz="2400" b="1"/>
              <a:t>In applications such as disk drives, dot matrix printers &amp; robotics, the stepper motor is used for position control</a:t>
            </a:r>
          </a:p>
          <a:p>
            <a:pPr algn="just">
              <a:buFont typeface="Wingdings" pitchFamily="2" charset="2"/>
              <a:buChar char="Ø"/>
            </a:pPr>
            <a:r>
              <a:rPr lang="en-IN" altLang="en-US" sz="2400" b="1"/>
              <a:t>Stepper motors commonly have a permanent magnet ‘rotor’( also called shaft) surrounded by a ‘stator’. </a:t>
            </a:r>
          </a:p>
        </p:txBody>
      </p:sp>
      <p:pic>
        <p:nvPicPr>
          <p:cNvPr id="12288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95513" y="4441825"/>
            <a:ext cx="2160587" cy="1882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2288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825" y="4597400"/>
            <a:ext cx="1614488" cy="165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22887"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59338" y="4597400"/>
            <a:ext cx="1736725" cy="1439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122888"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83388" y="4305300"/>
            <a:ext cx="2109787" cy="178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1"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1"/>
          <p:cNvSpPr>
            <a:spLocks noGrp="1"/>
          </p:cNvSpPr>
          <p:nvPr>
            <p:ph type="title"/>
          </p:nvPr>
        </p:nvSpPr>
        <p:spPr>
          <a:xfrm>
            <a:off x="457200" y="274638"/>
            <a:ext cx="8229600" cy="633412"/>
          </a:xfrm>
        </p:spPr>
        <p:txBody>
          <a:bodyPr/>
          <a:lstStyle/>
          <a:p>
            <a:r>
              <a:rPr lang="en-IN" altLang="en-US" sz="4000" b="1">
                <a:solidFill>
                  <a:srgbClr val="FF0000"/>
                </a:solidFill>
              </a:rPr>
              <a:t>Driving Stepper motor</a:t>
            </a:r>
          </a:p>
        </p:txBody>
      </p:sp>
      <p:sp>
        <p:nvSpPr>
          <p:cNvPr id="124931" name="Content Placeholder 2"/>
          <p:cNvSpPr>
            <a:spLocks noGrp="1"/>
          </p:cNvSpPr>
          <p:nvPr>
            <p:ph idx="1"/>
          </p:nvPr>
        </p:nvSpPr>
        <p:spPr>
          <a:xfrm>
            <a:off x="179388" y="1052513"/>
            <a:ext cx="8785225" cy="5256212"/>
          </a:xfrm>
        </p:spPr>
        <p:txBody>
          <a:bodyPr/>
          <a:lstStyle/>
          <a:p>
            <a:pPr marL="0" indent="0" algn="ctr">
              <a:buFont typeface="Arial" charset="0"/>
              <a:buNone/>
            </a:pPr>
            <a:r>
              <a:rPr lang="en-IN" altLang="en-US" sz="2400" b="1">
                <a:solidFill>
                  <a:srgbClr val="FF0000"/>
                </a:solidFill>
              </a:rPr>
              <a:t>Normal 4 Step Sequence</a:t>
            </a:r>
          </a:p>
          <a:p>
            <a:pPr marL="0" indent="0" algn="ctr">
              <a:buFont typeface="Arial" charset="0"/>
              <a:buNone/>
            </a:pPr>
            <a:endParaRPr lang="en-IN" altLang="en-US" sz="2400" b="1"/>
          </a:p>
          <a:p>
            <a:pPr marL="0" indent="0" algn="ctr">
              <a:buFont typeface="Arial" charset="0"/>
              <a:buNone/>
            </a:pPr>
            <a:endParaRPr lang="en-IN" altLang="en-US" sz="2400" b="1"/>
          </a:p>
          <a:p>
            <a:pPr marL="0" indent="0" algn="ctr">
              <a:buFont typeface="Arial" charset="0"/>
              <a:buNone/>
            </a:pPr>
            <a:endParaRPr lang="en-IN" altLang="en-US" sz="2400" b="1"/>
          </a:p>
          <a:p>
            <a:pPr marL="0" indent="0" algn="ctr">
              <a:buFont typeface="Arial" charset="0"/>
              <a:buNone/>
            </a:pPr>
            <a:endParaRPr lang="en-IN" altLang="en-US" sz="2400" b="1"/>
          </a:p>
          <a:p>
            <a:pPr marL="0" indent="0" algn="ctr">
              <a:buFont typeface="Arial" charset="0"/>
              <a:buNone/>
            </a:pPr>
            <a:endParaRPr lang="en-IN" altLang="en-US" sz="2400" b="1"/>
          </a:p>
          <a:p>
            <a:pPr marL="0" indent="0" algn="ctr">
              <a:buFont typeface="Arial" charset="0"/>
              <a:buNone/>
            </a:pPr>
            <a:r>
              <a:rPr lang="en-IN" altLang="en-US" sz="2400" b="1">
                <a:solidFill>
                  <a:srgbClr val="FF0000"/>
                </a:solidFill>
              </a:rPr>
              <a:t>Wave Drive 4 step sequence</a:t>
            </a:r>
          </a:p>
        </p:txBody>
      </p:sp>
      <p:graphicFrame>
        <p:nvGraphicFramePr>
          <p:cNvPr id="2" name="Table 1"/>
          <p:cNvGraphicFramePr>
            <a:graphicFrameLocks noGrp="1"/>
          </p:cNvGraphicFramePr>
          <p:nvPr/>
        </p:nvGraphicFramePr>
        <p:xfrm>
          <a:off x="611188" y="1484313"/>
          <a:ext cx="7921626" cy="2001838"/>
        </p:xfrm>
        <a:graphic>
          <a:graphicData uri="http://schemas.openxmlformats.org/drawingml/2006/table">
            <a:tbl>
              <a:tblPr firstRow="1" bandRow="1">
                <a:tableStyleId>{073A0DAA-6AF3-43AB-8588-CEC1D06C72B9}</a:tableStyleId>
              </a:tblPr>
              <a:tblGrid>
                <a:gridCol w="1296266">
                  <a:extLst>
                    <a:ext uri="{9D8B030D-6E8A-4147-A177-3AD203B41FA5}">
                      <a16:colId xmlns:a16="http://schemas.microsoft.com/office/drawing/2014/main" val="20000"/>
                    </a:ext>
                  </a:extLst>
                </a:gridCol>
                <a:gridCol w="720148">
                  <a:extLst>
                    <a:ext uri="{9D8B030D-6E8A-4147-A177-3AD203B41FA5}">
                      <a16:colId xmlns:a16="http://schemas.microsoft.com/office/drawing/2014/main" val="20001"/>
                    </a:ext>
                  </a:extLst>
                </a:gridCol>
                <a:gridCol w="1008207">
                  <a:extLst>
                    <a:ext uri="{9D8B030D-6E8A-4147-A177-3AD203B41FA5}">
                      <a16:colId xmlns:a16="http://schemas.microsoft.com/office/drawing/2014/main" val="20002"/>
                    </a:ext>
                  </a:extLst>
                </a:gridCol>
                <a:gridCol w="1008207">
                  <a:extLst>
                    <a:ext uri="{9D8B030D-6E8A-4147-A177-3AD203B41FA5}">
                      <a16:colId xmlns:a16="http://schemas.microsoft.com/office/drawing/2014/main" val="20003"/>
                    </a:ext>
                  </a:extLst>
                </a:gridCol>
                <a:gridCol w="936192">
                  <a:extLst>
                    <a:ext uri="{9D8B030D-6E8A-4147-A177-3AD203B41FA5}">
                      <a16:colId xmlns:a16="http://schemas.microsoft.com/office/drawing/2014/main" val="20004"/>
                    </a:ext>
                  </a:extLst>
                </a:gridCol>
                <a:gridCol w="936192">
                  <a:extLst>
                    <a:ext uri="{9D8B030D-6E8A-4147-A177-3AD203B41FA5}">
                      <a16:colId xmlns:a16="http://schemas.microsoft.com/office/drawing/2014/main" val="20005"/>
                    </a:ext>
                  </a:extLst>
                </a:gridCol>
                <a:gridCol w="2016414">
                  <a:extLst>
                    <a:ext uri="{9D8B030D-6E8A-4147-A177-3AD203B41FA5}">
                      <a16:colId xmlns:a16="http://schemas.microsoft.com/office/drawing/2014/main" val="20006"/>
                    </a:ext>
                  </a:extLst>
                </a:gridCol>
              </a:tblGrid>
              <a:tr h="518242">
                <a:tc>
                  <a:txBody>
                    <a:bodyPr/>
                    <a:lstStyle/>
                    <a:p>
                      <a:pPr algn="ctr"/>
                      <a:r>
                        <a:rPr lang="en-IN" sz="1400" b="1" dirty="0"/>
                        <a:t>CLOCKWISE</a:t>
                      </a:r>
                    </a:p>
                  </a:txBody>
                  <a:tcPr marL="91449" marR="91449" marT="45727" marB="45727"/>
                </a:tc>
                <a:tc>
                  <a:txBody>
                    <a:bodyPr/>
                    <a:lstStyle/>
                    <a:p>
                      <a:pPr algn="ctr"/>
                      <a:r>
                        <a:rPr lang="en-IN" sz="1400" b="1" dirty="0"/>
                        <a:t>STEP</a:t>
                      </a:r>
                    </a:p>
                  </a:txBody>
                  <a:tcPr marL="91449" marR="91449" marT="45727" marB="45727"/>
                </a:tc>
                <a:tc>
                  <a:txBody>
                    <a:bodyPr/>
                    <a:lstStyle/>
                    <a:p>
                      <a:pPr algn="ctr"/>
                      <a:r>
                        <a:rPr lang="en-IN" sz="1400" b="1" dirty="0"/>
                        <a:t>WINDING A</a:t>
                      </a:r>
                    </a:p>
                  </a:txBody>
                  <a:tcPr marL="91449" marR="91449" marT="45727" marB="45727"/>
                </a:tc>
                <a:tc>
                  <a:txBody>
                    <a:bodyPr/>
                    <a:lstStyle/>
                    <a:p>
                      <a:pPr algn="ctr"/>
                      <a:r>
                        <a:rPr lang="en-IN" sz="1400" b="1" dirty="0"/>
                        <a:t>WINDING B</a:t>
                      </a:r>
                    </a:p>
                  </a:txBody>
                  <a:tcPr marL="91449" marR="91449" marT="45727" marB="45727"/>
                </a:tc>
                <a:tc>
                  <a:txBody>
                    <a:bodyPr/>
                    <a:lstStyle/>
                    <a:p>
                      <a:pPr algn="ctr"/>
                      <a:r>
                        <a:rPr lang="en-IN" sz="1400" b="1" dirty="0"/>
                        <a:t>WINDING C</a:t>
                      </a:r>
                    </a:p>
                  </a:txBody>
                  <a:tcPr marL="91449" marR="91449" marT="45727" marB="45727"/>
                </a:tc>
                <a:tc>
                  <a:txBody>
                    <a:bodyPr/>
                    <a:lstStyle/>
                    <a:p>
                      <a:pPr algn="ctr"/>
                      <a:r>
                        <a:rPr lang="en-IN" sz="1400" b="1" dirty="0"/>
                        <a:t>WINDING D</a:t>
                      </a:r>
                    </a:p>
                  </a:txBody>
                  <a:tcPr marL="91449" marR="91449" marT="45727" marB="45727"/>
                </a:tc>
                <a:tc>
                  <a:txBody>
                    <a:bodyPr/>
                    <a:lstStyle/>
                    <a:p>
                      <a:pPr algn="ctr"/>
                      <a:r>
                        <a:rPr lang="en-IN" sz="1400" b="1" dirty="0"/>
                        <a:t>COUNTER CLOCKWISE</a:t>
                      </a:r>
                    </a:p>
                  </a:txBody>
                  <a:tcPr marL="91449" marR="91449" marT="45727" marB="45727"/>
                </a:tc>
                <a:extLst>
                  <a:ext uri="{0D108BD9-81ED-4DB2-BD59-A6C34878D82A}">
                    <a16:rowId xmlns:a16="http://schemas.microsoft.com/office/drawing/2014/main" val="10000"/>
                  </a:ext>
                </a:extLst>
              </a:tr>
              <a:tr h="370899">
                <a:tc rowSpan="4">
                  <a:txBody>
                    <a:bodyPr/>
                    <a:lstStyle/>
                    <a:p>
                      <a:endParaRPr lang="en-IN" sz="1800" dirty="0"/>
                    </a:p>
                  </a:txBody>
                  <a:tcPr marL="91449" marR="91449" marT="45727" marB="45727"/>
                </a:tc>
                <a:tc>
                  <a:txBody>
                    <a:bodyPr/>
                    <a:lstStyle/>
                    <a:p>
                      <a:pPr algn="ctr"/>
                      <a:r>
                        <a:rPr lang="en-IN" sz="1800" b="1" dirty="0"/>
                        <a:t>1</a:t>
                      </a:r>
                    </a:p>
                  </a:txBody>
                  <a:tcPr marL="91449" marR="91449" marT="45727" marB="45727"/>
                </a:tc>
                <a:tc>
                  <a:txBody>
                    <a:bodyPr/>
                    <a:lstStyle/>
                    <a:p>
                      <a:pPr algn="ctr"/>
                      <a:r>
                        <a:rPr lang="en-IN" sz="1800" b="1" dirty="0"/>
                        <a:t>1</a:t>
                      </a:r>
                    </a:p>
                  </a:txBody>
                  <a:tcPr marL="91449" marR="91449" marT="45727" marB="45727"/>
                </a:tc>
                <a:tc>
                  <a:txBody>
                    <a:bodyPr/>
                    <a:lstStyle/>
                    <a:p>
                      <a:pPr algn="ctr"/>
                      <a:r>
                        <a:rPr lang="en-IN" sz="1800" b="1" dirty="0"/>
                        <a:t>1</a:t>
                      </a:r>
                    </a:p>
                  </a:txBody>
                  <a:tcPr marL="91449" marR="91449" marT="45727" marB="45727"/>
                </a:tc>
                <a:tc>
                  <a:txBody>
                    <a:bodyPr/>
                    <a:lstStyle/>
                    <a:p>
                      <a:pPr algn="ctr"/>
                      <a:r>
                        <a:rPr lang="en-IN" sz="1800" b="1" dirty="0"/>
                        <a:t>0</a:t>
                      </a:r>
                    </a:p>
                  </a:txBody>
                  <a:tcPr marL="91449" marR="91449" marT="45727" marB="45727"/>
                </a:tc>
                <a:tc>
                  <a:txBody>
                    <a:bodyPr/>
                    <a:lstStyle/>
                    <a:p>
                      <a:pPr algn="ctr"/>
                      <a:r>
                        <a:rPr lang="en-IN" sz="1800" b="1" dirty="0"/>
                        <a:t>0</a:t>
                      </a:r>
                    </a:p>
                  </a:txBody>
                  <a:tcPr marL="91449" marR="91449" marT="45727" marB="45727"/>
                </a:tc>
                <a:tc rowSpan="4">
                  <a:txBody>
                    <a:bodyPr/>
                    <a:lstStyle/>
                    <a:p>
                      <a:endParaRPr lang="en-IN" sz="1800" dirty="0"/>
                    </a:p>
                  </a:txBody>
                  <a:tcPr marL="91449" marR="91449" marT="45727" marB="45727"/>
                </a:tc>
                <a:extLst>
                  <a:ext uri="{0D108BD9-81ED-4DB2-BD59-A6C34878D82A}">
                    <a16:rowId xmlns:a16="http://schemas.microsoft.com/office/drawing/2014/main" val="10001"/>
                  </a:ext>
                </a:extLst>
              </a:tr>
              <a:tr h="370899">
                <a:tc vMerge="1">
                  <a:txBody>
                    <a:bodyPr/>
                    <a:lstStyle/>
                    <a:p>
                      <a:endParaRPr lang="en-IN" dirty="0"/>
                    </a:p>
                  </a:txBody>
                  <a:tcPr/>
                </a:tc>
                <a:tc>
                  <a:txBody>
                    <a:bodyPr/>
                    <a:lstStyle/>
                    <a:p>
                      <a:pPr algn="ctr"/>
                      <a:r>
                        <a:rPr lang="en-IN" sz="1800" b="1" dirty="0"/>
                        <a:t>2</a:t>
                      </a:r>
                    </a:p>
                  </a:txBody>
                  <a:tcPr marL="91449" marR="91449" marT="45727" marB="45727"/>
                </a:tc>
                <a:tc>
                  <a:txBody>
                    <a:bodyPr/>
                    <a:lstStyle/>
                    <a:p>
                      <a:pPr algn="ctr"/>
                      <a:r>
                        <a:rPr lang="en-IN" sz="1800" b="1" dirty="0"/>
                        <a:t>0</a:t>
                      </a:r>
                    </a:p>
                  </a:txBody>
                  <a:tcPr marL="91449" marR="91449" marT="45727" marB="45727"/>
                </a:tc>
                <a:tc>
                  <a:txBody>
                    <a:bodyPr/>
                    <a:lstStyle/>
                    <a:p>
                      <a:pPr algn="ctr"/>
                      <a:r>
                        <a:rPr lang="en-IN" sz="1800" b="1" dirty="0"/>
                        <a:t>1</a:t>
                      </a:r>
                    </a:p>
                  </a:txBody>
                  <a:tcPr marL="91449" marR="91449" marT="45727" marB="45727"/>
                </a:tc>
                <a:tc>
                  <a:txBody>
                    <a:bodyPr/>
                    <a:lstStyle/>
                    <a:p>
                      <a:pPr algn="ctr"/>
                      <a:r>
                        <a:rPr lang="en-IN" sz="1800" b="1" dirty="0"/>
                        <a:t>1</a:t>
                      </a:r>
                    </a:p>
                  </a:txBody>
                  <a:tcPr marL="91449" marR="91449" marT="45727" marB="45727"/>
                </a:tc>
                <a:tc>
                  <a:txBody>
                    <a:bodyPr/>
                    <a:lstStyle/>
                    <a:p>
                      <a:pPr algn="ctr"/>
                      <a:r>
                        <a:rPr lang="en-IN" sz="1800" b="1" dirty="0"/>
                        <a:t>0</a:t>
                      </a:r>
                    </a:p>
                  </a:txBody>
                  <a:tcPr marL="91449" marR="91449" marT="45727" marB="45727"/>
                </a:tc>
                <a:tc vMerge="1">
                  <a:txBody>
                    <a:bodyPr/>
                    <a:lstStyle/>
                    <a:p>
                      <a:endParaRPr lang="en-IN" dirty="0"/>
                    </a:p>
                  </a:txBody>
                  <a:tcPr/>
                </a:tc>
                <a:extLst>
                  <a:ext uri="{0D108BD9-81ED-4DB2-BD59-A6C34878D82A}">
                    <a16:rowId xmlns:a16="http://schemas.microsoft.com/office/drawing/2014/main" val="10002"/>
                  </a:ext>
                </a:extLst>
              </a:tr>
              <a:tr h="370899">
                <a:tc vMerge="1">
                  <a:txBody>
                    <a:bodyPr/>
                    <a:lstStyle/>
                    <a:p>
                      <a:endParaRPr lang="en-IN" dirty="0"/>
                    </a:p>
                  </a:txBody>
                  <a:tcPr/>
                </a:tc>
                <a:tc>
                  <a:txBody>
                    <a:bodyPr/>
                    <a:lstStyle/>
                    <a:p>
                      <a:pPr algn="ctr"/>
                      <a:r>
                        <a:rPr lang="en-IN" sz="1800" b="1" dirty="0"/>
                        <a:t>3</a:t>
                      </a:r>
                    </a:p>
                  </a:txBody>
                  <a:tcPr marL="91449" marR="91449" marT="45727" marB="45727"/>
                </a:tc>
                <a:tc>
                  <a:txBody>
                    <a:bodyPr/>
                    <a:lstStyle/>
                    <a:p>
                      <a:pPr algn="ctr"/>
                      <a:r>
                        <a:rPr lang="en-IN" sz="1800" b="1" dirty="0"/>
                        <a:t>0</a:t>
                      </a:r>
                    </a:p>
                  </a:txBody>
                  <a:tcPr marL="91449" marR="91449" marT="45727" marB="45727"/>
                </a:tc>
                <a:tc>
                  <a:txBody>
                    <a:bodyPr/>
                    <a:lstStyle/>
                    <a:p>
                      <a:pPr algn="ctr"/>
                      <a:r>
                        <a:rPr lang="en-IN" sz="1800" b="1" dirty="0"/>
                        <a:t>0</a:t>
                      </a:r>
                    </a:p>
                  </a:txBody>
                  <a:tcPr marL="91449" marR="91449" marT="45727" marB="45727"/>
                </a:tc>
                <a:tc>
                  <a:txBody>
                    <a:bodyPr/>
                    <a:lstStyle/>
                    <a:p>
                      <a:pPr algn="ctr"/>
                      <a:r>
                        <a:rPr lang="en-IN" sz="1800" b="1" dirty="0"/>
                        <a:t>1</a:t>
                      </a:r>
                    </a:p>
                  </a:txBody>
                  <a:tcPr marL="91449" marR="91449" marT="45727" marB="45727"/>
                </a:tc>
                <a:tc>
                  <a:txBody>
                    <a:bodyPr/>
                    <a:lstStyle/>
                    <a:p>
                      <a:pPr algn="ctr"/>
                      <a:r>
                        <a:rPr lang="en-IN" sz="1800" b="1" dirty="0"/>
                        <a:t>1</a:t>
                      </a:r>
                    </a:p>
                  </a:txBody>
                  <a:tcPr marL="91449" marR="91449" marT="45727" marB="45727"/>
                </a:tc>
                <a:tc vMerge="1">
                  <a:txBody>
                    <a:bodyPr/>
                    <a:lstStyle/>
                    <a:p>
                      <a:endParaRPr lang="en-IN" dirty="0"/>
                    </a:p>
                  </a:txBody>
                  <a:tcPr/>
                </a:tc>
                <a:extLst>
                  <a:ext uri="{0D108BD9-81ED-4DB2-BD59-A6C34878D82A}">
                    <a16:rowId xmlns:a16="http://schemas.microsoft.com/office/drawing/2014/main" val="10003"/>
                  </a:ext>
                </a:extLst>
              </a:tr>
              <a:tr h="370899">
                <a:tc vMerge="1">
                  <a:txBody>
                    <a:bodyPr/>
                    <a:lstStyle/>
                    <a:p>
                      <a:endParaRPr lang="en-IN" dirty="0"/>
                    </a:p>
                  </a:txBody>
                  <a:tcPr/>
                </a:tc>
                <a:tc>
                  <a:txBody>
                    <a:bodyPr/>
                    <a:lstStyle/>
                    <a:p>
                      <a:pPr algn="ctr"/>
                      <a:r>
                        <a:rPr lang="en-IN" sz="1800" b="1" dirty="0"/>
                        <a:t>4</a:t>
                      </a:r>
                    </a:p>
                  </a:txBody>
                  <a:tcPr marL="91449" marR="91449" marT="45727" marB="45727"/>
                </a:tc>
                <a:tc>
                  <a:txBody>
                    <a:bodyPr/>
                    <a:lstStyle/>
                    <a:p>
                      <a:pPr algn="ctr"/>
                      <a:r>
                        <a:rPr lang="en-IN" sz="1800" b="1" dirty="0"/>
                        <a:t>1</a:t>
                      </a:r>
                    </a:p>
                  </a:txBody>
                  <a:tcPr marL="91449" marR="91449" marT="45727" marB="45727"/>
                </a:tc>
                <a:tc>
                  <a:txBody>
                    <a:bodyPr/>
                    <a:lstStyle/>
                    <a:p>
                      <a:pPr algn="ctr"/>
                      <a:r>
                        <a:rPr lang="en-IN" sz="1800" b="1" dirty="0"/>
                        <a:t>0</a:t>
                      </a:r>
                    </a:p>
                  </a:txBody>
                  <a:tcPr marL="91449" marR="91449" marT="45727" marB="45727"/>
                </a:tc>
                <a:tc>
                  <a:txBody>
                    <a:bodyPr/>
                    <a:lstStyle/>
                    <a:p>
                      <a:pPr algn="ctr"/>
                      <a:r>
                        <a:rPr lang="en-IN" sz="1800" b="1" dirty="0"/>
                        <a:t>0</a:t>
                      </a:r>
                    </a:p>
                  </a:txBody>
                  <a:tcPr marL="91449" marR="91449" marT="45727" marB="45727"/>
                </a:tc>
                <a:tc>
                  <a:txBody>
                    <a:bodyPr/>
                    <a:lstStyle/>
                    <a:p>
                      <a:pPr algn="ctr"/>
                      <a:r>
                        <a:rPr lang="en-IN" sz="1800" b="1" dirty="0"/>
                        <a:t>1</a:t>
                      </a:r>
                    </a:p>
                  </a:txBody>
                  <a:tcPr marL="91449" marR="91449" marT="45727" marB="45727"/>
                </a:tc>
                <a:tc vMerge="1">
                  <a:txBody>
                    <a:bodyPr/>
                    <a:lstStyle/>
                    <a:p>
                      <a:endParaRPr lang="en-IN" dirty="0"/>
                    </a:p>
                  </a:txBody>
                  <a:tcPr/>
                </a:tc>
                <a:extLst>
                  <a:ext uri="{0D108BD9-81ED-4DB2-BD59-A6C34878D82A}">
                    <a16:rowId xmlns:a16="http://schemas.microsoft.com/office/drawing/2014/main" val="10004"/>
                  </a:ext>
                </a:extLst>
              </a:tr>
            </a:tbl>
          </a:graphicData>
        </a:graphic>
      </p:graphicFrame>
      <p:sp>
        <p:nvSpPr>
          <p:cNvPr id="3" name="Down Arrow 2"/>
          <p:cNvSpPr/>
          <p:nvPr/>
        </p:nvSpPr>
        <p:spPr>
          <a:xfrm>
            <a:off x="1116013" y="2133600"/>
            <a:ext cx="287337" cy="12239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9" name="Down Arrow 8"/>
          <p:cNvSpPr/>
          <p:nvPr/>
        </p:nvSpPr>
        <p:spPr>
          <a:xfrm flipH="1" flipV="1">
            <a:off x="7359650" y="2133600"/>
            <a:ext cx="295275" cy="11509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graphicFrame>
        <p:nvGraphicFramePr>
          <p:cNvPr id="10" name="Table 9"/>
          <p:cNvGraphicFramePr>
            <a:graphicFrameLocks noGrp="1"/>
          </p:cNvGraphicFramePr>
          <p:nvPr/>
        </p:nvGraphicFramePr>
        <p:xfrm>
          <a:off x="684213" y="4221163"/>
          <a:ext cx="7920036" cy="2001838"/>
        </p:xfrm>
        <a:graphic>
          <a:graphicData uri="http://schemas.openxmlformats.org/drawingml/2006/table">
            <a:tbl>
              <a:tblPr firstRow="1" bandRow="1">
                <a:tableStyleId>{073A0DAA-6AF3-43AB-8588-CEC1D06C72B9}</a:tableStyleId>
              </a:tblPr>
              <a:tblGrid>
                <a:gridCol w="1296006">
                  <a:extLst>
                    <a:ext uri="{9D8B030D-6E8A-4147-A177-3AD203B41FA5}">
                      <a16:colId xmlns:a16="http://schemas.microsoft.com/office/drawing/2014/main" val="20000"/>
                    </a:ext>
                  </a:extLst>
                </a:gridCol>
                <a:gridCol w="720003">
                  <a:extLst>
                    <a:ext uri="{9D8B030D-6E8A-4147-A177-3AD203B41FA5}">
                      <a16:colId xmlns:a16="http://schemas.microsoft.com/office/drawing/2014/main" val="20001"/>
                    </a:ext>
                  </a:extLst>
                </a:gridCol>
                <a:gridCol w="1008005">
                  <a:extLst>
                    <a:ext uri="{9D8B030D-6E8A-4147-A177-3AD203B41FA5}">
                      <a16:colId xmlns:a16="http://schemas.microsoft.com/office/drawing/2014/main" val="20002"/>
                    </a:ext>
                  </a:extLst>
                </a:gridCol>
                <a:gridCol w="1008005">
                  <a:extLst>
                    <a:ext uri="{9D8B030D-6E8A-4147-A177-3AD203B41FA5}">
                      <a16:colId xmlns:a16="http://schemas.microsoft.com/office/drawing/2014/main" val="20003"/>
                    </a:ext>
                  </a:extLst>
                </a:gridCol>
                <a:gridCol w="936004">
                  <a:extLst>
                    <a:ext uri="{9D8B030D-6E8A-4147-A177-3AD203B41FA5}">
                      <a16:colId xmlns:a16="http://schemas.microsoft.com/office/drawing/2014/main" val="20004"/>
                    </a:ext>
                  </a:extLst>
                </a:gridCol>
                <a:gridCol w="936004">
                  <a:extLst>
                    <a:ext uri="{9D8B030D-6E8A-4147-A177-3AD203B41FA5}">
                      <a16:colId xmlns:a16="http://schemas.microsoft.com/office/drawing/2014/main" val="20005"/>
                    </a:ext>
                  </a:extLst>
                </a:gridCol>
                <a:gridCol w="2016009">
                  <a:extLst>
                    <a:ext uri="{9D8B030D-6E8A-4147-A177-3AD203B41FA5}">
                      <a16:colId xmlns:a16="http://schemas.microsoft.com/office/drawing/2014/main" val="20006"/>
                    </a:ext>
                  </a:extLst>
                </a:gridCol>
              </a:tblGrid>
              <a:tr h="518242">
                <a:tc>
                  <a:txBody>
                    <a:bodyPr/>
                    <a:lstStyle/>
                    <a:p>
                      <a:pPr algn="ctr"/>
                      <a:r>
                        <a:rPr lang="en-IN" sz="1400" b="1" dirty="0"/>
                        <a:t>CLOCKWISE</a:t>
                      </a:r>
                    </a:p>
                  </a:txBody>
                  <a:tcPr marL="91430" marR="91430" marT="45727" marB="45727"/>
                </a:tc>
                <a:tc>
                  <a:txBody>
                    <a:bodyPr/>
                    <a:lstStyle/>
                    <a:p>
                      <a:pPr algn="ctr"/>
                      <a:r>
                        <a:rPr lang="en-IN" sz="1400" b="1" dirty="0"/>
                        <a:t>STEP</a:t>
                      </a:r>
                    </a:p>
                  </a:txBody>
                  <a:tcPr marL="91430" marR="91430" marT="45727" marB="45727"/>
                </a:tc>
                <a:tc>
                  <a:txBody>
                    <a:bodyPr/>
                    <a:lstStyle/>
                    <a:p>
                      <a:pPr algn="ctr"/>
                      <a:r>
                        <a:rPr lang="en-IN" sz="1400" b="1" dirty="0"/>
                        <a:t>WINDING A</a:t>
                      </a:r>
                    </a:p>
                  </a:txBody>
                  <a:tcPr marL="91430" marR="91430" marT="45727" marB="45727"/>
                </a:tc>
                <a:tc>
                  <a:txBody>
                    <a:bodyPr/>
                    <a:lstStyle/>
                    <a:p>
                      <a:pPr algn="ctr"/>
                      <a:r>
                        <a:rPr lang="en-IN" sz="1400" b="1" dirty="0"/>
                        <a:t>WINDING B</a:t>
                      </a:r>
                    </a:p>
                  </a:txBody>
                  <a:tcPr marL="91430" marR="91430" marT="45727" marB="45727"/>
                </a:tc>
                <a:tc>
                  <a:txBody>
                    <a:bodyPr/>
                    <a:lstStyle/>
                    <a:p>
                      <a:pPr algn="ctr"/>
                      <a:r>
                        <a:rPr lang="en-IN" sz="1400" b="1" dirty="0"/>
                        <a:t>WINDING C</a:t>
                      </a:r>
                    </a:p>
                  </a:txBody>
                  <a:tcPr marL="91430" marR="91430" marT="45727" marB="45727"/>
                </a:tc>
                <a:tc>
                  <a:txBody>
                    <a:bodyPr/>
                    <a:lstStyle/>
                    <a:p>
                      <a:pPr algn="ctr"/>
                      <a:r>
                        <a:rPr lang="en-IN" sz="1400" b="1" dirty="0"/>
                        <a:t>WINDING D</a:t>
                      </a:r>
                    </a:p>
                  </a:txBody>
                  <a:tcPr marL="91430" marR="91430" marT="45727" marB="45727"/>
                </a:tc>
                <a:tc>
                  <a:txBody>
                    <a:bodyPr/>
                    <a:lstStyle/>
                    <a:p>
                      <a:pPr algn="ctr"/>
                      <a:r>
                        <a:rPr lang="en-IN" sz="1400" b="1" dirty="0"/>
                        <a:t>COUNTER CLOCKWISE</a:t>
                      </a:r>
                    </a:p>
                  </a:txBody>
                  <a:tcPr marL="91430" marR="91430" marT="45727" marB="45727"/>
                </a:tc>
                <a:extLst>
                  <a:ext uri="{0D108BD9-81ED-4DB2-BD59-A6C34878D82A}">
                    <a16:rowId xmlns:a16="http://schemas.microsoft.com/office/drawing/2014/main" val="10000"/>
                  </a:ext>
                </a:extLst>
              </a:tr>
              <a:tr h="370899">
                <a:tc rowSpan="4">
                  <a:txBody>
                    <a:bodyPr/>
                    <a:lstStyle/>
                    <a:p>
                      <a:endParaRPr lang="en-IN" sz="1800" dirty="0"/>
                    </a:p>
                  </a:txBody>
                  <a:tcPr marL="91430" marR="91430" marT="45727" marB="45727"/>
                </a:tc>
                <a:tc>
                  <a:txBody>
                    <a:bodyPr/>
                    <a:lstStyle/>
                    <a:p>
                      <a:pPr algn="ctr"/>
                      <a:r>
                        <a:rPr lang="en-IN" sz="1800" b="1" dirty="0"/>
                        <a:t>1</a:t>
                      </a:r>
                    </a:p>
                  </a:txBody>
                  <a:tcPr marL="91430" marR="91430" marT="45727" marB="45727"/>
                </a:tc>
                <a:tc>
                  <a:txBody>
                    <a:bodyPr/>
                    <a:lstStyle/>
                    <a:p>
                      <a:pPr algn="ctr"/>
                      <a:r>
                        <a:rPr lang="en-IN" sz="1800" b="1" dirty="0"/>
                        <a:t>1</a:t>
                      </a:r>
                    </a:p>
                  </a:txBody>
                  <a:tcPr marL="91430" marR="91430" marT="45727" marB="45727"/>
                </a:tc>
                <a:tc>
                  <a:txBody>
                    <a:bodyPr/>
                    <a:lstStyle/>
                    <a:p>
                      <a:pPr algn="ctr"/>
                      <a:r>
                        <a:rPr lang="en-IN" sz="1800" b="1" dirty="0"/>
                        <a:t>0</a:t>
                      </a:r>
                    </a:p>
                  </a:txBody>
                  <a:tcPr marL="91430" marR="91430" marT="45727" marB="45727"/>
                </a:tc>
                <a:tc>
                  <a:txBody>
                    <a:bodyPr/>
                    <a:lstStyle/>
                    <a:p>
                      <a:pPr algn="ctr"/>
                      <a:r>
                        <a:rPr lang="en-IN" sz="1800" b="1" dirty="0"/>
                        <a:t>0</a:t>
                      </a:r>
                    </a:p>
                  </a:txBody>
                  <a:tcPr marL="91430" marR="91430" marT="45727" marB="45727"/>
                </a:tc>
                <a:tc>
                  <a:txBody>
                    <a:bodyPr/>
                    <a:lstStyle/>
                    <a:p>
                      <a:pPr algn="ctr"/>
                      <a:r>
                        <a:rPr lang="en-IN" sz="1800" b="1" dirty="0"/>
                        <a:t>0</a:t>
                      </a:r>
                    </a:p>
                  </a:txBody>
                  <a:tcPr marL="91430" marR="91430" marT="45727" marB="45727"/>
                </a:tc>
                <a:tc rowSpan="4">
                  <a:txBody>
                    <a:bodyPr/>
                    <a:lstStyle/>
                    <a:p>
                      <a:endParaRPr lang="en-IN" sz="1800" dirty="0"/>
                    </a:p>
                  </a:txBody>
                  <a:tcPr marL="91430" marR="91430" marT="45727" marB="45727"/>
                </a:tc>
                <a:extLst>
                  <a:ext uri="{0D108BD9-81ED-4DB2-BD59-A6C34878D82A}">
                    <a16:rowId xmlns:a16="http://schemas.microsoft.com/office/drawing/2014/main" val="10001"/>
                  </a:ext>
                </a:extLst>
              </a:tr>
              <a:tr h="370899">
                <a:tc vMerge="1">
                  <a:txBody>
                    <a:bodyPr/>
                    <a:lstStyle/>
                    <a:p>
                      <a:endParaRPr lang="en-IN" dirty="0"/>
                    </a:p>
                  </a:txBody>
                  <a:tcPr/>
                </a:tc>
                <a:tc>
                  <a:txBody>
                    <a:bodyPr/>
                    <a:lstStyle/>
                    <a:p>
                      <a:pPr algn="ctr"/>
                      <a:r>
                        <a:rPr lang="en-IN" sz="1800" b="1" dirty="0"/>
                        <a:t>2</a:t>
                      </a:r>
                    </a:p>
                  </a:txBody>
                  <a:tcPr marL="91430" marR="91430" marT="45727" marB="45727"/>
                </a:tc>
                <a:tc>
                  <a:txBody>
                    <a:bodyPr/>
                    <a:lstStyle/>
                    <a:p>
                      <a:pPr algn="ctr"/>
                      <a:r>
                        <a:rPr lang="en-IN" sz="1800" b="1" dirty="0"/>
                        <a:t>0</a:t>
                      </a:r>
                    </a:p>
                  </a:txBody>
                  <a:tcPr marL="91430" marR="91430" marT="45727" marB="45727"/>
                </a:tc>
                <a:tc>
                  <a:txBody>
                    <a:bodyPr/>
                    <a:lstStyle/>
                    <a:p>
                      <a:pPr algn="ctr"/>
                      <a:r>
                        <a:rPr lang="en-IN" sz="1800" b="1" dirty="0"/>
                        <a:t>1</a:t>
                      </a:r>
                    </a:p>
                  </a:txBody>
                  <a:tcPr marL="91430" marR="91430" marT="45727" marB="45727"/>
                </a:tc>
                <a:tc>
                  <a:txBody>
                    <a:bodyPr/>
                    <a:lstStyle/>
                    <a:p>
                      <a:pPr algn="ctr"/>
                      <a:r>
                        <a:rPr lang="en-IN" sz="1800" b="1" dirty="0"/>
                        <a:t>0</a:t>
                      </a:r>
                    </a:p>
                  </a:txBody>
                  <a:tcPr marL="91430" marR="91430" marT="45727" marB="45727"/>
                </a:tc>
                <a:tc>
                  <a:txBody>
                    <a:bodyPr/>
                    <a:lstStyle/>
                    <a:p>
                      <a:pPr algn="ctr"/>
                      <a:r>
                        <a:rPr lang="en-IN" sz="1800" b="1" dirty="0"/>
                        <a:t>0</a:t>
                      </a:r>
                    </a:p>
                  </a:txBody>
                  <a:tcPr marL="91430" marR="91430" marT="45727" marB="45727"/>
                </a:tc>
                <a:tc vMerge="1">
                  <a:txBody>
                    <a:bodyPr/>
                    <a:lstStyle/>
                    <a:p>
                      <a:endParaRPr lang="en-IN" dirty="0"/>
                    </a:p>
                  </a:txBody>
                  <a:tcPr/>
                </a:tc>
                <a:extLst>
                  <a:ext uri="{0D108BD9-81ED-4DB2-BD59-A6C34878D82A}">
                    <a16:rowId xmlns:a16="http://schemas.microsoft.com/office/drawing/2014/main" val="10002"/>
                  </a:ext>
                </a:extLst>
              </a:tr>
              <a:tr h="370899">
                <a:tc vMerge="1">
                  <a:txBody>
                    <a:bodyPr/>
                    <a:lstStyle/>
                    <a:p>
                      <a:endParaRPr lang="en-IN" dirty="0"/>
                    </a:p>
                  </a:txBody>
                  <a:tcPr/>
                </a:tc>
                <a:tc>
                  <a:txBody>
                    <a:bodyPr/>
                    <a:lstStyle/>
                    <a:p>
                      <a:pPr algn="ctr"/>
                      <a:r>
                        <a:rPr lang="en-IN" sz="1800" b="1" dirty="0"/>
                        <a:t>3</a:t>
                      </a:r>
                    </a:p>
                  </a:txBody>
                  <a:tcPr marL="91430" marR="91430" marT="45727" marB="45727"/>
                </a:tc>
                <a:tc>
                  <a:txBody>
                    <a:bodyPr/>
                    <a:lstStyle/>
                    <a:p>
                      <a:pPr algn="ctr"/>
                      <a:r>
                        <a:rPr lang="en-IN" sz="1800" b="1" dirty="0"/>
                        <a:t>0</a:t>
                      </a:r>
                    </a:p>
                  </a:txBody>
                  <a:tcPr marL="91430" marR="91430" marT="45727" marB="45727"/>
                </a:tc>
                <a:tc>
                  <a:txBody>
                    <a:bodyPr/>
                    <a:lstStyle/>
                    <a:p>
                      <a:pPr algn="ctr"/>
                      <a:r>
                        <a:rPr lang="en-IN" sz="1800" b="1" dirty="0"/>
                        <a:t>0</a:t>
                      </a:r>
                    </a:p>
                  </a:txBody>
                  <a:tcPr marL="91430" marR="91430" marT="45727" marB="45727"/>
                </a:tc>
                <a:tc>
                  <a:txBody>
                    <a:bodyPr/>
                    <a:lstStyle/>
                    <a:p>
                      <a:pPr algn="ctr"/>
                      <a:r>
                        <a:rPr lang="en-IN" sz="1800" b="1" dirty="0"/>
                        <a:t>1</a:t>
                      </a:r>
                    </a:p>
                  </a:txBody>
                  <a:tcPr marL="91430" marR="91430" marT="45727" marB="45727"/>
                </a:tc>
                <a:tc>
                  <a:txBody>
                    <a:bodyPr/>
                    <a:lstStyle/>
                    <a:p>
                      <a:pPr algn="ctr"/>
                      <a:r>
                        <a:rPr lang="en-IN" sz="1800" b="1" dirty="0"/>
                        <a:t>0</a:t>
                      </a:r>
                    </a:p>
                  </a:txBody>
                  <a:tcPr marL="91430" marR="91430" marT="45727" marB="45727"/>
                </a:tc>
                <a:tc vMerge="1">
                  <a:txBody>
                    <a:bodyPr/>
                    <a:lstStyle/>
                    <a:p>
                      <a:endParaRPr lang="en-IN" dirty="0"/>
                    </a:p>
                  </a:txBody>
                  <a:tcPr/>
                </a:tc>
                <a:extLst>
                  <a:ext uri="{0D108BD9-81ED-4DB2-BD59-A6C34878D82A}">
                    <a16:rowId xmlns:a16="http://schemas.microsoft.com/office/drawing/2014/main" val="10003"/>
                  </a:ext>
                </a:extLst>
              </a:tr>
              <a:tr h="370899">
                <a:tc vMerge="1">
                  <a:txBody>
                    <a:bodyPr/>
                    <a:lstStyle/>
                    <a:p>
                      <a:endParaRPr lang="en-IN" dirty="0"/>
                    </a:p>
                  </a:txBody>
                  <a:tcPr/>
                </a:tc>
                <a:tc>
                  <a:txBody>
                    <a:bodyPr/>
                    <a:lstStyle/>
                    <a:p>
                      <a:pPr algn="ctr"/>
                      <a:r>
                        <a:rPr lang="en-IN" sz="1800" b="1" dirty="0"/>
                        <a:t>4</a:t>
                      </a:r>
                    </a:p>
                  </a:txBody>
                  <a:tcPr marL="91430" marR="91430" marT="45727" marB="45727"/>
                </a:tc>
                <a:tc>
                  <a:txBody>
                    <a:bodyPr/>
                    <a:lstStyle/>
                    <a:p>
                      <a:pPr algn="ctr"/>
                      <a:r>
                        <a:rPr lang="en-IN" sz="1800" b="1" dirty="0"/>
                        <a:t>0</a:t>
                      </a:r>
                    </a:p>
                  </a:txBody>
                  <a:tcPr marL="91430" marR="91430" marT="45727" marB="45727"/>
                </a:tc>
                <a:tc>
                  <a:txBody>
                    <a:bodyPr/>
                    <a:lstStyle/>
                    <a:p>
                      <a:pPr algn="ctr"/>
                      <a:r>
                        <a:rPr lang="en-IN" sz="1800" b="1" dirty="0"/>
                        <a:t>0</a:t>
                      </a:r>
                    </a:p>
                  </a:txBody>
                  <a:tcPr marL="91430" marR="91430" marT="45727" marB="45727"/>
                </a:tc>
                <a:tc>
                  <a:txBody>
                    <a:bodyPr/>
                    <a:lstStyle/>
                    <a:p>
                      <a:pPr algn="ctr"/>
                      <a:r>
                        <a:rPr lang="en-IN" sz="1800" b="1" dirty="0"/>
                        <a:t>0</a:t>
                      </a:r>
                    </a:p>
                  </a:txBody>
                  <a:tcPr marL="91430" marR="91430" marT="45727" marB="45727"/>
                </a:tc>
                <a:tc>
                  <a:txBody>
                    <a:bodyPr/>
                    <a:lstStyle/>
                    <a:p>
                      <a:pPr algn="ctr"/>
                      <a:r>
                        <a:rPr lang="en-IN" sz="1800" b="1" dirty="0"/>
                        <a:t>1</a:t>
                      </a:r>
                    </a:p>
                  </a:txBody>
                  <a:tcPr marL="91430" marR="91430" marT="45727" marB="45727"/>
                </a:tc>
                <a:tc vMerge="1">
                  <a:txBody>
                    <a:bodyPr/>
                    <a:lstStyle/>
                    <a:p>
                      <a:endParaRPr lang="en-IN" dirty="0"/>
                    </a:p>
                  </a:txBody>
                  <a:tcPr/>
                </a:tc>
                <a:extLst>
                  <a:ext uri="{0D108BD9-81ED-4DB2-BD59-A6C34878D82A}">
                    <a16:rowId xmlns:a16="http://schemas.microsoft.com/office/drawing/2014/main" val="10004"/>
                  </a:ext>
                </a:extLst>
              </a:tr>
            </a:tbl>
          </a:graphicData>
        </a:graphic>
      </p:graphicFrame>
      <p:sp>
        <p:nvSpPr>
          <p:cNvPr id="11" name="Down Arrow 10"/>
          <p:cNvSpPr/>
          <p:nvPr/>
        </p:nvSpPr>
        <p:spPr>
          <a:xfrm>
            <a:off x="1187450" y="4868863"/>
            <a:ext cx="288925" cy="12239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2" name="Down Arrow 11"/>
          <p:cNvSpPr/>
          <p:nvPr/>
        </p:nvSpPr>
        <p:spPr>
          <a:xfrm flipH="1" flipV="1">
            <a:off x="7359650" y="4868863"/>
            <a:ext cx="295275" cy="11525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5"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p:cNvSpPr>
            <a:spLocks noGrp="1"/>
          </p:cNvSpPr>
          <p:nvPr>
            <p:ph type="title"/>
          </p:nvPr>
        </p:nvSpPr>
        <p:spPr>
          <a:xfrm>
            <a:off x="457200" y="274638"/>
            <a:ext cx="8229600" cy="633412"/>
          </a:xfrm>
        </p:spPr>
        <p:txBody>
          <a:bodyPr/>
          <a:lstStyle/>
          <a:p>
            <a:r>
              <a:rPr lang="en-IN" altLang="en-US" sz="4000" b="1">
                <a:solidFill>
                  <a:srgbClr val="FF0000"/>
                </a:solidFill>
              </a:rPr>
              <a:t>Driving Stepper motor</a:t>
            </a:r>
          </a:p>
        </p:txBody>
      </p:sp>
      <p:sp>
        <p:nvSpPr>
          <p:cNvPr id="125955" name="Content Placeholder 2"/>
          <p:cNvSpPr>
            <a:spLocks noGrp="1"/>
          </p:cNvSpPr>
          <p:nvPr>
            <p:ph idx="1"/>
          </p:nvPr>
        </p:nvSpPr>
        <p:spPr>
          <a:xfrm>
            <a:off x="179388" y="1052513"/>
            <a:ext cx="8785225" cy="5256212"/>
          </a:xfrm>
        </p:spPr>
        <p:txBody>
          <a:bodyPr/>
          <a:lstStyle/>
          <a:p>
            <a:pPr marL="0" indent="0" algn="ctr">
              <a:buFont typeface="Arial" charset="0"/>
              <a:buNone/>
            </a:pPr>
            <a:r>
              <a:rPr lang="en-IN" altLang="en-US" sz="2400" b="1" dirty="0">
                <a:solidFill>
                  <a:srgbClr val="FF0000"/>
                </a:solidFill>
              </a:rPr>
              <a:t>Half step 8-step sequence </a:t>
            </a:r>
          </a:p>
          <a:p>
            <a:pPr marL="0" indent="0" algn="ctr">
              <a:buFont typeface="Arial" charset="0"/>
              <a:buNone/>
            </a:pPr>
            <a:endParaRPr lang="en-IN" altLang="en-US" sz="2400" b="1" dirty="0"/>
          </a:p>
          <a:p>
            <a:pPr marL="0" indent="0" algn="ctr">
              <a:buFont typeface="Arial" charset="0"/>
              <a:buNone/>
            </a:pPr>
            <a:endParaRPr lang="en-IN" altLang="en-US" sz="2400" b="1" dirty="0"/>
          </a:p>
          <a:p>
            <a:pPr marL="0" indent="0" algn="ctr">
              <a:buFont typeface="Arial" charset="0"/>
              <a:buNone/>
            </a:pPr>
            <a:endParaRPr lang="en-IN" altLang="en-US" sz="2400" b="1" dirty="0"/>
          </a:p>
          <a:p>
            <a:pPr marL="0" indent="0" algn="ctr">
              <a:buFont typeface="Arial" charset="0"/>
              <a:buNone/>
            </a:pPr>
            <a:endParaRPr lang="en-IN" altLang="en-US" sz="2400" b="1" dirty="0"/>
          </a:p>
          <a:p>
            <a:pPr marL="0" indent="0" algn="ctr">
              <a:buFont typeface="Arial" charset="0"/>
              <a:buNone/>
            </a:pPr>
            <a:endParaRPr lang="en-IN" altLang="en-US" sz="2400" b="1" dirty="0"/>
          </a:p>
        </p:txBody>
      </p:sp>
      <p:graphicFrame>
        <p:nvGraphicFramePr>
          <p:cNvPr id="5" name="Table 4"/>
          <p:cNvGraphicFramePr>
            <a:graphicFrameLocks noGrp="1"/>
          </p:cNvGraphicFramePr>
          <p:nvPr/>
        </p:nvGraphicFramePr>
        <p:xfrm>
          <a:off x="250825" y="1700213"/>
          <a:ext cx="8305800" cy="3606800"/>
        </p:xfrm>
        <a:graphic>
          <a:graphicData uri="http://schemas.openxmlformats.org/drawingml/2006/table">
            <a:tbl>
              <a:tblPr firstRow="1" bandRow="1">
                <a:tableStyleId>{073A0DAA-6AF3-43AB-8588-CEC1D06C72B9}</a:tableStyleId>
              </a:tblPr>
              <a:tblGrid>
                <a:gridCol w="1368352">
                  <a:extLst>
                    <a:ext uri="{9D8B030D-6E8A-4147-A177-3AD203B41FA5}">
                      <a16:colId xmlns:a16="http://schemas.microsoft.com/office/drawing/2014/main" val="20000"/>
                    </a:ext>
                  </a:extLst>
                </a:gridCol>
                <a:gridCol w="720185">
                  <a:extLst>
                    <a:ext uri="{9D8B030D-6E8A-4147-A177-3AD203B41FA5}">
                      <a16:colId xmlns:a16="http://schemas.microsoft.com/office/drawing/2014/main" val="20001"/>
                    </a:ext>
                  </a:extLst>
                </a:gridCol>
                <a:gridCol w="1152297">
                  <a:extLst>
                    <a:ext uri="{9D8B030D-6E8A-4147-A177-3AD203B41FA5}">
                      <a16:colId xmlns:a16="http://schemas.microsoft.com/office/drawing/2014/main" val="20002"/>
                    </a:ext>
                  </a:extLst>
                </a:gridCol>
                <a:gridCol w="1224315">
                  <a:extLst>
                    <a:ext uri="{9D8B030D-6E8A-4147-A177-3AD203B41FA5}">
                      <a16:colId xmlns:a16="http://schemas.microsoft.com/office/drawing/2014/main" val="20003"/>
                    </a:ext>
                  </a:extLst>
                </a:gridCol>
                <a:gridCol w="1152297">
                  <a:extLst>
                    <a:ext uri="{9D8B030D-6E8A-4147-A177-3AD203B41FA5}">
                      <a16:colId xmlns:a16="http://schemas.microsoft.com/office/drawing/2014/main" val="20004"/>
                    </a:ext>
                  </a:extLst>
                </a:gridCol>
                <a:gridCol w="1152297">
                  <a:extLst>
                    <a:ext uri="{9D8B030D-6E8A-4147-A177-3AD203B41FA5}">
                      <a16:colId xmlns:a16="http://schemas.microsoft.com/office/drawing/2014/main" val="20005"/>
                    </a:ext>
                  </a:extLst>
                </a:gridCol>
                <a:gridCol w="1536057">
                  <a:extLst>
                    <a:ext uri="{9D8B030D-6E8A-4147-A177-3AD203B41FA5}">
                      <a16:colId xmlns:a16="http://schemas.microsoft.com/office/drawing/2014/main" val="20006"/>
                    </a:ext>
                  </a:extLst>
                </a:gridCol>
              </a:tblGrid>
              <a:tr h="370840">
                <a:tc>
                  <a:txBody>
                    <a:bodyPr/>
                    <a:lstStyle/>
                    <a:p>
                      <a:pPr algn="ctr"/>
                      <a:r>
                        <a:rPr lang="en-IN" dirty="0"/>
                        <a:t>CLOCKWISE</a:t>
                      </a:r>
                    </a:p>
                  </a:txBody>
                  <a:tcPr marL="91453" marR="91453"/>
                </a:tc>
                <a:tc>
                  <a:txBody>
                    <a:bodyPr/>
                    <a:lstStyle/>
                    <a:p>
                      <a:pPr algn="ctr"/>
                      <a:r>
                        <a:rPr lang="en-IN" dirty="0"/>
                        <a:t>STEP</a:t>
                      </a:r>
                    </a:p>
                  </a:txBody>
                  <a:tcPr marL="91453" marR="91453"/>
                </a:tc>
                <a:tc>
                  <a:txBody>
                    <a:bodyPr/>
                    <a:lstStyle/>
                    <a:p>
                      <a:pPr algn="ctr"/>
                      <a:r>
                        <a:rPr lang="en-IN" dirty="0"/>
                        <a:t>WINDING </a:t>
                      </a:r>
                    </a:p>
                    <a:p>
                      <a:pPr algn="ctr"/>
                      <a:r>
                        <a:rPr lang="en-IN" dirty="0"/>
                        <a:t>A</a:t>
                      </a:r>
                    </a:p>
                  </a:txBody>
                  <a:tcPr marL="91453" marR="91453"/>
                </a:tc>
                <a:tc>
                  <a:txBody>
                    <a:bodyPr/>
                    <a:lstStyle/>
                    <a:p>
                      <a:pPr algn="ctr"/>
                      <a:r>
                        <a:rPr lang="en-IN" dirty="0"/>
                        <a:t>WINDING B</a:t>
                      </a:r>
                    </a:p>
                  </a:txBody>
                  <a:tcPr marL="91453" marR="91453"/>
                </a:tc>
                <a:tc>
                  <a:txBody>
                    <a:bodyPr/>
                    <a:lstStyle/>
                    <a:p>
                      <a:pPr algn="ctr"/>
                      <a:r>
                        <a:rPr lang="en-IN" dirty="0"/>
                        <a:t>WINDING C</a:t>
                      </a:r>
                    </a:p>
                  </a:txBody>
                  <a:tcPr marL="91453" marR="91453"/>
                </a:tc>
                <a:tc>
                  <a:txBody>
                    <a:bodyPr/>
                    <a:lstStyle/>
                    <a:p>
                      <a:pPr algn="ctr"/>
                      <a:r>
                        <a:rPr lang="en-IN" dirty="0"/>
                        <a:t>WINDING</a:t>
                      </a:r>
                    </a:p>
                    <a:p>
                      <a:pPr algn="ctr"/>
                      <a:r>
                        <a:rPr lang="en-IN" dirty="0"/>
                        <a:t>D</a:t>
                      </a:r>
                    </a:p>
                  </a:txBody>
                  <a:tcPr marL="91453" marR="91453"/>
                </a:tc>
                <a:tc>
                  <a:txBody>
                    <a:bodyPr/>
                    <a:lstStyle/>
                    <a:p>
                      <a:pPr algn="ctr"/>
                      <a:r>
                        <a:rPr lang="en-IN" dirty="0"/>
                        <a:t>COUNTER CLOCKWISE</a:t>
                      </a:r>
                    </a:p>
                  </a:txBody>
                  <a:tcPr marL="91453" marR="91453"/>
                </a:tc>
                <a:extLst>
                  <a:ext uri="{0D108BD9-81ED-4DB2-BD59-A6C34878D82A}">
                    <a16:rowId xmlns:a16="http://schemas.microsoft.com/office/drawing/2014/main" val="10000"/>
                  </a:ext>
                </a:extLst>
              </a:tr>
              <a:tr h="370840">
                <a:tc rowSpan="8">
                  <a:txBody>
                    <a:bodyPr/>
                    <a:lstStyle/>
                    <a:p>
                      <a:pPr algn="ctr"/>
                      <a:endParaRPr lang="en-IN" dirty="0"/>
                    </a:p>
                  </a:txBody>
                  <a:tcPr marL="91453" marR="91453"/>
                </a:tc>
                <a:tc>
                  <a:txBody>
                    <a:bodyPr/>
                    <a:lstStyle/>
                    <a:p>
                      <a:pPr algn="ctr"/>
                      <a:r>
                        <a:rPr lang="en-IN" dirty="0"/>
                        <a:t>1</a:t>
                      </a:r>
                    </a:p>
                  </a:txBody>
                  <a:tcPr marL="91453" marR="91453"/>
                </a:tc>
                <a:tc>
                  <a:txBody>
                    <a:bodyPr/>
                    <a:lstStyle/>
                    <a:p>
                      <a:pPr algn="ctr"/>
                      <a:r>
                        <a:rPr lang="en-IN" dirty="0"/>
                        <a:t>1</a:t>
                      </a:r>
                    </a:p>
                  </a:txBody>
                  <a:tcPr marL="91453" marR="91453"/>
                </a:tc>
                <a:tc>
                  <a:txBody>
                    <a:bodyPr/>
                    <a:lstStyle/>
                    <a:p>
                      <a:pPr algn="ctr"/>
                      <a:r>
                        <a:rPr lang="en-IN" dirty="0"/>
                        <a:t>0</a:t>
                      </a:r>
                    </a:p>
                  </a:txBody>
                  <a:tcPr marL="91453" marR="91453"/>
                </a:tc>
                <a:tc>
                  <a:txBody>
                    <a:bodyPr/>
                    <a:lstStyle/>
                    <a:p>
                      <a:pPr algn="ctr"/>
                      <a:r>
                        <a:rPr lang="en-IN" dirty="0"/>
                        <a:t>0</a:t>
                      </a:r>
                    </a:p>
                  </a:txBody>
                  <a:tcPr marL="91453" marR="91453"/>
                </a:tc>
                <a:tc>
                  <a:txBody>
                    <a:bodyPr/>
                    <a:lstStyle/>
                    <a:p>
                      <a:pPr algn="ctr"/>
                      <a:r>
                        <a:rPr lang="en-IN" dirty="0"/>
                        <a:t>0</a:t>
                      </a:r>
                    </a:p>
                  </a:txBody>
                  <a:tcPr marL="91453" marR="91453"/>
                </a:tc>
                <a:tc rowSpan="8">
                  <a:txBody>
                    <a:bodyPr/>
                    <a:lstStyle/>
                    <a:p>
                      <a:pPr algn="ctr"/>
                      <a:endParaRPr lang="en-IN" dirty="0"/>
                    </a:p>
                  </a:txBody>
                  <a:tcPr marL="91453" marR="91453"/>
                </a:tc>
                <a:extLst>
                  <a:ext uri="{0D108BD9-81ED-4DB2-BD59-A6C34878D82A}">
                    <a16:rowId xmlns:a16="http://schemas.microsoft.com/office/drawing/2014/main" val="10001"/>
                  </a:ext>
                </a:extLst>
              </a:tr>
              <a:tr h="370840">
                <a:tc vMerge="1">
                  <a:txBody>
                    <a:bodyPr/>
                    <a:lstStyle/>
                    <a:p>
                      <a:pPr algn="ctr"/>
                      <a:endParaRPr lang="en-IN" dirty="0"/>
                    </a:p>
                  </a:txBody>
                  <a:tcPr/>
                </a:tc>
                <a:tc>
                  <a:txBody>
                    <a:bodyPr/>
                    <a:lstStyle/>
                    <a:p>
                      <a:pPr algn="ctr"/>
                      <a:r>
                        <a:rPr lang="en-IN" dirty="0"/>
                        <a:t>2</a:t>
                      </a:r>
                    </a:p>
                  </a:txBody>
                  <a:tcPr marL="91453" marR="91453"/>
                </a:tc>
                <a:tc>
                  <a:txBody>
                    <a:bodyPr/>
                    <a:lstStyle/>
                    <a:p>
                      <a:pPr algn="ctr"/>
                      <a:r>
                        <a:rPr lang="en-IN" dirty="0"/>
                        <a:t>1</a:t>
                      </a:r>
                    </a:p>
                  </a:txBody>
                  <a:tcPr marL="91453" marR="91453"/>
                </a:tc>
                <a:tc>
                  <a:txBody>
                    <a:bodyPr/>
                    <a:lstStyle/>
                    <a:p>
                      <a:pPr algn="ctr"/>
                      <a:r>
                        <a:rPr lang="en-IN" dirty="0"/>
                        <a:t>1</a:t>
                      </a:r>
                    </a:p>
                  </a:txBody>
                  <a:tcPr marL="91453" marR="91453"/>
                </a:tc>
                <a:tc>
                  <a:txBody>
                    <a:bodyPr/>
                    <a:lstStyle/>
                    <a:p>
                      <a:pPr algn="ctr"/>
                      <a:r>
                        <a:rPr lang="en-IN" dirty="0"/>
                        <a:t>0</a:t>
                      </a:r>
                    </a:p>
                  </a:txBody>
                  <a:tcPr marL="91453" marR="91453"/>
                </a:tc>
                <a:tc>
                  <a:txBody>
                    <a:bodyPr/>
                    <a:lstStyle/>
                    <a:p>
                      <a:pPr algn="ctr"/>
                      <a:r>
                        <a:rPr lang="en-IN" dirty="0"/>
                        <a:t>0</a:t>
                      </a:r>
                    </a:p>
                  </a:txBody>
                  <a:tcPr marL="91453" marR="91453"/>
                </a:tc>
                <a:tc vMerge="1">
                  <a:txBody>
                    <a:bodyPr/>
                    <a:lstStyle/>
                    <a:p>
                      <a:pPr algn="ctr"/>
                      <a:endParaRPr lang="en-IN" dirty="0"/>
                    </a:p>
                  </a:txBody>
                  <a:tcPr/>
                </a:tc>
                <a:extLst>
                  <a:ext uri="{0D108BD9-81ED-4DB2-BD59-A6C34878D82A}">
                    <a16:rowId xmlns:a16="http://schemas.microsoft.com/office/drawing/2014/main" val="10002"/>
                  </a:ext>
                </a:extLst>
              </a:tr>
              <a:tr h="370840">
                <a:tc vMerge="1">
                  <a:txBody>
                    <a:bodyPr/>
                    <a:lstStyle/>
                    <a:p>
                      <a:pPr algn="ctr"/>
                      <a:endParaRPr lang="en-IN" dirty="0"/>
                    </a:p>
                  </a:txBody>
                  <a:tcPr/>
                </a:tc>
                <a:tc>
                  <a:txBody>
                    <a:bodyPr/>
                    <a:lstStyle/>
                    <a:p>
                      <a:pPr algn="ctr"/>
                      <a:r>
                        <a:rPr lang="en-IN" dirty="0"/>
                        <a:t>3</a:t>
                      </a:r>
                    </a:p>
                  </a:txBody>
                  <a:tcPr marL="91453" marR="91453"/>
                </a:tc>
                <a:tc>
                  <a:txBody>
                    <a:bodyPr/>
                    <a:lstStyle/>
                    <a:p>
                      <a:pPr algn="ctr"/>
                      <a:r>
                        <a:rPr lang="en-IN" dirty="0"/>
                        <a:t>0</a:t>
                      </a:r>
                    </a:p>
                  </a:txBody>
                  <a:tcPr marL="91453" marR="91453"/>
                </a:tc>
                <a:tc>
                  <a:txBody>
                    <a:bodyPr/>
                    <a:lstStyle/>
                    <a:p>
                      <a:pPr algn="ctr"/>
                      <a:r>
                        <a:rPr lang="en-IN" dirty="0"/>
                        <a:t>1</a:t>
                      </a:r>
                    </a:p>
                  </a:txBody>
                  <a:tcPr marL="91453" marR="91453"/>
                </a:tc>
                <a:tc>
                  <a:txBody>
                    <a:bodyPr/>
                    <a:lstStyle/>
                    <a:p>
                      <a:pPr algn="ctr"/>
                      <a:r>
                        <a:rPr lang="en-IN" dirty="0"/>
                        <a:t>0</a:t>
                      </a:r>
                    </a:p>
                  </a:txBody>
                  <a:tcPr marL="91453" marR="91453"/>
                </a:tc>
                <a:tc>
                  <a:txBody>
                    <a:bodyPr/>
                    <a:lstStyle/>
                    <a:p>
                      <a:pPr algn="ctr"/>
                      <a:r>
                        <a:rPr lang="en-IN" dirty="0"/>
                        <a:t>0</a:t>
                      </a:r>
                    </a:p>
                  </a:txBody>
                  <a:tcPr marL="91453" marR="91453"/>
                </a:tc>
                <a:tc vMerge="1">
                  <a:txBody>
                    <a:bodyPr/>
                    <a:lstStyle/>
                    <a:p>
                      <a:pPr algn="ctr"/>
                      <a:endParaRPr lang="en-IN" dirty="0"/>
                    </a:p>
                  </a:txBody>
                  <a:tcPr/>
                </a:tc>
                <a:extLst>
                  <a:ext uri="{0D108BD9-81ED-4DB2-BD59-A6C34878D82A}">
                    <a16:rowId xmlns:a16="http://schemas.microsoft.com/office/drawing/2014/main" val="10003"/>
                  </a:ext>
                </a:extLst>
              </a:tr>
              <a:tr h="370840">
                <a:tc vMerge="1">
                  <a:txBody>
                    <a:bodyPr/>
                    <a:lstStyle/>
                    <a:p>
                      <a:pPr algn="ctr"/>
                      <a:endParaRPr lang="en-IN" dirty="0"/>
                    </a:p>
                  </a:txBody>
                  <a:tcPr/>
                </a:tc>
                <a:tc>
                  <a:txBody>
                    <a:bodyPr/>
                    <a:lstStyle/>
                    <a:p>
                      <a:pPr algn="ctr"/>
                      <a:r>
                        <a:rPr lang="en-IN" dirty="0"/>
                        <a:t>4</a:t>
                      </a:r>
                    </a:p>
                  </a:txBody>
                  <a:tcPr marL="91453" marR="91453"/>
                </a:tc>
                <a:tc>
                  <a:txBody>
                    <a:bodyPr/>
                    <a:lstStyle/>
                    <a:p>
                      <a:pPr algn="ctr"/>
                      <a:r>
                        <a:rPr lang="en-IN" dirty="0"/>
                        <a:t>0</a:t>
                      </a:r>
                    </a:p>
                  </a:txBody>
                  <a:tcPr marL="91453" marR="91453"/>
                </a:tc>
                <a:tc>
                  <a:txBody>
                    <a:bodyPr/>
                    <a:lstStyle/>
                    <a:p>
                      <a:pPr algn="ctr"/>
                      <a:r>
                        <a:rPr lang="en-IN" dirty="0"/>
                        <a:t>1</a:t>
                      </a:r>
                    </a:p>
                  </a:txBody>
                  <a:tcPr marL="91453" marR="91453"/>
                </a:tc>
                <a:tc>
                  <a:txBody>
                    <a:bodyPr/>
                    <a:lstStyle/>
                    <a:p>
                      <a:pPr algn="ctr"/>
                      <a:r>
                        <a:rPr lang="en-IN" dirty="0"/>
                        <a:t>1</a:t>
                      </a:r>
                    </a:p>
                  </a:txBody>
                  <a:tcPr marL="91453" marR="91453"/>
                </a:tc>
                <a:tc>
                  <a:txBody>
                    <a:bodyPr/>
                    <a:lstStyle/>
                    <a:p>
                      <a:pPr algn="ctr"/>
                      <a:r>
                        <a:rPr lang="en-IN" dirty="0"/>
                        <a:t>0</a:t>
                      </a:r>
                    </a:p>
                  </a:txBody>
                  <a:tcPr marL="91453" marR="91453"/>
                </a:tc>
                <a:tc vMerge="1">
                  <a:txBody>
                    <a:bodyPr/>
                    <a:lstStyle/>
                    <a:p>
                      <a:pPr algn="ctr"/>
                      <a:endParaRPr lang="en-IN" dirty="0"/>
                    </a:p>
                  </a:txBody>
                  <a:tcPr/>
                </a:tc>
                <a:extLst>
                  <a:ext uri="{0D108BD9-81ED-4DB2-BD59-A6C34878D82A}">
                    <a16:rowId xmlns:a16="http://schemas.microsoft.com/office/drawing/2014/main" val="10004"/>
                  </a:ext>
                </a:extLst>
              </a:tr>
              <a:tr h="370840">
                <a:tc vMerge="1">
                  <a:txBody>
                    <a:bodyPr/>
                    <a:lstStyle/>
                    <a:p>
                      <a:pPr algn="ctr"/>
                      <a:endParaRPr lang="en-IN" dirty="0"/>
                    </a:p>
                  </a:txBody>
                  <a:tcPr/>
                </a:tc>
                <a:tc>
                  <a:txBody>
                    <a:bodyPr/>
                    <a:lstStyle/>
                    <a:p>
                      <a:pPr algn="ctr"/>
                      <a:r>
                        <a:rPr lang="en-IN" dirty="0"/>
                        <a:t>5</a:t>
                      </a:r>
                    </a:p>
                  </a:txBody>
                  <a:tcPr marL="91453" marR="91453"/>
                </a:tc>
                <a:tc>
                  <a:txBody>
                    <a:bodyPr/>
                    <a:lstStyle/>
                    <a:p>
                      <a:pPr algn="ctr"/>
                      <a:r>
                        <a:rPr lang="en-IN" dirty="0"/>
                        <a:t>0</a:t>
                      </a:r>
                    </a:p>
                  </a:txBody>
                  <a:tcPr marL="91453" marR="91453"/>
                </a:tc>
                <a:tc>
                  <a:txBody>
                    <a:bodyPr/>
                    <a:lstStyle/>
                    <a:p>
                      <a:pPr algn="ctr"/>
                      <a:r>
                        <a:rPr lang="en-IN" dirty="0"/>
                        <a:t>0</a:t>
                      </a:r>
                    </a:p>
                  </a:txBody>
                  <a:tcPr marL="91453" marR="91453"/>
                </a:tc>
                <a:tc>
                  <a:txBody>
                    <a:bodyPr/>
                    <a:lstStyle/>
                    <a:p>
                      <a:pPr algn="ctr"/>
                      <a:r>
                        <a:rPr lang="en-IN" dirty="0"/>
                        <a:t>1</a:t>
                      </a:r>
                    </a:p>
                  </a:txBody>
                  <a:tcPr marL="91453" marR="91453"/>
                </a:tc>
                <a:tc>
                  <a:txBody>
                    <a:bodyPr/>
                    <a:lstStyle/>
                    <a:p>
                      <a:pPr algn="ctr"/>
                      <a:r>
                        <a:rPr lang="en-IN" dirty="0"/>
                        <a:t>0</a:t>
                      </a:r>
                    </a:p>
                  </a:txBody>
                  <a:tcPr marL="91453" marR="91453"/>
                </a:tc>
                <a:tc vMerge="1">
                  <a:txBody>
                    <a:bodyPr/>
                    <a:lstStyle/>
                    <a:p>
                      <a:pPr algn="ctr"/>
                      <a:endParaRPr lang="en-IN" dirty="0"/>
                    </a:p>
                  </a:txBody>
                  <a:tcPr/>
                </a:tc>
                <a:extLst>
                  <a:ext uri="{0D108BD9-81ED-4DB2-BD59-A6C34878D82A}">
                    <a16:rowId xmlns:a16="http://schemas.microsoft.com/office/drawing/2014/main" val="10005"/>
                  </a:ext>
                </a:extLst>
              </a:tr>
              <a:tr h="370840">
                <a:tc vMerge="1">
                  <a:txBody>
                    <a:bodyPr/>
                    <a:lstStyle/>
                    <a:p>
                      <a:pPr algn="ctr"/>
                      <a:endParaRPr lang="en-IN" dirty="0"/>
                    </a:p>
                  </a:txBody>
                  <a:tcPr/>
                </a:tc>
                <a:tc>
                  <a:txBody>
                    <a:bodyPr/>
                    <a:lstStyle/>
                    <a:p>
                      <a:pPr algn="ctr"/>
                      <a:r>
                        <a:rPr lang="en-IN" dirty="0"/>
                        <a:t>6</a:t>
                      </a:r>
                    </a:p>
                  </a:txBody>
                  <a:tcPr marL="91453" marR="91453"/>
                </a:tc>
                <a:tc>
                  <a:txBody>
                    <a:bodyPr/>
                    <a:lstStyle/>
                    <a:p>
                      <a:pPr algn="ctr"/>
                      <a:r>
                        <a:rPr lang="en-IN" dirty="0"/>
                        <a:t>0</a:t>
                      </a:r>
                    </a:p>
                  </a:txBody>
                  <a:tcPr marL="91453" marR="91453"/>
                </a:tc>
                <a:tc>
                  <a:txBody>
                    <a:bodyPr/>
                    <a:lstStyle/>
                    <a:p>
                      <a:pPr algn="ctr"/>
                      <a:r>
                        <a:rPr lang="en-IN" dirty="0"/>
                        <a:t>0</a:t>
                      </a:r>
                    </a:p>
                  </a:txBody>
                  <a:tcPr marL="91453" marR="91453"/>
                </a:tc>
                <a:tc>
                  <a:txBody>
                    <a:bodyPr/>
                    <a:lstStyle/>
                    <a:p>
                      <a:pPr algn="ctr"/>
                      <a:r>
                        <a:rPr lang="en-IN" dirty="0"/>
                        <a:t>1</a:t>
                      </a:r>
                    </a:p>
                  </a:txBody>
                  <a:tcPr marL="91453" marR="91453"/>
                </a:tc>
                <a:tc>
                  <a:txBody>
                    <a:bodyPr/>
                    <a:lstStyle/>
                    <a:p>
                      <a:pPr algn="ctr"/>
                      <a:r>
                        <a:rPr lang="en-IN" dirty="0"/>
                        <a:t>1</a:t>
                      </a:r>
                    </a:p>
                  </a:txBody>
                  <a:tcPr marL="91453" marR="91453"/>
                </a:tc>
                <a:tc vMerge="1">
                  <a:txBody>
                    <a:bodyPr/>
                    <a:lstStyle/>
                    <a:p>
                      <a:pPr algn="ctr"/>
                      <a:endParaRPr lang="en-IN" dirty="0"/>
                    </a:p>
                  </a:txBody>
                  <a:tcPr/>
                </a:tc>
                <a:extLst>
                  <a:ext uri="{0D108BD9-81ED-4DB2-BD59-A6C34878D82A}">
                    <a16:rowId xmlns:a16="http://schemas.microsoft.com/office/drawing/2014/main" val="10006"/>
                  </a:ext>
                </a:extLst>
              </a:tr>
              <a:tr h="370840">
                <a:tc vMerge="1">
                  <a:txBody>
                    <a:bodyPr/>
                    <a:lstStyle/>
                    <a:p>
                      <a:pPr algn="ctr"/>
                      <a:endParaRPr lang="en-IN" dirty="0"/>
                    </a:p>
                  </a:txBody>
                  <a:tcPr/>
                </a:tc>
                <a:tc>
                  <a:txBody>
                    <a:bodyPr/>
                    <a:lstStyle/>
                    <a:p>
                      <a:pPr algn="ctr"/>
                      <a:r>
                        <a:rPr lang="en-IN" dirty="0"/>
                        <a:t>7</a:t>
                      </a:r>
                    </a:p>
                  </a:txBody>
                  <a:tcPr marL="91453" marR="91453"/>
                </a:tc>
                <a:tc>
                  <a:txBody>
                    <a:bodyPr/>
                    <a:lstStyle/>
                    <a:p>
                      <a:pPr algn="ctr"/>
                      <a:r>
                        <a:rPr lang="en-IN" dirty="0"/>
                        <a:t>0</a:t>
                      </a:r>
                    </a:p>
                  </a:txBody>
                  <a:tcPr marL="91453" marR="91453"/>
                </a:tc>
                <a:tc>
                  <a:txBody>
                    <a:bodyPr/>
                    <a:lstStyle/>
                    <a:p>
                      <a:pPr algn="ctr"/>
                      <a:r>
                        <a:rPr lang="en-IN" dirty="0"/>
                        <a:t>0</a:t>
                      </a:r>
                    </a:p>
                  </a:txBody>
                  <a:tcPr marL="91453" marR="91453"/>
                </a:tc>
                <a:tc>
                  <a:txBody>
                    <a:bodyPr/>
                    <a:lstStyle/>
                    <a:p>
                      <a:pPr algn="ctr"/>
                      <a:r>
                        <a:rPr lang="en-IN" dirty="0"/>
                        <a:t>0</a:t>
                      </a:r>
                    </a:p>
                  </a:txBody>
                  <a:tcPr marL="91453" marR="91453"/>
                </a:tc>
                <a:tc>
                  <a:txBody>
                    <a:bodyPr/>
                    <a:lstStyle/>
                    <a:p>
                      <a:pPr algn="ctr"/>
                      <a:r>
                        <a:rPr lang="en-IN" dirty="0"/>
                        <a:t>1</a:t>
                      </a:r>
                    </a:p>
                  </a:txBody>
                  <a:tcPr marL="91453" marR="91453"/>
                </a:tc>
                <a:tc vMerge="1">
                  <a:txBody>
                    <a:bodyPr/>
                    <a:lstStyle/>
                    <a:p>
                      <a:pPr algn="ctr"/>
                      <a:endParaRPr lang="en-IN" dirty="0"/>
                    </a:p>
                  </a:txBody>
                  <a:tcPr/>
                </a:tc>
                <a:extLst>
                  <a:ext uri="{0D108BD9-81ED-4DB2-BD59-A6C34878D82A}">
                    <a16:rowId xmlns:a16="http://schemas.microsoft.com/office/drawing/2014/main" val="10007"/>
                  </a:ext>
                </a:extLst>
              </a:tr>
              <a:tr h="370840">
                <a:tc vMerge="1">
                  <a:txBody>
                    <a:bodyPr/>
                    <a:lstStyle/>
                    <a:p>
                      <a:pPr algn="ctr"/>
                      <a:endParaRPr lang="en-IN" dirty="0"/>
                    </a:p>
                  </a:txBody>
                  <a:tcPr/>
                </a:tc>
                <a:tc>
                  <a:txBody>
                    <a:bodyPr/>
                    <a:lstStyle/>
                    <a:p>
                      <a:pPr algn="ctr"/>
                      <a:r>
                        <a:rPr lang="en-IN" dirty="0"/>
                        <a:t>8</a:t>
                      </a:r>
                    </a:p>
                  </a:txBody>
                  <a:tcPr marL="91453" marR="91453"/>
                </a:tc>
                <a:tc>
                  <a:txBody>
                    <a:bodyPr/>
                    <a:lstStyle/>
                    <a:p>
                      <a:pPr algn="ctr"/>
                      <a:r>
                        <a:rPr lang="en-IN" dirty="0"/>
                        <a:t>1</a:t>
                      </a:r>
                    </a:p>
                  </a:txBody>
                  <a:tcPr marL="91453" marR="91453"/>
                </a:tc>
                <a:tc>
                  <a:txBody>
                    <a:bodyPr/>
                    <a:lstStyle/>
                    <a:p>
                      <a:pPr algn="ctr"/>
                      <a:r>
                        <a:rPr lang="en-IN" dirty="0"/>
                        <a:t>0</a:t>
                      </a:r>
                    </a:p>
                  </a:txBody>
                  <a:tcPr marL="91453" marR="91453"/>
                </a:tc>
                <a:tc>
                  <a:txBody>
                    <a:bodyPr/>
                    <a:lstStyle/>
                    <a:p>
                      <a:pPr algn="ctr"/>
                      <a:r>
                        <a:rPr lang="en-IN" dirty="0"/>
                        <a:t>0</a:t>
                      </a:r>
                    </a:p>
                  </a:txBody>
                  <a:tcPr marL="91453" marR="91453"/>
                </a:tc>
                <a:tc>
                  <a:txBody>
                    <a:bodyPr/>
                    <a:lstStyle/>
                    <a:p>
                      <a:pPr algn="ctr"/>
                      <a:r>
                        <a:rPr lang="en-IN" dirty="0"/>
                        <a:t>1</a:t>
                      </a:r>
                    </a:p>
                  </a:txBody>
                  <a:tcPr marL="91453" marR="91453"/>
                </a:tc>
                <a:tc vMerge="1">
                  <a:txBody>
                    <a:bodyPr/>
                    <a:lstStyle/>
                    <a:p>
                      <a:pPr algn="ctr"/>
                      <a:endParaRPr lang="en-IN" dirty="0"/>
                    </a:p>
                  </a:txBody>
                  <a:tcPr/>
                </a:tc>
                <a:extLst>
                  <a:ext uri="{0D108BD9-81ED-4DB2-BD59-A6C34878D82A}">
                    <a16:rowId xmlns:a16="http://schemas.microsoft.com/office/drawing/2014/main" val="10008"/>
                  </a:ext>
                </a:extLst>
              </a:tr>
            </a:tbl>
          </a:graphicData>
        </a:graphic>
      </p:graphicFrame>
      <p:sp>
        <p:nvSpPr>
          <p:cNvPr id="6" name="Down Arrow 5"/>
          <p:cNvSpPr/>
          <p:nvPr/>
        </p:nvSpPr>
        <p:spPr>
          <a:xfrm>
            <a:off x="827088" y="2420938"/>
            <a:ext cx="215900" cy="27368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4" name="Down Arrow 13"/>
          <p:cNvSpPr/>
          <p:nvPr/>
        </p:nvSpPr>
        <p:spPr>
          <a:xfrm flipV="1">
            <a:off x="7667625" y="2492375"/>
            <a:ext cx="217488" cy="26654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0"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p:cNvSpPr>
            <a:spLocks noGrp="1"/>
          </p:cNvSpPr>
          <p:nvPr>
            <p:ph type="title"/>
          </p:nvPr>
        </p:nvSpPr>
        <p:spPr>
          <a:xfrm>
            <a:off x="457200" y="274638"/>
            <a:ext cx="8229600" cy="706437"/>
          </a:xfrm>
        </p:spPr>
        <p:txBody>
          <a:bodyPr/>
          <a:lstStyle/>
          <a:p>
            <a:r>
              <a:rPr lang="en-IN" altLang="en-US" sz="4000" b="1">
                <a:solidFill>
                  <a:srgbClr val="FF0000"/>
                </a:solidFill>
              </a:rPr>
              <a:t>Stepper Motor Program</a:t>
            </a:r>
          </a:p>
        </p:txBody>
      </p:sp>
      <p:sp>
        <p:nvSpPr>
          <p:cNvPr id="130051" name="Content Placeholder 2"/>
          <p:cNvSpPr>
            <a:spLocks noGrp="1"/>
          </p:cNvSpPr>
          <p:nvPr>
            <p:ph idx="1"/>
          </p:nvPr>
        </p:nvSpPr>
        <p:spPr>
          <a:xfrm>
            <a:off x="107950" y="1273175"/>
            <a:ext cx="8785225" cy="5113338"/>
          </a:xfrm>
        </p:spPr>
        <p:txBody>
          <a:bodyPr/>
          <a:lstStyle/>
          <a:p>
            <a:pPr marL="0" indent="0" algn="just">
              <a:buFont typeface="Arial" charset="0"/>
              <a:buNone/>
            </a:pPr>
            <a:endParaRPr lang="en-IN" altLang="en-US" sz="2000" dirty="0"/>
          </a:p>
          <a:p>
            <a:pPr marL="0" indent="0" algn="just">
              <a:buFont typeface="Arial" charset="0"/>
              <a:buNone/>
            </a:pPr>
            <a:r>
              <a:rPr lang="en-IN" altLang="en-US" sz="2000" dirty="0"/>
              <a:t>Assuming two stepper motors are interfaced to 8051 with ULN2803 drivers.</a:t>
            </a:r>
          </a:p>
          <a:p>
            <a:pPr marL="0" indent="0" algn="just">
              <a:buFont typeface="Arial" charset="0"/>
              <a:buNone/>
            </a:pPr>
            <a:r>
              <a:rPr lang="en-IN" altLang="en-US" sz="2000" b="1" dirty="0">
                <a:solidFill>
                  <a:srgbClr val="FF0000"/>
                </a:solidFill>
              </a:rPr>
              <a:t>Program for normal 4-step sequence ( clock wise )</a:t>
            </a:r>
          </a:p>
          <a:p>
            <a:pPr marL="0" indent="0" algn="just">
              <a:buFont typeface="Arial" charset="0"/>
              <a:buNone/>
            </a:pPr>
            <a:r>
              <a:rPr lang="en-IN" altLang="en-US" sz="1400" b="1" dirty="0"/>
              <a:t>	ORG 0H</a:t>
            </a:r>
          </a:p>
          <a:p>
            <a:pPr marL="0" indent="0" algn="just">
              <a:buFont typeface="Arial" charset="0"/>
              <a:buNone/>
            </a:pPr>
            <a:r>
              <a:rPr lang="en-IN" altLang="en-US" sz="1400" b="1" dirty="0"/>
              <a:t>	BACK:	MOV A,#</a:t>
            </a:r>
            <a:r>
              <a:rPr lang="en-IN" altLang="en-US" sz="1400" b="1" dirty="0">
                <a:solidFill>
                  <a:srgbClr val="FF0000"/>
                </a:solidFill>
              </a:rPr>
              <a:t>0CCH</a:t>
            </a:r>
          </a:p>
          <a:p>
            <a:pPr marL="0" indent="0" algn="just">
              <a:buFont typeface="Arial" charset="0"/>
              <a:buNone/>
            </a:pPr>
            <a:r>
              <a:rPr lang="en-IN" altLang="en-US" sz="1400" b="1" dirty="0"/>
              <a:t>		MOV P1,A</a:t>
            </a:r>
          </a:p>
          <a:p>
            <a:pPr marL="0" indent="0" algn="just">
              <a:buFont typeface="Arial" charset="0"/>
              <a:buNone/>
            </a:pPr>
            <a:r>
              <a:rPr lang="en-IN" altLang="en-US" sz="1400" b="1" dirty="0"/>
              <a:t>		ACALL DELAY		</a:t>
            </a:r>
          </a:p>
          <a:p>
            <a:pPr marL="0" indent="0" algn="just">
              <a:buFont typeface="Arial" charset="0"/>
              <a:buNone/>
            </a:pPr>
            <a:r>
              <a:rPr lang="en-IN" altLang="en-US" sz="1400" b="1" dirty="0"/>
              <a:t>						DELAY:</a:t>
            </a:r>
          </a:p>
          <a:p>
            <a:pPr marL="0" indent="0" algn="just">
              <a:buFont typeface="Arial" charset="0"/>
              <a:buNone/>
            </a:pPr>
            <a:r>
              <a:rPr lang="en-IN" altLang="en-US" sz="1400" b="1" dirty="0"/>
              <a:t>		MOV A,#</a:t>
            </a:r>
            <a:r>
              <a:rPr lang="en-IN" altLang="en-US" sz="1400" b="1" dirty="0">
                <a:solidFill>
                  <a:srgbClr val="FF0000"/>
                </a:solidFill>
              </a:rPr>
              <a:t>66H</a:t>
            </a:r>
            <a:r>
              <a:rPr lang="en-IN" altLang="en-US" sz="1400" b="1" dirty="0"/>
              <a:t>			MOV R0,#0FFH</a:t>
            </a:r>
          </a:p>
          <a:p>
            <a:pPr marL="0" indent="0" algn="just">
              <a:buFont typeface="Arial" charset="0"/>
              <a:buNone/>
            </a:pPr>
            <a:r>
              <a:rPr lang="en-IN" altLang="en-US" sz="1400" b="1" dirty="0"/>
              <a:t>		MOV P1,A			LOOP2:	MOV R1,#80H	</a:t>
            </a:r>
          </a:p>
          <a:p>
            <a:pPr marL="0" indent="0" algn="just">
              <a:buFont typeface="Arial" charset="0"/>
              <a:buNone/>
            </a:pPr>
            <a:r>
              <a:rPr lang="en-IN" altLang="en-US" sz="1400" b="1" dirty="0"/>
              <a:t>		ACALL DELAY		LOOP1:	DJNZ R1,LOOP1</a:t>
            </a:r>
          </a:p>
          <a:p>
            <a:pPr marL="0" indent="0" algn="just">
              <a:buFont typeface="Arial" charset="0"/>
              <a:buNone/>
            </a:pPr>
            <a:r>
              <a:rPr lang="en-IN" altLang="en-US" sz="1400" b="1" dirty="0"/>
              <a:t>		MOV A,#</a:t>
            </a:r>
            <a:r>
              <a:rPr lang="en-IN" altLang="en-US" sz="1400" b="1" dirty="0">
                <a:solidFill>
                  <a:srgbClr val="FF0000"/>
                </a:solidFill>
              </a:rPr>
              <a:t>33H</a:t>
            </a:r>
            <a:r>
              <a:rPr lang="en-IN" altLang="en-US" sz="1400" b="1" dirty="0"/>
              <a:t>			DJNZ R0,LOOP2</a:t>
            </a:r>
          </a:p>
          <a:p>
            <a:pPr marL="0" indent="0" algn="just">
              <a:buFont typeface="Arial" charset="0"/>
              <a:buNone/>
            </a:pPr>
            <a:r>
              <a:rPr lang="en-IN" altLang="en-US" sz="1400" b="1" dirty="0"/>
              <a:t>		MOV P1,A				RET</a:t>
            </a:r>
          </a:p>
          <a:p>
            <a:pPr marL="0" indent="0" algn="just">
              <a:buFont typeface="Arial" charset="0"/>
              <a:buNone/>
            </a:pPr>
            <a:r>
              <a:rPr lang="en-IN" altLang="en-US" sz="1400" b="1" dirty="0"/>
              <a:t>		ACALL DELAY</a:t>
            </a:r>
          </a:p>
          <a:p>
            <a:pPr marL="0" indent="0" algn="just">
              <a:buFont typeface="Arial" charset="0"/>
              <a:buNone/>
            </a:pPr>
            <a:r>
              <a:rPr lang="en-IN" altLang="en-US" sz="1400" b="1" dirty="0"/>
              <a:t>		MOV A,#</a:t>
            </a:r>
            <a:r>
              <a:rPr lang="en-IN" altLang="en-US" sz="1400" b="1" dirty="0">
                <a:solidFill>
                  <a:srgbClr val="FF0000"/>
                </a:solidFill>
              </a:rPr>
              <a:t>99H</a:t>
            </a:r>
          </a:p>
          <a:p>
            <a:pPr marL="0" indent="0" algn="just">
              <a:buFont typeface="Arial" charset="0"/>
              <a:buNone/>
            </a:pPr>
            <a:r>
              <a:rPr lang="en-IN" altLang="en-US" sz="1400" b="1" dirty="0"/>
              <a:t>		MOV P1,A</a:t>
            </a:r>
          </a:p>
          <a:p>
            <a:pPr marL="0" indent="0" algn="just">
              <a:buFont typeface="Arial" charset="0"/>
              <a:buNone/>
            </a:pPr>
            <a:r>
              <a:rPr lang="en-IN" altLang="en-US" sz="1400" b="1" dirty="0"/>
              <a:t>		ACALL DELAY</a:t>
            </a:r>
          </a:p>
          <a:p>
            <a:pPr marL="0" indent="0" algn="just">
              <a:buFont typeface="Arial" charset="0"/>
              <a:buNone/>
            </a:pPr>
            <a:r>
              <a:rPr lang="en-IN" altLang="en-US" sz="1400" b="1" dirty="0"/>
              <a:t>		SJMP BACK</a:t>
            </a:r>
          </a:p>
          <a:p>
            <a:pPr marL="0" indent="0" algn="just">
              <a:buFont typeface="Arial" charset="0"/>
              <a:buNone/>
            </a:pPr>
            <a:r>
              <a:rPr lang="en-IN" altLang="en-US" sz="1400" b="1" dirty="0"/>
              <a:t>	END</a:t>
            </a:r>
          </a:p>
          <a:p>
            <a:pPr marL="0" indent="0" algn="just">
              <a:buFont typeface="Arial" charset="0"/>
              <a:buNone/>
            </a:pPr>
            <a:endParaRPr lang="en-IN" altLang="en-US" sz="2000" dirty="0"/>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itle 1"/>
          <p:cNvSpPr>
            <a:spLocks noGrp="1"/>
          </p:cNvSpPr>
          <p:nvPr>
            <p:ph type="title"/>
          </p:nvPr>
        </p:nvSpPr>
        <p:spPr>
          <a:xfrm>
            <a:off x="457200" y="274638"/>
            <a:ext cx="8229600" cy="706437"/>
          </a:xfrm>
        </p:spPr>
        <p:txBody>
          <a:bodyPr/>
          <a:lstStyle/>
          <a:p>
            <a:r>
              <a:rPr lang="en-IN" altLang="en-US" sz="4000" b="1">
                <a:solidFill>
                  <a:srgbClr val="FF0000"/>
                </a:solidFill>
              </a:rPr>
              <a:t>Stepper Motor Program</a:t>
            </a:r>
          </a:p>
        </p:txBody>
      </p:sp>
      <p:sp>
        <p:nvSpPr>
          <p:cNvPr id="131075" name="Content Placeholder 2"/>
          <p:cNvSpPr>
            <a:spLocks noGrp="1"/>
          </p:cNvSpPr>
          <p:nvPr>
            <p:ph idx="1"/>
          </p:nvPr>
        </p:nvSpPr>
        <p:spPr>
          <a:xfrm>
            <a:off x="107950" y="1273175"/>
            <a:ext cx="8785225" cy="5113338"/>
          </a:xfrm>
        </p:spPr>
        <p:txBody>
          <a:bodyPr/>
          <a:lstStyle/>
          <a:p>
            <a:pPr marL="0" indent="0" algn="just">
              <a:buFont typeface="Arial" charset="0"/>
              <a:buNone/>
            </a:pPr>
            <a:endParaRPr lang="en-IN" altLang="en-US" sz="2000"/>
          </a:p>
          <a:p>
            <a:pPr marL="0" indent="0" algn="just">
              <a:buFont typeface="Arial" charset="0"/>
              <a:buNone/>
            </a:pPr>
            <a:r>
              <a:rPr lang="en-IN" altLang="en-US" sz="2000"/>
              <a:t>Assuming two stepper motors are interfaced to 8051 with ULN2803 drivers.</a:t>
            </a:r>
          </a:p>
          <a:p>
            <a:pPr marL="0" indent="0" algn="just">
              <a:buFont typeface="Arial" charset="0"/>
              <a:buNone/>
            </a:pPr>
            <a:r>
              <a:rPr lang="en-IN" altLang="en-US" sz="2000" b="1">
                <a:solidFill>
                  <a:srgbClr val="FF0000"/>
                </a:solidFill>
              </a:rPr>
              <a:t>Program for wave drive 4-step sequence ( clock wise )</a:t>
            </a:r>
          </a:p>
          <a:p>
            <a:pPr marL="0" indent="0" algn="just">
              <a:buFont typeface="Arial" charset="0"/>
              <a:buNone/>
            </a:pPr>
            <a:r>
              <a:rPr lang="en-IN" altLang="en-US" sz="1400" b="1"/>
              <a:t>	ORG 0H</a:t>
            </a:r>
          </a:p>
          <a:p>
            <a:pPr marL="0" indent="0" algn="just">
              <a:buFont typeface="Arial" charset="0"/>
              <a:buNone/>
            </a:pPr>
            <a:r>
              <a:rPr lang="en-IN" altLang="en-US" sz="1400" b="1"/>
              <a:t>	BACK:	MOV A,#</a:t>
            </a:r>
            <a:r>
              <a:rPr lang="en-IN" altLang="en-US" sz="1400" b="1">
                <a:solidFill>
                  <a:srgbClr val="FF0000"/>
                </a:solidFill>
              </a:rPr>
              <a:t>88H</a:t>
            </a:r>
          </a:p>
          <a:p>
            <a:pPr marL="0" indent="0" algn="just">
              <a:buFont typeface="Arial" charset="0"/>
              <a:buNone/>
            </a:pPr>
            <a:r>
              <a:rPr lang="en-IN" altLang="en-US" sz="1400" b="1"/>
              <a:t>		MOV P1,A</a:t>
            </a:r>
          </a:p>
          <a:p>
            <a:pPr marL="0" indent="0" algn="just">
              <a:buFont typeface="Arial" charset="0"/>
              <a:buNone/>
            </a:pPr>
            <a:r>
              <a:rPr lang="en-IN" altLang="en-US" sz="1400" b="1"/>
              <a:t>		ACALL DELAY		DELAY:</a:t>
            </a:r>
          </a:p>
          <a:p>
            <a:pPr marL="0" indent="0" algn="just">
              <a:buFont typeface="Arial" charset="0"/>
              <a:buNone/>
            </a:pPr>
            <a:r>
              <a:rPr lang="en-IN" altLang="en-US" sz="1400" b="1"/>
              <a:t>		MOV A,#</a:t>
            </a:r>
            <a:r>
              <a:rPr lang="en-IN" altLang="en-US" sz="1400" b="1">
                <a:solidFill>
                  <a:srgbClr val="FF0000"/>
                </a:solidFill>
              </a:rPr>
              <a:t>44H</a:t>
            </a:r>
            <a:r>
              <a:rPr lang="en-IN" altLang="en-US" sz="1400" b="1"/>
              <a:t>			MOV R0,#0FFH</a:t>
            </a:r>
          </a:p>
          <a:p>
            <a:pPr marL="0" indent="0" algn="just">
              <a:buFont typeface="Arial" charset="0"/>
              <a:buNone/>
            </a:pPr>
            <a:r>
              <a:rPr lang="en-IN" altLang="en-US" sz="1400" b="1"/>
              <a:t>		MOV P1,A			LOOP2:	MOV R1,#80H	</a:t>
            </a:r>
          </a:p>
          <a:p>
            <a:pPr marL="0" indent="0" algn="just">
              <a:buFont typeface="Arial" charset="0"/>
              <a:buNone/>
            </a:pPr>
            <a:r>
              <a:rPr lang="en-IN" altLang="en-US" sz="1400" b="1"/>
              <a:t>		ACALL DELAY		LOOP1:	DJNZ R1,LOOP1</a:t>
            </a:r>
          </a:p>
          <a:p>
            <a:pPr marL="0" indent="0" algn="just">
              <a:buFont typeface="Arial" charset="0"/>
              <a:buNone/>
            </a:pPr>
            <a:r>
              <a:rPr lang="en-IN" altLang="en-US" sz="1400" b="1"/>
              <a:t>		MOV A,#</a:t>
            </a:r>
            <a:r>
              <a:rPr lang="en-IN" altLang="en-US" sz="1400" b="1">
                <a:solidFill>
                  <a:srgbClr val="FF0000"/>
                </a:solidFill>
              </a:rPr>
              <a:t>22H</a:t>
            </a:r>
            <a:r>
              <a:rPr lang="en-IN" altLang="en-US" sz="1400" b="1"/>
              <a:t>			DJNZ R0,LOOP2</a:t>
            </a:r>
          </a:p>
          <a:p>
            <a:pPr marL="0" indent="0" algn="just">
              <a:buFont typeface="Arial" charset="0"/>
              <a:buNone/>
            </a:pPr>
            <a:r>
              <a:rPr lang="en-IN" altLang="en-US" sz="1400" b="1"/>
              <a:t>		MOV P1,A				RET</a:t>
            </a:r>
          </a:p>
          <a:p>
            <a:pPr marL="0" indent="0" algn="just">
              <a:buFont typeface="Arial" charset="0"/>
              <a:buNone/>
            </a:pPr>
            <a:r>
              <a:rPr lang="en-IN" altLang="en-US" sz="1400" b="1"/>
              <a:t>		ACALL DELAY</a:t>
            </a:r>
          </a:p>
          <a:p>
            <a:pPr marL="0" indent="0" algn="just">
              <a:buFont typeface="Arial" charset="0"/>
              <a:buNone/>
            </a:pPr>
            <a:r>
              <a:rPr lang="en-IN" altLang="en-US" sz="1400" b="1"/>
              <a:t>		MOV A,#</a:t>
            </a:r>
            <a:r>
              <a:rPr lang="en-IN" altLang="en-US" sz="1400" b="1">
                <a:solidFill>
                  <a:srgbClr val="FF0000"/>
                </a:solidFill>
              </a:rPr>
              <a:t>11H</a:t>
            </a:r>
          </a:p>
          <a:p>
            <a:pPr marL="0" indent="0" algn="just">
              <a:buFont typeface="Arial" charset="0"/>
              <a:buNone/>
            </a:pPr>
            <a:r>
              <a:rPr lang="en-IN" altLang="en-US" sz="1400" b="1"/>
              <a:t>		MOV P1,A</a:t>
            </a:r>
          </a:p>
          <a:p>
            <a:pPr marL="0" indent="0" algn="just">
              <a:buFont typeface="Arial" charset="0"/>
              <a:buNone/>
            </a:pPr>
            <a:r>
              <a:rPr lang="en-IN" altLang="en-US" sz="1400" b="1"/>
              <a:t>		ACALL DELAY</a:t>
            </a:r>
          </a:p>
          <a:p>
            <a:pPr marL="0" indent="0" algn="just">
              <a:buFont typeface="Arial" charset="0"/>
              <a:buNone/>
            </a:pPr>
            <a:r>
              <a:rPr lang="en-IN" altLang="en-US" sz="1400" b="1"/>
              <a:t>		SJMP BACK</a:t>
            </a:r>
          </a:p>
          <a:p>
            <a:pPr marL="0" indent="0" algn="just">
              <a:buFont typeface="Arial" charset="0"/>
              <a:buNone/>
            </a:pPr>
            <a:r>
              <a:rPr lang="en-IN" altLang="en-US" sz="1400" b="1"/>
              <a:t>	END</a:t>
            </a:r>
          </a:p>
          <a:p>
            <a:pPr marL="0" indent="0" algn="just">
              <a:buFont typeface="Arial" charset="0"/>
              <a:buNone/>
            </a:pPr>
            <a:endParaRPr lang="en-IN" altLang="en-US" sz="2000"/>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p:cNvSpPr>
            <a:spLocks noGrp="1"/>
          </p:cNvSpPr>
          <p:nvPr>
            <p:ph type="title"/>
          </p:nvPr>
        </p:nvSpPr>
        <p:spPr>
          <a:xfrm>
            <a:off x="457200" y="274638"/>
            <a:ext cx="8229600" cy="706437"/>
          </a:xfrm>
        </p:spPr>
        <p:txBody>
          <a:bodyPr/>
          <a:lstStyle/>
          <a:p>
            <a:r>
              <a:rPr lang="en-IN" altLang="en-US" sz="4000" b="1">
                <a:solidFill>
                  <a:srgbClr val="FF0000"/>
                </a:solidFill>
              </a:rPr>
              <a:t>Stepper Motor Program</a:t>
            </a:r>
          </a:p>
        </p:txBody>
      </p:sp>
      <p:sp>
        <p:nvSpPr>
          <p:cNvPr id="132099" name="Content Placeholder 2"/>
          <p:cNvSpPr>
            <a:spLocks noGrp="1"/>
          </p:cNvSpPr>
          <p:nvPr>
            <p:ph idx="1"/>
          </p:nvPr>
        </p:nvSpPr>
        <p:spPr>
          <a:xfrm>
            <a:off x="107950" y="1273175"/>
            <a:ext cx="8785225" cy="5113338"/>
          </a:xfrm>
        </p:spPr>
        <p:txBody>
          <a:bodyPr/>
          <a:lstStyle/>
          <a:p>
            <a:pPr marL="0" indent="0" algn="just">
              <a:buFont typeface="Arial" charset="0"/>
              <a:buNone/>
            </a:pPr>
            <a:endParaRPr lang="en-IN" altLang="en-US" sz="2000" dirty="0"/>
          </a:p>
          <a:p>
            <a:pPr marL="0" indent="0" algn="just">
              <a:buFont typeface="Arial" charset="0"/>
              <a:buNone/>
            </a:pPr>
            <a:r>
              <a:rPr lang="en-IN" altLang="en-US" sz="2000" dirty="0"/>
              <a:t>Assuming two stepper motors are interfaced to 8051 with ULN2803 drivers.</a:t>
            </a:r>
          </a:p>
          <a:p>
            <a:pPr marL="0" indent="0" algn="just">
              <a:buFont typeface="Arial" charset="0"/>
              <a:buNone/>
            </a:pPr>
            <a:r>
              <a:rPr lang="en-IN" altLang="en-US" sz="2000" b="1" dirty="0">
                <a:solidFill>
                  <a:srgbClr val="FF0000"/>
                </a:solidFill>
              </a:rPr>
              <a:t>Program for half step 8-step sequence ( clock wise )</a:t>
            </a:r>
          </a:p>
          <a:p>
            <a:pPr marL="0" indent="0" algn="just">
              <a:buFont typeface="Arial" charset="0"/>
              <a:buNone/>
            </a:pPr>
            <a:r>
              <a:rPr lang="en-IN" altLang="en-US" sz="1400" b="1" dirty="0"/>
              <a:t>	ORG 0H</a:t>
            </a:r>
          </a:p>
          <a:p>
            <a:pPr marL="0" indent="0" algn="just">
              <a:buFont typeface="Arial" charset="0"/>
              <a:buNone/>
            </a:pPr>
            <a:r>
              <a:rPr lang="en-IN" altLang="en-US" sz="1400" b="1" dirty="0"/>
              <a:t>	BACK:	MOV A,#</a:t>
            </a:r>
            <a:r>
              <a:rPr lang="en-IN" altLang="en-US" sz="1400" b="1" dirty="0">
                <a:solidFill>
                  <a:srgbClr val="FF0000"/>
                </a:solidFill>
              </a:rPr>
              <a:t>88H</a:t>
            </a:r>
            <a:r>
              <a:rPr lang="en-IN" altLang="en-US" sz="1400" b="1" dirty="0"/>
              <a:t>	MOV A,#</a:t>
            </a:r>
            <a:r>
              <a:rPr lang="en-IN" altLang="en-US" sz="1400" b="1" dirty="0">
                <a:solidFill>
                  <a:srgbClr val="FF0000"/>
                </a:solidFill>
              </a:rPr>
              <a:t>22H</a:t>
            </a:r>
          </a:p>
          <a:p>
            <a:pPr marL="0" indent="0" algn="just">
              <a:buFont typeface="Arial" charset="0"/>
              <a:buNone/>
            </a:pPr>
            <a:r>
              <a:rPr lang="en-IN" altLang="en-US" sz="1400" b="1" dirty="0"/>
              <a:t>		MOV P1,A		MOV P1,A</a:t>
            </a:r>
          </a:p>
          <a:p>
            <a:pPr marL="0" indent="0" algn="just">
              <a:buFont typeface="Arial" charset="0"/>
              <a:buNone/>
            </a:pPr>
            <a:r>
              <a:rPr lang="en-IN" altLang="en-US" sz="1400" b="1" dirty="0"/>
              <a:t>		ACALL DELAY	ACALL DELAY	DELAY:</a:t>
            </a:r>
          </a:p>
          <a:p>
            <a:pPr marL="0" indent="0" algn="just">
              <a:buFont typeface="Arial" charset="0"/>
              <a:buNone/>
            </a:pPr>
            <a:r>
              <a:rPr lang="en-IN" altLang="en-US" sz="1400" b="1" dirty="0"/>
              <a:t>		MOV A,#</a:t>
            </a:r>
            <a:r>
              <a:rPr lang="en-IN" altLang="en-US" sz="1400" b="1" dirty="0">
                <a:solidFill>
                  <a:srgbClr val="FF0000"/>
                </a:solidFill>
              </a:rPr>
              <a:t>0CCH</a:t>
            </a:r>
            <a:r>
              <a:rPr lang="en-IN" altLang="en-US" sz="1400" b="1" dirty="0"/>
              <a:t>	MOV A,#</a:t>
            </a:r>
            <a:r>
              <a:rPr lang="en-IN" altLang="en-US" sz="1400" b="1" dirty="0">
                <a:solidFill>
                  <a:srgbClr val="FF0000"/>
                </a:solidFill>
              </a:rPr>
              <a:t>33H</a:t>
            </a:r>
            <a:r>
              <a:rPr lang="en-IN" altLang="en-US" sz="1400" b="1" dirty="0"/>
              <a:t>		MOV R0,#0FFH</a:t>
            </a:r>
          </a:p>
          <a:p>
            <a:pPr marL="0" indent="0" algn="just">
              <a:buFont typeface="Arial" charset="0"/>
              <a:buNone/>
            </a:pPr>
            <a:r>
              <a:rPr lang="en-IN" altLang="en-US" sz="1400" b="1" dirty="0"/>
              <a:t>		MOV P1,A		MOV P1,A		LOOP2:	MOV R1,#80H	</a:t>
            </a:r>
          </a:p>
          <a:p>
            <a:pPr marL="0" indent="0" algn="just">
              <a:buFont typeface="Arial" charset="0"/>
              <a:buNone/>
            </a:pPr>
            <a:r>
              <a:rPr lang="en-IN" altLang="en-US" sz="1400" b="1" dirty="0"/>
              <a:t>		ACALL DELAY	ACALL DELAY	LOOP1:	DJNZ R1,LOOP1</a:t>
            </a:r>
          </a:p>
          <a:p>
            <a:pPr marL="0" indent="0" algn="just">
              <a:buFont typeface="Arial" charset="0"/>
              <a:buNone/>
            </a:pPr>
            <a:r>
              <a:rPr lang="en-IN" altLang="en-US" sz="1400" b="1" dirty="0"/>
              <a:t>		MOV A,#</a:t>
            </a:r>
            <a:r>
              <a:rPr lang="en-IN" altLang="en-US" sz="1400" b="1" dirty="0">
                <a:solidFill>
                  <a:srgbClr val="FF0000"/>
                </a:solidFill>
              </a:rPr>
              <a:t>44H</a:t>
            </a:r>
            <a:r>
              <a:rPr lang="en-IN" altLang="en-US" sz="1400" b="1" dirty="0"/>
              <a:t>	MOV A,#</a:t>
            </a:r>
            <a:r>
              <a:rPr lang="en-IN" altLang="en-US" sz="1400" b="1" dirty="0">
                <a:solidFill>
                  <a:srgbClr val="FF0000"/>
                </a:solidFill>
              </a:rPr>
              <a:t>11H</a:t>
            </a:r>
            <a:r>
              <a:rPr lang="en-IN" altLang="en-US" sz="1400" b="1" dirty="0"/>
              <a:t>		DJNZ R0,LOOP2</a:t>
            </a:r>
          </a:p>
          <a:p>
            <a:pPr marL="0" indent="0" algn="just">
              <a:buFont typeface="Arial" charset="0"/>
              <a:buNone/>
            </a:pPr>
            <a:r>
              <a:rPr lang="en-IN" altLang="en-US" sz="1400" b="1" dirty="0"/>
              <a:t>		MOV P1,A		MOV P1,A		RET</a:t>
            </a:r>
          </a:p>
          <a:p>
            <a:pPr marL="0" indent="0" algn="just">
              <a:buFont typeface="Arial" charset="0"/>
              <a:buNone/>
            </a:pPr>
            <a:r>
              <a:rPr lang="en-IN" altLang="en-US" sz="1400" b="1" dirty="0"/>
              <a:t>		ACALL DELAY	ACALL DELAY</a:t>
            </a:r>
          </a:p>
          <a:p>
            <a:pPr marL="0" indent="0" algn="just">
              <a:buFont typeface="Arial" charset="0"/>
              <a:buNone/>
            </a:pPr>
            <a:r>
              <a:rPr lang="en-IN" altLang="en-US" sz="1400" b="1" dirty="0"/>
              <a:t>		MOV A,#</a:t>
            </a:r>
            <a:r>
              <a:rPr lang="en-IN" altLang="en-US" sz="1400" b="1" dirty="0">
                <a:solidFill>
                  <a:srgbClr val="FF0000"/>
                </a:solidFill>
              </a:rPr>
              <a:t>66H</a:t>
            </a:r>
            <a:r>
              <a:rPr lang="en-IN" altLang="en-US" sz="1400" b="1" dirty="0"/>
              <a:t>	MOV A,#</a:t>
            </a:r>
            <a:r>
              <a:rPr lang="en-IN" altLang="en-US" sz="1400" b="1" dirty="0">
                <a:solidFill>
                  <a:srgbClr val="FF0000"/>
                </a:solidFill>
              </a:rPr>
              <a:t>99H</a:t>
            </a:r>
          </a:p>
          <a:p>
            <a:pPr marL="0" indent="0" algn="just">
              <a:buFont typeface="Arial" charset="0"/>
              <a:buNone/>
            </a:pPr>
            <a:r>
              <a:rPr lang="en-IN" altLang="en-US" sz="1400" b="1" dirty="0"/>
              <a:t>		MOV P1,A		MOV P1,A</a:t>
            </a:r>
          </a:p>
          <a:p>
            <a:pPr marL="0" indent="0" algn="just">
              <a:buFont typeface="Arial" charset="0"/>
              <a:buNone/>
            </a:pPr>
            <a:r>
              <a:rPr lang="en-IN" altLang="en-US" sz="1400" b="1" dirty="0"/>
              <a:t>		ACALL DELAY	ACALL DELAY</a:t>
            </a:r>
          </a:p>
          <a:p>
            <a:pPr marL="0" indent="0" algn="just">
              <a:buFont typeface="Arial" charset="0"/>
              <a:buNone/>
            </a:pPr>
            <a:r>
              <a:rPr lang="en-IN" altLang="en-US" sz="1400" b="1" dirty="0"/>
              <a:t>				SJMP BACK</a:t>
            </a:r>
          </a:p>
          <a:p>
            <a:pPr marL="0" indent="0" algn="just">
              <a:buFont typeface="Arial" charset="0"/>
              <a:buNone/>
            </a:pPr>
            <a:r>
              <a:rPr lang="en-IN" altLang="en-US" sz="1400" b="1" dirty="0"/>
              <a:t>				END</a:t>
            </a:r>
          </a:p>
          <a:p>
            <a:pPr marL="0" indent="0" algn="just">
              <a:buFont typeface="Arial" charset="0"/>
              <a:buNone/>
            </a:pPr>
            <a:r>
              <a:rPr lang="en-IN" altLang="en-US" sz="1400" b="1" dirty="0"/>
              <a:t>		</a:t>
            </a:r>
          </a:p>
          <a:p>
            <a:pPr marL="0" indent="0" algn="just">
              <a:buFont typeface="Arial" charset="0"/>
              <a:buNone/>
            </a:pPr>
            <a:r>
              <a:rPr lang="en-IN" altLang="en-US" sz="1400" b="1" dirty="0"/>
              <a:t>	</a:t>
            </a:r>
          </a:p>
          <a:p>
            <a:pPr marL="0" indent="0" algn="just">
              <a:buFont typeface="Arial" charset="0"/>
              <a:buNone/>
            </a:pPr>
            <a:endParaRPr lang="en-IN" altLang="en-US" sz="2000" dirty="0"/>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le 1"/>
          <p:cNvSpPr>
            <a:spLocks noGrp="1"/>
          </p:cNvSpPr>
          <p:nvPr>
            <p:ph type="title"/>
          </p:nvPr>
        </p:nvSpPr>
        <p:spPr>
          <a:xfrm>
            <a:off x="468313" y="115888"/>
            <a:ext cx="8229600" cy="706437"/>
          </a:xfrm>
        </p:spPr>
        <p:txBody>
          <a:bodyPr/>
          <a:lstStyle/>
          <a:p>
            <a:r>
              <a:rPr lang="en-IN" altLang="en-US" sz="4000" b="1">
                <a:solidFill>
                  <a:srgbClr val="FF0000"/>
                </a:solidFill>
              </a:rPr>
              <a:t>ADC(0804) INTERFACING</a:t>
            </a:r>
          </a:p>
        </p:txBody>
      </p:sp>
      <p:sp>
        <p:nvSpPr>
          <p:cNvPr id="139267" name="Content Placeholder 2"/>
          <p:cNvSpPr>
            <a:spLocks noGrp="1"/>
          </p:cNvSpPr>
          <p:nvPr>
            <p:ph idx="1"/>
          </p:nvPr>
        </p:nvSpPr>
        <p:spPr>
          <a:xfrm>
            <a:off x="107950" y="765175"/>
            <a:ext cx="8856663" cy="5621338"/>
          </a:xfrm>
        </p:spPr>
        <p:txBody>
          <a:bodyPr/>
          <a:lstStyle/>
          <a:p>
            <a:pPr marL="0" indent="0" algn="just">
              <a:buFont typeface="Arial" charset="0"/>
              <a:buNone/>
            </a:pPr>
            <a:endParaRPr lang="en-IN" altLang="en-US" sz="2400" dirty="0"/>
          </a:p>
          <a:p>
            <a:pPr marL="0" indent="0" algn="just">
              <a:buFont typeface="Arial" charset="0"/>
              <a:buNone/>
            </a:pPr>
            <a:endParaRPr lang="en-IN" altLang="en-US" sz="2400" dirty="0"/>
          </a:p>
          <a:p>
            <a:pPr marL="0" indent="0" algn="just">
              <a:buFont typeface="Arial" charset="0"/>
              <a:buNone/>
            </a:pPr>
            <a:r>
              <a:rPr lang="en-IN" altLang="en-US" sz="2400" dirty="0"/>
              <a:t>ADCs( Analog-to-Digital Converters) are among the most widely used devices for data acquisition.</a:t>
            </a:r>
          </a:p>
          <a:p>
            <a:pPr marL="0" indent="0" algn="just">
              <a:buFont typeface="Arial" charset="0"/>
              <a:buNone/>
            </a:pPr>
            <a:r>
              <a:rPr lang="en-IN" altLang="en-US" sz="2400" i="1" dirty="0"/>
              <a:t>	A Physical quantity, like temperature, pressure, humidity, and 	velocity, etc., is converted to electrical ( Voltage , current) 	signals using a device called a transducer or sensor.	</a:t>
            </a:r>
          </a:p>
          <a:p>
            <a:pPr marL="0" indent="0" algn="just">
              <a:buFont typeface="Arial" charset="0"/>
              <a:buNone/>
            </a:pPr>
            <a:endParaRPr lang="en-IN" altLang="en-US" sz="2400" dirty="0"/>
          </a:p>
          <a:p>
            <a:pPr marL="0" indent="0" algn="just">
              <a:buFont typeface="Arial" charset="0"/>
              <a:buNone/>
            </a:pPr>
            <a:r>
              <a:rPr lang="en-IN" altLang="en-US" sz="2400" dirty="0"/>
              <a:t>We need ADCs to translate the analog signals to digital numbers, so that the microprocessor/microcontroller can read the data for further implement.</a:t>
            </a:r>
          </a:p>
          <a:p>
            <a:pPr marL="0" indent="0" algn="just">
              <a:buFont typeface="Arial" charset="0"/>
              <a:buNone/>
            </a:pPr>
            <a:endParaRPr lang="en-IN" altLang="en-US" sz="2400" dirty="0"/>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tle 1"/>
          <p:cNvSpPr>
            <a:spLocks noGrp="1"/>
          </p:cNvSpPr>
          <p:nvPr>
            <p:ph type="title"/>
          </p:nvPr>
        </p:nvSpPr>
        <p:spPr>
          <a:xfrm>
            <a:off x="457200" y="274638"/>
            <a:ext cx="8229600" cy="706437"/>
          </a:xfrm>
        </p:spPr>
        <p:txBody>
          <a:bodyPr/>
          <a:lstStyle/>
          <a:p>
            <a:r>
              <a:rPr lang="en-IN" altLang="en-US" sz="4000" b="1">
                <a:solidFill>
                  <a:srgbClr val="FF0000"/>
                </a:solidFill>
              </a:rPr>
              <a:t>ADC 0804</a:t>
            </a:r>
          </a:p>
        </p:txBody>
      </p:sp>
      <p:pic>
        <p:nvPicPr>
          <p:cNvPr id="140292"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250" y="1341438"/>
            <a:ext cx="5689600" cy="4751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tle 1"/>
          <p:cNvSpPr>
            <a:spLocks noGrp="1"/>
          </p:cNvSpPr>
          <p:nvPr>
            <p:ph type="title"/>
          </p:nvPr>
        </p:nvSpPr>
        <p:spPr>
          <a:xfrm>
            <a:off x="457200" y="274638"/>
            <a:ext cx="8229600" cy="706437"/>
          </a:xfrm>
        </p:spPr>
        <p:txBody>
          <a:bodyPr/>
          <a:lstStyle/>
          <a:p>
            <a:r>
              <a:rPr lang="en-IN" altLang="en-US" sz="4000" b="1">
                <a:solidFill>
                  <a:srgbClr val="FF0000"/>
                </a:solidFill>
              </a:rPr>
              <a:t>Important Points on ADC 0804</a:t>
            </a:r>
          </a:p>
        </p:txBody>
      </p:sp>
      <p:sp>
        <p:nvSpPr>
          <p:cNvPr id="136195" name="Content Placeholder 2"/>
          <p:cNvSpPr>
            <a:spLocks noGrp="1"/>
          </p:cNvSpPr>
          <p:nvPr>
            <p:ph idx="1"/>
          </p:nvPr>
        </p:nvSpPr>
        <p:spPr>
          <a:xfrm>
            <a:off x="107950" y="1773238"/>
            <a:ext cx="8856663" cy="3455987"/>
          </a:xfrm>
        </p:spPr>
        <p:txBody>
          <a:bodyPr/>
          <a:lstStyle/>
          <a:p>
            <a:pPr marL="514350" indent="-514350" algn="just">
              <a:buFont typeface="Arial" charset="0"/>
              <a:buAutoNum type="arabicPeriod"/>
              <a:defRPr/>
            </a:pPr>
            <a:r>
              <a:rPr lang="en-IN" sz="2400" dirty="0"/>
              <a:t>V</a:t>
            </a:r>
            <a:r>
              <a:rPr lang="en-IN" sz="2400" baseline="-25000" dirty="0"/>
              <a:t>cc</a:t>
            </a:r>
            <a:r>
              <a:rPr lang="en-IN" sz="2400" dirty="0"/>
              <a:t> It works with +5 volts and has a resolution of 8 bits.</a:t>
            </a:r>
          </a:p>
          <a:p>
            <a:pPr marL="457200" indent="-457200" algn="just">
              <a:buFont typeface="Arial" charset="0"/>
              <a:buAutoNum type="arabicPeriod" startAt="2"/>
              <a:defRPr/>
            </a:pPr>
            <a:r>
              <a:rPr lang="en-IN" sz="2400" dirty="0"/>
              <a:t>Conversion time is another major factor in judging an ADC.</a:t>
            </a:r>
          </a:p>
          <a:p>
            <a:pPr marL="0" indent="0" algn="just">
              <a:buFont typeface="Arial" charset="0"/>
              <a:buNone/>
              <a:defRPr/>
            </a:pPr>
            <a:r>
              <a:rPr lang="en-IN" sz="2400" dirty="0"/>
              <a:t>	a. Conversion time is defined as the time it takes the ADC to 	     convert the analog input to a digital (Binary) number.</a:t>
            </a:r>
          </a:p>
          <a:p>
            <a:pPr marL="0" indent="0" algn="just">
              <a:buFont typeface="Arial" charset="0"/>
              <a:buNone/>
              <a:defRPr/>
            </a:pPr>
            <a:r>
              <a:rPr lang="en-IN" sz="2400" dirty="0"/>
              <a:t>	b. In ADC804 conversion time varies depending on the </a:t>
            </a:r>
          </a:p>
          <a:p>
            <a:pPr marL="0" indent="0" algn="just">
              <a:buFont typeface="Arial" charset="0"/>
              <a:buNone/>
              <a:defRPr/>
            </a:pPr>
            <a:r>
              <a:rPr lang="en-IN" sz="2400" dirty="0"/>
              <a:t>                  clocking signals applied to CLK R and CLK IN pins, but it   </a:t>
            </a:r>
          </a:p>
          <a:p>
            <a:pPr marL="0" indent="0" algn="just">
              <a:buFont typeface="Arial" charset="0"/>
              <a:buNone/>
              <a:defRPr/>
            </a:pPr>
            <a:r>
              <a:rPr lang="en-IN" sz="2400" dirty="0"/>
              <a:t>                  cannot be faster than 110 </a:t>
            </a:r>
            <a:r>
              <a:rPr lang="en-IN" sz="2400" dirty="0" err="1"/>
              <a:t>μs</a:t>
            </a:r>
            <a:endParaRPr lang="en-IN" sz="2400" dirty="0"/>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Content Placeholder 2"/>
          <p:cNvSpPr>
            <a:spLocks noGrp="1"/>
          </p:cNvSpPr>
          <p:nvPr>
            <p:ph idx="1"/>
          </p:nvPr>
        </p:nvSpPr>
        <p:spPr>
          <a:xfrm>
            <a:off x="179388" y="941388"/>
            <a:ext cx="8785225" cy="4535487"/>
          </a:xfrm>
        </p:spPr>
        <p:txBody>
          <a:bodyPr/>
          <a:lstStyle/>
          <a:p>
            <a:pPr marL="0" indent="0" algn="just">
              <a:buFont typeface="Arial" charset="0"/>
              <a:buNone/>
            </a:pPr>
            <a:r>
              <a:rPr lang="en-IN" sz="2400"/>
              <a:t>3. CLK IN and CLK R</a:t>
            </a:r>
          </a:p>
          <a:p>
            <a:pPr marL="0" indent="0">
              <a:buFont typeface="Arial" charset="0"/>
              <a:buNone/>
            </a:pPr>
            <a:r>
              <a:rPr lang="en-IN" sz="2400"/>
              <a:t>	a. CLK IN is an input pin connected to an external clock source</a:t>
            </a:r>
          </a:p>
          <a:p>
            <a:pPr marL="0" indent="0">
              <a:buFont typeface="Arial" charset="0"/>
              <a:buNone/>
            </a:pPr>
            <a:r>
              <a:rPr lang="en-IN" sz="2400"/>
              <a:t>	b. To use the internal clock generator (also called self-</a:t>
            </a:r>
          </a:p>
          <a:p>
            <a:pPr marL="0" indent="0">
              <a:buFont typeface="Arial" charset="0"/>
              <a:buNone/>
            </a:pPr>
            <a:r>
              <a:rPr lang="en-IN" sz="2400"/>
              <a:t>                  clocking), CLK IN and CLK R pins are connected to a       </a:t>
            </a:r>
          </a:p>
          <a:p>
            <a:pPr marL="0" indent="0">
              <a:buFont typeface="Arial" charset="0"/>
              <a:buNone/>
            </a:pPr>
            <a:r>
              <a:rPr lang="en-IN" sz="2400"/>
              <a:t>                  capacitor and a resistor, and the clock frequency is  </a:t>
            </a:r>
          </a:p>
          <a:p>
            <a:pPr marL="0" indent="0">
              <a:buFont typeface="Arial" charset="0"/>
              <a:buNone/>
            </a:pPr>
            <a:r>
              <a:rPr lang="en-IN" sz="2400"/>
              <a:t>                  determined by</a:t>
            </a:r>
          </a:p>
          <a:p>
            <a:pPr marL="0" indent="0">
              <a:buFont typeface="Arial" charset="0"/>
              <a:buNone/>
            </a:pPr>
            <a:endParaRPr lang="en-IN" sz="2400"/>
          </a:p>
          <a:p>
            <a:pPr marL="0" indent="0">
              <a:buFont typeface="Arial" charset="0"/>
              <a:buNone/>
            </a:pPr>
            <a:r>
              <a:rPr lang="en-IN" sz="2400"/>
              <a:t>	</a:t>
            </a:r>
          </a:p>
          <a:p>
            <a:pPr marL="0" indent="0">
              <a:buFont typeface="Arial" charset="0"/>
              <a:buNone/>
            </a:pPr>
            <a:r>
              <a:rPr lang="en-IN" sz="2400"/>
              <a:t>	Typical values are R = 10K ohms and C =  150 pF.</a:t>
            </a:r>
          </a:p>
          <a:p>
            <a:pPr marL="0" indent="0">
              <a:buFont typeface="Arial" charset="0"/>
              <a:buNone/>
            </a:pPr>
            <a:r>
              <a:rPr lang="en-IN" sz="2400"/>
              <a:t>	We get f = 606 kHz and the conversion time is 110 </a:t>
            </a:r>
            <a:r>
              <a:rPr lang="el-GR" sz="2400"/>
              <a:t>μ</a:t>
            </a:r>
            <a:r>
              <a:rPr lang="en-IN" sz="2400"/>
              <a:t>s.</a:t>
            </a:r>
            <a:endParaRPr lang="en-IN" altLang="en-US" sz="2400"/>
          </a:p>
        </p:txBody>
      </p:sp>
      <p:pic>
        <p:nvPicPr>
          <p:cNvPr id="142340"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63938" y="3363913"/>
            <a:ext cx="1493837" cy="114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Content Placeholder 2"/>
          <p:cNvSpPr>
            <a:spLocks noGrp="1"/>
          </p:cNvSpPr>
          <p:nvPr>
            <p:ph idx="1"/>
          </p:nvPr>
        </p:nvSpPr>
        <p:spPr>
          <a:xfrm>
            <a:off x="107950" y="333375"/>
            <a:ext cx="8856663" cy="5975350"/>
          </a:xfrm>
        </p:spPr>
        <p:txBody>
          <a:bodyPr/>
          <a:lstStyle/>
          <a:p>
            <a:pPr marL="0" indent="0" algn="just">
              <a:buFont typeface="Arial" charset="0"/>
              <a:buNone/>
              <a:defRPr/>
            </a:pPr>
            <a:r>
              <a:rPr lang="en-IN" sz="2400" dirty="0"/>
              <a:t>4. V</a:t>
            </a:r>
            <a:r>
              <a:rPr lang="en-IN" sz="2400" baseline="-25000" dirty="0"/>
              <a:t>Ref</a:t>
            </a:r>
            <a:r>
              <a:rPr lang="en-IN" sz="2400" dirty="0"/>
              <a:t>/2:  It is used for the reference voltage</a:t>
            </a:r>
          </a:p>
          <a:p>
            <a:pPr algn="just">
              <a:buFont typeface="Wingdings" pitchFamily="2" charset="2"/>
              <a:buChar char="§"/>
              <a:defRPr/>
            </a:pPr>
            <a:r>
              <a:rPr lang="en-IN" sz="2400" dirty="0"/>
              <a:t>If this pin is open (not connected), the analog input voltage is in the range of 0 to 5 volts (the same as the Vcc pin)</a:t>
            </a:r>
          </a:p>
          <a:p>
            <a:pPr>
              <a:buFont typeface="Wingdings" pitchFamily="2" charset="2"/>
              <a:buChar char="§"/>
              <a:defRPr/>
            </a:pPr>
            <a:r>
              <a:rPr lang="en-IN" sz="2400" dirty="0"/>
              <a:t>If the analog input range needs to be 0 to 4 volts, V</a:t>
            </a:r>
            <a:r>
              <a:rPr lang="en-IN" sz="2400" baseline="-25000" dirty="0"/>
              <a:t>Ref</a:t>
            </a:r>
            <a:r>
              <a:rPr lang="en-IN" sz="2400" dirty="0"/>
              <a:t>/2 is connected to 2 volts</a:t>
            </a:r>
          </a:p>
          <a:p>
            <a:pPr>
              <a:buFont typeface="Wingdings" pitchFamily="2" charset="2"/>
              <a:buChar char="§"/>
              <a:defRPr/>
            </a:pPr>
            <a:endParaRPr lang="en-IN" altLang="en-US" sz="2400" dirty="0"/>
          </a:p>
        </p:txBody>
      </p:sp>
      <p:pic>
        <p:nvPicPr>
          <p:cNvPr id="143364"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9813" y="2489200"/>
            <a:ext cx="6599237" cy="367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Content Placeholder 2"/>
          <p:cNvSpPr>
            <a:spLocks noGrp="1"/>
          </p:cNvSpPr>
          <p:nvPr>
            <p:ph idx="1"/>
          </p:nvPr>
        </p:nvSpPr>
        <p:spPr>
          <a:xfrm>
            <a:off x="179388" y="333375"/>
            <a:ext cx="8785225" cy="5975350"/>
          </a:xfrm>
        </p:spPr>
        <p:txBody>
          <a:bodyPr/>
          <a:lstStyle/>
          <a:p>
            <a:pPr marL="0" indent="0" algn="just">
              <a:buFont typeface="Arial" charset="0"/>
              <a:buNone/>
              <a:defRPr/>
            </a:pPr>
            <a:r>
              <a:rPr lang="en-IN" sz="2400" dirty="0"/>
              <a:t>5. Analog ground and digital ground</a:t>
            </a:r>
          </a:p>
          <a:p>
            <a:pPr algn="just">
              <a:buFont typeface="Wingdings" pitchFamily="2" charset="2"/>
              <a:buChar char="§"/>
              <a:defRPr/>
            </a:pPr>
            <a:r>
              <a:rPr lang="en-IN" sz="2400" dirty="0"/>
              <a:t>Analog ground is connected to the ground  of the analog Vin.</a:t>
            </a:r>
          </a:p>
          <a:p>
            <a:pPr algn="just">
              <a:buFont typeface="Wingdings" pitchFamily="2" charset="2"/>
              <a:buChar char="§"/>
              <a:defRPr/>
            </a:pPr>
            <a:r>
              <a:rPr lang="en-IN" sz="2400" dirty="0"/>
              <a:t>Digital ground is connected to the ground of the Vcc pin.</a:t>
            </a:r>
          </a:p>
          <a:p>
            <a:pPr marL="0" indent="0" algn="just">
              <a:buFont typeface="Arial" charset="0"/>
              <a:buNone/>
              <a:defRPr/>
            </a:pPr>
            <a:endParaRPr lang="en-IN" altLang="en-US" sz="2400" dirty="0"/>
          </a:p>
          <a:p>
            <a:pPr marL="0" indent="0" algn="just">
              <a:buFont typeface="Arial" charset="0"/>
              <a:buNone/>
              <a:defRPr/>
            </a:pPr>
            <a:r>
              <a:rPr lang="en-IN" altLang="en-US" sz="2400" dirty="0"/>
              <a:t>6. CS( Chip Select)</a:t>
            </a:r>
          </a:p>
          <a:p>
            <a:pPr marL="0" indent="0" algn="just">
              <a:buFont typeface="Arial" charset="0"/>
              <a:buNone/>
              <a:defRPr/>
            </a:pPr>
            <a:r>
              <a:rPr lang="en-IN" altLang="en-US" sz="2400" dirty="0"/>
              <a:t>Chip select is an active low input used to activate the ADC0804 chip.</a:t>
            </a:r>
          </a:p>
          <a:p>
            <a:pPr marL="0" indent="0" algn="just">
              <a:buFont typeface="Arial" charset="0"/>
              <a:buNone/>
              <a:defRPr/>
            </a:pPr>
            <a:endParaRPr lang="en-IN" altLang="en-US" sz="2400" dirty="0"/>
          </a:p>
          <a:p>
            <a:pPr marL="0" indent="0" algn="just">
              <a:buFont typeface="Arial" charset="0"/>
              <a:buNone/>
              <a:defRPr/>
            </a:pPr>
            <a:r>
              <a:rPr lang="en-IN" altLang="en-US" sz="2400" dirty="0"/>
              <a:t>7. RD(Read)</a:t>
            </a:r>
          </a:p>
          <a:p>
            <a:pPr marL="0" indent="0" algn="just">
              <a:buFont typeface="Arial" charset="0"/>
              <a:buNone/>
              <a:defRPr/>
            </a:pPr>
            <a:r>
              <a:rPr lang="en-IN" altLang="en-US" sz="2400" dirty="0"/>
              <a:t>This is an input signal and is active low. The ADC converts the analog input to its binary equivalent and holds it in an internal register. RD is used to get the converted data out of the ADC0804 chip. When CS=0, if a high-to-low pulse is applied to the RD pin, the 8-bit digital output can be read from D0-D7. The RD pin is also referred to as Output Enable(OE).</a:t>
            </a:r>
          </a:p>
        </p:txBody>
      </p:sp>
      <p:sp>
        <p:nvSpPr>
          <p:cNvPr id="6"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Content Placeholder 2"/>
          <p:cNvSpPr>
            <a:spLocks noGrp="1"/>
          </p:cNvSpPr>
          <p:nvPr>
            <p:ph idx="1"/>
          </p:nvPr>
        </p:nvSpPr>
        <p:spPr>
          <a:xfrm>
            <a:off x="179388" y="188913"/>
            <a:ext cx="8785225" cy="6048375"/>
          </a:xfrm>
        </p:spPr>
        <p:txBody>
          <a:bodyPr/>
          <a:lstStyle/>
          <a:p>
            <a:pPr marL="0" indent="0" algn="just">
              <a:buFont typeface="Arial" charset="0"/>
              <a:buNone/>
            </a:pPr>
            <a:endParaRPr lang="en-IN" altLang="en-US" sz="2400" dirty="0"/>
          </a:p>
          <a:p>
            <a:pPr marL="0" indent="0" algn="just">
              <a:buFont typeface="Arial" charset="0"/>
              <a:buNone/>
            </a:pPr>
            <a:endParaRPr lang="en-IN" altLang="en-US" sz="2400" dirty="0"/>
          </a:p>
          <a:p>
            <a:pPr marL="0" indent="0" algn="just">
              <a:buFont typeface="Arial" charset="0"/>
              <a:buNone/>
            </a:pPr>
            <a:r>
              <a:rPr lang="en-IN" altLang="en-US" sz="2400" dirty="0"/>
              <a:t>8. WR( Write , a better name might be </a:t>
            </a:r>
            <a:r>
              <a:rPr lang="en-IN" altLang="en-US" sz="2400" b="1" dirty="0">
                <a:solidFill>
                  <a:srgbClr val="FF0000"/>
                </a:solidFill>
              </a:rPr>
              <a:t>“start of Conversion”</a:t>
            </a:r>
            <a:r>
              <a:rPr lang="en-IN" altLang="en-US" sz="2400" dirty="0"/>
              <a:t>)</a:t>
            </a:r>
          </a:p>
          <a:p>
            <a:pPr marL="0" indent="0" algn="just">
              <a:buFont typeface="Arial" charset="0"/>
              <a:buNone/>
            </a:pPr>
            <a:r>
              <a:rPr lang="en-IN" altLang="en-US" sz="2400" dirty="0"/>
              <a:t>This is an active low input used to inform the ADC0804 to start the conversion process. If CS=0, when WR makes a low-to-high transition, the ADC0804 starts converting the analog input value of </a:t>
            </a:r>
            <a:r>
              <a:rPr lang="en-IN" sz="2400" dirty="0"/>
              <a:t>V</a:t>
            </a:r>
            <a:r>
              <a:rPr lang="en-IN" sz="2400" baseline="-25000" dirty="0"/>
              <a:t>in</a:t>
            </a:r>
            <a:r>
              <a:rPr lang="en-IN" sz="2400" dirty="0"/>
              <a:t> to an 8-bit digital number</a:t>
            </a:r>
          </a:p>
          <a:p>
            <a:pPr marL="0" indent="0" algn="just">
              <a:buFont typeface="Arial" charset="0"/>
              <a:buNone/>
            </a:pPr>
            <a:endParaRPr lang="en-IN" sz="2400" dirty="0"/>
          </a:p>
          <a:p>
            <a:pPr marL="0" indent="0" algn="just">
              <a:buFont typeface="Arial" charset="0"/>
              <a:buNone/>
            </a:pPr>
            <a:endParaRPr lang="en-IN" altLang="en-US" sz="2400" dirty="0"/>
          </a:p>
          <a:p>
            <a:pPr marL="0" indent="0" algn="just">
              <a:buFont typeface="Arial" charset="0"/>
              <a:buNone/>
            </a:pPr>
            <a:r>
              <a:rPr lang="en-IN" altLang="en-US" sz="2400" dirty="0"/>
              <a:t>9. INTR( Interrupt, a better name might be </a:t>
            </a:r>
            <a:r>
              <a:rPr lang="en-IN" altLang="en-US" sz="2400" b="1" dirty="0">
                <a:solidFill>
                  <a:srgbClr val="FF0000"/>
                </a:solidFill>
              </a:rPr>
              <a:t>“End of Conversion”</a:t>
            </a:r>
            <a:r>
              <a:rPr lang="en-IN" altLang="en-US" sz="2400" dirty="0"/>
              <a:t>)</a:t>
            </a:r>
          </a:p>
          <a:p>
            <a:pPr marL="0" indent="0" algn="just">
              <a:buFont typeface="Arial" charset="0"/>
              <a:buNone/>
            </a:pPr>
            <a:r>
              <a:rPr lang="en-IN" altLang="en-US" sz="2400" dirty="0"/>
              <a:t>This is an output pin and is active low. It is normally high pin and when the conversion is completed, it goes low to signal the CPU that the converted data is ready to be picked up. After INTR goes low, we make CS=0 and send a high- to- low pulse to the RD pin to get the next analog data to be converted.</a:t>
            </a:r>
          </a:p>
        </p:txBody>
      </p:sp>
      <p:sp>
        <p:nvSpPr>
          <p:cNvPr id="6"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Content Placeholder 2"/>
          <p:cNvSpPr>
            <a:spLocks noGrp="1" noRot="1" noChangeAspect="1" noMove="1" noResize="1" noEditPoints="1" noAdjustHandles="1" noChangeArrowheads="1" noChangeShapeType="1" noTextEdit="1"/>
          </p:cNvSpPr>
          <p:nvPr>
            <p:ph idx="1"/>
          </p:nvPr>
        </p:nvSpPr>
        <p:spPr>
          <a:xfrm>
            <a:off x="107504" y="332656"/>
            <a:ext cx="8928992" cy="5976664"/>
          </a:xfrm>
          <a:blipFill rotWithShape="1">
            <a:blip r:embed="rId2" cstate="print"/>
            <a:stretch>
              <a:fillRect l="-1093" r="-1093" b="-3571"/>
            </a:stretch>
          </a:blipFill>
        </p:spPr>
        <p:txBody>
          <a:bodyPr/>
          <a:lstStyle/>
          <a:p>
            <a:pPr>
              <a:defRPr/>
            </a:pPr>
            <a:r>
              <a:rPr lang="en-IN">
                <a:noFill/>
              </a:rPr>
              <a:t> </a:t>
            </a:r>
          </a:p>
        </p:txBody>
      </p:sp>
      <p:pic>
        <p:nvPicPr>
          <p:cNvPr id="14643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3800" y="4581525"/>
            <a:ext cx="17018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itle 1"/>
          <p:cNvSpPr>
            <a:spLocks noGrp="1"/>
          </p:cNvSpPr>
          <p:nvPr>
            <p:ph type="title"/>
          </p:nvPr>
        </p:nvSpPr>
        <p:spPr>
          <a:xfrm>
            <a:off x="457200" y="274638"/>
            <a:ext cx="8229600" cy="706437"/>
          </a:xfrm>
        </p:spPr>
        <p:txBody>
          <a:bodyPr/>
          <a:lstStyle/>
          <a:p>
            <a:r>
              <a:rPr lang="en-IN" altLang="en-US" sz="3600" b="1">
                <a:solidFill>
                  <a:srgbClr val="FF0000"/>
                </a:solidFill>
              </a:rPr>
              <a:t>Timing diagram of ADC 0804</a:t>
            </a:r>
          </a:p>
        </p:txBody>
      </p:sp>
      <p:pic>
        <p:nvPicPr>
          <p:cNvPr id="147460" name="Picture 5"/>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323850" y="1412875"/>
            <a:ext cx="8496300" cy="48244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p:cNvSpPr>
            <a:spLocks noGrp="1"/>
          </p:cNvSpPr>
          <p:nvPr>
            <p:ph type="title"/>
          </p:nvPr>
        </p:nvSpPr>
        <p:spPr>
          <a:xfrm>
            <a:off x="457200" y="274638"/>
            <a:ext cx="8229600" cy="777875"/>
          </a:xfrm>
        </p:spPr>
        <p:txBody>
          <a:bodyPr/>
          <a:lstStyle/>
          <a:p>
            <a:r>
              <a:rPr lang="en-IN" altLang="en-US" sz="3600" b="1">
                <a:solidFill>
                  <a:srgbClr val="FF0000"/>
                </a:solidFill>
              </a:rPr>
              <a:t>Interfacing circuit of ADC0804</a:t>
            </a:r>
          </a:p>
        </p:txBody>
      </p:sp>
      <p:pic>
        <p:nvPicPr>
          <p:cNvPr id="14848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988" y="1412875"/>
            <a:ext cx="7367587"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itle 1"/>
          <p:cNvSpPr>
            <a:spLocks noGrp="1"/>
          </p:cNvSpPr>
          <p:nvPr>
            <p:ph type="title"/>
          </p:nvPr>
        </p:nvSpPr>
        <p:spPr>
          <a:xfrm>
            <a:off x="457200" y="274638"/>
            <a:ext cx="8229600" cy="706437"/>
          </a:xfrm>
        </p:spPr>
        <p:txBody>
          <a:bodyPr/>
          <a:lstStyle/>
          <a:p>
            <a:r>
              <a:rPr lang="en-IN" altLang="en-US" sz="4000" b="1">
                <a:solidFill>
                  <a:srgbClr val="FF0000"/>
                </a:solidFill>
              </a:rPr>
              <a:t>DAC(0808) INTERFACING</a:t>
            </a:r>
          </a:p>
        </p:txBody>
      </p:sp>
      <p:pic>
        <p:nvPicPr>
          <p:cNvPr id="150532"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83408" y="1196752"/>
            <a:ext cx="5653088" cy="417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053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25" y="1785938"/>
            <a:ext cx="3397250" cy="299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itle 1"/>
          <p:cNvSpPr>
            <a:spLocks noGrp="1"/>
          </p:cNvSpPr>
          <p:nvPr>
            <p:ph type="title"/>
          </p:nvPr>
        </p:nvSpPr>
        <p:spPr>
          <a:xfrm>
            <a:off x="457200" y="274638"/>
            <a:ext cx="8229600" cy="777875"/>
          </a:xfrm>
        </p:spPr>
        <p:txBody>
          <a:bodyPr/>
          <a:lstStyle/>
          <a:p>
            <a:r>
              <a:rPr lang="en-IN" altLang="en-US" b="1">
                <a:solidFill>
                  <a:srgbClr val="FF0000"/>
                </a:solidFill>
              </a:rPr>
              <a:t>Interfacing Circuit of DAC 0808</a:t>
            </a:r>
          </a:p>
        </p:txBody>
      </p:sp>
      <p:pic>
        <p:nvPicPr>
          <p:cNvPr id="15155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663" y="1773238"/>
            <a:ext cx="7686675" cy="422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Content Placeholder 2"/>
          <p:cNvSpPr>
            <a:spLocks noGrp="1" noRot="1" noChangeAspect="1" noMove="1" noResize="1" noEditPoints="1" noAdjustHandles="1" noChangeArrowheads="1" noChangeShapeType="1" noTextEdit="1"/>
          </p:cNvSpPr>
          <p:nvPr>
            <p:ph idx="1"/>
          </p:nvPr>
        </p:nvSpPr>
        <p:spPr>
          <a:xfrm>
            <a:off x="457200" y="620688"/>
            <a:ext cx="8229600" cy="5505475"/>
          </a:xfrm>
          <a:blipFill rotWithShape="1">
            <a:blip r:embed="rId2" cstate="print"/>
            <a:stretch>
              <a:fillRect l="-1852"/>
            </a:stretch>
          </a:blipFill>
        </p:spPr>
        <p:txBody>
          <a:bodyPr/>
          <a:lstStyle/>
          <a:p>
            <a:pPr>
              <a:defRPr/>
            </a:pPr>
            <a:r>
              <a:rPr lang="en-IN">
                <a:noFill/>
              </a:rPr>
              <a:t> </a:t>
            </a:r>
          </a:p>
        </p:txBody>
      </p:sp>
      <p:pic>
        <p:nvPicPr>
          <p:cNvPr id="152580"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375" y="1812925"/>
            <a:ext cx="8543925" cy="455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bwMode="auto">
          <a:xfrm>
            <a:off x="250825" y="188913"/>
            <a:ext cx="8610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Arial" charset="0"/>
              <a:buNone/>
              <a:defRPr/>
            </a:pPr>
            <a:endParaRPr lang="en-US" sz="2400" u="sng" dirty="0"/>
          </a:p>
          <a:p>
            <a:pPr algn="just">
              <a:buFont typeface="Arial" charset="0"/>
              <a:buNone/>
              <a:defRPr/>
            </a:pPr>
            <a:r>
              <a:rPr lang="en-US" sz="2400" u="sng" dirty="0"/>
              <a:t>Specifications related to DAC</a:t>
            </a:r>
          </a:p>
          <a:p>
            <a:pPr algn="just">
              <a:buFont typeface="Arial" charset="0"/>
              <a:buNone/>
              <a:defRPr/>
            </a:pPr>
            <a:endParaRPr lang="en-US" sz="2400" u="sng" dirty="0"/>
          </a:p>
          <a:p>
            <a:pPr marL="457200" indent="-457200" algn="just">
              <a:buFont typeface="Arial" charset="0"/>
              <a:buAutoNum type="arabicPeriod"/>
              <a:defRPr/>
            </a:pPr>
            <a:r>
              <a:rPr lang="en-US" sz="2400" dirty="0"/>
              <a:t>Resolution: It can be defined as a smallest change in the output corresponding to an input change by one LSB.</a:t>
            </a:r>
          </a:p>
          <a:p>
            <a:pPr marL="457200" indent="-457200" algn="just">
              <a:buFont typeface="Arial" charset="0"/>
              <a:buAutoNum type="arabicPeriod"/>
              <a:defRPr/>
            </a:pPr>
            <a:endParaRPr lang="en-US" sz="2400" dirty="0"/>
          </a:p>
          <a:p>
            <a:pPr marL="457200" indent="-457200" algn="just">
              <a:buFont typeface="Arial" charset="0"/>
              <a:buAutoNum type="arabicPeriod"/>
              <a:defRPr/>
            </a:pPr>
            <a:r>
              <a:rPr lang="en-US" sz="2400" dirty="0"/>
              <a:t>Accuracy: This is the measure of the difference between the actual output voltage &amp; the expected output  voltage.</a:t>
            </a:r>
          </a:p>
          <a:p>
            <a:pPr marL="457200" indent="-457200" algn="just">
              <a:buFont typeface="Arial" charset="0"/>
              <a:buAutoNum type="arabicPeriod"/>
              <a:defRPr/>
            </a:pPr>
            <a:endParaRPr lang="en-US" sz="2400" dirty="0"/>
          </a:p>
          <a:p>
            <a:pPr marL="457200" indent="-457200" algn="just">
              <a:buFont typeface="Arial" charset="0"/>
              <a:buAutoNum type="arabicPeriod"/>
              <a:defRPr/>
            </a:pPr>
            <a:r>
              <a:rPr lang="en-US" sz="2400" dirty="0"/>
              <a:t>Full scale output voltage: This is the output voltage when binary input has the highest value. For ex: 8-bit 5V DAC have max voltage 5V-19.5mv= 4.9805V.</a:t>
            </a:r>
          </a:p>
          <a:p>
            <a:pPr marL="457200" indent="-457200" algn="just">
              <a:buFont typeface="Arial" charset="0"/>
              <a:buNone/>
              <a:defRPr/>
            </a:pPr>
            <a:endParaRPr lang="en-US" sz="2400" dirty="0"/>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itle 1"/>
          <p:cNvSpPr>
            <a:spLocks noGrp="1"/>
          </p:cNvSpPr>
          <p:nvPr>
            <p:ph type="title"/>
          </p:nvPr>
        </p:nvSpPr>
        <p:spPr>
          <a:xfrm>
            <a:off x="457200" y="274638"/>
            <a:ext cx="8229600" cy="850900"/>
          </a:xfrm>
        </p:spPr>
        <p:txBody>
          <a:bodyPr/>
          <a:lstStyle/>
          <a:p>
            <a:r>
              <a:rPr lang="en-IN" altLang="en-US" b="1">
                <a:solidFill>
                  <a:srgbClr val="FF0000"/>
                </a:solidFill>
              </a:rPr>
              <a:t>Generating Staircase waveform</a:t>
            </a:r>
          </a:p>
        </p:txBody>
      </p:sp>
      <p:sp>
        <p:nvSpPr>
          <p:cNvPr id="154627" name="Content Placeholder 2"/>
          <p:cNvSpPr>
            <a:spLocks noGrp="1"/>
          </p:cNvSpPr>
          <p:nvPr>
            <p:ph idx="1"/>
          </p:nvPr>
        </p:nvSpPr>
        <p:spPr/>
        <p:txBody>
          <a:bodyPr/>
          <a:lstStyle/>
          <a:p>
            <a:pPr marL="1257300" lvl="3" indent="0" algn="just">
              <a:buFont typeface="Arial" charset="0"/>
              <a:buNone/>
            </a:pPr>
            <a:r>
              <a:rPr lang="en-IN" altLang="en-US" sz="1800" b="1"/>
              <a:t>	ORG 0H</a:t>
            </a:r>
          </a:p>
          <a:p>
            <a:pPr marL="1257300" lvl="3" indent="0" algn="just">
              <a:buFont typeface="Arial" charset="0"/>
              <a:buNone/>
            </a:pPr>
            <a:r>
              <a:rPr lang="en-IN" altLang="en-US" sz="1800" b="1"/>
              <a:t>START:	CLR A</a:t>
            </a:r>
          </a:p>
          <a:p>
            <a:pPr marL="1257300" lvl="3" indent="0" algn="just">
              <a:buFont typeface="Arial" charset="0"/>
              <a:buNone/>
            </a:pPr>
            <a:r>
              <a:rPr lang="en-IN" altLang="en-US" sz="1800" b="1"/>
              <a:t>AGAIN:	MOV P1,A		;Send data to DAC</a:t>
            </a:r>
          </a:p>
          <a:p>
            <a:pPr marL="1257300" lvl="3" indent="0" algn="just">
              <a:buFont typeface="Arial" charset="0"/>
              <a:buNone/>
            </a:pPr>
            <a:r>
              <a:rPr lang="en-IN" altLang="en-US" sz="1800" b="1"/>
              <a:t>		INC A			;count from 0h to FFh</a:t>
            </a:r>
          </a:p>
          <a:p>
            <a:pPr marL="1257300" lvl="3" indent="0" algn="just">
              <a:buFont typeface="Arial" charset="0"/>
              <a:buNone/>
            </a:pPr>
            <a:r>
              <a:rPr lang="en-IN" altLang="en-US" sz="1800" b="1"/>
              <a:t>		ACALL DELAY		;Let DAC recover</a:t>
            </a:r>
          </a:p>
          <a:p>
            <a:pPr marL="1257300" lvl="3" indent="0" algn="just">
              <a:buFont typeface="Arial" charset="0"/>
              <a:buNone/>
            </a:pPr>
            <a:r>
              <a:rPr lang="en-IN" altLang="en-US" sz="1800" b="1"/>
              <a:t>		CJNE A,#0FFH,GO</a:t>
            </a:r>
          </a:p>
          <a:p>
            <a:pPr marL="1257300" lvl="3" indent="0" algn="just">
              <a:buFont typeface="Arial" charset="0"/>
              <a:buNone/>
            </a:pPr>
            <a:r>
              <a:rPr lang="en-IN" altLang="en-US" sz="1800" b="1"/>
              <a:t>		SJMP START</a:t>
            </a:r>
          </a:p>
          <a:p>
            <a:pPr marL="1257300" lvl="3" indent="0" algn="just">
              <a:buFont typeface="Arial" charset="0"/>
              <a:buNone/>
            </a:pPr>
            <a:r>
              <a:rPr lang="en-IN" altLang="en-US" sz="1800" b="1"/>
              <a:t>GO:		SJMP AGAIN</a:t>
            </a:r>
          </a:p>
          <a:p>
            <a:pPr marL="1257300" lvl="3" indent="0" algn="just">
              <a:buFont typeface="Arial" charset="0"/>
              <a:buNone/>
            </a:pPr>
            <a:endParaRPr lang="en-IN" altLang="en-US" sz="1800" b="1"/>
          </a:p>
          <a:p>
            <a:pPr marL="1257300" lvl="3" indent="0" algn="just">
              <a:buFont typeface="Arial" charset="0"/>
              <a:buNone/>
            </a:pPr>
            <a:r>
              <a:rPr lang="en-IN" altLang="en-US" sz="1800" b="1"/>
              <a:t>DELAY:	MOV R0,#0FFH</a:t>
            </a:r>
          </a:p>
          <a:p>
            <a:pPr marL="1257300" lvl="3" indent="0" algn="just">
              <a:buFont typeface="Arial" charset="0"/>
              <a:buNone/>
            </a:pPr>
            <a:r>
              <a:rPr lang="en-IN" altLang="en-US" sz="1800" b="1"/>
              <a:t>LOOP:	DJNZ R0,LOOP</a:t>
            </a:r>
          </a:p>
          <a:p>
            <a:pPr marL="1257300" lvl="3" indent="0" algn="just">
              <a:buFont typeface="Arial" charset="0"/>
              <a:buNone/>
            </a:pPr>
            <a:r>
              <a:rPr lang="en-IN" altLang="en-US" sz="1800" b="1"/>
              <a:t>		RET</a:t>
            </a:r>
          </a:p>
          <a:p>
            <a:pPr marL="1257300" lvl="3" indent="0" algn="just">
              <a:buFont typeface="Arial" charset="0"/>
              <a:buNone/>
            </a:pPr>
            <a:r>
              <a:rPr lang="en-IN" altLang="en-US" sz="1800" b="1"/>
              <a:t>	END</a:t>
            </a:r>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itle 1"/>
          <p:cNvSpPr>
            <a:spLocks noGrp="1"/>
          </p:cNvSpPr>
          <p:nvPr>
            <p:ph type="title"/>
          </p:nvPr>
        </p:nvSpPr>
        <p:spPr>
          <a:xfrm>
            <a:off x="457200" y="130175"/>
            <a:ext cx="8229600" cy="561975"/>
          </a:xfrm>
        </p:spPr>
        <p:txBody>
          <a:bodyPr/>
          <a:lstStyle/>
          <a:p>
            <a:r>
              <a:rPr lang="en-IN" altLang="en-US" b="1">
                <a:solidFill>
                  <a:srgbClr val="FF0000"/>
                </a:solidFill>
              </a:rPr>
              <a:t>Generating Triangular waveform</a:t>
            </a:r>
          </a:p>
        </p:txBody>
      </p:sp>
      <p:sp>
        <p:nvSpPr>
          <p:cNvPr id="155651" name="Content Placeholder 2"/>
          <p:cNvSpPr>
            <a:spLocks noGrp="1"/>
          </p:cNvSpPr>
          <p:nvPr>
            <p:ph idx="1"/>
          </p:nvPr>
        </p:nvSpPr>
        <p:spPr>
          <a:xfrm>
            <a:off x="107950" y="836613"/>
            <a:ext cx="8928100" cy="5400675"/>
          </a:xfrm>
        </p:spPr>
        <p:txBody>
          <a:bodyPr/>
          <a:lstStyle/>
          <a:p>
            <a:pPr marL="1257300" lvl="3" indent="0" algn="just">
              <a:buFont typeface="Arial" charset="0"/>
              <a:buNone/>
            </a:pPr>
            <a:r>
              <a:rPr lang="en-IN" altLang="en-US" sz="1800" b="1">
                <a:solidFill>
                  <a:srgbClr val="FF0000"/>
                </a:solidFill>
              </a:rPr>
              <a:t>ORG 0H</a:t>
            </a:r>
          </a:p>
          <a:p>
            <a:pPr marL="1257300" lvl="3" indent="0" algn="just">
              <a:buFont typeface="Arial" charset="0"/>
              <a:buNone/>
            </a:pPr>
            <a:r>
              <a:rPr lang="en-IN" altLang="en-US" sz="1800" b="1"/>
              <a:t>START0to1:	CLR A</a:t>
            </a:r>
          </a:p>
          <a:p>
            <a:pPr marL="1257300" lvl="3" indent="0" algn="just">
              <a:buFont typeface="Arial" charset="0"/>
              <a:buNone/>
            </a:pPr>
            <a:r>
              <a:rPr lang="en-IN" altLang="en-US" sz="1800" b="1"/>
              <a:t>AGAIN1:	MOV P1,A		;Send data to DAC</a:t>
            </a:r>
          </a:p>
          <a:p>
            <a:pPr marL="1257300" lvl="3" indent="0" algn="just">
              <a:buFont typeface="Arial" charset="0"/>
              <a:buNone/>
            </a:pPr>
            <a:r>
              <a:rPr lang="en-IN" altLang="en-US" sz="1800" b="1"/>
              <a:t>		INC A			;count from 0h to FFh</a:t>
            </a:r>
          </a:p>
          <a:p>
            <a:pPr marL="1257300" lvl="3" indent="0" algn="just">
              <a:buFont typeface="Arial" charset="0"/>
              <a:buNone/>
            </a:pPr>
            <a:r>
              <a:rPr lang="en-IN" altLang="en-US" sz="1800" b="1"/>
              <a:t>		ACALL DELAY		;Let DAC recover</a:t>
            </a:r>
          </a:p>
          <a:p>
            <a:pPr marL="1257300" lvl="3" indent="0" algn="just">
              <a:buFont typeface="Arial" charset="0"/>
              <a:buNone/>
            </a:pPr>
            <a:r>
              <a:rPr lang="en-IN" altLang="en-US" sz="1800" b="1"/>
              <a:t>		CJNE A,#0FFH,GO1</a:t>
            </a:r>
          </a:p>
          <a:p>
            <a:pPr marL="1257300" lvl="3" indent="0" algn="just">
              <a:buFont typeface="Arial" charset="0"/>
              <a:buNone/>
            </a:pPr>
            <a:r>
              <a:rPr lang="en-IN" altLang="en-US" sz="1800" b="1"/>
              <a:t>		SJMP START1to0</a:t>
            </a:r>
          </a:p>
          <a:p>
            <a:pPr marL="1257300" lvl="3" indent="0" algn="just">
              <a:buFont typeface="Arial" charset="0"/>
              <a:buNone/>
            </a:pPr>
            <a:r>
              <a:rPr lang="en-IN" altLang="en-US" sz="1800" b="1"/>
              <a:t>GO1:		SJMP AGAIN1</a:t>
            </a:r>
          </a:p>
          <a:p>
            <a:pPr marL="1257300" lvl="3" indent="0" algn="just">
              <a:buFont typeface="Arial" charset="0"/>
              <a:buNone/>
            </a:pPr>
            <a:r>
              <a:rPr lang="en-IN" altLang="en-US" sz="1800" b="1"/>
              <a:t>START1to0:	MOV P1,A</a:t>
            </a:r>
          </a:p>
          <a:p>
            <a:pPr marL="1257300" lvl="3" indent="0" algn="just">
              <a:buFont typeface="Arial" charset="0"/>
              <a:buNone/>
            </a:pPr>
            <a:r>
              <a:rPr lang="en-IN" altLang="en-US" sz="1800" b="1"/>
              <a:t>		DEC A</a:t>
            </a:r>
          </a:p>
          <a:p>
            <a:pPr marL="1257300" lvl="3" indent="0" algn="just">
              <a:buFont typeface="Arial" charset="0"/>
              <a:buNone/>
            </a:pPr>
            <a:r>
              <a:rPr lang="en-IN" altLang="en-US" sz="1800" b="1"/>
              <a:t>		ACALL DELAY</a:t>
            </a:r>
          </a:p>
          <a:p>
            <a:pPr marL="1257300" lvl="3" indent="0" algn="just">
              <a:buFont typeface="Arial" charset="0"/>
              <a:buNone/>
            </a:pPr>
            <a:r>
              <a:rPr lang="en-IN" altLang="en-US" sz="1800" b="1"/>
              <a:t>		CJNE A,#00H,GO2		DELAY:	MOV R0,#0FFH</a:t>
            </a:r>
          </a:p>
          <a:p>
            <a:pPr marL="1257300" lvl="3" indent="0" algn="just">
              <a:buFont typeface="Arial" charset="0"/>
              <a:buNone/>
            </a:pPr>
            <a:r>
              <a:rPr lang="en-IN" altLang="en-US" sz="1800" b="1"/>
              <a:t>		SJMP START0to1		LOOP:	DJNZ R0,LOOP</a:t>
            </a:r>
          </a:p>
          <a:p>
            <a:pPr marL="1257300" lvl="3" indent="0" algn="just">
              <a:buFont typeface="Arial" charset="0"/>
              <a:buNone/>
            </a:pPr>
            <a:r>
              <a:rPr lang="en-IN" altLang="en-US" sz="1800" b="1"/>
              <a:t>GO2:		SJMP START1to0			RET</a:t>
            </a:r>
          </a:p>
          <a:p>
            <a:pPr marL="1257300" lvl="3" indent="0" algn="just">
              <a:buFont typeface="Arial" charset="0"/>
              <a:buNone/>
            </a:pPr>
            <a:r>
              <a:rPr lang="en-IN" altLang="en-US" sz="1800" b="1">
                <a:solidFill>
                  <a:srgbClr val="FF0000"/>
                </a:solidFill>
              </a:rPr>
              <a:t>END</a:t>
            </a:r>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itle 1"/>
          <p:cNvSpPr>
            <a:spLocks noGrp="1"/>
          </p:cNvSpPr>
          <p:nvPr>
            <p:ph type="title"/>
          </p:nvPr>
        </p:nvSpPr>
        <p:spPr>
          <a:xfrm>
            <a:off x="457200" y="419100"/>
            <a:ext cx="8229600" cy="777875"/>
          </a:xfrm>
        </p:spPr>
        <p:txBody>
          <a:bodyPr/>
          <a:lstStyle/>
          <a:p>
            <a:r>
              <a:rPr lang="en-IN" altLang="en-US" b="1">
                <a:solidFill>
                  <a:srgbClr val="FF0000"/>
                </a:solidFill>
              </a:rPr>
              <a:t>Generating Sine waveform</a:t>
            </a:r>
            <a:endParaRPr lang="en-IN" altLang="en-US"/>
          </a:p>
        </p:txBody>
      </p:sp>
      <p:sp>
        <p:nvSpPr>
          <p:cNvPr id="156676" name="Content Placeholder 2"/>
          <p:cNvSpPr>
            <a:spLocks noGrp="1"/>
          </p:cNvSpPr>
          <p:nvPr>
            <p:ph idx="1"/>
          </p:nvPr>
        </p:nvSpPr>
        <p:spPr>
          <a:xfrm>
            <a:off x="250825" y="1773238"/>
            <a:ext cx="8642350" cy="4392612"/>
          </a:xfrm>
        </p:spPr>
        <p:txBody>
          <a:bodyPr/>
          <a:lstStyle/>
          <a:p>
            <a:pPr marL="0" indent="0" algn="just">
              <a:buFont typeface="Arial" charset="0"/>
              <a:buNone/>
            </a:pPr>
            <a:r>
              <a:rPr lang="en-IN" sz="2400"/>
              <a:t>To generate  a sine wave , we first need a table whose values represent the magnitude of the sine of angles between 0</a:t>
            </a:r>
            <a:r>
              <a:rPr lang="en-IN" sz="2400" baseline="30000"/>
              <a:t>0 &amp; </a:t>
            </a:r>
            <a:r>
              <a:rPr lang="en-IN" sz="2400"/>
              <a:t>360</a:t>
            </a:r>
            <a:r>
              <a:rPr lang="en-IN" sz="2400" baseline="30000"/>
              <a:t>0</a:t>
            </a:r>
            <a:r>
              <a:rPr lang="en-IN" sz="2400"/>
              <a:t>     </a:t>
            </a:r>
            <a:r>
              <a:rPr lang="en-IN" sz="2400" baseline="30000"/>
              <a:t> </a:t>
            </a:r>
            <a:r>
              <a:rPr lang="en-IN" sz="2400"/>
              <a:t> The values for the sine function vary from -1.0 to +1.0 for 0</a:t>
            </a:r>
            <a:r>
              <a:rPr lang="en-IN" sz="2400" baseline="30000"/>
              <a:t>0 &amp; </a:t>
            </a:r>
            <a:r>
              <a:rPr lang="en-IN" sz="2400"/>
              <a:t>360</a:t>
            </a:r>
            <a:r>
              <a:rPr lang="en-IN" sz="2400" baseline="30000"/>
              <a:t>0</a:t>
            </a:r>
            <a:r>
              <a:rPr lang="en-IN" sz="2400"/>
              <a:t> angles. Therefore, the table values are integer numbers representing the voltage magnitude for the sine of theta (</a:t>
            </a:r>
            <a:r>
              <a:rPr lang="el-GR" sz="2400"/>
              <a:t>θ</a:t>
            </a:r>
            <a:r>
              <a:rPr lang="en-IN" sz="2400"/>
              <a:t>). To generate sine wave we assume the full scale voltage of 10V for DAC output. Full scale output of the DAC is achieved when all the data inputs of the DAC are high. Therefore, to achieve the full scale 10V output, we use the following equation.</a:t>
            </a:r>
          </a:p>
          <a:p>
            <a:pPr marL="0" indent="0" algn="just">
              <a:buFont typeface="Arial" charset="0"/>
              <a:buNone/>
            </a:pPr>
            <a:endParaRPr lang="en-IN" sz="2400"/>
          </a:p>
          <a:p>
            <a:pPr marL="0" indent="0" algn="just">
              <a:buFont typeface="Arial" charset="0"/>
              <a:buNone/>
            </a:pPr>
            <a:r>
              <a:rPr lang="en-IN" sz="2400"/>
              <a:t>			</a:t>
            </a:r>
            <a:r>
              <a:rPr lang="en-IN" sz="2400" b="1">
                <a:solidFill>
                  <a:srgbClr val="FF0000"/>
                </a:solidFill>
              </a:rPr>
              <a:t>V</a:t>
            </a:r>
            <a:r>
              <a:rPr lang="en-IN" sz="2400" b="1" baseline="-25000">
                <a:solidFill>
                  <a:srgbClr val="FF0000"/>
                </a:solidFill>
              </a:rPr>
              <a:t>Out</a:t>
            </a:r>
            <a:r>
              <a:rPr lang="en-IN" sz="2400" b="1">
                <a:solidFill>
                  <a:srgbClr val="FF0000"/>
                </a:solidFill>
              </a:rPr>
              <a:t> = 5V + ( 5 X Sin θ)</a:t>
            </a:r>
          </a:p>
        </p:txBody>
      </p:sp>
      <p:sp>
        <p:nvSpPr>
          <p:cNvPr id="7"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9"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8325" y="692150"/>
            <a:ext cx="7842250"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0" y="1700213"/>
            <a:ext cx="8018463" cy="244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8724"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08" y="4725144"/>
            <a:ext cx="9036496" cy="1007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8725" name="Title 1"/>
          <p:cNvSpPr>
            <a:spLocks noGrp="1"/>
          </p:cNvSpPr>
          <p:nvPr>
            <p:ph type="title"/>
          </p:nvPr>
        </p:nvSpPr>
        <p:spPr>
          <a:xfrm>
            <a:off x="468313" y="1139825"/>
            <a:ext cx="2303462" cy="560388"/>
          </a:xfrm>
        </p:spPr>
        <p:txBody>
          <a:bodyPr/>
          <a:lstStyle/>
          <a:p>
            <a:r>
              <a:rPr lang="en-IN" altLang="en-US" b="1">
                <a:solidFill>
                  <a:srgbClr val="FF0000"/>
                </a:solidFill>
              </a:rPr>
              <a:t>Example</a:t>
            </a:r>
            <a:endParaRPr lang="en-IN" altLang="en-US"/>
          </a:p>
        </p:txBody>
      </p:sp>
      <p:sp>
        <p:nvSpPr>
          <p:cNvPr id="8"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itle 1"/>
          <p:cNvSpPr>
            <a:spLocks noGrp="1"/>
          </p:cNvSpPr>
          <p:nvPr>
            <p:ph type="title"/>
          </p:nvPr>
        </p:nvSpPr>
        <p:spPr>
          <a:xfrm>
            <a:off x="457200" y="274638"/>
            <a:ext cx="8229600" cy="561975"/>
          </a:xfrm>
        </p:spPr>
        <p:txBody>
          <a:bodyPr/>
          <a:lstStyle/>
          <a:p>
            <a:r>
              <a:rPr lang="en-IN" altLang="en-US" b="1">
                <a:solidFill>
                  <a:srgbClr val="FF0000"/>
                </a:solidFill>
              </a:rPr>
              <a:t>Program</a:t>
            </a:r>
          </a:p>
        </p:txBody>
      </p:sp>
      <p:sp>
        <p:nvSpPr>
          <p:cNvPr id="159747" name="Content Placeholder 2"/>
          <p:cNvSpPr>
            <a:spLocks noGrp="1"/>
          </p:cNvSpPr>
          <p:nvPr>
            <p:ph idx="1"/>
          </p:nvPr>
        </p:nvSpPr>
        <p:spPr>
          <a:xfrm>
            <a:off x="457200" y="981075"/>
            <a:ext cx="8229600" cy="5405438"/>
          </a:xfrm>
        </p:spPr>
        <p:txBody>
          <a:bodyPr/>
          <a:lstStyle/>
          <a:p>
            <a:pPr marL="0" indent="0">
              <a:buFont typeface="Arial" charset="0"/>
              <a:buNone/>
            </a:pPr>
            <a:r>
              <a:rPr lang="en-IN" altLang="en-US" sz="2000" b="1"/>
              <a:t>	ORG 0H</a:t>
            </a:r>
          </a:p>
          <a:p>
            <a:pPr marL="0" indent="0">
              <a:buFont typeface="Arial" charset="0"/>
              <a:buNone/>
            </a:pPr>
            <a:r>
              <a:rPr lang="en-IN" altLang="en-US" sz="2000" b="1"/>
              <a:t>		MOV DPTR,#TABLE</a:t>
            </a:r>
          </a:p>
          <a:p>
            <a:pPr marL="0" indent="0">
              <a:buFont typeface="Arial" charset="0"/>
              <a:buNone/>
            </a:pPr>
            <a:r>
              <a:rPr lang="en-IN" altLang="en-US" sz="2000" b="1"/>
              <a:t>		MOV R2,#COUNT</a:t>
            </a:r>
          </a:p>
          <a:p>
            <a:pPr marL="0" indent="0">
              <a:buFont typeface="Arial" charset="0"/>
              <a:buNone/>
            </a:pPr>
            <a:r>
              <a:rPr lang="en-IN" altLang="en-US" sz="2000" b="1"/>
              <a:t>	BACK:	CLR A</a:t>
            </a:r>
          </a:p>
          <a:p>
            <a:pPr marL="0" indent="0">
              <a:buFont typeface="Arial" charset="0"/>
              <a:buNone/>
            </a:pPr>
            <a:r>
              <a:rPr lang="en-IN" altLang="en-US" sz="2000" b="1"/>
              <a:t>		MOVC A,@A+DPTR</a:t>
            </a:r>
          </a:p>
          <a:p>
            <a:pPr marL="0" indent="0">
              <a:buFont typeface="Arial" charset="0"/>
              <a:buNone/>
            </a:pPr>
            <a:r>
              <a:rPr lang="en-IN" altLang="en-US" sz="2000" b="1"/>
              <a:t>		MOV P1,A</a:t>
            </a:r>
          </a:p>
          <a:p>
            <a:pPr marL="0" indent="0">
              <a:buFont typeface="Arial" charset="0"/>
              <a:buNone/>
            </a:pPr>
            <a:r>
              <a:rPr lang="en-IN" altLang="en-US" sz="2000" b="1"/>
              <a:t>		INC DPTR</a:t>
            </a:r>
          </a:p>
          <a:p>
            <a:pPr marL="0" indent="0">
              <a:buFont typeface="Arial" charset="0"/>
              <a:buNone/>
            </a:pPr>
            <a:r>
              <a:rPr lang="en-IN" altLang="en-US" sz="2000" b="1"/>
              <a:t>		DJNZ R2,BACK</a:t>
            </a:r>
          </a:p>
          <a:p>
            <a:pPr marL="0" indent="0">
              <a:buFont typeface="Arial" charset="0"/>
              <a:buNone/>
            </a:pPr>
            <a:r>
              <a:rPr lang="en-IN" altLang="en-US" sz="2000" b="1"/>
              <a:t>		SJMP AGAIN</a:t>
            </a:r>
          </a:p>
          <a:p>
            <a:pPr marL="0" indent="0">
              <a:buFont typeface="Arial" charset="0"/>
              <a:buNone/>
            </a:pPr>
            <a:endParaRPr lang="en-IN" altLang="en-US" sz="2000" b="1"/>
          </a:p>
          <a:p>
            <a:pPr marL="0" indent="0">
              <a:buFont typeface="Arial" charset="0"/>
              <a:buNone/>
            </a:pPr>
            <a:r>
              <a:rPr lang="en-IN" altLang="en-US" sz="2000" b="1"/>
              <a:t>	ORG 0300H</a:t>
            </a:r>
          </a:p>
          <a:p>
            <a:pPr marL="0" indent="0">
              <a:buFont typeface="Arial" charset="0"/>
              <a:buNone/>
            </a:pPr>
            <a:r>
              <a:rPr lang="en-IN" altLang="en-US" sz="2000" b="1"/>
              <a:t>	TABLE: DB 	128,192,238,255,238,192,128,64,17,0,17,64,128</a:t>
            </a:r>
          </a:p>
          <a:p>
            <a:pPr marL="0" indent="0">
              <a:buFont typeface="Arial" charset="0"/>
              <a:buNone/>
            </a:pPr>
            <a:r>
              <a:rPr lang="en-IN" altLang="en-US" sz="2000" b="1"/>
              <a:t>	</a:t>
            </a:r>
          </a:p>
          <a:p>
            <a:pPr marL="0" indent="0" algn="just">
              <a:buFont typeface="Arial" charset="0"/>
              <a:buNone/>
            </a:pPr>
            <a:endParaRPr lang="en-IN" altLang="en-US" sz="1600" b="1"/>
          </a:p>
        </p:txBody>
      </p:sp>
      <p:sp>
        <p:nvSpPr>
          <p:cNvPr id="8"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itle 1"/>
          <p:cNvSpPr>
            <a:spLocks noGrp="1"/>
          </p:cNvSpPr>
          <p:nvPr>
            <p:ph type="title"/>
          </p:nvPr>
        </p:nvSpPr>
        <p:spPr>
          <a:xfrm>
            <a:off x="468313" y="260350"/>
            <a:ext cx="8229600" cy="777875"/>
          </a:xfrm>
        </p:spPr>
        <p:txBody>
          <a:bodyPr/>
          <a:lstStyle/>
          <a:p>
            <a:r>
              <a:rPr lang="en-IN" altLang="en-US" b="1" dirty="0">
                <a:solidFill>
                  <a:srgbClr val="FF0000"/>
                </a:solidFill>
              </a:rPr>
              <a:t>Representation of Sine waveform</a:t>
            </a:r>
            <a:endParaRPr lang="en-IN" altLang="en-US" dirty="0"/>
          </a:p>
        </p:txBody>
      </p:sp>
      <p:sp>
        <p:nvSpPr>
          <p:cNvPr id="160772" name="Content Placeholder 2"/>
          <p:cNvSpPr>
            <a:spLocks noGrp="1"/>
          </p:cNvSpPr>
          <p:nvPr>
            <p:ph idx="1"/>
          </p:nvPr>
        </p:nvSpPr>
        <p:spPr>
          <a:xfrm>
            <a:off x="250825" y="1125538"/>
            <a:ext cx="8642350" cy="5040312"/>
          </a:xfrm>
        </p:spPr>
        <p:txBody>
          <a:bodyPr/>
          <a:lstStyle/>
          <a:p>
            <a:pPr marL="0" indent="0" algn="just">
              <a:buFont typeface="Arial" charset="0"/>
              <a:buNone/>
            </a:pPr>
            <a:r>
              <a:rPr lang="en-IN" sz="1800" b="1" dirty="0"/>
              <a:t>      Volts</a:t>
            </a:r>
          </a:p>
          <a:p>
            <a:pPr marL="0" indent="0" algn="just">
              <a:buFont typeface="Arial" charset="0"/>
              <a:buNone/>
            </a:pPr>
            <a:endParaRPr lang="en-IN" sz="1800" b="1" dirty="0"/>
          </a:p>
          <a:p>
            <a:pPr marL="0" indent="0" algn="just">
              <a:buFont typeface="Arial" charset="0"/>
              <a:buNone/>
            </a:pPr>
            <a:endParaRPr lang="en-IN" sz="1800" b="1" dirty="0"/>
          </a:p>
          <a:p>
            <a:pPr marL="0" indent="0" algn="just">
              <a:buFont typeface="Arial" charset="0"/>
              <a:buNone/>
            </a:pPr>
            <a:r>
              <a:rPr lang="en-IN" sz="1800" b="1" dirty="0"/>
              <a:t>       </a:t>
            </a:r>
          </a:p>
          <a:p>
            <a:pPr marL="0" indent="0" algn="just">
              <a:buFont typeface="Arial" charset="0"/>
              <a:buNone/>
            </a:pPr>
            <a:endParaRPr lang="en-IN" sz="1800" b="1" dirty="0"/>
          </a:p>
          <a:p>
            <a:pPr marL="0" indent="0" algn="just">
              <a:buFont typeface="Arial" charset="0"/>
              <a:buNone/>
            </a:pPr>
            <a:r>
              <a:rPr lang="en-IN" sz="1800" b="1" dirty="0"/>
              <a:t>        </a:t>
            </a:r>
            <a:r>
              <a:rPr lang="en-IN" sz="1400" b="1" dirty="0"/>
              <a:t>10</a:t>
            </a:r>
          </a:p>
          <a:p>
            <a:pPr marL="0" indent="0" algn="just">
              <a:buFont typeface="Arial" charset="0"/>
              <a:buNone/>
            </a:pPr>
            <a:r>
              <a:rPr lang="en-IN" sz="1400" b="1" dirty="0"/>
              <a:t>             9</a:t>
            </a:r>
          </a:p>
          <a:p>
            <a:pPr marL="0" indent="0" algn="just">
              <a:buFont typeface="Arial" charset="0"/>
              <a:buNone/>
            </a:pPr>
            <a:r>
              <a:rPr lang="en-IN" sz="1400" b="1" dirty="0"/>
              <a:t>             8</a:t>
            </a:r>
          </a:p>
          <a:p>
            <a:pPr marL="0" indent="0" algn="just">
              <a:buFont typeface="Arial" charset="0"/>
              <a:buNone/>
            </a:pPr>
            <a:r>
              <a:rPr lang="en-IN" sz="1400" b="1" dirty="0"/>
              <a:t>             7</a:t>
            </a:r>
          </a:p>
          <a:p>
            <a:pPr marL="0" indent="0" algn="just">
              <a:buFont typeface="Arial" charset="0"/>
              <a:buNone/>
            </a:pPr>
            <a:r>
              <a:rPr lang="en-IN" sz="1400" b="1" dirty="0"/>
              <a:t>             6</a:t>
            </a:r>
          </a:p>
          <a:p>
            <a:pPr marL="0" indent="0" algn="just">
              <a:buFont typeface="Arial" charset="0"/>
              <a:buNone/>
            </a:pPr>
            <a:r>
              <a:rPr lang="en-IN" sz="1400" b="1" dirty="0"/>
              <a:t>             5</a:t>
            </a:r>
          </a:p>
          <a:p>
            <a:pPr marL="0" indent="0" algn="just">
              <a:buFont typeface="Arial" charset="0"/>
              <a:buNone/>
            </a:pPr>
            <a:r>
              <a:rPr lang="en-IN" sz="1400" b="1" dirty="0"/>
              <a:t>             4</a:t>
            </a:r>
          </a:p>
          <a:p>
            <a:pPr marL="0" indent="0" algn="just">
              <a:buFont typeface="Arial" charset="0"/>
              <a:buNone/>
            </a:pPr>
            <a:r>
              <a:rPr lang="en-IN" sz="1400" b="1" dirty="0"/>
              <a:t>             3						  </a:t>
            </a:r>
          </a:p>
          <a:p>
            <a:pPr marL="0" indent="0" algn="just">
              <a:buFont typeface="Arial" charset="0"/>
              <a:buNone/>
            </a:pPr>
            <a:r>
              <a:rPr lang="en-IN" sz="1400" b="1" dirty="0"/>
              <a:t>             2</a:t>
            </a:r>
          </a:p>
          <a:p>
            <a:pPr marL="0" indent="0" algn="just">
              <a:buFont typeface="Arial" charset="0"/>
              <a:buNone/>
            </a:pPr>
            <a:r>
              <a:rPr lang="en-IN" sz="1400" b="1" dirty="0"/>
              <a:t>             1           </a:t>
            </a:r>
          </a:p>
          <a:p>
            <a:pPr marL="0" indent="0" algn="just">
              <a:buFont typeface="Arial" charset="0"/>
              <a:buNone/>
            </a:pPr>
            <a:r>
              <a:rPr lang="en-IN" sz="1400" b="1" dirty="0"/>
              <a:t>             0  </a:t>
            </a:r>
            <a:r>
              <a:rPr lang="en-IN" sz="1800" b="1" dirty="0"/>
              <a:t>	   </a:t>
            </a:r>
            <a:r>
              <a:rPr lang="en-IN" sz="1400" b="1" dirty="0"/>
              <a:t>30         60         90         120         150         180         210         240         270         300         330         360</a:t>
            </a:r>
            <a:r>
              <a:rPr lang="en-IN" sz="1800" b="1" dirty="0"/>
              <a:t>															                                   	Degrees</a:t>
            </a:r>
          </a:p>
        </p:txBody>
      </p:sp>
      <p:cxnSp>
        <p:nvCxnSpPr>
          <p:cNvPr id="5" name="Straight Arrow Connector 4"/>
          <p:cNvCxnSpPr/>
          <p:nvPr/>
        </p:nvCxnSpPr>
        <p:spPr>
          <a:xfrm flipV="1">
            <a:off x="971550" y="1557338"/>
            <a:ext cx="0" cy="39592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971550" y="5516563"/>
            <a:ext cx="7921625"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971550" y="4292600"/>
            <a:ext cx="5048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476375" y="3644900"/>
            <a:ext cx="5032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979613" y="3141663"/>
            <a:ext cx="647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627313" y="2924175"/>
            <a:ext cx="6492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276600" y="3141663"/>
            <a:ext cx="5032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779838" y="3644900"/>
            <a:ext cx="5762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356100" y="4292600"/>
            <a:ext cx="7207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5076825" y="4868863"/>
            <a:ext cx="647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5724525" y="5373688"/>
            <a:ext cx="5032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948488" y="5373688"/>
            <a:ext cx="5762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7524750" y="4868863"/>
            <a:ext cx="647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172450" y="4292600"/>
            <a:ext cx="5032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476375" y="3644900"/>
            <a:ext cx="0" cy="647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648" name="Straight Connector 155647"/>
          <p:cNvCxnSpPr/>
          <p:nvPr/>
        </p:nvCxnSpPr>
        <p:spPr>
          <a:xfrm>
            <a:off x="1979613" y="3141663"/>
            <a:ext cx="0" cy="503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653" name="Straight Connector 155652"/>
          <p:cNvCxnSpPr/>
          <p:nvPr/>
        </p:nvCxnSpPr>
        <p:spPr>
          <a:xfrm>
            <a:off x="2627313" y="2924175"/>
            <a:ext cx="0" cy="2174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657" name="Straight Connector 155656"/>
          <p:cNvCxnSpPr/>
          <p:nvPr/>
        </p:nvCxnSpPr>
        <p:spPr>
          <a:xfrm>
            <a:off x="3276600" y="2924175"/>
            <a:ext cx="0" cy="2174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659" name="Straight Connector 155658"/>
          <p:cNvCxnSpPr/>
          <p:nvPr/>
        </p:nvCxnSpPr>
        <p:spPr>
          <a:xfrm>
            <a:off x="3779838" y="3141663"/>
            <a:ext cx="0" cy="503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662" name="Straight Connector 155661"/>
          <p:cNvCxnSpPr/>
          <p:nvPr/>
        </p:nvCxnSpPr>
        <p:spPr>
          <a:xfrm>
            <a:off x="4356100" y="3644900"/>
            <a:ext cx="0" cy="647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666" name="Straight Connector 155665"/>
          <p:cNvCxnSpPr/>
          <p:nvPr/>
        </p:nvCxnSpPr>
        <p:spPr>
          <a:xfrm>
            <a:off x="5076825" y="4292600"/>
            <a:ext cx="0" cy="576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671" name="Straight Connector 155670"/>
          <p:cNvCxnSpPr/>
          <p:nvPr/>
        </p:nvCxnSpPr>
        <p:spPr>
          <a:xfrm>
            <a:off x="5724525" y="4868863"/>
            <a:ext cx="0" cy="5048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674" name="Straight Connector 155673"/>
          <p:cNvCxnSpPr/>
          <p:nvPr/>
        </p:nvCxnSpPr>
        <p:spPr>
          <a:xfrm>
            <a:off x="6227763" y="5373688"/>
            <a:ext cx="0"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6948488" y="5373688"/>
            <a:ext cx="0"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679" name="Straight Connector 155678"/>
          <p:cNvCxnSpPr/>
          <p:nvPr/>
        </p:nvCxnSpPr>
        <p:spPr>
          <a:xfrm>
            <a:off x="7524750" y="4868863"/>
            <a:ext cx="0" cy="5048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8172450" y="4292600"/>
            <a:ext cx="0" cy="576263"/>
          </a:xfrm>
          <a:prstGeom prst="line">
            <a:avLst/>
          </a:prstGeom>
        </p:spPr>
        <p:style>
          <a:lnRef idx="1">
            <a:schemeClr val="accent1"/>
          </a:lnRef>
          <a:fillRef idx="0">
            <a:schemeClr val="accent1"/>
          </a:fillRef>
          <a:effectRef idx="0">
            <a:schemeClr val="accent1"/>
          </a:effectRef>
          <a:fontRef idx="minor">
            <a:schemeClr val="tx1"/>
          </a:fontRef>
        </p:style>
      </p:cxnSp>
      <p:sp>
        <p:nvSpPr>
          <p:cNvPr id="33" name="Footer Placeholder 1"/>
          <p:cNvSpPr txBox="1">
            <a:spLocks/>
          </p:cNvSpPr>
          <p:nvPr/>
        </p:nvSpPr>
        <p:spPr>
          <a:xfrm>
            <a:off x="2980184" y="6622256"/>
            <a:ext cx="3392016" cy="196205"/>
          </a:xfrm>
          <a:prstGeom prst="rect">
            <a:avLst/>
          </a:prstGeom>
        </p:spPr>
        <p:txBody>
          <a:bodyPr vert="horz" lIns="91440" tIns="45720" rIns="91440" bIns="45720" rtlCol="0" anchor="ctr"/>
          <a:lstStyle>
            <a:defPPr>
              <a:defRPr lang="en-US"/>
            </a:defPPr>
            <a:lvl1pPr algn="ctr" rtl="0" fontAlgn="base">
              <a:spcBef>
                <a:spcPct val="0"/>
              </a:spcBef>
              <a:spcAft>
                <a:spcPct val="0"/>
              </a:spcAft>
              <a:defRPr sz="1200" kern="1200">
                <a:solidFill>
                  <a:schemeClr val="tx1">
                    <a:tint val="75000"/>
                  </a:schemeClr>
                </a:solidFill>
                <a:latin typeface="Arial" charset="0"/>
                <a:ea typeface="+mn-ea"/>
                <a:cs typeface="Arial" charset="0"/>
              </a:defRPr>
            </a:lvl1pPr>
            <a:lvl2pPr marL="457200" algn="l" rtl="0" fontAlgn="base">
              <a:spcBef>
                <a:spcPct val="0"/>
              </a:spcBef>
              <a:spcAft>
                <a:spcPct val="0"/>
              </a:spcAft>
              <a:defRPr sz="2000" kern="1200">
                <a:solidFill>
                  <a:srgbClr val="000000"/>
                </a:solidFill>
                <a:latin typeface="Arial" charset="0"/>
                <a:ea typeface="+mn-ea"/>
                <a:cs typeface="Arial" charset="0"/>
              </a:defRPr>
            </a:lvl2pPr>
            <a:lvl3pPr marL="914400" algn="l" rtl="0" fontAlgn="base">
              <a:spcBef>
                <a:spcPct val="0"/>
              </a:spcBef>
              <a:spcAft>
                <a:spcPct val="0"/>
              </a:spcAft>
              <a:defRPr sz="2000" kern="1200">
                <a:solidFill>
                  <a:srgbClr val="000000"/>
                </a:solidFill>
                <a:latin typeface="Arial" charset="0"/>
                <a:ea typeface="+mn-ea"/>
                <a:cs typeface="Arial" charset="0"/>
              </a:defRPr>
            </a:lvl3pPr>
            <a:lvl4pPr marL="1371600" algn="l" rtl="0" fontAlgn="base">
              <a:spcBef>
                <a:spcPct val="0"/>
              </a:spcBef>
              <a:spcAft>
                <a:spcPct val="0"/>
              </a:spcAft>
              <a:defRPr sz="2000" kern="1200">
                <a:solidFill>
                  <a:srgbClr val="000000"/>
                </a:solidFill>
                <a:latin typeface="Arial" charset="0"/>
                <a:ea typeface="+mn-ea"/>
                <a:cs typeface="Arial" charset="0"/>
              </a:defRPr>
            </a:lvl4pPr>
            <a:lvl5pPr marL="1828800" algn="l" rtl="0" fontAlgn="base">
              <a:spcBef>
                <a:spcPct val="0"/>
              </a:spcBef>
              <a:spcAft>
                <a:spcPct val="0"/>
              </a:spcAft>
              <a:defRPr sz="2000" kern="1200">
                <a:solidFill>
                  <a:srgbClr val="000000"/>
                </a:solidFill>
                <a:latin typeface="Arial" charset="0"/>
                <a:ea typeface="+mn-ea"/>
                <a:cs typeface="Arial" charset="0"/>
              </a:defRPr>
            </a:lvl5pPr>
            <a:lvl6pPr marL="2286000" algn="l" defTabSz="914400" rtl="0" eaLnBrk="1" latinLnBrk="0" hangingPunct="1">
              <a:defRPr sz="2000" kern="1200">
                <a:solidFill>
                  <a:srgbClr val="000000"/>
                </a:solidFill>
                <a:latin typeface="Arial" charset="0"/>
                <a:ea typeface="+mn-ea"/>
                <a:cs typeface="Arial" charset="0"/>
              </a:defRPr>
            </a:lvl6pPr>
            <a:lvl7pPr marL="2743200" algn="l" defTabSz="914400" rtl="0" eaLnBrk="1" latinLnBrk="0" hangingPunct="1">
              <a:defRPr sz="2000" kern="1200">
                <a:solidFill>
                  <a:srgbClr val="000000"/>
                </a:solidFill>
                <a:latin typeface="Arial" charset="0"/>
                <a:ea typeface="+mn-ea"/>
                <a:cs typeface="Arial" charset="0"/>
              </a:defRPr>
            </a:lvl7pPr>
            <a:lvl8pPr marL="3200400" algn="l" defTabSz="914400" rtl="0" eaLnBrk="1" latinLnBrk="0" hangingPunct="1">
              <a:defRPr sz="2000" kern="1200">
                <a:solidFill>
                  <a:srgbClr val="000000"/>
                </a:solidFill>
                <a:latin typeface="Arial" charset="0"/>
                <a:ea typeface="+mn-ea"/>
                <a:cs typeface="Arial" charset="0"/>
              </a:defRPr>
            </a:lvl8pPr>
            <a:lvl9pPr marL="3657600" algn="l" defTabSz="914400" rtl="0" eaLnBrk="1" latinLnBrk="0" hangingPunct="1">
              <a:defRPr sz="2000" kern="1200">
                <a:solidFill>
                  <a:srgbClr val="000000"/>
                </a:solidFill>
                <a:latin typeface="Arial" charset="0"/>
                <a:ea typeface="+mn-ea"/>
                <a:cs typeface="Arial" charset="0"/>
              </a:defRPr>
            </a:lvl9pPr>
          </a:lstStyle>
          <a:p>
            <a:r>
              <a:rPr lang="en-IN" b="1" dirty="0">
                <a:solidFill>
                  <a:srgbClr val="C00000"/>
                </a:solidFill>
                <a:latin typeface="Borealis" pitchFamily="2" charset="0"/>
              </a:rPr>
              <a:t>    </a:t>
            </a:r>
            <a:r>
              <a:rPr lang="en-IN" dirty="0">
                <a:solidFill>
                  <a:srgbClr val="C00000"/>
                </a:solidFill>
                <a:latin typeface="Borealis" pitchFamily="2" charset="0"/>
              </a:rPr>
              <a:t> </a:t>
            </a:r>
          </a:p>
        </p:txBody>
      </p:sp>
    </p:spTree>
  </p:cSld>
  <p:clrMapOvr>
    <a:masterClrMapping/>
  </p:clrMapOvr>
  <p:transition>
    <p:rand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4A97F85-1C19-496D-B18F-FE3222032EC1}">
  <we:reference id="wa104380526" version="1.2.0.0" store="en-US" storeType="OMEX"/>
  <we:alternateReferences>
    <we:reference id="wa104380526" version="1.2.0.0" store="wa10438052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3281</TotalTime>
  <Words>2832</Words>
  <Application>Microsoft Office PowerPoint</Application>
  <PresentationFormat>On-screen Show (4:3)</PresentationFormat>
  <Paragraphs>514</Paragraphs>
  <Slides>54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Borealis</vt:lpstr>
      <vt:lpstr>Calibri</vt:lpstr>
      <vt:lpstr>Times New Roman</vt:lpstr>
      <vt:lpstr>Wingdings</vt:lpstr>
      <vt:lpstr>Office Theme</vt:lpstr>
      <vt:lpstr>Serial Communication</vt:lpstr>
      <vt:lpstr>Serial vs. parallel Communication</vt:lpstr>
      <vt:lpstr>Synchronous vs. Asynchronous</vt:lpstr>
      <vt:lpstr>Framing (Asynchronous )</vt:lpstr>
      <vt:lpstr>PowerPoint Presentation</vt:lpstr>
      <vt:lpstr>PowerPoint Presentation</vt:lpstr>
      <vt:lpstr>SCON register</vt:lpstr>
      <vt:lpstr>There are two ways to increase the baud rate of data transfer in 8051.  1. Use a higher frequency crystal.  2. Change a D7-bit to 1 in the PCON register  PCON Register: ( Byte addressable)     </vt:lpstr>
      <vt:lpstr>PowerPoint Presentation</vt:lpstr>
      <vt:lpstr>Programming 8051 to transfer data serially </vt:lpstr>
      <vt:lpstr>Example Program for Serial Communication</vt:lpstr>
      <vt:lpstr>Interrupts</vt:lpstr>
      <vt:lpstr>Concept behind Interrupt</vt:lpstr>
      <vt:lpstr> Interrupts &amp; Interrupt vectors: </vt:lpstr>
      <vt:lpstr>Interrupt Enable Register</vt:lpstr>
      <vt:lpstr>TCON REGISTER</vt:lpstr>
      <vt:lpstr>PowerPoint Presentation</vt:lpstr>
      <vt:lpstr>PowerPoint Presentation</vt:lpstr>
      <vt:lpstr> Interrupt Priority register </vt:lpstr>
      <vt:lpstr>    Write a program that continuously get 8-bit data from P0 and sends it to P1 while simultaneously creating a square wave of 200 μs period on pin P2.1. Use timer 0 to create the square wave. Assume that XTAL = 11.0592 MHz.   ORG 0000H   LJMP MAIN  ORG 000BH   CPL P2.1   RETI  ORG 0030H  MAIN:  MOV TMOD,#02H   MOV P0,#0FFH   MOV TH0,#-92 (TH0=A4H)   MOV IE,#82H   SETB TR0  BACK:  MOV A,P0   MOV P1,A   SJMP BACK END    </vt:lpstr>
      <vt:lpstr>Write a program to generate a square wave if 50Hz frequency on pin P1.2. Assume that XTAL=11.0592MHz   ORG 0   LJMP MAIN  ORG 000BH   CPL P1.2   MOV TL0,#00   MOV TH0,#0DCH   RETI  ORG 30H  MAIN: MOV TM0D,#00000001B   MOV TL0,#00   MOV TH0,#0DCH   MOV IE,#82H   SETB TR0  HERE: SJMP HERE  END</vt:lpstr>
      <vt:lpstr>LCD Interfacing (16X2)</vt:lpstr>
      <vt:lpstr>PowerPoint Presentation</vt:lpstr>
      <vt:lpstr>PowerPoint Presentation</vt:lpstr>
      <vt:lpstr>Addresses of 16x2 LCD</vt:lpstr>
      <vt:lpstr>LCD INTERFACING TO 8051</vt:lpstr>
      <vt:lpstr>PowerPoint Presentation</vt:lpstr>
      <vt:lpstr>STEPPER MOTOR INTERFACING</vt:lpstr>
      <vt:lpstr>Driving Stepper motor</vt:lpstr>
      <vt:lpstr>Driving Stepper motor</vt:lpstr>
      <vt:lpstr>Stepper Motor Program</vt:lpstr>
      <vt:lpstr>Stepper Motor Program</vt:lpstr>
      <vt:lpstr>Stepper Motor Program</vt:lpstr>
      <vt:lpstr>ADC(0804) INTERFACING</vt:lpstr>
      <vt:lpstr>ADC 0804</vt:lpstr>
      <vt:lpstr>Important Points on ADC 0804</vt:lpstr>
      <vt:lpstr>PowerPoint Presentation</vt:lpstr>
      <vt:lpstr>PowerPoint Presentation</vt:lpstr>
      <vt:lpstr>PowerPoint Presentation</vt:lpstr>
      <vt:lpstr>PowerPoint Presentation</vt:lpstr>
      <vt:lpstr>PowerPoint Presentation</vt:lpstr>
      <vt:lpstr>Timing diagram of ADC 0804</vt:lpstr>
      <vt:lpstr>Interfacing circuit of ADC0804</vt:lpstr>
      <vt:lpstr>DAC(0808) INTERFACING</vt:lpstr>
      <vt:lpstr>Interfacing Circuit of DAC 0808</vt:lpstr>
      <vt:lpstr>PowerPoint Presentation</vt:lpstr>
      <vt:lpstr>PowerPoint Presentation</vt:lpstr>
      <vt:lpstr>Generating Staircase waveform</vt:lpstr>
      <vt:lpstr>Generating Triangular waveform</vt:lpstr>
      <vt:lpstr>Generating Sine waveform</vt:lpstr>
      <vt:lpstr>PowerPoint Presentation</vt:lpstr>
      <vt:lpstr>Example</vt:lpstr>
      <vt:lpstr>Program</vt:lpstr>
      <vt:lpstr>Representation of Sine waveform</vt:lpstr>
    </vt:vector>
  </TitlesOfParts>
  <Company>Tehran Univercity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Microcontroller 8051</dc:title>
  <dc:creator>hasanpur</dc:creator>
  <cp:lastModifiedBy>Harsha Abhi</cp:lastModifiedBy>
  <cp:revision>537</cp:revision>
  <cp:lastPrinted>1601-01-01T00:00:00Z</cp:lastPrinted>
  <dcterms:created xsi:type="dcterms:W3CDTF">2003-06-01T05:29:53Z</dcterms:created>
  <dcterms:modified xsi:type="dcterms:W3CDTF">2025-11-24T17:25:58Z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ies>
</file>