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6" r:id="rId2"/>
    <p:sldId id="279" r:id="rId3"/>
    <p:sldId id="27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1" r:id="rId21"/>
    <p:sldId id="282" r:id="rId22"/>
    <p:sldId id="283" r:id="rId23"/>
    <p:sldId id="28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2F1AAA-2442-4965-A588-DB06A4297A3D}" type="doc">
      <dgm:prSet loTypeId="urn:microsoft.com/office/officeart/2005/8/layout/gear1" loCatId="relationship" qsTypeId="urn:microsoft.com/office/officeart/2005/8/quickstyle/3d9" qsCatId="3D" csTypeId="urn:microsoft.com/office/officeart/2005/8/colors/accent1_2" csCatId="accent1" phldr="1"/>
      <dgm:spPr/>
    </dgm:pt>
    <dgm:pt modelId="{771747B9-7650-46F5-8331-802064071784}">
      <dgm:prSet phldrT="[Text]" custT="1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r>
            <a:rPr lang="en-IN" sz="2400" dirty="0" smtClean="0">
              <a:solidFill>
                <a:schemeClr val="accent5">
                  <a:lumMod val="40000"/>
                  <a:lumOff val="60000"/>
                </a:schemeClr>
              </a:solidFill>
            </a:rPr>
            <a:t>K</a:t>
          </a:r>
          <a:r>
            <a:rPr lang="en-IN" sz="2400" baseline="0" dirty="0" smtClean="0">
              <a:solidFill>
                <a:schemeClr val="accent5">
                  <a:lumMod val="40000"/>
                  <a:lumOff val="60000"/>
                </a:schemeClr>
              </a:solidFill>
            </a:rPr>
            <a:t> L </a:t>
          </a:r>
          <a:r>
            <a:rPr lang="en-IN" sz="2400" baseline="0" smtClean="0">
              <a:solidFill>
                <a:schemeClr val="accent5">
                  <a:lumMod val="40000"/>
                  <a:lumOff val="60000"/>
                </a:schemeClr>
              </a:solidFill>
            </a:rPr>
            <a:t>U Students</a:t>
          </a:r>
          <a:endParaRPr lang="en-IN" sz="2400" dirty="0">
            <a:solidFill>
              <a:schemeClr val="accent5">
                <a:lumMod val="40000"/>
                <a:lumOff val="60000"/>
              </a:schemeClr>
            </a:solidFill>
          </a:endParaRPr>
        </a:p>
      </dgm:t>
    </dgm:pt>
    <dgm:pt modelId="{37F51D49-B754-42B5-96B1-AB3FC34C8B28}" type="parTrans" cxnId="{F3A8B454-6C1A-4314-9807-B7984B0E1D90}">
      <dgm:prSet/>
      <dgm:spPr/>
      <dgm:t>
        <a:bodyPr/>
        <a:lstStyle/>
        <a:p>
          <a:endParaRPr lang="en-IN"/>
        </a:p>
      </dgm:t>
    </dgm:pt>
    <dgm:pt modelId="{49F6649F-E8F2-432F-86B6-A2AF247DE3FA}" type="sibTrans" cxnId="{F3A8B454-6C1A-4314-9807-B7984B0E1D90}">
      <dgm:prSet/>
      <dgm:spPr/>
      <dgm:t>
        <a:bodyPr/>
        <a:lstStyle/>
        <a:p>
          <a:endParaRPr lang="en-IN"/>
        </a:p>
      </dgm:t>
    </dgm:pt>
    <dgm:pt modelId="{CC0808EF-1270-42FC-B0A9-5A02865EC648}">
      <dgm:prSet phldrT="[Text]" custT="1"/>
      <dgm:spPr>
        <a:solidFill>
          <a:srgbClr val="00B0F0"/>
        </a:solidFill>
      </dgm:spPr>
      <dgm:t>
        <a:bodyPr/>
        <a:lstStyle/>
        <a:p>
          <a:r>
            <a:rPr lang="en-US" sz="2800" dirty="0" smtClean="0"/>
            <a:t>1</a:t>
          </a:r>
          <a:r>
            <a:rPr lang="en-US" sz="2800" baseline="30000" dirty="0" smtClean="0"/>
            <a:t>st</a:t>
          </a:r>
          <a:r>
            <a:rPr lang="en-US" sz="2800" dirty="0" smtClean="0"/>
            <a:t> year</a:t>
          </a:r>
          <a:endParaRPr lang="en-IN" sz="2800" dirty="0"/>
        </a:p>
      </dgm:t>
    </dgm:pt>
    <dgm:pt modelId="{70138379-29CD-41B3-95BE-C8D7AFF54958}" type="parTrans" cxnId="{0A1EFA95-44F4-4355-89B4-D1B9232BBC69}">
      <dgm:prSet/>
      <dgm:spPr/>
      <dgm:t>
        <a:bodyPr/>
        <a:lstStyle/>
        <a:p>
          <a:endParaRPr lang="en-IN"/>
        </a:p>
      </dgm:t>
    </dgm:pt>
    <dgm:pt modelId="{4272B16D-E69B-4D70-B982-0AD9462E09AF}" type="sibTrans" cxnId="{0A1EFA95-44F4-4355-89B4-D1B9232BBC69}">
      <dgm:prSet/>
      <dgm:spPr/>
      <dgm:t>
        <a:bodyPr/>
        <a:lstStyle/>
        <a:p>
          <a:endParaRPr lang="en-IN"/>
        </a:p>
      </dgm:t>
    </dgm:pt>
    <dgm:pt modelId="{0549EE02-755D-4EA6-A5CD-F9DF15BBD5A1}">
      <dgm:prSet phldrT="[Text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2800" dirty="0" smtClean="0"/>
            <a:t>For </a:t>
          </a:r>
          <a:endParaRPr lang="en-IN" sz="2800" dirty="0"/>
        </a:p>
      </dgm:t>
    </dgm:pt>
    <dgm:pt modelId="{597991EC-446A-4A82-9646-256F0FB8BDAD}" type="parTrans" cxnId="{8BBED136-1527-4274-A499-154F32CB8EE9}">
      <dgm:prSet/>
      <dgm:spPr/>
      <dgm:t>
        <a:bodyPr/>
        <a:lstStyle/>
        <a:p>
          <a:endParaRPr lang="en-IN"/>
        </a:p>
      </dgm:t>
    </dgm:pt>
    <dgm:pt modelId="{BF381AF5-9A15-4BCB-862B-74299BCBA4C4}" type="sibTrans" cxnId="{8BBED136-1527-4274-A499-154F32CB8EE9}">
      <dgm:prSet/>
      <dgm:spPr/>
      <dgm:t>
        <a:bodyPr/>
        <a:lstStyle/>
        <a:p>
          <a:endParaRPr lang="en-IN"/>
        </a:p>
      </dgm:t>
    </dgm:pt>
    <dgm:pt modelId="{3E6A035C-0274-4AC9-A364-C6DF5C6502ED}" type="pres">
      <dgm:prSet presAssocID="{A82F1AAA-2442-4965-A588-DB06A4297A3D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67AE14E0-83E4-436A-8403-F06F0DD5F8B5}" type="pres">
      <dgm:prSet presAssocID="{771747B9-7650-46F5-8331-802064071784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0F52564-303F-4F72-BE7F-692E4B322301}" type="pres">
      <dgm:prSet presAssocID="{771747B9-7650-46F5-8331-802064071784}" presName="gear1srcNode" presStyleLbl="node1" presStyleIdx="0" presStyleCnt="3"/>
      <dgm:spPr/>
      <dgm:t>
        <a:bodyPr/>
        <a:lstStyle/>
        <a:p>
          <a:endParaRPr lang="en-IN"/>
        </a:p>
      </dgm:t>
    </dgm:pt>
    <dgm:pt modelId="{510C443F-67C7-4A25-B5BD-2541C7C45D3E}" type="pres">
      <dgm:prSet presAssocID="{771747B9-7650-46F5-8331-802064071784}" presName="gear1dstNode" presStyleLbl="node1" presStyleIdx="0" presStyleCnt="3"/>
      <dgm:spPr/>
      <dgm:t>
        <a:bodyPr/>
        <a:lstStyle/>
        <a:p>
          <a:endParaRPr lang="en-IN"/>
        </a:p>
      </dgm:t>
    </dgm:pt>
    <dgm:pt modelId="{C6DB8517-A8C2-4A95-951B-EBF8F91C6A1F}" type="pres">
      <dgm:prSet presAssocID="{CC0808EF-1270-42FC-B0A9-5A02865EC648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FC8F0DA-A29E-4D9F-9A20-45A433EB267A}" type="pres">
      <dgm:prSet presAssocID="{CC0808EF-1270-42FC-B0A9-5A02865EC648}" presName="gear2srcNode" presStyleLbl="node1" presStyleIdx="1" presStyleCnt="3"/>
      <dgm:spPr/>
      <dgm:t>
        <a:bodyPr/>
        <a:lstStyle/>
        <a:p>
          <a:endParaRPr lang="en-IN"/>
        </a:p>
      </dgm:t>
    </dgm:pt>
    <dgm:pt modelId="{68A50C4A-B0CD-4D4B-BA9A-8BD52C07F66D}" type="pres">
      <dgm:prSet presAssocID="{CC0808EF-1270-42FC-B0A9-5A02865EC648}" presName="gear2dstNode" presStyleLbl="node1" presStyleIdx="1" presStyleCnt="3"/>
      <dgm:spPr/>
      <dgm:t>
        <a:bodyPr/>
        <a:lstStyle/>
        <a:p>
          <a:endParaRPr lang="en-IN"/>
        </a:p>
      </dgm:t>
    </dgm:pt>
    <dgm:pt modelId="{E5442776-0B4C-4E3B-9957-BAB26E1D675D}" type="pres">
      <dgm:prSet presAssocID="{0549EE02-755D-4EA6-A5CD-F9DF15BBD5A1}" presName="gear3" presStyleLbl="node1" presStyleIdx="2" presStyleCnt="3"/>
      <dgm:spPr/>
      <dgm:t>
        <a:bodyPr/>
        <a:lstStyle/>
        <a:p>
          <a:endParaRPr lang="en-IN"/>
        </a:p>
      </dgm:t>
    </dgm:pt>
    <dgm:pt modelId="{51006348-89D0-4D62-89A7-088941D4E806}" type="pres">
      <dgm:prSet presAssocID="{0549EE02-755D-4EA6-A5CD-F9DF15BBD5A1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1E62B19-649F-48C3-AD3A-EE91FE9999AE}" type="pres">
      <dgm:prSet presAssocID="{0549EE02-755D-4EA6-A5CD-F9DF15BBD5A1}" presName="gear3srcNode" presStyleLbl="node1" presStyleIdx="2" presStyleCnt="3"/>
      <dgm:spPr/>
      <dgm:t>
        <a:bodyPr/>
        <a:lstStyle/>
        <a:p>
          <a:endParaRPr lang="en-IN"/>
        </a:p>
      </dgm:t>
    </dgm:pt>
    <dgm:pt modelId="{EE31411A-4BF0-4B56-8E84-BAF79E2216F0}" type="pres">
      <dgm:prSet presAssocID="{0549EE02-755D-4EA6-A5CD-F9DF15BBD5A1}" presName="gear3dstNode" presStyleLbl="node1" presStyleIdx="2" presStyleCnt="3"/>
      <dgm:spPr/>
      <dgm:t>
        <a:bodyPr/>
        <a:lstStyle/>
        <a:p>
          <a:endParaRPr lang="en-IN"/>
        </a:p>
      </dgm:t>
    </dgm:pt>
    <dgm:pt modelId="{05C7BF74-C0A4-4D94-9EB5-AEFB0D260B2B}" type="pres">
      <dgm:prSet presAssocID="{49F6649F-E8F2-432F-86B6-A2AF247DE3FA}" presName="connector1" presStyleLbl="sibTrans2D1" presStyleIdx="0" presStyleCnt="3"/>
      <dgm:spPr/>
      <dgm:t>
        <a:bodyPr/>
        <a:lstStyle/>
        <a:p>
          <a:endParaRPr lang="en-IN"/>
        </a:p>
      </dgm:t>
    </dgm:pt>
    <dgm:pt modelId="{5F6DC4D6-88A2-4347-9059-651BB3B5D4B1}" type="pres">
      <dgm:prSet presAssocID="{4272B16D-E69B-4D70-B982-0AD9462E09AF}" presName="connector2" presStyleLbl="sibTrans2D1" presStyleIdx="1" presStyleCnt="3"/>
      <dgm:spPr/>
      <dgm:t>
        <a:bodyPr/>
        <a:lstStyle/>
        <a:p>
          <a:endParaRPr lang="en-IN"/>
        </a:p>
      </dgm:t>
    </dgm:pt>
    <dgm:pt modelId="{ACC2F1DE-A714-40FB-9236-DD1FE6696E12}" type="pres">
      <dgm:prSet presAssocID="{BF381AF5-9A15-4BCB-862B-74299BCBA4C4}" presName="connector3" presStyleLbl="sibTrans2D1" presStyleIdx="2" presStyleCnt="3"/>
      <dgm:spPr/>
      <dgm:t>
        <a:bodyPr/>
        <a:lstStyle/>
        <a:p>
          <a:endParaRPr lang="en-IN"/>
        </a:p>
      </dgm:t>
    </dgm:pt>
  </dgm:ptLst>
  <dgm:cxnLst>
    <dgm:cxn modelId="{9ED95A67-9FFE-4D14-A399-72C5DBB19727}" type="presOf" srcId="{BF381AF5-9A15-4BCB-862B-74299BCBA4C4}" destId="{ACC2F1DE-A714-40FB-9236-DD1FE6696E12}" srcOrd="0" destOrd="0" presId="urn:microsoft.com/office/officeart/2005/8/layout/gear1"/>
    <dgm:cxn modelId="{F3A8B454-6C1A-4314-9807-B7984B0E1D90}" srcId="{A82F1AAA-2442-4965-A588-DB06A4297A3D}" destId="{771747B9-7650-46F5-8331-802064071784}" srcOrd="0" destOrd="0" parTransId="{37F51D49-B754-42B5-96B1-AB3FC34C8B28}" sibTransId="{49F6649F-E8F2-432F-86B6-A2AF247DE3FA}"/>
    <dgm:cxn modelId="{425A7D4A-4797-4FEA-B34A-020E81F99AA7}" type="presOf" srcId="{CC0808EF-1270-42FC-B0A9-5A02865EC648}" destId="{6FC8F0DA-A29E-4D9F-9A20-45A433EB267A}" srcOrd="1" destOrd="0" presId="urn:microsoft.com/office/officeart/2005/8/layout/gear1"/>
    <dgm:cxn modelId="{2F8C139E-A340-4497-9759-12207171E08F}" type="presOf" srcId="{4272B16D-E69B-4D70-B982-0AD9462E09AF}" destId="{5F6DC4D6-88A2-4347-9059-651BB3B5D4B1}" srcOrd="0" destOrd="0" presId="urn:microsoft.com/office/officeart/2005/8/layout/gear1"/>
    <dgm:cxn modelId="{CD4AAC10-0CB3-40E2-B434-945E24E22E6D}" type="presOf" srcId="{CC0808EF-1270-42FC-B0A9-5A02865EC648}" destId="{C6DB8517-A8C2-4A95-951B-EBF8F91C6A1F}" srcOrd="0" destOrd="0" presId="urn:microsoft.com/office/officeart/2005/8/layout/gear1"/>
    <dgm:cxn modelId="{BB7EF549-598D-486D-A95C-9F382FC60BF6}" type="presOf" srcId="{0549EE02-755D-4EA6-A5CD-F9DF15BBD5A1}" destId="{51006348-89D0-4D62-89A7-088941D4E806}" srcOrd="1" destOrd="0" presId="urn:microsoft.com/office/officeart/2005/8/layout/gear1"/>
    <dgm:cxn modelId="{A50B2014-7CCE-4CBC-84E1-7B903018173C}" type="presOf" srcId="{CC0808EF-1270-42FC-B0A9-5A02865EC648}" destId="{68A50C4A-B0CD-4D4B-BA9A-8BD52C07F66D}" srcOrd="2" destOrd="0" presId="urn:microsoft.com/office/officeart/2005/8/layout/gear1"/>
    <dgm:cxn modelId="{64C5A231-6C2F-493E-B929-27E5751081FB}" type="presOf" srcId="{0549EE02-755D-4EA6-A5CD-F9DF15BBD5A1}" destId="{E5442776-0B4C-4E3B-9957-BAB26E1D675D}" srcOrd="0" destOrd="0" presId="urn:microsoft.com/office/officeart/2005/8/layout/gear1"/>
    <dgm:cxn modelId="{0BF7607C-5CC4-4E89-9AD1-0B159A181F56}" type="presOf" srcId="{0549EE02-755D-4EA6-A5CD-F9DF15BBD5A1}" destId="{EE31411A-4BF0-4B56-8E84-BAF79E2216F0}" srcOrd="3" destOrd="0" presId="urn:microsoft.com/office/officeart/2005/8/layout/gear1"/>
    <dgm:cxn modelId="{8BBED136-1527-4274-A499-154F32CB8EE9}" srcId="{A82F1AAA-2442-4965-A588-DB06A4297A3D}" destId="{0549EE02-755D-4EA6-A5CD-F9DF15BBD5A1}" srcOrd="2" destOrd="0" parTransId="{597991EC-446A-4A82-9646-256F0FB8BDAD}" sibTransId="{BF381AF5-9A15-4BCB-862B-74299BCBA4C4}"/>
    <dgm:cxn modelId="{1B4B57C3-81BE-4F1F-AFC9-A4C1ED0B99AE}" type="presOf" srcId="{A82F1AAA-2442-4965-A588-DB06A4297A3D}" destId="{3E6A035C-0274-4AC9-A364-C6DF5C6502ED}" srcOrd="0" destOrd="0" presId="urn:microsoft.com/office/officeart/2005/8/layout/gear1"/>
    <dgm:cxn modelId="{34E73AED-0959-4B86-8C1A-06030A8BC4BD}" type="presOf" srcId="{771747B9-7650-46F5-8331-802064071784}" destId="{80F52564-303F-4F72-BE7F-692E4B322301}" srcOrd="1" destOrd="0" presId="urn:microsoft.com/office/officeart/2005/8/layout/gear1"/>
    <dgm:cxn modelId="{0A1EFA95-44F4-4355-89B4-D1B9232BBC69}" srcId="{A82F1AAA-2442-4965-A588-DB06A4297A3D}" destId="{CC0808EF-1270-42FC-B0A9-5A02865EC648}" srcOrd="1" destOrd="0" parTransId="{70138379-29CD-41B3-95BE-C8D7AFF54958}" sibTransId="{4272B16D-E69B-4D70-B982-0AD9462E09AF}"/>
    <dgm:cxn modelId="{8691E24B-63EF-4881-BF78-918431E5B183}" type="presOf" srcId="{771747B9-7650-46F5-8331-802064071784}" destId="{510C443F-67C7-4A25-B5BD-2541C7C45D3E}" srcOrd="2" destOrd="0" presId="urn:microsoft.com/office/officeart/2005/8/layout/gear1"/>
    <dgm:cxn modelId="{63DF96EA-AF7D-4EFB-858A-B40D3EB0BC31}" type="presOf" srcId="{0549EE02-755D-4EA6-A5CD-F9DF15BBD5A1}" destId="{41E62B19-649F-48C3-AD3A-EE91FE9999AE}" srcOrd="2" destOrd="0" presId="urn:microsoft.com/office/officeart/2005/8/layout/gear1"/>
    <dgm:cxn modelId="{DD5CE2FD-BD9C-4E25-AB38-BB983CF85239}" type="presOf" srcId="{771747B9-7650-46F5-8331-802064071784}" destId="{67AE14E0-83E4-436A-8403-F06F0DD5F8B5}" srcOrd="0" destOrd="0" presId="urn:microsoft.com/office/officeart/2005/8/layout/gear1"/>
    <dgm:cxn modelId="{BEBD286C-D766-453C-96FB-1896CD09A148}" type="presOf" srcId="{49F6649F-E8F2-432F-86B6-A2AF247DE3FA}" destId="{05C7BF74-C0A4-4D94-9EB5-AEFB0D260B2B}" srcOrd="0" destOrd="0" presId="urn:microsoft.com/office/officeart/2005/8/layout/gear1"/>
    <dgm:cxn modelId="{3148972B-9885-4333-AD92-B3045C098E0D}" type="presParOf" srcId="{3E6A035C-0274-4AC9-A364-C6DF5C6502ED}" destId="{67AE14E0-83E4-436A-8403-F06F0DD5F8B5}" srcOrd="0" destOrd="0" presId="urn:microsoft.com/office/officeart/2005/8/layout/gear1"/>
    <dgm:cxn modelId="{EB48EC25-F7E0-4600-886C-459837A5DFC8}" type="presParOf" srcId="{3E6A035C-0274-4AC9-A364-C6DF5C6502ED}" destId="{80F52564-303F-4F72-BE7F-692E4B322301}" srcOrd="1" destOrd="0" presId="urn:microsoft.com/office/officeart/2005/8/layout/gear1"/>
    <dgm:cxn modelId="{8DDBA426-9D55-4CE1-9272-7CBF6514D76D}" type="presParOf" srcId="{3E6A035C-0274-4AC9-A364-C6DF5C6502ED}" destId="{510C443F-67C7-4A25-B5BD-2541C7C45D3E}" srcOrd="2" destOrd="0" presId="urn:microsoft.com/office/officeart/2005/8/layout/gear1"/>
    <dgm:cxn modelId="{FAFF0553-35EA-441A-843E-F86B4AAAE8B3}" type="presParOf" srcId="{3E6A035C-0274-4AC9-A364-C6DF5C6502ED}" destId="{C6DB8517-A8C2-4A95-951B-EBF8F91C6A1F}" srcOrd="3" destOrd="0" presId="urn:microsoft.com/office/officeart/2005/8/layout/gear1"/>
    <dgm:cxn modelId="{C3B08D4D-04FD-487A-B0C9-C2626A6FAB74}" type="presParOf" srcId="{3E6A035C-0274-4AC9-A364-C6DF5C6502ED}" destId="{6FC8F0DA-A29E-4D9F-9A20-45A433EB267A}" srcOrd="4" destOrd="0" presId="urn:microsoft.com/office/officeart/2005/8/layout/gear1"/>
    <dgm:cxn modelId="{6B2B6CE6-D849-4C1D-AA24-0BDA49D2B9A0}" type="presParOf" srcId="{3E6A035C-0274-4AC9-A364-C6DF5C6502ED}" destId="{68A50C4A-B0CD-4D4B-BA9A-8BD52C07F66D}" srcOrd="5" destOrd="0" presId="urn:microsoft.com/office/officeart/2005/8/layout/gear1"/>
    <dgm:cxn modelId="{7510AEFE-C366-44A4-AD48-102B6DD4F909}" type="presParOf" srcId="{3E6A035C-0274-4AC9-A364-C6DF5C6502ED}" destId="{E5442776-0B4C-4E3B-9957-BAB26E1D675D}" srcOrd="6" destOrd="0" presId="urn:microsoft.com/office/officeart/2005/8/layout/gear1"/>
    <dgm:cxn modelId="{D744D887-51D0-4429-B1F4-29CD88B94F51}" type="presParOf" srcId="{3E6A035C-0274-4AC9-A364-C6DF5C6502ED}" destId="{51006348-89D0-4D62-89A7-088941D4E806}" srcOrd="7" destOrd="0" presId="urn:microsoft.com/office/officeart/2005/8/layout/gear1"/>
    <dgm:cxn modelId="{928FCE1F-A5F0-4F65-8633-F4E31E3D237B}" type="presParOf" srcId="{3E6A035C-0274-4AC9-A364-C6DF5C6502ED}" destId="{41E62B19-649F-48C3-AD3A-EE91FE9999AE}" srcOrd="8" destOrd="0" presId="urn:microsoft.com/office/officeart/2005/8/layout/gear1"/>
    <dgm:cxn modelId="{F285F65A-2917-4BC9-808A-4E2B83ADF74B}" type="presParOf" srcId="{3E6A035C-0274-4AC9-A364-C6DF5C6502ED}" destId="{EE31411A-4BF0-4B56-8E84-BAF79E2216F0}" srcOrd="9" destOrd="0" presId="urn:microsoft.com/office/officeart/2005/8/layout/gear1"/>
    <dgm:cxn modelId="{BE3A98E6-FCC3-4B6F-AF79-DC91297FD147}" type="presParOf" srcId="{3E6A035C-0274-4AC9-A364-C6DF5C6502ED}" destId="{05C7BF74-C0A4-4D94-9EB5-AEFB0D260B2B}" srcOrd="10" destOrd="0" presId="urn:microsoft.com/office/officeart/2005/8/layout/gear1"/>
    <dgm:cxn modelId="{AE479ACE-996B-4692-92BD-60F962951D3A}" type="presParOf" srcId="{3E6A035C-0274-4AC9-A364-C6DF5C6502ED}" destId="{5F6DC4D6-88A2-4347-9059-651BB3B5D4B1}" srcOrd="11" destOrd="0" presId="urn:microsoft.com/office/officeart/2005/8/layout/gear1"/>
    <dgm:cxn modelId="{AC6595FE-6FE7-4052-A390-F5EF1858BC3F}" type="presParOf" srcId="{3E6A035C-0274-4AC9-A364-C6DF5C6502ED}" destId="{ACC2F1DE-A714-40FB-9236-DD1FE6696E12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E14E0-83E4-436A-8403-F06F0DD5F8B5}">
      <dsp:nvSpPr>
        <dsp:cNvPr id="0" name=""/>
        <dsp:cNvSpPr/>
      </dsp:nvSpPr>
      <dsp:spPr>
        <a:xfrm>
          <a:off x="2556510" y="1680210"/>
          <a:ext cx="2053590" cy="2053590"/>
        </a:xfrm>
        <a:prstGeom prst="gear9">
          <a:avLst/>
        </a:prstGeom>
        <a:solidFill>
          <a:srgbClr val="FF0000"/>
        </a:solidFill>
        <a:ln>
          <a:solidFill>
            <a:srgbClr val="FF0000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  <a:sp3d extrusionH="28000" prstMaterial="matte"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smtClean="0">
              <a:solidFill>
                <a:schemeClr val="accent5">
                  <a:lumMod val="40000"/>
                  <a:lumOff val="60000"/>
                </a:schemeClr>
              </a:solidFill>
            </a:rPr>
            <a:t>K</a:t>
          </a:r>
          <a:r>
            <a:rPr lang="en-IN" sz="2400" kern="1200" baseline="0" dirty="0" smtClean="0">
              <a:solidFill>
                <a:schemeClr val="accent5">
                  <a:lumMod val="40000"/>
                  <a:lumOff val="60000"/>
                </a:schemeClr>
              </a:solidFill>
            </a:rPr>
            <a:t> L </a:t>
          </a:r>
          <a:r>
            <a:rPr lang="en-IN" sz="2400" kern="1200" baseline="0" smtClean="0">
              <a:solidFill>
                <a:schemeClr val="accent5">
                  <a:lumMod val="40000"/>
                  <a:lumOff val="60000"/>
                </a:schemeClr>
              </a:solidFill>
            </a:rPr>
            <a:t>U Students</a:t>
          </a:r>
          <a:endParaRPr lang="en-IN" sz="2400" kern="1200" dirty="0">
            <a:solidFill>
              <a:schemeClr val="accent5">
                <a:lumMod val="40000"/>
                <a:lumOff val="60000"/>
              </a:schemeClr>
            </a:solidFill>
          </a:endParaRPr>
        </a:p>
      </dsp:txBody>
      <dsp:txXfrm>
        <a:off x="2969373" y="2161254"/>
        <a:ext cx="1227864" cy="1055587"/>
      </dsp:txXfrm>
    </dsp:sp>
    <dsp:sp modelId="{C6DB8517-A8C2-4A95-951B-EBF8F91C6A1F}">
      <dsp:nvSpPr>
        <dsp:cNvPr id="0" name=""/>
        <dsp:cNvSpPr/>
      </dsp:nvSpPr>
      <dsp:spPr>
        <a:xfrm>
          <a:off x="1361694" y="1194816"/>
          <a:ext cx="1493520" cy="1493520"/>
        </a:xfrm>
        <a:prstGeom prst="gear6">
          <a:avLst/>
        </a:prstGeom>
        <a:solidFill>
          <a:srgbClr val="00B0F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  <a:sp3d extrusionH="28000" prstMaterial="matte"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1</a:t>
          </a:r>
          <a:r>
            <a:rPr lang="en-US" sz="2800" kern="1200" baseline="30000" dirty="0" smtClean="0"/>
            <a:t>st</a:t>
          </a:r>
          <a:r>
            <a:rPr lang="en-US" sz="2800" kern="1200" dirty="0" smtClean="0"/>
            <a:t> year</a:t>
          </a:r>
          <a:endParaRPr lang="en-IN" sz="2800" kern="1200" dirty="0"/>
        </a:p>
      </dsp:txBody>
      <dsp:txXfrm>
        <a:off x="1737692" y="1573087"/>
        <a:ext cx="741524" cy="736978"/>
      </dsp:txXfrm>
    </dsp:sp>
    <dsp:sp modelId="{E5442776-0B4C-4E3B-9957-BAB26E1D675D}">
      <dsp:nvSpPr>
        <dsp:cNvPr id="0" name=""/>
        <dsp:cNvSpPr/>
      </dsp:nvSpPr>
      <dsp:spPr>
        <a:xfrm rot="20700000">
          <a:off x="2198217" y="164439"/>
          <a:ext cx="1463344" cy="1463344"/>
        </a:xfrm>
        <a:prstGeom prst="gear6">
          <a:avLst/>
        </a:prstGeom>
        <a:solidFill>
          <a:schemeClr val="tx1">
            <a:lumMod val="50000"/>
            <a:lumOff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  <a:sp3d extrusionH="28000" prstMaterial="matte"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For </a:t>
          </a:r>
          <a:endParaRPr lang="en-IN" sz="2800" kern="1200" dirty="0"/>
        </a:p>
      </dsp:txBody>
      <dsp:txXfrm rot="-20700000">
        <a:off x="2519172" y="485394"/>
        <a:ext cx="821436" cy="821436"/>
      </dsp:txXfrm>
    </dsp:sp>
    <dsp:sp modelId="{05C7BF74-C0A4-4D94-9EB5-AEFB0D260B2B}">
      <dsp:nvSpPr>
        <dsp:cNvPr id="0" name=""/>
        <dsp:cNvSpPr/>
      </dsp:nvSpPr>
      <dsp:spPr>
        <a:xfrm>
          <a:off x="2393614" y="1373153"/>
          <a:ext cx="2628595" cy="2628595"/>
        </a:xfrm>
        <a:prstGeom prst="circularArrow">
          <a:avLst>
            <a:gd name="adj1" fmla="val 4687"/>
            <a:gd name="adj2" fmla="val 299029"/>
            <a:gd name="adj3" fmla="val 2504221"/>
            <a:gd name="adj4" fmla="val 15887251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DC4D6-88A2-4347-9059-651BB3B5D4B1}">
      <dsp:nvSpPr>
        <dsp:cNvPr id="0" name=""/>
        <dsp:cNvSpPr/>
      </dsp:nvSpPr>
      <dsp:spPr>
        <a:xfrm>
          <a:off x="1097194" y="866332"/>
          <a:ext cx="1909838" cy="1909838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C2F1DE-A714-40FB-9236-DD1FE6696E12}">
      <dsp:nvSpPr>
        <dsp:cNvPr id="0" name=""/>
        <dsp:cNvSpPr/>
      </dsp:nvSpPr>
      <dsp:spPr>
        <a:xfrm>
          <a:off x="1859730" y="-154111"/>
          <a:ext cx="2059190" cy="2059190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698EA-668F-418B-81AA-CD185252F0EB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9847C-A8A0-4E5F-A685-D87F7762109A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33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B9847C-A8A0-4E5F-A685-D87F7762109A}" type="slidenum">
              <a:rPr lang="en-IN" smtClean="0"/>
              <a:pPr/>
              <a:t>4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1"/>
            <a:ext cx="4100513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9894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tags/tag_dd.asp" TargetMode="External"/><Relationship Id="rId3" Type="http://schemas.openxmlformats.org/officeDocument/2006/relationships/hyperlink" Target="https://www.w3schools.com/tags/tag_ul.asp" TargetMode="External"/><Relationship Id="rId7" Type="http://schemas.openxmlformats.org/officeDocument/2006/relationships/hyperlink" Target="https://www.w3schools.com/tags/tag_dt.asp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tags/tag_dl.asp" TargetMode="External"/><Relationship Id="rId5" Type="http://schemas.openxmlformats.org/officeDocument/2006/relationships/hyperlink" Target="https://www.w3schools.com/tags/tag_li.asp" TargetMode="External"/><Relationship Id="rId4" Type="http://schemas.openxmlformats.org/officeDocument/2006/relationships/hyperlink" Target="https://www.w3schools.com/tags/tag_ol.asp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tags/tag_colgroup.asp" TargetMode="External"/><Relationship Id="rId3" Type="http://schemas.openxmlformats.org/officeDocument/2006/relationships/hyperlink" Target="https://www.w3schools.com/tags/tag_table.asp" TargetMode="External"/><Relationship Id="rId7" Type="http://schemas.openxmlformats.org/officeDocument/2006/relationships/hyperlink" Target="https://www.w3schools.com/tags/tag_caption.asp" TargetMode="External"/><Relationship Id="rId12" Type="http://schemas.openxmlformats.org/officeDocument/2006/relationships/hyperlink" Target="https://www.w3schools.com/tags/tag_tfoot.asp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tags/tag_td.asp" TargetMode="External"/><Relationship Id="rId11" Type="http://schemas.openxmlformats.org/officeDocument/2006/relationships/hyperlink" Target="https://www.w3schools.com/tags/tag_tbody.asp" TargetMode="External"/><Relationship Id="rId5" Type="http://schemas.openxmlformats.org/officeDocument/2006/relationships/hyperlink" Target="https://www.w3schools.com/tags/tag_tr.asp" TargetMode="External"/><Relationship Id="rId10" Type="http://schemas.openxmlformats.org/officeDocument/2006/relationships/hyperlink" Target="https://www.w3schools.com/tags/tag_thead.asp" TargetMode="External"/><Relationship Id="rId4" Type="http://schemas.openxmlformats.org/officeDocument/2006/relationships/hyperlink" Target="https://www.w3schools.com/tags/tag_th.asp" TargetMode="External"/><Relationship Id="rId9" Type="http://schemas.openxmlformats.org/officeDocument/2006/relationships/hyperlink" Target="https://www.w3schools.com/tags/tag_col.as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5368" y="1219200"/>
            <a:ext cx="80085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spc="0" dirty="0" smtClean="0">
                <a:ln w="19050">
                  <a:solidFill>
                    <a:schemeClr val="accent4">
                      <a:lumMod val="50000"/>
                      <a:lumOff val="50000"/>
                    </a:schemeClr>
                  </a:solidFill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reflection blurRad="12700" stA="50000" endPos="50000" dist="5000" dir="5400000" sy="-100000" rotWithShape="0"/>
                </a:effectLst>
              </a:rPr>
              <a:t>DESIGN TOOLS WORKSHOP</a:t>
            </a:r>
            <a:endParaRPr lang="en-US" sz="5400" b="1" cap="all" spc="0" dirty="0">
              <a:ln w="19050">
                <a:solidFill>
                  <a:schemeClr val="accent4">
                    <a:lumMod val="50000"/>
                    <a:lumOff val="50000"/>
                  </a:schemeClr>
                </a:solidFill>
              </a:ln>
              <a:solidFill>
                <a:schemeClr val="tx2">
                  <a:lumMod val="75000"/>
                  <a:lumOff val="2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reflection blurRad="12700" stA="50000" endPos="50000" dist="5000" dir="5400000" sy="-100000" rotWithShape="0"/>
              </a:effectLst>
            </a:endParaRPr>
          </a:p>
        </p:txBody>
      </p:sp>
      <p:pic>
        <p:nvPicPr>
          <p:cNvPr id="3" name="Picture 15" descr="j029198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5748845" y="3403169"/>
            <a:ext cx="2902619" cy="34290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52400" y="931277"/>
            <a:ext cx="3946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Segoe Script" pitchFamily="34" charset="0"/>
              </a:rPr>
              <a:t>A COMPLETE SOLUTION TO</a:t>
            </a:r>
            <a:endParaRPr lang="en-IN" dirty="0">
              <a:solidFill>
                <a:schemeClr val="accent4">
                  <a:lumMod val="50000"/>
                  <a:lumOff val="50000"/>
                </a:schemeClr>
              </a:solidFill>
              <a:latin typeface="Segoe Script" pitchFamily="34" charset="0"/>
            </a:endParaRPr>
          </a:p>
        </p:txBody>
      </p:sp>
      <p:graphicFrame>
        <p:nvGraphicFramePr>
          <p:cNvPr id="6" name="Diagram 5"/>
          <p:cNvGraphicFramePr/>
          <p:nvPr>
            <p:extLst/>
          </p:nvPr>
        </p:nvGraphicFramePr>
        <p:xfrm>
          <a:off x="-762000" y="3098369"/>
          <a:ext cx="54864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AutoShape 17">
            <a:hlinkClick r:id="" action="ppaction://hlinkshowjump?jump=endshow" highlightClick="1"/>
          </p:cNvPr>
          <p:cNvSpPr>
            <a:spLocks noChangeArrowheads="1"/>
          </p:cNvSpPr>
          <p:nvPr/>
        </p:nvSpPr>
        <p:spPr bwMode="auto">
          <a:xfrm>
            <a:off x="8763000" y="6629400"/>
            <a:ext cx="381000" cy="228600"/>
          </a:xfrm>
          <a:prstGeom prst="actionButtonBlank">
            <a:avLst/>
          </a:prstGeom>
          <a:solidFill>
            <a:srgbClr val="FF0000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sz="900" dirty="0"/>
              <a:t>EXIT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22703" y="81945"/>
            <a:ext cx="2008015" cy="849332"/>
          </a:xfrm>
          <a:prstGeom prst="rect">
            <a:avLst/>
          </a:prstGeom>
          <a:noFill/>
        </p:spPr>
      </p:pic>
      <p:sp>
        <p:nvSpPr>
          <p:cNvPr id="9" name="Google Shape;475;p16"/>
          <p:cNvSpPr txBox="1"/>
          <p:nvPr/>
        </p:nvSpPr>
        <p:spPr>
          <a:xfrm>
            <a:off x="152401" y="270083"/>
            <a:ext cx="8499063" cy="35393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cs typeface="Poppins" pitchFamily="2" charset="77"/>
              </a:rPr>
              <a:t>Department of M</a:t>
            </a:r>
            <a:r>
              <a:rPr lang="en-US" sz="3200" dirty="0" smtClean="0">
                <a:solidFill>
                  <a:srgbClr val="C00000"/>
                </a:solidFill>
                <a:cs typeface="Poppins" pitchFamily="2" charset="77"/>
              </a:rPr>
              <a:t>E </a:t>
            </a:r>
            <a:endParaRPr lang="en-US" sz="3200" dirty="0" smtClean="0">
              <a:solidFill>
                <a:srgbClr val="C00000"/>
              </a:solidFill>
              <a:cs typeface="Poppins" pitchFamily="2" charset="77"/>
            </a:endParaRPr>
          </a:p>
          <a:p>
            <a:pPr algn="ctr"/>
            <a:r>
              <a:rPr lang="en-US" sz="3200" dirty="0">
                <a:solidFill>
                  <a:srgbClr val="C00000"/>
                </a:solidFill>
                <a:cs typeface="Poppins" pitchFamily="2" charset="77"/>
              </a:rPr>
              <a:t>	</a:t>
            </a:r>
            <a:endParaRPr lang="en-US" sz="3200" dirty="0" smtClean="0">
              <a:solidFill>
                <a:srgbClr val="C00000"/>
              </a:solidFill>
              <a:cs typeface="Poppins" pitchFamily="2" charset="77"/>
            </a:endParaRPr>
          </a:p>
          <a:p>
            <a:pPr algn="ctr"/>
            <a:endParaRPr lang="en-US" sz="3200" dirty="0">
              <a:solidFill>
                <a:srgbClr val="C00000"/>
              </a:solidFill>
              <a:cs typeface="Poppins" pitchFamily="2" charset="77"/>
            </a:endParaRPr>
          </a:p>
          <a:p>
            <a:pPr algn="ctr"/>
            <a:endParaRPr lang="en-US" sz="3200" dirty="0">
              <a:solidFill>
                <a:srgbClr val="C00000"/>
              </a:solidFill>
              <a:cs typeface="Poppins" pitchFamily="2" charset="77"/>
            </a:endParaRPr>
          </a:p>
          <a:p>
            <a:pPr algn="ctr"/>
            <a:r>
              <a:rPr lang="en-US" sz="3200" dirty="0" smtClean="0">
                <a:solidFill>
                  <a:srgbClr val="C00000"/>
                </a:solidFill>
                <a:cs typeface="Poppins" pitchFamily="2" charset="77"/>
              </a:rPr>
              <a:t>23ME1103</a:t>
            </a:r>
            <a:endParaRPr lang="en-US" sz="3200" dirty="0" smtClean="0">
              <a:solidFill>
                <a:srgbClr val="C00000"/>
              </a:solidFill>
              <a:cs typeface="Poppins" pitchFamily="2" charset="77"/>
            </a:endParaRPr>
          </a:p>
          <a:p>
            <a:pPr algn="ctr"/>
            <a:r>
              <a:rPr lang="en-US" sz="3200" dirty="0">
                <a:solidFill>
                  <a:srgbClr val="C00000"/>
                </a:solidFill>
                <a:cs typeface="Poppins" pitchFamily="2" charset="77"/>
              </a:rPr>
              <a:t>Creating list and Table in </a:t>
            </a:r>
            <a:r>
              <a:rPr lang="en-US" sz="3200" dirty="0" smtClean="0">
                <a:solidFill>
                  <a:srgbClr val="C00000"/>
                </a:solidFill>
                <a:cs typeface="Poppins" pitchFamily="2" charset="77"/>
              </a:rPr>
              <a:t>HTML</a:t>
            </a:r>
            <a:endParaRPr lang="en-US" sz="3200" dirty="0" smtClean="0">
              <a:solidFill>
                <a:srgbClr val="C00000"/>
              </a:solidFill>
              <a:cs typeface="Poppins" pitchFamily="2" charset="77"/>
            </a:endParaRPr>
          </a:p>
          <a:p>
            <a:pPr algn="ctr"/>
            <a:r>
              <a:rPr lang="en-US" sz="3200" dirty="0" smtClean="0">
                <a:cs typeface="Poppins" pitchFamily="2" charset="77"/>
              </a:rPr>
              <a:t>Session-3</a:t>
            </a:r>
            <a:endParaRPr lang="en-US" sz="3200" dirty="0" smtClean="0"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2045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3352800" y="698919"/>
            <a:ext cx="2286000" cy="49104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762000" y="1370602"/>
            <a:ext cx="8048465" cy="62324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dirty="0">
                <a:latin typeface="Poppins"/>
                <a:cs typeface="Poppins"/>
              </a:rPr>
              <a:t>To familiarize students with the </a:t>
            </a:r>
            <a:r>
              <a:rPr lang="en-US" sz="1200" dirty="0">
                <a:latin typeface="Poppins"/>
                <a:cs typeface="Poppins"/>
              </a:rPr>
              <a:t>list and Table in HTML</a:t>
            </a:r>
            <a:endParaRPr lang="en-US" sz="1200" b="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200" b="0" dirty="0"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3120437" y="1993850"/>
            <a:ext cx="2942415" cy="51172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314451" y="2686204"/>
            <a:ext cx="7677149" cy="71558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Poppins"/>
                <a:cs typeface="Poppins"/>
              </a:rPr>
              <a:t>This</a:t>
            </a:r>
            <a:r>
              <a:rPr lang="en-US" sz="1200" b="0" dirty="0">
                <a:latin typeface="Poppins"/>
                <a:cs typeface="Poppins"/>
              </a:rPr>
              <a:t> </a:t>
            </a:r>
            <a:r>
              <a:rPr lang="en-US" sz="1200" dirty="0">
                <a:latin typeface="Poppins"/>
                <a:cs typeface="Poppins"/>
              </a:rPr>
              <a:t>Session</a:t>
            </a:r>
            <a:r>
              <a:rPr lang="en-US" sz="1200" b="0" dirty="0">
                <a:latin typeface="Poppins"/>
                <a:cs typeface="Poppins"/>
              </a:rPr>
              <a:t> is designed to:  </a:t>
            </a:r>
            <a:r>
              <a:rPr lang="en-US" sz="1200" dirty="0" smtClean="0">
                <a:latin typeface="Arial" panose="020B0604020202020204" pitchFamily="34" charset="0"/>
              </a:rPr>
              <a:t>Obtain knowledge of </a:t>
            </a:r>
            <a:r>
              <a:rPr lang="en-US" sz="1200" dirty="0">
                <a:latin typeface="Poppins"/>
                <a:cs typeface="Poppins"/>
              </a:rPr>
              <a:t>list and Table in HTML</a:t>
            </a:r>
          </a:p>
          <a:p>
            <a:pPr>
              <a:lnSpc>
                <a:spcPct val="200000"/>
              </a:lnSpc>
            </a:pPr>
            <a:endParaRPr lang="en-US" sz="1200" b="0" dirty="0">
              <a:latin typeface="Arial" panose="020B0604020202020204" pitchFamily="34" charset="0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1326245"/>
            <a:ext cx="685800" cy="6858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28650" y="2686204"/>
            <a:ext cx="685800" cy="6858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3159729" y="4044082"/>
            <a:ext cx="2903123" cy="293024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85800" y="4431578"/>
            <a:ext cx="685800" cy="6858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314451" y="4436423"/>
            <a:ext cx="7829549" cy="32252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dirty="0">
                <a:latin typeface="Arial"/>
                <a:cs typeface="Arial"/>
              </a:rPr>
              <a:t>At the end of this </a:t>
            </a:r>
            <a:r>
              <a:rPr lang="en-US" sz="1200" dirty="0">
                <a:latin typeface="Arial"/>
                <a:cs typeface="Arial"/>
              </a:rPr>
              <a:t>session</a:t>
            </a:r>
            <a:r>
              <a:rPr lang="en-US" sz="1200" b="0" dirty="0">
                <a:latin typeface="Arial"/>
                <a:cs typeface="Arial"/>
              </a:rPr>
              <a:t>, you should be able to: </a:t>
            </a:r>
            <a:r>
              <a:rPr lang="en-US" sz="1200" b="0" dirty="0" smtClean="0">
                <a:latin typeface="Arial" panose="020B0604020202020204" pitchFamily="34" charset="0"/>
              </a:rPr>
              <a:t>Understand the </a:t>
            </a:r>
            <a:r>
              <a:rPr lang="en-US" sz="1200" dirty="0">
                <a:latin typeface="Poppins"/>
                <a:cs typeface="Poppins"/>
              </a:rPr>
              <a:t>HTML </a:t>
            </a:r>
            <a:r>
              <a:rPr lang="en-US" sz="1200" dirty="0" smtClean="0">
                <a:latin typeface="Poppins"/>
                <a:cs typeface="Poppins"/>
              </a:rPr>
              <a:t>list </a:t>
            </a:r>
            <a:r>
              <a:rPr lang="en-US" sz="1200" dirty="0">
                <a:latin typeface="Poppins"/>
                <a:cs typeface="Poppins"/>
              </a:rPr>
              <a:t>and </a:t>
            </a:r>
            <a:r>
              <a:rPr lang="en-US" sz="1200" dirty="0" smtClean="0">
                <a:latin typeface="Poppins"/>
                <a:cs typeface="Poppins"/>
              </a:rPr>
              <a:t>table</a:t>
            </a:r>
            <a:endParaRPr lang="en-US" sz="1200" b="0" dirty="0">
              <a:latin typeface="Arial" panose="020B0604020202020204" pitchFamily="34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-1" y="311028"/>
            <a:ext cx="3305111" cy="9962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68346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447779" y="920755"/>
            <a:ext cx="4979963" cy="358526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6" y="152400"/>
            <a:ext cx="2548983" cy="768355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812409" y="1796269"/>
            <a:ext cx="7564902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r>
              <a:rPr lang="en-US" sz="2700" dirty="0"/>
              <a:t>Programmable logic falls into two different types</a:t>
            </a:r>
            <a:r>
              <a:rPr lang="en-US" sz="2700" dirty="0" smtClean="0"/>
              <a:t>:</a:t>
            </a:r>
          </a:p>
          <a:p>
            <a:endParaRPr lang="en-US" sz="2700" dirty="0"/>
          </a:p>
          <a:p>
            <a:r>
              <a:rPr lang="en-US" sz="2700" dirty="0" smtClean="0"/>
              <a:t>1</a:t>
            </a:r>
            <a:r>
              <a:rPr lang="en-US" sz="2700" dirty="0"/>
              <a:t>. </a:t>
            </a:r>
            <a:r>
              <a:rPr lang="en-US" sz="2700" dirty="0" smtClean="0"/>
              <a:t>Understanding of </a:t>
            </a:r>
            <a:r>
              <a:rPr lang="en-US" sz="2800" dirty="0" smtClean="0">
                <a:latin typeface="Poppins"/>
                <a:cs typeface="Poppins"/>
              </a:rPr>
              <a:t>HTML list</a:t>
            </a:r>
            <a:endParaRPr lang="en-US" sz="2700" dirty="0" smtClean="0"/>
          </a:p>
          <a:p>
            <a:endParaRPr lang="en-US" sz="2700" dirty="0"/>
          </a:p>
          <a:p>
            <a:endParaRPr lang="en-US" sz="2700" dirty="0"/>
          </a:p>
          <a:p>
            <a:r>
              <a:rPr lang="en-US" sz="2700" dirty="0" smtClean="0"/>
              <a:t>2</a:t>
            </a:r>
            <a:r>
              <a:rPr lang="en-US" sz="2700" dirty="0"/>
              <a:t>. </a:t>
            </a:r>
            <a:r>
              <a:rPr lang="en-US" sz="2700" dirty="0" smtClean="0"/>
              <a:t>Understanding of </a:t>
            </a:r>
            <a:r>
              <a:rPr lang="en-US" dirty="0" smtClean="0">
                <a:latin typeface="Poppins"/>
              </a:rPr>
              <a:t>HTML table</a:t>
            </a:r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72362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944562"/>
          </a:xfrm>
        </p:spPr>
        <p:txBody>
          <a:bodyPr/>
          <a:lstStyle/>
          <a:p>
            <a:pPr algn="l"/>
            <a:r>
              <a:rPr lang="en-US" sz="2500" dirty="0" smtClean="0"/>
              <a:t>Session </a:t>
            </a:r>
            <a:r>
              <a:rPr lang="en-US" sz="2500" dirty="0" smtClean="0"/>
              <a:t>Plan: 3</a:t>
            </a:r>
            <a:endParaRPr lang="en-IN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500" b="1" dirty="0" smtClean="0">
                <a:solidFill>
                  <a:srgbClr val="002060"/>
                </a:solidFill>
              </a:rPr>
              <a:t>Summary of Last Session- 5 min</a:t>
            </a:r>
          </a:p>
          <a:p>
            <a:pPr>
              <a:buFont typeface="Wingdings" pitchFamily="2" charset="2"/>
              <a:buChar char="Ø"/>
            </a:pPr>
            <a:r>
              <a:rPr lang="en-US" sz="2500" b="1" dirty="0" smtClean="0">
                <a:solidFill>
                  <a:srgbClr val="002060"/>
                </a:solidFill>
              </a:rPr>
              <a:t>Topic – Creating list and Table by HTML-20 min </a:t>
            </a:r>
          </a:p>
          <a:p>
            <a:pPr>
              <a:buFont typeface="Wingdings" pitchFamily="2" charset="2"/>
              <a:buChar char="Ø"/>
            </a:pPr>
            <a:r>
              <a:rPr lang="en-IN" sz="2800" b="1" dirty="0" smtClean="0">
                <a:solidFill>
                  <a:srgbClr val="002060"/>
                </a:solidFill>
              </a:rPr>
              <a:t>Split to sections- 5min</a:t>
            </a:r>
            <a:endParaRPr lang="en-US" sz="25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2800" b="1" dirty="0" smtClean="0">
                <a:solidFill>
                  <a:srgbClr val="002060"/>
                </a:solidFill>
              </a:rPr>
              <a:t>Experimentation using tool -40 min</a:t>
            </a:r>
          </a:p>
          <a:p>
            <a:pPr>
              <a:buFont typeface="Wingdings" pitchFamily="2" charset="2"/>
              <a:buChar char="Ø"/>
            </a:pPr>
            <a:r>
              <a:rPr lang="en-IN" sz="2800" b="1" dirty="0" smtClean="0">
                <a:solidFill>
                  <a:srgbClr val="002060"/>
                </a:solidFill>
              </a:rPr>
              <a:t>Assessment and Interaction (Active Learning Method) – 10 min</a:t>
            </a:r>
          </a:p>
          <a:p>
            <a:pPr>
              <a:buFont typeface="Wingdings" pitchFamily="2" charset="2"/>
              <a:buChar char="Ø"/>
            </a:pPr>
            <a:r>
              <a:rPr lang="en-IN" sz="2800" b="1" dirty="0" smtClean="0">
                <a:solidFill>
                  <a:srgbClr val="002060"/>
                </a:solidFill>
              </a:rPr>
              <a:t>Documenting Results Summary and result Explanation- 20 min</a:t>
            </a:r>
          </a:p>
          <a:p>
            <a:pPr>
              <a:buFont typeface="Wingdings" pitchFamily="2" charset="2"/>
              <a:buChar char="v"/>
            </a:pPr>
            <a:r>
              <a:rPr lang="en-IN" sz="2800" b="1" dirty="0" smtClean="0">
                <a:solidFill>
                  <a:srgbClr val="002060"/>
                </a:solidFill>
              </a:rPr>
              <a:t>Submitting as Assignment in LMS</a:t>
            </a:r>
          </a:p>
          <a:p>
            <a:endParaRPr lang="en-US" sz="2500" dirty="0" smtClean="0"/>
          </a:p>
          <a:p>
            <a:pPr>
              <a:buFont typeface="Wingdings" pitchFamily="2" charset="2"/>
              <a:buChar char="Ø"/>
            </a:pPr>
            <a:endParaRPr lang="en-IN" sz="25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1524377" y="555874"/>
            <a:ext cx="4979963" cy="358526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SESSION </a:t>
            </a:r>
            <a:r>
              <a:rPr lang="en-US" dirty="0" smtClean="0"/>
              <a:t>DESCRIP</a:t>
            </a:r>
            <a:r>
              <a:rPr lang="en-US" sz="1800" dirty="0" smtClean="0"/>
              <a:t>TION 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Creating List in HTML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HTML Lists:</a:t>
            </a:r>
            <a:endParaRPr lang="en-IN" b="1" dirty="0" smtClean="0"/>
          </a:p>
          <a:p>
            <a:r>
              <a:rPr lang="en-IN" dirty="0" smtClean="0"/>
              <a:t>HTML lists allow web developers to group a set of related items in lists.</a:t>
            </a:r>
          </a:p>
          <a:p>
            <a:r>
              <a:rPr lang="en-IN" dirty="0" smtClean="0"/>
              <a:t>An unordered HTML list:</a:t>
            </a:r>
          </a:p>
          <a:p>
            <a:pPr lvl="0"/>
            <a:r>
              <a:rPr lang="en-IN" dirty="0" smtClean="0"/>
              <a:t>Item</a:t>
            </a:r>
          </a:p>
          <a:p>
            <a:pPr lvl="0"/>
            <a:r>
              <a:rPr lang="en-IN" dirty="0" smtClean="0"/>
              <a:t>Item</a:t>
            </a:r>
          </a:p>
          <a:p>
            <a:pPr lvl="0"/>
            <a:r>
              <a:rPr lang="en-IN" dirty="0" smtClean="0"/>
              <a:t>Item</a:t>
            </a:r>
          </a:p>
          <a:p>
            <a:pPr lvl="0"/>
            <a:r>
              <a:rPr lang="en-IN" dirty="0" smtClean="0"/>
              <a:t>Item</a:t>
            </a:r>
          </a:p>
          <a:p>
            <a:r>
              <a:rPr lang="en-IN" dirty="0" smtClean="0"/>
              <a:t>An ordered HTML list:</a:t>
            </a:r>
          </a:p>
          <a:p>
            <a:pPr lvl="0"/>
            <a:r>
              <a:rPr lang="en-IN" dirty="0" smtClean="0"/>
              <a:t>First item</a:t>
            </a:r>
          </a:p>
          <a:p>
            <a:pPr lvl="0"/>
            <a:r>
              <a:rPr lang="en-IN" dirty="0" smtClean="0"/>
              <a:t>Second item</a:t>
            </a:r>
          </a:p>
          <a:p>
            <a:pPr lvl="0"/>
            <a:r>
              <a:rPr lang="en-IN" dirty="0" smtClean="0"/>
              <a:t>Third item</a:t>
            </a:r>
          </a:p>
          <a:p>
            <a:pPr lvl="0"/>
            <a:r>
              <a:rPr lang="en-IN" dirty="0" smtClean="0"/>
              <a:t>Fourth </a:t>
            </a:r>
            <a:r>
              <a:rPr lang="en-IN" dirty="0" err="1" smtClean="0"/>
              <a:t>ite</a:t>
            </a:r>
            <a:endParaRPr lang="en-IN" dirty="0" smtClean="0"/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7620000" cy="6324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 smtClean="0">
                <a:solidFill>
                  <a:srgbClr val="0070C0"/>
                </a:solidFill>
              </a:rPr>
              <a:t>HTML List Tags: 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914403"/>
          <a:ext cx="8001000" cy="556259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46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2000" b="1" dirty="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Tag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2000" b="1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Description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46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2000" u="sng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3"/>
                        </a:rPr>
                        <a:t>&lt;ul&gt;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Defines an unordered list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6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2000" u="sng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4"/>
                        </a:rPr>
                        <a:t>&lt;ol&gt;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Defines an ordered list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46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2000" u="sng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5"/>
                        </a:rPr>
                        <a:t>&lt;li&gt;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Defines a list item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46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2000" u="sng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6"/>
                        </a:rPr>
                        <a:t>&lt;dl&gt;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Defines a description list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46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2000" u="sng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7"/>
                        </a:rPr>
                        <a:t>&lt;dt&gt;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200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Defines a term in a description list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46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2000" u="sng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8"/>
                        </a:rPr>
                        <a:t>&lt;dd&gt;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Describes the term in a description list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pPr>
              <a:buNone/>
            </a:pPr>
            <a:r>
              <a:rPr lang="en-IN" b="1" dirty="0" smtClean="0">
                <a:solidFill>
                  <a:srgbClr val="0070C0"/>
                </a:solidFill>
              </a:rPr>
              <a:t>HTML Table:</a:t>
            </a:r>
          </a:p>
          <a:p>
            <a:r>
              <a:rPr lang="en-IN" dirty="0" smtClean="0"/>
              <a:t>The &lt;table&gt; tag defines an HTML table.</a:t>
            </a:r>
          </a:p>
          <a:p>
            <a:r>
              <a:rPr lang="en-IN" dirty="0" smtClean="0"/>
              <a:t>Each table row is defined with a &lt;</a:t>
            </a:r>
            <a:r>
              <a:rPr lang="en-IN" dirty="0" err="1" smtClean="0"/>
              <a:t>tr</a:t>
            </a:r>
            <a:r>
              <a:rPr lang="en-IN" dirty="0" smtClean="0"/>
              <a:t>&gt; tag. Each table header is defined with a &lt;</a:t>
            </a:r>
            <a:r>
              <a:rPr lang="en-IN" dirty="0" err="1" smtClean="0"/>
              <a:t>th</a:t>
            </a:r>
            <a:r>
              <a:rPr lang="en-IN" dirty="0" smtClean="0"/>
              <a:t>&gt; tag. Each table data/cell is defined with a &lt;td&gt; tag.</a:t>
            </a:r>
          </a:p>
          <a:p>
            <a:r>
              <a:rPr lang="en-IN" dirty="0" smtClean="0"/>
              <a:t>By default, the text in &lt;</a:t>
            </a:r>
            <a:r>
              <a:rPr lang="en-IN" dirty="0" err="1" smtClean="0"/>
              <a:t>th</a:t>
            </a:r>
            <a:r>
              <a:rPr lang="en-IN" dirty="0" smtClean="0"/>
              <a:t>&gt; elements are bold and centred. </a:t>
            </a:r>
          </a:p>
          <a:p>
            <a:r>
              <a:rPr lang="en-IN" dirty="0" smtClean="0"/>
              <a:t>By default, the text in &lt;td&gt; elements is regular and left-aligned.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en-IN" b="1" dirty="0" smtClean="0">
                <a:solidFill>
                  <a:srgbClr val="0070C0"/>
                </a:solidFill>
              </a:rPr>
              <a:t>HTML Table Tags:</a:t>
            </a:r>
          </a:p>
          <a:p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0"/>
            <a:ext cx="1219199" cy="74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1000" y="833487"/>
          <a:ext cx="8458200" cy="577748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93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49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b="1" dirty="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Tag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b="1" dirty="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Description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49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u="sng" dirty="0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3"/>
                        </a:rPr>
                        <a:t>&lt;table&gt;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Defines a table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49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u="sng" dirty="0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4"/>
                        </a:rPr>
                        <a:t>&lt;</a:t>
                      </a:r>
                      <a:r>
                        <a:rPr lang="en-IN" sz="1800" u="sng" dirty="0" err="1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4"/>
                        </a:rPr>
                        <a:t>th</a:t>
                      </a:r>
                      <a:r>
                        <a:rPr lang="en-IN" sz="1800" u="sng" dirty="0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4"/>
                        </a:rPr>
                        <a:t>&gt;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Defines a header cell in a table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49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u="sng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5"/>
                        </a:rPr>
                        <a:t>&lt;tr&gt;</a:t>
                      </a:r>
                      <a:endParaRPr lang="en-IN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Defines a row in a table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49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u="sng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6"/>
                        </a:rPr>
                        <a:t>&lt;td&gt;</a:t>
                      </a:r>
                      <a:endParaRPr lang="en-IN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Defines a cell in a table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49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u="sng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7"/>
                        </a:rPr>
                        <a:t>&lt;caption&gt;</a:t>
                      </a:r>
                      <a:endParaRPr lang="en-IN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Defines a table caption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313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u="sng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8"/>
                        </a:rPr>
                        <a:t>&lt;colgroup&gt;</a:t>
                      </a:r>
                      <a:endParaRPr lang="en-IN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Specifies a group of one or more columns in a table for formatting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313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u="sng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9"/>
                        </a:rPr>
                        <a:t>&lt;col&gt;</a:t>
                      </a:r>
                      <a:endParaRPr lang="en-IN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Specifies column properties for each column within a &lt;</a:t>
                      </a:r>
                      <a:r>
                        <a:rPr lang="en-IN" sz="1800" dirty="0" err="1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colgroup</a:t>
                      </a:r>
                      <a:r>
                        <a:rPr lang="en-IN" sz="1800" dirty="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&gt; element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49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u="sng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10"/>
                        </a:rPr>
                        <a:t>&lt;thead&gt;</a:t>
                      </a:r>
                      <a:endParaRPr lang="en-IN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Groups the header content in a table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149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u="sng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11"/>
                        </a:rPr>
                        <a:t>&lt;tbody&gt;</a:t>
                      </a:r>
                      <a:endParaRPr lang="en-IN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Groups the body content in a table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149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u="sng">
                          <a:solidFill>
                            <a:srgbClr val="0000FF"/>
                          </a:solidFill>
                          <a:latin typeface="Verdana"/>
                          <a:ea typeface="Calibri"/>
                          <a:cs typeface="Times New Roman"/>
                          <a:hlinkClick r:id="rId12"/>
                        </a:rPr>
                        <a:t>&lt;tfoot&gt;</a:t>
                      </a:r>
                      <a:endParaRPr lang="en-IN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latin typeface="Verdana"/>
                          <a:ea typeface="Calibri"/>
                          <a:cs typeface="Times New Roman"/>
                        </a:rPr>
                        <a:t>Groups the footer content in a table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en-IN" b="1" dirty="0" err="1" smtClean="0"/>
              <a:t>i</a:t>
            </a:r>
            <a:r>
              <a:rPr lang="en-IN" b="1" dirty="0" smtClean="0"/>
              <a:t>) Unordered HTML List</a:t>
            </a:r>
          </a:p>
          <a:p>
            <a:r>
              <a:rPr lang="en-IN" dirty="0" smtClean="0"/>
              <a:t>An unordered list starts with the &lt;</a:t>
            </a:r>
            <a:r>
              <a:rPr lang="en-IN" dirty="0" err="1" smtClean="0"/>
              <a:t>ul</a:t>
            </a:r>
            <a:r>
              <a:rPr lang="en-IN" dirty="0" smtClean="0"/>
              <a:t>&gt; tag. Each list item starts with the &lt;</a:t>
            </a:r>
            <a:r>
              <a:rPr lang="en-IN" dirty="0" err="1" smtClean="0"/>
              <a:t>li</a:t>
            </a:r>
            <a:r>
              <a:rPr lang="en-IN" dirty="0" smtClean="0"/>
              <a:t>&gt; tag.</a:t>
            </a:r>
          </a:p>
          <a:p>
            <a:r>
              <a:rPr lang="en-IN" dirty="0" smtClean="0"/>
              <a:t>The list items will be marked with bullets (small black circles) by default:</a:t>
            </a:r>
          </a:p>
          <a:p>
            <a:r>
              <a:rPr lang="en-IN" dirty="0" smtClean="0"/>
              <a:t>Example</a:t>
            </a:r>
            <a:endParaRPr lang="en-IN" b="1" dirty="0" smtClean="0"/>
          </a:p>
          <a:p>
            <a:pPr>
              <a:buNone/>
            </a:pPr>
            <a:r>
              <a:rPr lang="en-IN" dirty="0" smtClean="0"/>
              <a:t>	&lt;</a:t>
            </a:r>
            <a:r>
              <a:rPr lang="en-IN" dirty="0" err="1" smtClean="0"/>
              <a:t>ul</a:t>
            </a:r>
            <a:r>
              <a:rPr lang="en-IN" dirty="0" smtClean="0"/>
              <a:t>&gt;</a:t>
            </a:r>
            <a:br>
              <a:rPr lang="en-IN" dirty="0" smtClean="0"/>
            </a:br>
            <a:r>
              <a:rPr lang="en-IN" dirty="0" smtClean="0"/>
              <a:t>  &lt;</a:t>
            </a:r>
            <a:r>
              <a:rPr lang="en-IN" dirty="0" err="1" smtClean="0"/>
              <a:t>li</a:t>
            </a:r>
            <a:r>
              <a:rPr lang="en-IN" dirty="0" smtClean="0"/>
              <a:t>&gt;Coffee&lt;/</a:t>
            </a:r>
            <a:r>
              <a:rPr lang="en-IN" dirty="0" err="1" smtClean="0"/>
              <a:t>li</a:t>
            </a:r>
            <a:r>
              <a:rPr lang="en-IN" dirty="0" smtClean="0"/>
              <a:t>&gt;</a:t>
            </a:r>
            <a:br>
              <a:rPr lang="en-IN" dirty="0" smtClean="0"/>
            </a:br>
            <a:r>
              <a:rPr lang="en-IN" dirty="0" smtClean="0"/>
              <a:t>  &lt;</a:t>
            </a:r>
            <a:r>
              <a:rPr lang="en-IN" dirty="0" err="1" smtClean="0"/>
              <a:t>li</a:t>
            </a:r>
            <a:r>
              <a:rPr lang="en-IN" dirty="0" smtClean="0"/>
              <a:t>&gt;Tea&lt;/</a:t>
            </a:r>
            <a:r>
              <a:rPr lang="en-IN" dirty="0" err="1" smtClean="0"/>
              <a:t>li</a:t>
            </a:r>
            <a:r>
              <a:rPr lang="en-IN" dirty="0" smtClean="0"/>
              <a:t>&gt;</a:t>
            </a:r>
            <a:br>
              <a:rPr lang="en-IN" dirty="0" smtClean="0"/>
            </a:br>
            <a:r>
              <a:rPr lang="en-IN" dirty="0" smtClean="0"/>
              <a:t>  &lt;</a:t>
            </a:r>
            <a:r>
              <a:rPr lang="en-IN" dirty="0" err="1" smtClean="0"/>
              <a:t>li</a:t>
            </a:r>
            <a:r>
              <a:rPr lang="en-IN" dirty="0" smtClean="0"/>
              <a:t>&gt;Milk&lt;/</a:t>
            </a:r>
            <a:r>
              <a:rPr lang="en-IN" dirty="0" err="1" smtClean="0"/>
              <a:t>li</a:t>
            </a:r>
            <a:r>
              <a:rPr lang="en-IN" dirty="0" smtClean="0"/>
              <a:t>&gt;</a:t>
            </a:r>
            <a:br>
              <a:rPr lang="en-IN" dirty="0" smtClean="0"/>
            </a:br>
            <a:r>
              <a:rPr lang="en-IN" dirty="0" smtClean="0"/>
              <a:t>&lt;/</a:t>
            </a:r>
            <a:r>
              <a:rPr lang="en-IN" dirty="0" err="1" smtClean="0"/>
              <a:t>ul</a:t>
            </a:r>
            <a:r>
              <a:rPr lang="en-IN" dirty="0" smtClean="0"/>
              <a:t>&gt;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0"/>
            <a:ext cx="1219199" cy="74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IN" b="1" dirty="0" smtClean="0"/>
              <a:t>ii) Ordered HTML List</a:t>
            </a:r>
          </a:p>
          <a:p>
            <a:r>
              <a:rPr lang="en-IN" dirty="0" smtClean="0"/>
              <a:t>An ordered list starts with the &lt;</a:t>
            </a:r>
            <a:r>
              <a:rPr lang="en-IN" dirty="0" err="1" smtClean="0"/>
              <a:t>ol</a:t>
            </a:r>
            <a:r>
              <a:rPr lang="en-IN" dirty="0" smtClean="0"/>
              <a:t>&gt; tag. Each list item starts with the &lt;</a:t>
            </a:r>
            <a:r>
              <a:rPr lang="en-IN" dirty="0" err="1" smtClean="0"/>
              <a:t>li</a:t>
            </a:r>
            <a:r>
              <a:rPr lang="en-IN" dirty="0" smtClean="0"/>
              <a:t>&gt; tag.</a:t>
            </a:r>
          </a:p>
          <a:p>
            <a:r>
              <a:rPr lang="en-IN" dirty="0" smtClean="0"/>
              <a:t>The list items will be marked with numbers by default:</a:t>
            </a:r>
          </a:p>
          <a:p>
            <a:r>
              <a:rPr lang="en-IN" dirty="0" smtClean="0"/>
              <a:t>Example</a:t>
            </a:r>
            <a:endParaRPr lang="en-IN" b="1" dirty="0" smtClean="0"/>
          </a:p>
          <a:p>
            <a:r>
              <a:rPr lang="en-IN" dirty="0" smtClean="0"/>
              <a:t>&lt;</a:t>
            </a:r>
            <a:r>
              <a:rPr lang="en-IN" dirty="0" err="1" smtClean="0"/>
              <a:t>ol</a:t>
            </a:r>
            <a:r>
              <a:rPr lang="en-IN" dirty="0" smtClean="0"/>
              <a:t>&gt;</a:t>
            </a:r>
            <a:br>
              <a:rPr lang="en-IN" dirty="0" smtClean="0"/>
            </a:br>
            <a:r>
              <a:rPr lang="en-IN" dirty="0" smtClean="0"/>
              <a:t>  &lt;</a:t>
            </a:r>
            <a:r>
              <a:rPr lang="en-IN" dirty="0" err="1" smtClean="0"/>
              <a:t>li</a:t>
            </a:r>
            <a:r>
              <a:rPr lang="en-IN" dirty="0" smtClean="0"/>
              <a:t>&gt;Coffee&lt;/</a:t>
            </a:r>
            <a:r>
              <a:rPr lang="en-IN" dirty="0" err="1" smtClean="0"/>
              <a:t>li</a:t>
            </a:r>
            <a:r>
              <a:rPr lang="en-IN" dirty="0" smtClean="0"/>
              <a:t>&gt;</a:t>
            </a:r>
            <a:br>
              <a:rPr lang="en-IN" dirty="0" smtClean="0"/>
            </a:br>
            <a:r>
              <a:rPr lang="en-IN" dirty="0" smtClean="0"/>
              <a:t>  &lt;</a:t>
            </a:r>
            <a:r>
              <a:rPr lang="en-IN" dirty="0" err="1" smtClean="0"/>
              <a:t>li</a:t>
            </a:r>
            <a:r>
              <a:rPr lang="en-IN" dirty="0" smtClean="0"/>
              <a:t>&gt;Tea&lt;/</a:t>
            </a:r>
            <a:r>
              <a:rPr lang="en-IN" dirty="0" err="1" smtClean="0"/>
              <a:t>li</a:t>
            </a:r>
            <a:r>
              <a:rPr lang="en-IN" dirty="0" smtClean="0"/>
              <a:t>&gt;</a:t>
            </a:r>
            <a:br>
              <a:rPr lang="en-IN" dirty="0" smtClean="0"/>
            </a:br>
            <a:r>
              <a:rPr lang="en-IN" dirty="0" smtClean="0"/>
              <a:t>  &lt;</a:t>
            </a:r>
            <a:r>
              <a:rPr lang="en-IN" dirty="0" err="1" smtClean="0"/>
              <a:t>li</a:t>
            </a:r>
            <a:r>
              <a:rPr lang="en-IN" dirty="0" smtClean="0"/>
              <a:t>&gt;Milk&lt;/</a:t>
            </a:r>
            <a:r>
              <a:rPr lang="en-IN" dirty="0" err="1" smtClean="0"/>
              <a:t>li</a:t>
            </a:r>
            <a:r>
              <a:rPr lang="en-IN" dirty="0" smtClean="0"/>
              <a:t>&gt;</a:t>
            </a:r>
            <a:br>
              <a:rPr lang="en-IN" dirty="0" smtClean="0"/>
            </a:br>
            <a:r>
              <a:rPr lang="en-IN" dirty="0" smtClean="0"/>
              <a:t>&lt;/</a:t>
            </a:r>
            <a:r>
              <a:rPr lang="en-IN" dirty="0" err="1" smtClean="0"/>
              <a:t>ol</a:t>
            </a:r>
            <a:r>
              <a:rPr lang="en-IN" dirty="0" smtClean="0"/>
              <a:t>&gt;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0"/>
            <a:ext cx="1219199" cy="74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0"/>
            <a:ext cx="1219199" cy="74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533400"/>
            <a:ext cx="73914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b="1" dirty="0" smtClean="0"/>
              <a:t>iii) HTML Description Lists</a:t>
            </a:r>
          </a:p>
          <a:p>
            <a:r>
              <a:rPr lang="en-IN" dirty="0" smtClean="0"/>
              <a:t>HTML also supports description lists.</a:t>
            </a:r>
          </a:p>
          <a:p>
            <a:r>
              <a:rPr lang="en-IN" dirty="0" smtClean="0"/>
              <a:t>A description list is a list of terms, with a description of each term.</a:t>
            </a:r>
          </a:p>
          <a:p>
            <a:r>
              <a:rPr lang="en-IN" dirty="0" smtClean="0"/>
              <a:t>The &lt;dl&gt; tag defines the description list, the &lt;</a:t>
            </a:r>
            <a:r>
              <a:rPr lang="en-IN" dirty="0" err="1" smtClean="0"/>
              <a:t>dt</a:t>
            </a:r>
            <a:r>
              <a:rPr lang="en-IN" dirty="0" smtClean="0"/>
              <a:t>&gt; tag defines the term (name), and the &lt;</a:t>
            </a:r>
            <a:r>
              <a:rPr lang="en-IN" dirty="0" err="1" smtClean="0"/>
              <a:t>dd</a:t>
            </a:r>
            <a:r>
              <a:rPr lang="en-IN" dirty="0" smtClean="0"/>
              <a:t>&gt; tag describes each term:</a:t>
            </a:r>
          </a:p>
          <a:p>
            <a:pPr>
              <a:buNone/>
            </a:pPr>
            <a:r>
              <a:rPr lang="en-IN" dirty="0" smtClean="0"/>
              <a:t>Example</a:t>
            </a:r>
            <a:endParaRPr lang="en-IN" b="1" dirty="0" smtClean="0"/>
          </a:p>
          <a:p>
            <a:pPr>
              <a:buNone/>
            </a:pPr>
            <a:r>
              <a:rPr lang="en-IN" dirty="0" smtClean="0"/>
              <a:t>	&lt;dl&gt;</a:t>
            </a:r>
            <a:br>
              <a:rPr lang="en-IN" dirty="0" smtClean="0"/>
            </a:br>
            <a:r>
              <a:rPr lang="en-IN" dirty="0" smtClean="0"/>
              <a:t>  &lt;</a:t>
            </a:r>
            <a:r>
              <a:rPr lang="en-IN" dirty="0" err="1" smtClean="0"/>
              <a:t>dt</a:t>
            </a:r>
            <a:r>
              <a:rPr lang="en-IN" dirty="0" smtClean="0"/>
              <a:t>&gt;Coffee&lt;/</a:t>
            </a:r>
            <a:r>
              <a:rPr lang="en-IN" dirty="0" err="1" smtClean="0"/>
              <a:t>dt</a:t>
            </a:r>
            <a:r>
              <a:rPr lang="en-IN" dirty="0" smtClean="0"/>
              <a:t>&gt;</a:t>
            </a:r>
            <a:br>
              <a:rPr lang="en-IN" dirty="0" smtClean="0"/>
            </a:br>
            <a:r>
              <a:rPr lang="en-IN" dirty="0" smtClean="0"/>
              <a:t>  &lt;</a:t>
            </a:r>
            <a:r>
              <a:rPr lang="en-IN" dirty="0" err="1" smtClean="0"/>
              <a:t>dd</a:t>
            </a:r>
            <a:r>
              <a:rPr lang="en-IN" dirty="0" smtClean="0"/>
              <a:t>&gt;- black hot drink&lt;/</a:t>
            </a:r>
            <a:r>
              <a:rPr lang="en-IN" dirty="0" err="1" smtClean="0"/>
              <a:t>dd</a:t>
            </a:r>
            <a:r>
              <a:rPr lang="en-IN" dirty="0" smtClean="0"/>
              <a:t>&gt;</a:t>
            </a:r>
            <a:br>
              <a:rPr lang="en-IN" dirty="0" smtClean="0"/>
            </a:br>
            <a:r>
              <a:rPr lang="en-IN" dirty="0" smtClean="0"/>
              <a:t>  &lt;</a:t>
            </a:r>
            <a:r>
              <a:rPr lang="en-IN" dirty="0" err="1" smtClean="0"/>
              <a:t>dt</a:t>
            </a:r>
            <a:r>
              <a:rPr lang="en-IN" dirty="0" smtClean="0"/>
              <a:t>&gt;Milk&lt;/</a:t>
            </a:r>
            <a:r>
              <a:rPr lang="en-IN" dirty="0" err="1" smtClean="0"/>
              <a:t>dt</a:t>
            </a:r>
            <a:r>
              <a:rPr lang="en-IN" dirty="0" smtClean="0"/>
              <a:t>&gt;</a:t>
            </a:r>
            <a:br>
              <a:rPr lang="en-IN" dirty="0" smtClean="0"/>
            </a:br>
            <a:r>
              <a:rPr lang="en-IN" dirty="0" smtClean="0"/>
              <a:t>  &lt;</a:t>
            </a:r>
            <a:r>
              <a:rPr lang="en-IN" dirty="0" err="1" smtClean="0"/>
              <a:t>dd</a:t>
            </a:r>
            <a:r>
              <a:rPr lang="en-IN" dirty="0" smtClean="0"/>
              <a:t>&gt;- white cold drink&lt;/</a:t>
            </a:r>
            <a:r>
              <a:rPr lang="en-IN" dirty="0" err="1" smtClean="0"/>
              <a:t>dd</a:t>
            </a:r>
            <a:r>
              <a:rPr lang="en-IN" dirty="0" smtClean="0"/>
              <a:t>&gt;</a:t>
            </a:r>
            <a:br>
              <a:rPr lang="en-IN" dirty="0" smtClean="0"/>
            </a:br>
            <a:r>
              <a:rPr lang="en-IN" dirty="0" smtClean="0"/>
              <a:t>&lt;/dl&gt;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0"/>
            <a:ext cx="1219199" cy="74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0"/>
            <a:ext cx="1219199" cy="74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28600"/>
            <a:ext cx="7148512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en-IN" b="1" dirty="0" smtClean="0"/>
              <a:t>II) HTML Table:</a:t>
            </a:r>
            <a:endParaRPr lang="en-IN" dirty="0" smtClean="0"/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0"/>
            <a:ext cx="1219199" cy="74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066800"/>
            <a:ext cx="7158037" cy="5572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en-IN" b="1" dirty="0" smtClean="0"/>
              <a:t>HTML Table - Add a Border:</a:t>
            </a:r>
          </a:p>
          <a:p>
            <a:r>
              <a:rPr lang="en-IN" sz="2500" dirty="0" smtClean="0"/>
              <a:t>To add a border to a table, use the CSS border property:</a:t>
            </a:r>
          </a:p>
          <a:p>
            <a:pPr>
              <a:buNone/>
            </a:pPr>
            <a:r>
              <a:rPr lang="en-IN" sz="2500" dirty="0" smtClean="0"/>
              <a:t>Example</a:t>
            </a:r>
            <a:endParaRPr lang="en-IN" sz="2500" b="1" dirty="0" smtClean="0"/>
          </a:p>
          <a:p>
            <a:pPr>
              <a:buNone/>
            </a:pPr>
            <a:r>
              <a:rPr lang="en-IN" sz="2500" dirty="0" smtClean="0"/>
              <a:t>table, </a:t>
            </a:r>
            <a:r>
              <a:rPr lang="en-IN" sz="2500" dirty="0" err="1" smtClean="0"/>
              <a:t>th</a:t>
            </a:r>
            <a:r>
              <a:rPr lang="en-IN" sz="2500" dirty="0" smtClean="0"/>
              <a:t>, td {</a:t>
            </a:r>
            <a:br>
              <a:rPr lang="en-IN" sz="2500" dirty="0" smtClean="0"/>
            </a:br>
            <a:r>
              <a:rPr lang="en-IN" sz="2500" dirty="0" smtClean="0"/>
              <a:t>  border: 1px solid black;</a:t>
            </a:r>
            <a:br>
              <a:rPr lang="en-IN" sz="2500" dirty="0" smtClean="0"/>
            </a:br>
            <a:r>
              <a:rPr lang="en-IN" sz="2500" dirty="0" smtClean="0"/>
              <a:t>}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0"/>
            <a:ext cx="1219199" cy="74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667000"/>
            <a:ext cx="7010400" cy="3845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en-IN" b="1" dirty="0" smtClean="0"/>
              <a:t>HTML Table - Collapsed Borders:</a:t>
            </a:r>
          </a:p>
          <a:p>
            <a:r>
              <a:rPr lang="en-IN" sz="2500" dirty="0" smtClean="0"/>
              <a:t>To let the borders collapse into one border, add the CSS border-collapse property:</a:t>
            </a:r>
          </a:p>
          <a:p>
            <a:pPr>
              <a:buNone/>
            </a:pPr>
            <a:r>
              <a:rPr lang="en-IN" sz="2500" dirty="0" smtClean="0"/>
              <a:t>Example</a:t>
            </a:r>
            <a:endParaRPr lang="en-IN" sz="2500" b="1" dirty="0" smtClean="0"/>
          </a:p>
          <a:p>
            <a:pPr>
              <a:buNone/>
            </a:pPr>
            <a:r>
              <a:rPr lang="en-IN" sz="2500" dirty="0" smtClean="0"/>
              <a:t>table, </a:t>
            </a:r>
            <a:r>
              <a:rPr lang="en-IN" sz="2500" dirty="0" err="1" smtClean="0"/>
              <a:t>th</a:t>
            </a:r>
            <a:r>
              <a:rPr lang="en-IN" sz="2500" dirty="0" smtClean="0"/>
              <a:t>, td {</a:t>
            </a:r>
            <a:br>
              <a:rPr lang="en-IN" sz="2500" dirty="0" smtClean="0"/>
            </a:br>
            <a:r>
              <a:rPr lang="en-IN" sz="2500" dirty="0" smtClean="0"/>
              <a:t>  border: 1px solid black;</a:t>
            </a:r>
            <a:br>
              <a:rPr lang="en-IN" sz="2500" dirty="0" smtClean="0"/>
            </a:br>
            <a:r>
              <a:rPr lang="en-IN" sz="2500" dirty="0" smtClean="0"/>
              <a:t>  border-collapse: collapse;</a:t>
            </a:r>
            <a:br>
              <a:rPr lang="en-IN" sz="2500" dirty="0" smtClean="0"/>
            </a:br>
            <a:r>
              <a:rPr lang="en-IN" sz="2500" dirty="0" smtClean="0"/>
              <a:t>}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0"/>
            <a:ext cx="1219199" cy="74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3352800"/>
            <a:ext cx="72390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en-IN" b="1" dirty="0" smtClean="0"/>
              <a:t>HTML Table - Add Cell Padding:</a:t>
            </a:r>
          </a:p>
          <a:p>
            <a:r>
              <a:rPr lang="en-IN" sz="2500" dirty="0" smtClean="0"/>
              <a:t>Cell padding specifies the space between the cell content and its borders.</a:t>
            </a:r>
          </a:p>
          <a:p>
            <a:r>
              <a:rPr lang="en-IN" sz="2500" dirty="0" smtClean="0"/>
              <a:t>If you do not specify a padding, the table cells will be displayed without padding.</a:t>
            </a:r>
          </a:p>
          <a:p>
            <a:r>
              <a:rPr lang="en-IN" sz="2500" dirty="0" smtClean="0"/>
              <a:t>To set the padding, use the CSS padding property: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0"/>
            <a:ext cx="1219199" cy="74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748368"/>
            <a:ext cx="7086600" cy="3804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en-IN" b="1" dirty="0" smtClean="0"/>
              <a:t>HTML Table - Left-align Headings:</a:t>
            </a:r>
          </a:p>
          <a:p>
            <a:r>
              <a:rPr lang="en-IN" sz="2500" dirty="0" smtClean="0"/>
              <a:t>By default, table headings are bold and </a:t>
            </a:r>
            <a:r>
              <a:rPr lang="en-IN" sz="2500" dirty="0" err="1" smtClean="0"/>
              <a:t>centered</a:t>
            </a:r>
            <a:r>
              <a:rPr lang="en-IN" sz="2500" dirty="0" smtClean="0"/>
              <a:t>.</a:t>
            </a:r>
          </a:p>
          <a:p>
            <a:r>
              <a:rPr lang="en-IN" sz="2500" dirty="0" smtClean="0"/>
              <a:t>To left-align the table headings, use the CSS text-align property:</a:t>
            </a:r>
          </a:p>
          <a:p>
            <a:pPr>
              <a:buNone/>
            </a:pPr>
            <a:r>
              <a:rPr lang="en-IN" sz="2500" dirty="0" smtClean="0"/>
              <a:t>Example</a:t>
            </a:r>
            <a:endParaRPr lang="en-IN" sz="2500" b="1" dirty="0" smtClean="0"/>
          </a:p>
          <a:p>
            <a:pPr>
              <a:buNone/>
            </a:pPr>
            <a:r>
              <a:rPr lang="en-IN" sz="2500" dirty="0" err="1" smtClean="0"/>
              <a:t>th</a:t>
            </a:r>
            <a:r>
              <a:rPr lang="en-IN" sz="2500" dirty="0" smtClean="0"/>
              <a:t> {</a:t>
            </a:r>
            <a:br>
              <a:rPr lang="en-IN" sz="2500" dirty="0" smtClean="0"/>
            </a:br>
            <a:r>
              <a:rPr lang="en-IN" sz="2500" dirty="0" smtClean="0"/>
              <a:t>  text-align: left;</a:t>
            </a:r>
            <a:br>
              <a:rPr lang="en-IN" sz="2500" dirty="0" smtClean="0"/>
            </a:br>
            <a:r>
              <a:rPr lang="en-IN" sz="2500" dirty="0" smtClean="0"/>
              <a:t>}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0"/>
            <a:ext cx="1219199" cy="74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3048000"/>
            <a:ext cx="6934200" cy="3516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en-IN" b="1" dirty="0" smtClean="0"/>
              <a:t>HTML Table - Add a Caption:</a:t>
            </a:r>
          </a:p>
          <a:p>
            <a:r>
              <a:rPr lang="en-IN" dirty="0" smtClean="0"/>
              <a:t>To add a caption to a table, use the &lt;caption&gt; tag: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0"/>
            <a:ext cx="1219199" cy="74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600200"/>
            <a:ext cx="7615237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2648244" y="920556"/>
            <a:ext cx="4811150" cy="42008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50"/>
            <a:ext cx="1493044" cy="450057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812409" y="1796269"/>
            <a:ext cx="7778138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 smtClean="0">
                <a:latin typeface="Times New Roman" panose="02020603050405020304" pitchFamily="18" charset="0"/>
              </a:rPr>
              <a:t>Understanding about </a:t>
            </a:r>
            <a:r>
              <a:rPr lang="en-US" sz="2100" dirty="0"/>
              <a:t>the HTML </a:t>
            </a:r>
            <a:r>
              <a:rPr lang="en-US" sz="2100" dirty="0" smtClean="0"/>
              <a:t>list and table</a:t>
            </a:r>
            <a:endParaRPr lang="en-US" sz="2100" dirty="0"/>
          </a:p>
          <a:p>
            <a:pPr algn="just"/>
            <a:endParaRPr lang="en-US" sz="2100" dirty="0" smtClean="0">
              <a:latin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 smtClean="0">
              <a:latin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 smtClean="0">
              <a:latin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47985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2542977" y="928338"/>
            <a:ext cx="4058046" cy="30922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757421" y="1677117"/>
            <a:ext cx="7629158" cy="53268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257175" indent="-257175">
              <a:buFont typeface="+mj-lt"/>
              <a:buAutoNum type="arabicPeriod"/>
            </a:pPr>
            <a:r>
              <a:rPr lang="en-IN" sz="1200" dirty="0" smtClean="0">
                <a:sym typeface="Calibri"/>
              </a:rPr>
              <a:t>Mention different types </a:t>
            </a:r>
            <a:r>
              <a:rPr lang="en-IN" sz="1200" dirty="0" smtClean="0">
                <a:sym typeface="Calibri"/>
              </a:rPr>
              <a:t>of </a:t>
            </a:r>
            <a:r>
              <a:rPr lang="en-US" sz="1200" dirty="0"/>
              <a:t>HTML </a:t>
            </a:r>
            <a:r>
              <a:rPr lang="en-US" sz="1200" dirty="0" smtClean="0"/>
              <a:t>list </a:t>
            </a:r>
            <a:endParaRPr sz="12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757421" y="3722507"/>
            <a:ext cx="7629158" cy="53268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257175" indent="-257175">
              <a:buFont typeface="+mj-lt"/>
              <a:buAutoNum type="arabicPeriod" startAt="2"/>
            </a:pPr>
            <a:r>
              <a:rPr lang="en-IN" sz="1200" dirty="0" smtClean="0"/>
              <a:t>Mention different </a:t>
            </a:r>
            <a:r>
              <a:rPr lang="en-IN" sz="1200" dirty="0" smtClean="0"/>
              <a:t>commands of </a:t>
            </a:r>
            <a:r>
              <a:rPr lang="en-US" sz="1200" dirty="0" smtClean="0"/>
              <a:t>HTML table</a:t>
            </a:r>
            <a:r>
              <a:rPr lang="en-IN" sz="1200" dirty="0" smtClean="0"/>
              <a:t>.</a:t>
            </a:r>
            <a:endParaRPr lang="en-IN" sz="1200" dirty="0"/>
          </a:p>
          <a:p>
            <a:pPr marL="257175" indent="-257175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</a:pPr>
            <a:endParaRPr sz="12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50"/>
            <a:ext cx="1493044" cy="4500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35772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542977" y="928338"/>
            <a:ext cx="4058046" cy="30922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2997" y="2426138"/>
            <a:ext cx="7206176" cy="105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+mj-lt"/>
              <a:buAutoNum type="arabicPeriod"/>
            </a:pPr>
            <a:r>
              <a:rPr lang="en-IN" sz="135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Enlist </a:t>
            </a:r>
            <a:r>
              <a:rPr lang="en-IN" sz="135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 of </a:t>
            </a:r>
            <a:r>
              <a:rPr lang="en-US" sz="1400" dirty="0"/>
              <a:t>HTML </a:t>
            </a:r>
            <a:r>
              <a:rPr lang="en-US" sz="1400" dirty="0" smtClean="0"/>
              <a:t>list </a:t>
            </a:r>
            <a:endParaRPr lang="en-US" sz="1400" dirty="0"/>
          </a:p>
          <a:p>
            <a:pPr marL="257175" indent="-257175">
              <a:buFont typeface="+mj-lt"/>
              <a:buAutoNum type="arabicPeriod"/>
            </a:pPr>
            <a:endParaRPr lang="en-US" sz="14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3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IN" sz="135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   Enlist </a:t>
            </a:r>
            <a:r>
              <a:rPr lang="en-IN" sz="135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</a:t>
            </a:r>
            <a:r>
              <a:rPr lang="en-US" sz="1400" dirty="0" smtClean="0"/>
              <a:t>HTML table</a:t>
            </a:r>
            <a:endParaRPr lang="en-US" sz="1200" dirty="0"/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50"/>
            <a:ext cx="1493044" cy="4500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13690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1951893" y="2249951"/>
            <a:ext cx="5940083" cy="216290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1800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35900" y="2777491"/>
            <a:ext cx="2426678" cy="8124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14978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535</Words>
  <Application>Microsoft Office PowerPoint</Application>
  <PresentationFormat>On-screen Show (4:3)</PresentationFormat>
  <Paragraphs>161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Poppins</vt:lpstr>
      <vt:lpstr>Segoe Script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Session Plan: 3</vt:lpstr>
      <vt:lpstr>Creating List in HTML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Indra reddy A</dc:creator>
  <cp:lastModifiedBy>ATUL BHATTAD</cp:lastModifiedBy>
  <cp:revision>52</cp:revision>
  <dcterms:created xsi:type="dcterms:W3CDTF">2006-08-16T00:00:00Z</dcterms:created>
  <dcterms:modified xsi:type="dcterms:W3CDTF">2023-06-20T06:44:20Z</dcterms:modified>
</cp:coreProperties>
</file>