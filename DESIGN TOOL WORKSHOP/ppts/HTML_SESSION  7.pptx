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310" r:id="rId2"/>
    <p:sldId id="311" r:id="rId3"/>
    <p:sldId id="312" r:id="rId4"/>
    <p:sldId id="276" r:id="rId5"/>
    <p:sldId id="259" r:id="rId6"/>
    <p:sldId id="277" r:id="rId7"/>
    <p:sldId id="278" r:id="rId8"/>
    <p:sldId id="299" r:id="rId9"/>
    <p:sldId id="301" r:id="rId10"/>
    <p:sldId id="300" r:id="rId11"/>
    <p:sldId id="302" r:id="rId12"/>
    <p:sldId id="303" r:id="rId13"/>
    <p:sldId id="304" r:id="rId14"/>
    <p:sldId id="305" r:id="rId15"/>
    <p:sldId id="279" r:id="rId16"/>
    <p:sldId id="283" r:id="rId17"/>
    <p:sldId id="284" r:id="rId18"/>
    <p:sldId id="285" r:id="rId19"/>
    <p:sldId id="287" r:id="rId20"/>
    <p:sldId id="288" r:id="rId21"/>
    <p:sldId id="289" r:id="rId22"/>
    <p:sldId id="290" r:id="rId23"/>
    <p:sldId id="306" r:id="rId24"/>
    <p:sldId id="308" r:id="rId25"/>
    <p:sldId id="314" r:id="rId26"/>
    <p:sldId id="315" r:id="rId27"/>
    <p:sldId id="316" r:id="rId28"/>
    <p:sldId id="317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2814B5-F2F2-E203-54C7-450A10DE39BF}" v="2" dt="2023-09-25T06:44:06.361"/>
    <p1510:client id="{3D7D5196-A9D9-9615-7080-D13131CCBE4C}" v="1" dt="2023-09-24T15:33:18.287"/>
    <p1510:client id="{F091038B-B349-EC58-C0C3-9B0F9CA8DAC8}" v="3" dt="2023-10-03T05:24:04.1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6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60a6d6a0ec576ba096aa05e924eb41552b0a1a5375b641c958ea62323bb17882::" providerId="AD" clId="Web-{F091038B-B349-EC58-C0C3-9B0F9CA8DAC8}"/>
    <pc:docChg chg="modSld">
      <pc:chgData name="Guest User" userId="S::urn:spo:anon#60a6d6a0ec576ba096aa05e924eb41552b0a1a5375b641c958ea62323bb17882::" providerId="AD" clId="Web-{F091038B-B349-EC58-C0C3-9B0F9CA8DAC8}" dt="2023-10-03T05:24:04.186" v="2" actId="1076"/>
      <pc:docMkLst>
        <pc:docMk/>
      </pc:docMkLst>
      <pc:sldChg chg="modSp">
        <pc:chgData name="Guest User" userId="S::urn:spo:anon#60a6d6a0ec576ba096aa05e924eb41552b0a1a5375b641c958ea62323bb17882::" providerId="AD" clId="Web-{F091038B-B349-EC58-C0C3-9B0F9CA8DAC8}" dt="2023-10-03T05:24:04.186" v="2" actId="1076"/>
        <pc:sldMkLst>
          <pc:docMk/>
          <pc:sldMk cId="660526786" sldId="277"/>
        </pc:sldMkLst>
        <pc:spChg chg="mod">
          <ac:chgData name="Guest User" userId="S::urn:spo:anon#60a6d6a0ec576ba096aa05e924eb41552b0a1a5375b641c958ea62323bb17882::" providerId="AD" clId="Web-{F091038B-B349-EC58-C0C3-9B0F9CA8DAC8}" dt="2023-10-03T05:24:01.951" v="1" actId="1076"/>
          <ac:spMkLst>
            <pc:docMk/>
            <pc:sldMk cId="660526786" sldId="277"/>
            <ac:spMk id="2" creationId="{00000000-0000-0000-0000-000000000000}"/>
          </ac:spMkLst>
        </pc:spChg>
        <pc:picChg chg="mod">
          <ac:chgData name="Guest User" userId="S::urn:spo:anon#60a6d6a0ec576ba096aa05e924eb41552b0a1a5375b641c958ea62323bb17882::" providerId="AD" clId="Web-{F091038B-B349-EC58-C0C3-9B0F9CA8DAC8}" dt="2023-10-03T05:24:04.186" v="2" actId="1076"/>
          <ac:picMkLst>
            <pc:docMk/>
            <pc:sldMk cId="660526786" sldId="277"/>
            <ac:picMk id="8" creationId="{00000000-0000-0000-0000-000000000000}"/>
          </ac:picMkLst>
        </pc:picChg>
      </pc:sldChg>
    </pc:docChg>
  </pc:docChgLst>
  <pc:docChgLst>
    <pc:chgData name="Guest User" userId="S::urn:spo:anon#60a6d6a0ec576ba096aa05e924eb41552b0a1a5375b641c958ea62323bb17882::" providerId="AD" clId="Web-{3D7D5196-A9D9-9615-7080-D13131CCBE4C}"/>
    <pc:docChg chg="modSld">
      <pc:chgData name="Guest User" userId="S::urn:spo:anon#60a6d6a0ec576ba096aa05e924eb41552b0a1a5375b641c958ea62323bb17882::" providerId="AD" clId="Web-{3D7D5196-A9D9-9615-7080-D13131CCBE4C}" dt="2023-09-24T15:33:18.287" v="0" actId="14100"/>
      <pc:docMkLst>
        <pc:docMk/>
      </pc:docMkLst>
      <pc:sldChg chg="modSp">
        <pc:chgData name="Guest User" userId="S::urn:spo:anon#60a6d6a0ec576ba096aa05e924eb41552b0a1a5375b641c958ea62323bb17882::" providerId="AD" clId="Web-{3D7D5196-A9D9-9615-7080-D13131CCBE4C}" dt="2023-09-24T15:33:18.287" v="0" actId="14100"/>
        <pc:sldMkLst>
          <pc:docMk/>
          <pc:sldMk cId="1762813875" sldId="283"/>
        </pc:sldMkLst>
        <pc:picChg chg="mod">
          <ac:chgData name="Guest User" userId="S::urn:spo:anon#60a6d6a0ec576ba096aa05e924eb41552b0a1a5375b641c958ea62323bb17882::" providerId="AD" clId="Web-{3D7D5196-A9D9-9615-7080-D13131CCBE4C}" dt="2023-09-24T15:33:18.287" v="0" actId="14100"/>
          <ac:picMkLst>
            <pc:docMk/>
            <pc:sldMk cId="1762813875" sldId="283"/>
            <ac:picMk id="1028" creationId="{00000000-0000-0000-0000-000000000000}"/>
          </ac:picMkLst>
        </pc:picChg>
      </pc:sldChg>
    </pc:docChg>
  </pc:docChgLst>
  <pc:docChgLst>
    <pc:chgData name="swapna.k" userId="S::swapnakon@kluniversity.in::f6223163-7730-4b7c-b1e8-3e98b1639734" providerId="AD" clId="Web-{332814B5-F2F2-E203-54C7-450A10DE39BF}"/>
    <pc:docChg chg="sldOrd">
      <pc:chgData name="swapna.k" userId="S::swapnakon@kluniversity.in::f6223163-7730-4b7c-b1e8-3e98b1639734" providerId="AD" clId="Web-{332814B5-F2F2-E203-54C7-450A10DE39BF}" dt="2023-09-25T06:44:06.361" v="1"/>
      <pc:docMkLst>
        <pc:docMk/>
      </pc:docMkLst>
      <pc:sldChg chg="ord">
        <pc:chgData name="swapna.k" userId="S::swapnakon@kluniversity.in::f6223163-7730-4b7c-b1e8-3e98b1639734" providerId="AD" clId="Web-{332814B5-F2F2-E203-54C7-450A10DE39BF}" dt="2023-09-25T06:42:50.874" v="0"/>
        <pc:sldMkLst>
          <pc:docMk/>
          <pc:sldMk cId="0" sldId="259"/>
        </pc:sldMkLst>
      </pc:sldChg>
      <pc:sldChg chg="ord">
        <pc:chgData name="swapna.k" userId="S::swapnakon@kluniversity.in::f6223163-7730-4b7c-b1e8-3e98b1639734" providerId="AD" clId="Web-{332814B5-F2F2-E203-54C7-450A10DE39BF}" dt="2023-09-25T06:44:06.361" v="1"/>
        <pc:sldMkLst>
          <pc:docMk/>
          <pc:sldMk cId="0" sldId="30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2F1AAA-2442-4965-A588-DB06A4297A3D}" type="doc">
      <dgm:prSet loTypeId="urn:microsoft.com/office/officeart/2005/8/layout/gear1" loCatId="relationship" qsTypeId="urn:microsoft.com/office/officeart/2005/8/quickstyle/3d9" qsCatId="3D" csTypeId="urn:microsoft.com/office/officeart/2005/8/colors/accent1_2" csCatId="accent1" phldr="1"/>
      <dgm:spPr/>
    </dgm:pt>
    <dgm:pt modelId="{771747B9-7650-46F5-8331-802064071784}">
      <dgm:prSet phldrT="[Text]" custT="1"/>
      <dgm:spPr>
        <a:solidFill>
          <a:srgbClr val="FF0000"/>
        </a:solidFill>
        <a:ln>
          <a:solidFill>
            <a:srgbClr val="FF0000"/>
          </a:solidFill>
        </a:ln>
      </dgm:spPr>
      <dgm:t>
        <a:bodyPr/>
        <a:lstStyle/>
        <a:p>
          <a:r>
            <a:rPr lang="en-IN" sz="2400" dirty="0">
              <a:solidFill>
                <a:schemeClr val="accent5">
                  <a:lumMod val="40000"/>
                  <a:lumOff val="60000"/>
                </a:schemeClr>
              </a:solidFill>
            </a:rPr>
            <a:t>K</a:t>
          </a:r>
          <a:r>
            <a:rPr lang="en-IN" sz="2400" baseline="0" dirty="0">
              <a:solidFill>
                <a:schemeClr val="accent5">
                  <a:lumMod val="40000"/>
                  <a:lumOff val="60000"/>
                </a:schemeClr>
              </a:solidFill>
            </a:rPr>
            <a:t> L </a:t>
          </a:r>
          <a:r>
            <a:rPr lang="en-IN" sz="2400" baseline="0">
              <a:solidFill>
                <a:schemeClr val="accent5">
                  <a:lumMod val="40000"/>
                  <a:lumOff val="60000"/>
                </a:schemeClr>
              </a:solidFill>
            </a:rPr>
            <a:t>U Students</a:t>
          </a:r>
          <a:endParaRPr lang="en-IN" sz="2400" dirty="0">
            <a:solidFill>
              <a:schemeClr val="accent5">
                <a:lumMod val="40000"/>
                <a:lumOff val="60000"/>
              </a:schemeClr>
            </a:solidFill>
          </a:endParaRPr>
        </a:p>
      </dgm:t>
    </dgm:pt>
    <dgm:pt modelId="{37F51D49-B754-42B5-96B1-AB3FC34C8B28}" type="parTrans" cxnId="{F3A8B454-6C1A-4314-9807-B7984B0E1D90}">
      <dgm:prSet/>
      <dgm:spPr/>
      <dgm:t>
        <a:bodyPr/>
        <a:lstStyle/>
        <a:p>
          <a:endParaRPr lang="en-IN"/>
        </a:p>
      </dgm:t>
    </dgm:pt>
    <dgm:pt modelId="{49F6649F-E8F2-432F-86B6-A2AF247DE3FA}" type="sibTrans" cxnId="{F3A8B454-6C1A-4314-9807-B7984B0E1D90}">
      <dgm:prSet/>
      <dgm:spPr/>
      <dgm:t>
        <a:bodyPr/>
        <a:lstStyle/>
        <a:p>
          <a:endParaRPr lang="en-IN"/>
        </a:p>
      </dgm:t>
    </dgm:pt>
    <dgm:pt modelId="{CC0808EF-1270-42FC-B0A9-5A02865EC648}">
      <dgm:prSet phldrT="[Text]" custT="1"/>
      <dgm:spPr>
        <a:solidFill>
          <a:srgbClr val="00B0F0"/>
        </a:solidFill>
      </dgm:spPr>
      <dgm:t>
        <a:bodyPr/>
        <a:lstStyle/>
        <a:p>
          <a:r>
            <a:rPr lang="en-US" sz="2800" dirty="0"/>
            <a:t>1</a:t>
          </a:r>
          <a:r>
            <a:rPr lang="en-US" sz="2800" baseline="30000" dirty="0"/>
            <a:t>st</a:t>
          </a:r>
          <a:r>
            <a:rPr lang="en-US" sz="2800" dirty="0"/>
            <a:t> year</a:t>
          </a:r>
          <a:endParaRPr lang="en-IN" sz="2800" dirty="0"/>
        </a:p>
      </dgm:t>
    </dgm:pt>
    <dgm:pt modelId="{70138379-29CD-41B3-95BE-C8D7AFF54958}" type="parTrans" cxnId="{0A1EFA95-44F4-4355-89B4-D1B9232BBC69}">
      <dgm:prSet/>
      <dgm:spPr/>
      <dgm:t>
        <a:bodyPr/>
        <a:lstStyle/>
        <a:p>
          <a:endParaRPr lang="en-IN"/>
        </a:p>
      </dgm:t>
    </dgm:pt>
    <dgm:pt modelId="{4272B16D-E69B-4D70-B982-0AD9462E09AF}" type="sibTrans" cxnId="{0A1EFA95-44F4-4355-89B4-D1B9232BBC69}">
      <dgm:prSet/>
      <dgm:spPr/>
      <dgm:t>
        <a:bodyPr/>
        <a:lstStyle/>
        <a:p>
          <a:endParaRPr lang="en-IN"/>
        </a:p>
      </dgm:t>
    </dgm:pt>
    <dgm:pt modelId="{0549EE02-755D-4EA6-A5CD-F9DF15BBD5A1}">
      <dgm:prSet phldrT="[Text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US" sz="2800" dirty="0"/>
            <a:t>For </a:t>
          </a:r>
          <a:endParaRPr lang="en-IN" sz="2800" dirty="0"/>
        </a:p>
      </dgm:t>
    </dgm:pt>
    <dgm:pt modelId="{597991EC-446A-4A82-9646-256F0FB8BDAD}" type="parTrans" cxnId="{8BBED136-1527-4274-A499-154F32CB8EE9}">
      <dgm:prSet/>
      <dgm:spPr/>
      <dgm:t>
        <a:bodyPr/>
        <a:lstStyle/>
        <a:p>
          <a:endParaRPr lang="en-IN"/>
        </a:p>
      </dgm:t>
    </dgm:pt>
    <dgm:pt modelId="{BF381AF5-9A15-4BCB-862B-74299BCBA4C4}" type="sibTrans" cxnId="{8BBED136-1527-4274-A499-154F32CB8EE9}">
      <dgm:prSet/>
      <dgm:spPr/>
      <dgm:t>
        <a:bodyPr/>
        <a:lstStyle/>
        <a:p>
          <a:endParaRPr lang="en-IN"/>
        </a:p>
      </dgm:t>
    </dgm:pt>
    <dgm:pt modelId="{3E6A035C-0274-4AC9-A364-C6DF5C6502ED}" type="pres">
      <dgm:prSet presAssocID="{A82F1AAA-2442-4965-A588-DB06A4297A3D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67AE14E0-83E4-436A-8403-F06F0DD5F8B5}" type="pres">
      <dgm:prSet presAssocID="{771747B9-7650-46F5-8331-802064071784}" presName="gear1" presStyleLbl="node1" presStyleIdx="0" presStyleCnt="3">
        <dgm:presLayoutVars>
          <dgm:chMax val="1"/>
          <dgm:bulletEnabled val="1"/>
        </dgm:presLayoutVars>
      </dgm:prSet>
      <dgm:spPr/>
    </dgm:pt>
    <dgm:pt modelId="{80F52564-303F-4F72-BE7F-692E4B322301}" type="pres">
      <dgm:prSet presAssocID="{771747B9-7650-46F5-8331-802064071784}" presName="gear1srcNode" presStyleLbl="node1" presStyleIdx="0" presStyleCnt="3"/>
      <dgm:spPr/>
    </dgm:pt>
    <dgm:pt modelId="{510C443F-67C7-4A25-B5BD-2541C7C45D3E}" type="pres">
      <dgm:prSet presAssocID="{771747B9-7650-46F5-8331-802064071784}" presName="gear1dstNode" presStyleLbl="node1" presStyleIdx="0" presStyleCnt="3"/>
      <dgm:spPr/>
    </dgm:pt>
    <dgm:pt modelId="{C6DB8517-A8C2-4A95-951B-EBF8F91C6A1F}" type="pres">
      <dgm:prSet presAssocID="{CC0808EF-1270-42FC-B0A9-5A02865EC648}" presName="gear2" presStyleLbl="node1" presStyleIdx="1" presStyleCnt="3">
        <dgm:presLayoutVars>
          <dgm:chMax val="1"/>
          <dgm:bulletEnabled val="1"/>
        </dgm:presLayoutVars>
      </dgm:prSet>
      <dgm:spPr/>
    </dgm:pt>
    <dgm:pt modelId="{6FC8F0DA-A29E-4D9F-9A20-45A433EB267A}" type="pres">
      <dgm:prSet presAssocID="{CC0808EF-1270-42FC-B0A9-5A02865EC648}" presName="gear2srcNode" presStyleLbl="node1" presStyleIdx="1" presStyleCnt="3"/>
      <dgm:spPr/>
    </dgm:pt>
    <dgm:pt modelId="{68A50C4A-B0CD-4D4B-BA9A-8BD52C07F66D}" type="pres">
      <dgm:prSet presAssocID="{CC0808EF-1270-42FC-B0A9-5A02865EC648}" presName="gear2dstNode" presStyleLbl="node1" presStyleIdx="1" presStyleCnt="3"/>
      <dgm:spPr/>
    </dgm:pt>
    <dgm:pt modelId="{E5442776-0B4C-4E3B-9957-BAB26E1D675D}" type="pres">
      <dgm:prSet presAssocID="{0549EE02-755D-4EA6-A5CD-F9DF15BBD5A1}" presName="gear3" presStyleLbl="node1" presStyleIdx="2" presStyleCnt="3"/>
      <dgm:spPr/>
    </dgm:pt>
    <dgm:pt modelId="{51006348-89D0-4D62-89A7-088941D4E806}" type="pres">
      <dgm:prSet presAssocID="{0549EE02-755D-4EA6-A5CD-F9DF15BBD5A1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41E62B19-649F-48C3-AD3A-EE91FE9999AE}" type="pres">
      <dgm:prSet presAssocID="{0549EE02-755D-4EA6-A5CD-F9DF15BBD5A1}" presName="gear3srcNode" presStyleLbl="node1" presStyleIdx="2" presStyleCnt="3"/>
      <dgm:spPr/>
    </dgm:pt>
    <dgm:pt modelId="{EE31411A-4BF0-4B56-8E84-BAF79E2216F0}" type="pres">
      <dgm:prSet presAssocID="{0549EE02-755D-4EA6-A5CD-F9DF15BBD5A1}" presName="gear3dstNode" presStyleLbl="node1" presStyleIdx="2" presStyleCnt="3"/>
      <dgm:spPr/>
    </dgm:pt>
    <dgm:pt modelId="{05C7BF74-C0A4-4D94-9EB5-AEFB0D260B2B}" type="pres">
      <dgm:prSet presAssocID="{49F6649F-E8F2-432F-86B6-A2AF247DE3FA}" presName="connector1" presStyleLbl="sibTrans2D1" presStyleIdx="0" presStyleCnt="3"/>
      <dgm:spPr/>
    </dgm:pt>
    <dgm:pt modelId="{5F6DC4D6-88A2-4347-9059-651BB3B5D4B1}" type="pres">
      <dgm:prSet presAssocID="{4272B16D-E69B-4D70-B982-0AD9462E09AF}" presName="connector2" presStyleLbl="sibTrans2D1" presStyleIdx="1" presStyleCnt="3"/>
      <dgm:spPr/>
    </dgm:pt>
    <dgm:pt modelId="{ACC2F1DE-A714-40FB-9236-DD1FE6696E12}" type="pres">
      <dgm:prSet presAssocID="{BF381AF5-9A15-4BCB-862B-74299BCBA4C4}" presName="connector3" presStyleLbl="sibTrans2D1" presStyleIdx="2" presStyleCnt="3"/>
      <dgm:spPr/>
    </dgm:pt>
  </dgm:ptLst>
  <dgm:cxnLst>
    <dgm:cxn modelId="{CD4AAC10-0CB3-40E2-B434-945E24E22E6D}" type="presOf" srcId="{CC0808EF-1270-42FC-B0A9-5A02865EC648}" destId="{C6DB8517-A8C2-4A95-951B-EBF8F91C6A1F}" srcOrd="0" destOrd="0" presId="urn:microsoft.com/office/officeart/2005/8/layout/gear1"/>
    <dgm:cxn modelId="{A50B2014-7CCE-4CBC-84E1-7B903018173C}" type="presOf" srcId="{CC0808EF-1270-42FC-B0A9-5A02865EC648}" destId="{68A50C4A-B0CD-4D4B-BA9A-8BD52C07F66D}" srcOrd="2" destOrd="0" presId="urn:microsoft.com/office/officeart/2005/8/layout/gear1"/>
    <dgm:cxn modelId="{64C5A231-6C2F-493E-B929-27E5751081FB}" type="presOf" srcId="{0549EE02-755D-4EA6-A5CD-F9DF15BBD5A1}" destId="{E5442776-0B4C-4E3B-9957-BAB26E1D675D}" srcOrd="0" destOrd="0" presId="urn:microsoft.com/office/officeart/2005/8/layout/gear1"/>
    <dgm:cxn modelId="{8BBED136-1527-4274-A499-154F32CB8EE9}" srcId="{A82F1AAA-2442-4965-A588-DB06A4297A3D}" destId="{0549EE02-755D-4EA6-A5CD-F9DF15BBD5A1}" srcOrd="2" destOrd="0" parTransId="{597991EC-446A-4A82-9646-256F0FB8BDAD}" sibTransId="{BF381AF5-9A15-4BCB-862B-74299BCBA4C4}"/>
    <dgm:cxn modelId="{9ED95A67-9FFE-4D14-A399-72C5DBB19727}" type="presOf" srcId="{BF381AF5-9A15-4BCB-862B-74299BCBA4C4}" destId="{ACC2F1DE-A714-40FB-9236-DD1FE6696E12}" srcOrd="0" destOrd="0" presId="urn:microsoft.com/office/officeart/2005/8/layout/gear1"/>
    <dgm:cxn modelId="{BB7EF549-598D-486D-A95C-9F382FC60BF6}" type="presOf" srcId="{0549EE02-755D-4EA6-A5CD-F9DF15BBD5A1}" destId="{51006348-89D0-4D62-89A7-088941D4E806}" srcOrd="1" destOrd="0" presId="urn:microsoft.com/office/officeart/2005/8/layout/gear1"/>
    <dgm:cxn modelId="{425A7D4A-4797-4FEA-B34A-020E81F99AA7}" type="presOf" srcId="{CC0808EF-1270-42FC-B0A9-5A02865EC648}" destId="{6FC8F0DA-A29E-4D9F-9A20-45A433EB267A}" srcOrd="1" destOrd="0" presId="urn:microsoft.com/office/officeart/2005/8/layout/gear1"/>
    <dgm:cxn modelId="{8691E24B-63EF-4881-BF78-918431E5B183}" type="presOf" srcId="{771747B9-7650-46F5-8331-802064071784}" destId="{510C443F-67C7-4A25-B5BD-2541C7C45D3E}" srcOrd="2" destOrd="0" presId="urn:microsoft.com/office/officeart/2005/8/layout/gear1"/>
    <dgm:cxn modelId="{BEBD286C-D766-453C-96FB-1896CD09A148}" type="presOf" srcId="{49F6649F-E8F2-432F-86B6-A2AF247DE3FA}" destId="{05C7BF74-C0A4-4D94-9EB5-AEFB0D260B2B}" srcOrd="0" destOrd="0" presId="urn:microsoft.com/office/officeart/2005/8/layout/gear1"/>
    <dgm:cxn modelId="{F3A8B454-6C1A-4314-9807-B7984B0E1D90}" srcId="{A82F1AAA-2442-4965-A588-DB06A4297A3D}" destId="{771747B9-7650-46F5-8331-802064071784}" srcOrd="0" destOrd="0" parTransId="{37F51D49-B754-42B5-96B1-AB3FC34C8B28}" sibTransId="{49F6649F-E8F2-432F-86B6-A2AF247DE3FA}"/>
    <dgm:cxn modelId="{0BF7607C-5CC4-4E89-9AD1-0B159A181F56}" type="presOf" srcId="{0549EE02-755D-4EA6-A5CD-F9DF15BBD5A1}" destId="{EE31411A-4BF0-4B56-8E84-BAF79E2216F0}" srcOrd="3" destOrd="0" presId="urn:microsoft.com/office/officeart/2005/8/layout/gear1"/>
    <dgm:cxn modelId="{0A1EFA95-44F4-4355-89B4-D1B9232BBC69}" srcId="{A82F1AAA-2442-4965-A588-DB06A4297A3D}" destId="{CC0808EF-1270-42FC-B0A9-5A02865EC648}" srcOrd="1" destOrd="0" parTransId="{70138379-29CD-41B3-95BE-C8D7AFF54958}" sibTransId="{4272B16D-E69B-4D70-B982-0AD9462E09AF}"/>
    <dgm:cxn modelId="{2F8C139E-A340-4497-9759-12207171E08F}" type="presOf" srcId="{4272B16D-E69B-4D70-B982-0AD9462E09AF}" destId="{5F6DC4D6-88A2-4347-9059-651BB3B5D4B1}" srcOrd="0" destOrd="0" presId="urn:microsoft.com/office/officeart/2005/8/layout/gear1"/>
    <dgm:cxn modelId="{1B4B57C3-81BE-4F1F-AFC9-A4C1ED0B99AE}" type="presOf" srcId="{A82F1AAA-2442-4965-A588-DB06A4297A3D}" destId="{3E6A035C-0274-4AC9-A364-C6DF5C6502ED}" srcOrd="0" destOrd="0" presId="urn:microsoft.com/office/officeart/2005/8/layout/gear1"/>
    <dgm:cxn modelId="{63DF96EA-AF7D-4EFB-858A-B40D3EB0BC31}" type="presOf" srcId="{0549EE02-755D-4EA6-A5CD-F9DF15BBD5A1}" destId="{41E62B19-649F-48C3-AD3A-EE91FE9999AE}" srcOrd="2" destOrd="0" presId="urn:microsoft.com/office/officeart/2005/8/layout/gear1"/>
    <dgm:cxn modelId="{34E73AED-0959-4B86-8C1A-06030A8BC4BD}" type="presOf" srcId="{771747B9-7650-46F5-8331-802064071784}" destId="{80F52564-303F-4F72-BE7F-692E4B322301}" srcOrd="1" destOrd="0" presId="urn:microsoft.com/office/officeart/2005/8/layout/gear1"/>
    <dgm:cxn modelId="{DD5CE2FD-BD9C-4E25-AB38-BB983CF85239}" type="presOf" srcId="{771747B9-7650-46F5-8331-802064071784}" destId="{67AE14E0-83E4-436A-8403-F06F0DD5F8B5}" srcOrd="0" destOrd="0" presId="urn:microsoft.com/office/officeart/2005/8/layout/gear1"/>
    <dgm:cxn modelId="{3148972B-9885-4333-AD92-B3045C098E0D}" type="presParOf" srcId="{3E6A035C-0274-4AC9-A364-C6DF5C6502ED}" destId="{67AE14E0-83E4-436A-8403-F06F0DD5F8B5}" srcOrd="0" destOrd="0" presId="urn:microsoft.com/office/officeart/2005/8/layout/gear1"/>
    <dgm:cxn modelId="{EB48EC25-F7E0-4600-886C-459837A5DFC8}" type="presParOf" srcId="{3E6A035C-0274-4AC9-A364-C6DF5C6502ED}" destId="{80F52564-303F-4F72-BE7F-692E4B322301}" srcOrd="1" destOrd="0" presId="urn:microsoft.com/office/officeart/2005/8/layout/gear1"/>
    <dgm:cxn modelId="{8DDBA426-9D55-4CE1-9272-7CBF6514D76D}" type="presParOf" srcId="{3E6A035C-0274-4AC9-A364-C6DF5C6502ED}" destId="{510C443F-67C7-4A25-B5BD-2541C7C45D3E}" srcOrd="2" destOrd="0" presId="urn:microsoft.com/office/officeart/2005/8/layout/gear1"/>
    <dgm:cxn modelId="{FAFF0553-35EA-441A-843E-F86B4AAAE8B3}" type="presParOf" srcId="{3E6A035C-0274-4AC9-A364-C6DF5C6502ED}" destId="{C6DB8517-A8C2-4A95-951B-EBF8F91C6A1F}" srcOrd="3" destOrd="0" presId="urn:microsoft.com/office/officeart/2005/8/layout/gear1"/>
    <dgm:cxn modelId="{C3B08D4D-04FD-487A-B0C9-C2626A6FAB74}" type="presParOf" srcId="{3E6A035C-0274-4AC9-A364-C6DF5C6502ED}" destId="{6FC8F0DA-A29E-4D9F-9A20-45A433EB267A}" srcOrd="4" destOrd="0" presId="urn:microsoft.com/office/officeart/2005/8/layout/gear1"/>
    <dgm:cxn modelId="{6B2B6CE6-D849-4C1D-AA24-0BDA49D2B9A0}" type="presParOf" srcId="{3E6A035C-0274-4AC9-A364-C6DF5C6502ED}" destId="{68A50C4A-B0CD-4D4B-BA9A-8BD52C07F66D}" srcOrd="5" destOrd="0" presId="urn:microsoft.com/office/officeart/2005/8/layout/gear1"/>
    <dgm:cxn modelId="{7510AEFE-C366-44A4-AD48-102B6DD4F909}" type="presParOf" srcId="{3E6A035C-0274-4AC9-A364-C6DF5C6502ED}" destId="{E5442776-0B4C-4E3B-9957-BAB26E1D675D}" srcOrd="6" destOrd="0" presId="urn:microsoft.com/office/officeart/2005/8/layout/gear1"/>
    <dgm:cxn modelId="{D744D887-51D0-4429-B1F4-29CD88B94F51}" type="presParOf" srcId="{3E6A035C-0274-4AC9-A364-C6DF5C6502ED}" destId="{51006348-89D0-4D62-89A7-088941D4E806}" srcOrd="7" destOrd="0" presId="urn:microsoft.com/office/officeart/2005/8/layout/gear1"/>
    <dgm:cxn modelId="{928FCE1F-A5F0-4F65-8633-F4E31E3D237B}" type="presParOf" srcId="{3E6A035C-0274-4AC9-A364-C6DF5C6502ED}" destId="{41E62B19-649F-48C3-AD3A-EE91FE9999AE}" srcOrd="8" destOrd="0" presId="urn:microsoft.com/office/officeart/2005/8/layout/gear1"/>
    <dgm:cxn modelId="{F285F65A-2917-4BC9-808A-4E2B83ADF74B}" type="presParOf" srcId="{3E6A035C-0274-4AC9-A364-C6DF5C6502ED}" destId="{EE31411A-4BF0-4B56-8E84-BAF79E2216F0}" srcOrd="9" destOrd="0" presId="urn:microsoft.com/office/officeart/2005/8/layout/gear1"/>
    <dgm:cxn modelId="{BE3A98E6-FCC3-4B6F-AF79-DC91297FD147}" type="presParOf" srcId="{3E6A035C-0274-4AC9-A364-C6DF5C6502ED}" destId="{05C7BF74-C0A4-4D94-9EB5-AEFB0D260B2B}" srcOrd="10" destOrd="0" presId="urn:microsoft.com/office/officeart/2005/8/layout/gear1"/>
    <dgm:cxn modelId="{AE479ACE-996B-4692-92BD-60F962951D3A}" type="presParOf" srcId="{3E6A035C-0274-4AC9-A364-C6DF5C6502ED}" destId="{5F6DC4D6-88A2-4347-9059-651BB3B5D4B1}" srcOrd="11" destOrd="0" presId="urn:microsoft.com/office/officeart/2005/8/layout/gear1"/>
    <dgm:cxn modelId="{AC6595FE-6FE7-4052-A390-F5EF1858BC3F}" type="presParOf" srcId="{3E6A035C-0274-4AC9-A364-C6DF5C6502ED}" destId="{ACC2F1DE-A714-40FB-9236-DD1FE6696E12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AE14E0-83E4-436A-8403-F06F0DD5F8B5}">
      <dsp:nvSpPr>
        <dsp:cNvPr id="0" name=""/>
        <dsp:cNvSpPr/>
      </dsp:nvSpPr>
      <dsp:spPr>
        <a:xfrm>
          <a:off x="2556510" y="1680210"/>
          <a:ext cx="2053590" cy="2053590"/>
        </a:xfrm>
        <a:prstGeom prst="gear9">
          <a:avLst/>
        </a:prstGeom>
        <a:solidFill>
          <a:srgbClr val="FF0000"/>
        </a:solidFill>
        <a:ln>
          <a:solidFill>
            <a:srgbClr val="FF0000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  <a:sp3d extrusionH="28000" prstMaterial="matte"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accent5">
                  <a:lumMod val="40000"/>
                  <a:lumOff val="60000"/>
                </a:schemeClr>
              </a:solidFill>
            </a:rPr>
            <a:t>K</a:t>
          </a:r>
          <a:r>
            <a:rPr lang="en-IN" sz="2400" kern="1200" baseline="0" dirty="0">
              <a:solidFill>
                <a:schemeClr val="accent5">
                  <a:lumMod val="40000"/>
                  <a:lumOff val="60000"/>
                </a:schemeClr>
              </a:solidFill>
            </a:rPr>
            <a:t> L </a:t>
          </a:r>
          <a:r>
            <a:rPr lang="en-IN" sz="2400" kern="1200" baseline="0">
              <a:solidFill>
                <a:schemeClr val="accent5">
                  <a:lumMod val="40000"/>
                  <a:lumOff val="60000"/>
                </a:schemeClr>
              </a:solidFill>
            </a:rPr>
            <a:t>U Students</a:t>
          </a:r>
          <a:endParaRPr lang="en-IN" sz="2400" kern="1200" dirty="0">
            <a:solidFill>
              <a:schemeClr val="accent5">
                <a:lumMod val="40000"/>
                <a:lumOff val="60000"/>
              </a:schemeClr>
            </a:solidFill>
          </a:endParaRPr>
        </a:p>
      </dsp:txBody>
      <dsp:txXfrm>
        <a:off x="2969373" y="2161254"/>
        <a:ext cx="1227864" cy="1055587"/>
      </dsp:txXfrm>
    </dsp:sp>
    <dsp:sp modelId="{C6DB8517-A8C2-4A95-951B-EBF8F91C6A1F}">
      <dsp:nvSpPr>
        <dsp:cNvPr id="0" name=""/>
        <dsp:cNvSpPr/>
      </dsp:nvSpPr>
      <dsp:spPr>
        <a:xfrm>
          <a:off x="1361694" y="1194816"/>
          <a:ext cx="1493520" cy="1493520"/>
        </a:xfrm>
        <a:prstGeom prst="gear6">
          <a:avLst/>
        </a:prstGeom>
        <a:solidFill>
          <a:srgbClr val="00B0F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  <a:sp3d extrusionH="28000" prstMaterial="matte"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1</a:t>
          </a:r>
          <a:r>
            <a:rPr lang="en-US" sz="2800" kern="1200" baseline="30000" dirty="0"/>
            <a:t>st</a:t>
          </a:r>
          <a:r>
            <a:rPr lang="en-US" sz="2800" kern="1200" dirty="0"/>
            <a:t> year</a:t>
          </a:r>
          <a:endParaRPr lang="en-IN" sz="2800" kern="1200" dirty="0"/>
        </a:p>
      </dsp:txBody>
      <dsp:txXfrm>
        <a:off x="1737692" y="1573087"/>
        <a:ext cx="741524" cy="736978"/>
      </dsp:txXfrm>
    </dsp:sp>
    <dsp:sp modelId="{E5442776-0B4C-4E3B-9957-BAB26E1D675D}">
      <dsp:nvSpPr>
        <dsp:cNvPr id="0" name=""/>
        <dsp:cNvSpPr/>
      </dsp:nvSpPr>
      <dsp:spPr>
        <a:xfrm rot="20700000">
          <a:off x="2198217" y="164439"/>
          <a:ext cx="1463344" cy="1463344"/>
        </a:xfrm>
        <a:prstGeom prst="gear6">
          <a:avLst/>
        </a:prstGeom>
        <a:solidFill>
          <a:schemeClr val="tx1">
            <a:lumMod val="50000"/>
            <a:lumOff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  <a:sp3d extrusionH="28000" prstMaterial="matte"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For </a:t>
          </a:r>
          <a:endParaRPr lang="en-IN" sz="2800" kern="1200" dirty="0"/>
        </a:p>
      </dsp:txBody>
      <dsp:txXfrm rot="-20700000">
        <a:off x="2519172" y="485394"/>
        <a:ext cx="821436" cy="821436"/>
      </dsp:txXfrm>
    </dsp:sp>
    <dsp:sp modelId="{05C7BF74-C0A4-4D94-9EB5-AEFB0D260B2B}">
      <dsp:nvSpPr>
        <dsp:cNvPr id="0" name=""/>
        <dsp:cNvSpPr/>
      </dsp:nvSpPr>
      <dsp:spPr>
        <a:xfrm>
          <a:off x="2393614" y="1373153"/>
          <a:ext cx="2628595" cy="2628595"/>
        </a:xfrm>
        <a:prstGeom prst="circularArrow">
          <a:avLst>
            <a:gd name="adj1" fmla="val 4687"/>
            <a:gd name="adj2" fmla="val 299029"/>
            <a:gd name="adj3" fmla="val 2504221"/>
            <a:gd name="adj4" fmla="val 15887251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6DC4D6-88A2-4347-9059-651BB3B5D4B1}">
      <dsp:nvSpPr>
        <dsp:cNvPr id="0" name=""/>
        <dsp:cNvSpPr/>
      </dsp:nvSpPr>
      <dsp:spPr>
        <a:xfrm>
          <a:off x="1097194" y="866332"/>
          <a:ext cx="1909838" cy="1909838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C2F1DE-A714-40FB-9236-DD1FE6696E12}">
      <dsp:nvSpPr>
        <dsp:cNvPr id="0" name=""/>
        <dsp:cNvSpPr/>
      </dsp:nvSpPr>
      <dsp:spPr>
        <a:xfrm>
          <a:off x="1859730" y="-154111"/>
          <a:ext cx="2059190" cy="2059190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DF50A6-661C-4C4E-8FA5-144B52A5E6A0}" type="datetimeFigureOut">
              <a:rPr lang="en-IN" smtClean="0"/>
              <a:pPr/>
              <a:t>02-10-2023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3D78B4-0FC3-4661-BB94-9F7339507FC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AB253D-31F8-4C4F-90DD-88E17E875F3C}" type="datetimeFigureOut">
              <a:rPr lang="en-IN" smtClean="0"/>
              <a:pPr/>
              <a:t>02-10-2023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86F7C3-C4CF-4462-B91D-2F6E9596AF01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596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48B89-8E99-4647-B695-41BB2A3908B4}" type="datetime2">
              <a:rPr lang="en-US" smtClean="0"/>
              <a:pPr/>
              <a:t>Monday, October 2,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KLEF, Dept. of BES-1  Course : Problem Solving &amp; Computer Programming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7DEB5-F40B-455F-8BF5-14B0AD2DBCBF}" type="datetime2">
              <a:rPr lang="en-US" smtClean="0"/>
              <a:pPr/>
              <a:t>Monday, October 2,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KLEF, Dept. of BES-1  Course : Problem Solving &amp; Computer Programming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AABE-782E-47A5-A7F7-525CCDCE3DD3}" type="datetime2">
              <a:rPr lang="en-US" smtClean="0"/>
              <a:pPr/>
              <a:t>Monday, October 2,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KLEF, Dept. of BES-1  Course : Problem Solving &amp; Computer Programming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914C4-9C63-43AE-8912-A8C7B3BA9612}" type="datetime2">
              <a:rPr lang="en-US" smtClean="0"/>
              <a:pPr/>
              <a:t>Monday, October 2,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KLEF, Dept. of BES-1  Course : Problem Solving &amp; Computer Programming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000CE-02B4-4DB8-8B77-53892F63ACE3}" type="datetime2">
              <a:rPr lang="en-US" smtClean="0"/>
              <a:pPr/>
              <a:t>Monday, October 2, 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KLEF, Dept. of BES-1  Course : Problem Solving &amp; Computer Programming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7A4B3-637A-4E8A-B3F3-639192C9ABE0}" type="datetime2">
              <a:rPr lang="en-US" smtClean="0"/>
              <a:pPr/>
              <a:t>Monday, October 2, 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KLEF, Dept. of BES-1  Course : Problem Solving &amp; Computer Programming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594AA-5A35-486D-B78E-E63E89D66C07}" type="datetime2">
              <a:rPr lang="en-US" smtClean="0"/>
              <a:pPr/>
              <a:t>Monday, October 2, 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KLEF, Dept. of BES-1  Course : Problem Solving &amp; Computer Programming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4CC0-8FB6-4974-88D7-4D4009EB5DBA}" type="datetime2">
              <a:rPr lang="en-US" smtClean="0"/>
              <a:pPr/>
              <a:t>Monday, October 2,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KLEF, Dept. of BES-1  Course : Problem Solving &amp; Computer Programming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9073-A566-44C2-BA66-63251616FA7C}" type="datetime2">
              <a:rPr lang="en-US" smtClean="0"/>
              <a:pPr/>
              <a:t>Monday, October 2,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KLEF, Dept. of BES-1  Course : Problem Solving &amp; Computer Programming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4E94E-3EC0-4A42-B67E-A23C8A900DAC}" type="datetime2">
              <a:rPr lang="en-US" smtClean="0"/>
              <a:pPr/>
              <a:t>Monday, October 2,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KLEF, Dept. of BES-1  Course : Problem Solving &amp; Computer Programming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3D7A-7E99-44B4-B892-561A59B44512}" type="datetime2">
              <a:rPr lang="en-US" smtClean="0"/>
              <a:pPr/>
              <a:t>Monday, October 2,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KLEF, Dept. of BES-1  Course : Problem Solving &amp; Computer Programming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1"/>
            <a:ext cx="4100513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9132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2367D7-7421-4378-A7E6-4755CA5DDA4B}" type="datetime2">
              <a:rPr lang="en-US" smtClean="0"/>
              <a:pPr/>
              <a:t>Monday, October 2,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KLEF, Dept. of BES-1  Course : Problem Solving &amp; Computer Programming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docs.com/learn-html/html-p-tag.html" TargetMode="External"/><Relationship Id="rId2" Type="http://schemas.openxmlformats.org/officeDocument/2006/relationships/hyperlink" Target="https://www.w3docs.com/learn-html/html-h1-h6-tag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hyperlink" Target="https://www.w3docs.com/learn-html/html-img-tag.html" TargetMode="External"/><Relationship Id="rId4" Type="http://schemas.openxmlformats.org/officeDocument/2006/relationships/hyperlink" Target="https://www.w3docs.com/learn-html/html-a-tag.html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hyperlink" Target="https://www.kluniversity.in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5368" y="1219200"/>
            <a:ext cx="800853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all" spc="0" dirty="0">
                <a:ln w="19050">
                  <a:solidFill>
                    <a:schemeClr val="accent4">
                      <a:lumMod val="50000"/>
                      <a:lumOff val="50000"/>
                    </a:schemeClr>
                  </a:solidFill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reflection blurRad="12700" stA="50000" endPos="50000" dist="5000" dir="5400000" sy="-100000" rotWithShape="0"/>
                </a:effectLst>
              </a:rPr>
              <a:t>DESIGN TOOLS WORKSHOP</a:t>
            </a:r>
          </a:p>
        </p:txBody>
      </p:sp>
      <p:pic>
        <p:nvPicPr>
          <p:cNvPr id="3" name="Picture 15" descr="j029198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flipH="1">
            <a:off x="5748845" y="3403169"/>
            <a:ext cx="2902619" cy="34290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152400" y="931277"/>
            <a:ext cx="39462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50000"/>
                    <a:lumOff val="50000"/>
                  </a:schemeClr>
                </a:solidFill>
                <a:latin typeface="Segoe Script" pitchFamily="34" charset="0"/>
              </a:rPr>
              <a:t>A COMPLETE SOLUTION TO</a:t>
            </a:r>
            <a:endParaRPr lang="en-IN" dirty="0">
              <a:solidFill>
                <a:schemeClr val="accent4">
                  <a:lumMod val="50000"/>
                  <a:lumOff val="50000"/>
                </a:schemeClr>
              </a:solidFill>
              <a:latin typeface="Segoe Script" pitchFamily="34" charset="0"/>
            </a:endParaRPr>
          </a:p>
        </p:txBody>
      </p:sp>
      <p:graphicFrame>
        <p:nvGraphicFramePr>
          <p:cNvPr id="6" name="Diagram 5"/>
          <p:cNvGraphicFramePr/>
          <p:nvPr/>
        </p:nvGraphicFramePr>
        <p:xfrm>
          <a:off x="-762000" y="3098369"/>
          <a:ext cx="54864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AutoShape 17">
            <a:hlinkClick r:id="" action="ppaction://hlinkshowjump?jump=endshow" highlightClick="1"/>
          </p:cNvPr>
          <p:cNvSpPr>
            <a:spLocks noChangeArrowheads="1"/>
          </p:cNvSpPr>
          <p:nvPr/>
        </p:nvSpPr>
        <p:spPr bwMode="auto">
          <a:xfrm>
            <a:off x="8763000" y="6629400"/>
            <a:ext cx="381000" cy="228600"/>
          </a:xfrm>
          <a:prstGeom prst="actionButtonBlank">
            <a:avLst/>
          </a:prstGeom>
          <a:solidFill>
            <a:srgbClr val="FF0000"/>
          </a:solidFill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sz="900" dirty="0"/>
              <a:t>EXIT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222703" y="81945"/>
            <a:ext cx="2008015" cy="849332"/>
          </a:xfrm>
          <a:prstGeom prst="rect">
            <a:avLst/>
          </a:prstGeom>
          <a:noFill/>
        </p:spPr>
      </p:pic>
      <p:sp>
        <p:nvSpPr>
          <p:cNvPr id="9" name="Google Shape;475;p16"/>
          <p:cNvSpPr txBox="1"/>
          <p:nvPr/>
        </p:nvSpPr>
        <p:spPr>
          <a:xfrm>
            <a:off x="152401" y="270083"/>
            <a:ext cx="8499063" cy="4031833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cs typeface="Poppins" pitchFamily="2" charset="77"/>
              </a:rPr>
              <a:t>Department of ME </a:t>
            </a:r>
          </a:p>
          <a:p>
            <a:pPr algn="ctr"/>
            <a:r>
              <a:rPr lang="en-US" sz="3200" dirty="0">
                <a:solidFill>
                  <a:srgbClr val="C00000"/>
                </a:solidFill>
                <a:cs typeface="Poppins" pitchFamily="2" charset="77"/>
              </a:rPr>
              <a:t>	</a:t>
            </a:r>
          </a:p>
          <a:p>
            <a:pPr algn="ctr"/>
            <a:endParaRPr lang="en-US" sz="3200" dirty="0">
              <a:solidFill>
                <a:srgbClr val="C00000"/>
              </a:solidFill>
              <a:cs typeface="Poppins" pitchFamily="2" charset="77"/>
            </a:endParaRPr>
          </a:p>
          <a:p>
            <a:pPr algn="ctr"/>
            <a:endParaRPr lang="en-US" sz="3200" dirty="0">
              <a:solidFill>
                <a:srgbClr val="C00000"/>
              </a:solidFill>
              <a:cs typeface="Poppins" pitchFamily="2" charset="77"/>
            </a:endParaRPr>
          </a:p>
          <a:p>
            <a:pPr algn="ctr"/>
            <a:r>
              <a:rPr lang="en-US" sz="3200" dirty="0">
                <a:solidFill>
                  <a:srgbClr val="C00000"/>
                </a:solidFill>
                <a:cs typeface="Poppins" pitchFamily="2" charset="77"/>
              </a:rPr>
              <a:t>23ME1103</a:t>
            </a:r>
          </a:p>
          <a:p>
            <a:pPr algn="ctr"/>
            <a:r>
              <a:rPr lang="en-US" sz="3200" dirty="0">
                <a:solidFill>
                  <a:srgbClr val="C00000"/>
                </a:solidFill>
                <a:cs typeface="Poppins" pitchFamily="2" charset="77"/>
              </a:rPr>
              <a:t>Formatting of HTML Element and </a:t>
            </a:r>
          </a:p>
          <a:p>
            <a:pPr algn="ctr"/>
            <a:r>
              <a:rPr lang="en-US" sz="3200" dirty="0">
                <a:solidFill>
                  <a:srgbClr val="C00000"/>
                </a:solidFill>
                <a:cs typeface="Poppins" pitchFamily="2" charset="77"/>
              </a:rPr>
              <a:t>HTML Attributes</a:t>
            </a:r>
          </a:p>
          <a:p>
            <a:pPr algn="ctr"/>
            <a:r>
              <a:rPr lang="en-US" sz="3200" dirty="0">
                <a:cs typeface="Poppins" pitchFamily="2" charset="77"/>
              </a:rPr>
              <a:t>Session-2</a:t>
            </a:r>
          </a:p>
        </p:txBody>
      </p:sp>
    </p:spTree>
    <p:extLst>
      <p:ext uri="{BB962C8B-B14F-4D97-AF65-F5344CB8AC3E}">
        <p14:creationId xmlns:p14="http://schemas.microsoft.com/office/powerpoint/2010/main" val="1009829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3352800" y="698919"/>
            <a:ext cx="2286000" cy="49104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762000" y="1370602"/>
            <a:ext cx="8048465" cy="62324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dirty="0">
                <a:latin typeface="Poppins"/>
                <a:cs typeface="Poppins"/>
              </a:rPr>
              <a:t>To familiarize students with the </a:t>
            </a:r>
            <a:r>
              <a:rPr lang="en-US" sz="1200" dirty="0">
                <a:latin typeface="Poppins"/>
                <a:cs typeface="Poppins"/>
              </a:rPr>
              <a:t>HTML elements and attributes</a:t>
            </a:r>
            <a:endParaRPr lang="en-US" sz="1200" b="0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200" b="0" dirty="0"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3120437" y="1993850"/>
            <a:ext cx="2942415" cy="51172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314451" y="2686204"/>
            <a:ext cx="7677149" cy="71558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Poppins"/>
                <a:cs typeface="Poppins"/>
              </a:rPr>
              <a:t>This</a:t>
            </a:r>
            <a:r>
              <a:rPr lang="en-US" sz="1200" b="0" dirty="0">
                <a:latin typeface="Poppins"/>
                <a:cs typeface="Poppins"/>
              </a:rPr>
              <a:t> </a:t>
            </a:r>
            <a:r>
              <a:rPr lang="en-US" sz="1200" dirty="0">
                <a:latin typeface="Poppins"/>
                <a:cs typeface="Poppins"/>
              </a:rPr>
              <a:t>Session</a:t>
            </a:r>
            <a:r>
              <a:rPr lang="en-US" sz="1200" b="0" dirty="0">
                <a:latin typeface="Poppins"/>
                <a:cs typeface="Poppins"/>
              </a:rPr>
              <a:t> is designed to:  </a:t>
            </a:r>
            <a:r>
              <a:rPr lang="en-US" sz="1200" dirty="0">
                <a:latin typeface="Arial" panose="020B0604020202020204" pitchFamily="34" charset="0"/>
              </a:rPr>
              <a:t>Obtain knowledge of </a:t>
            </a:r>
            <a:r>
              <a:rPr lang="en-US" sz="1200" dirty="0">
                <a:latin typeface="Poppins"/>
                <a:cs typeface="Poppins"/>
              </a:rPr>
              <a:t>HTML elements and attributes</a:t>
            </a:r>
          </a:p>
          <a:p>
            <a:pPr>
              <a:lnSpc>
                <a:spcPct val="200000"/>
              </a:lnSpc>
            </a:pPr>
            <a:endParaRPr lang="en-US" sz="1200" b="0" dirty="0">
              <a:latin typeface="Arial" panose="020B0604020202020204" pitchFamily="34" charset="0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326245"/>
            <a:ext cx="685800" cy="6858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650" y="2686204"/>
            <a:ext cx="685800" cy="6858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3159729" y="4044082"/>
            <a:ext cx="2903123" cy="293024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800" y="4431578"/>
            <a:ext cx="685800" cy="6858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314451" y="4436423"/>
            <a:ext cx="7829549" cy="34624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dirty="0">
                <a:latin typeface="Arial"/>
                <a:cs typeface="Arial"/>
              </a:rPr>
              <a:t>At the end of this </a:t>
            </a:r>
            <a:r>
              <a:rPr lang="en-US" sz="1200" dirty="0">
                <a:latin typeface="Arial"/>
                <a:cs typeface="Arial"/>
              </a:rPr>
              <a:t>session</a:t>
            </a:r>
            <a:r>
              <a:rPr lang="en-US" sz="1200" b="0" dirty="0">
                <a:latin typeface="Arial"/>
                <a:cs typeface="Arial"/>
              </a:rPr>
              <a:t>, you should be able to: </a:t>
            </a:r>
            <a:r>
              <a:rPr lang="en-US" sz="1200" b="0" dirty="0">
                <a:latin typeface="Arial" panose="020B0604020202020204" pitchFamily="34" charset="0"/>
              </a:rPr>
              <a:t>Understand the </a:t>
            </a:r>
            <a:r>
              <a:rPr lang="en-US" sz="1200" dirty="0">
                <a:latin typeface="Poppins"/>
                <a:cs typeface="Poppins"/>
              </a:rPr>
              <a:t>HTML elements and attributes</a:t>
            </a:r>
            <a:endParaRPr lang="en-US" sz="1200" b="0" dirty="0">
              <a:latin typeface="Arial" panose="020B0604020202020204" pitchFamily="34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-1" y="311028"/>
            <a:ext cx="3305111" cy="99627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141373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2447779" y="920755"/>
            <a:ext cx="4979963" cy="358526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886" y="152400"/>
            <a:ext cx="2548983" cy="768355"/>
          </a:xfrm>
          <a:prstGeom prst="rect">
            <a:avLst/>
          </a:prstGeom>
          <a:noFill/>
        </p:spPr>
      </p:pic>
      <p:sp>
        <p:nvSpPr>
          <p:cNvPr id="53" name="TextBox 52"/>
          <p:cNvSpPr txBox="1"/>
          <p:nvPr/>
        </p:nvSpPr>
        <p:spPr>
          <a:xfrm>
            <a:off x="812409" y="1796269"/>
            <a:ext cx="7564902" cy="5001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  <a:p>
            <a:r>
              <a:rPr lang="en-US" sz="2700" dirty="0"/>
              <a:t>Programmable logic falls into two different types:</a:t>
            </a:r>
          </a:p>
          <a:p>
            <a:endParaRPr lang="en-US" sz="2700" dirty="0"/>
          </a:p>
          <a:p>
            <a:r>
              <a:rPr lang="en-US" sz="2700" dirty="0"/>
              <a:t>1. Understanding of </a:t>
            </a:r>
            <a:r>
              <a:rPr lang="en-US" sz="2800" dirty="0">
                <a:latin typeface="Poppins"/>
                <a:cs typeface="Poppins"/>
              </a:rPr>
              <a:t>HTML elements</a:t>
            </a:r>
            <a:endParaRPr lang="en-US" sz="2700" dirty="0"/>
          </a:p>
          <a:p>
            <a:endParaRPr lang="en-US" sz="2700" dirty="0"/>
          </a:p>
          <a:p>
            <a:endParaRPr lang="en-US" sz="2700" dirty="0"/>
          </a:p>
          <a:p>
            <a:r>
              <a:rPr lang="en-US" sz="2700" dirty="0"/>
              <a:t>2. Understanding of </a:t>
            </a:r>
            <a:r>
              <a:rPr lang="en-US" dirty="0">
                <a:latin typeface="Poppins"/>
              </a:rPr>
              <a:t>HTML attributes</a:t>
            </a:r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863289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HTML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534400" cy="57150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IN" b="1" dirty="0"/>
              <a:t>	An HTML document is a file containing Hypertext Mark-up Language, and its filename most often ends in the .html extension. </a:t>
            </a:r>
          </a:p>
          <a:p>
            <a:pPr>
              <a:buNone/>
            </a:pPr>
            <a:r>
              <a:rPr lang="en-IN" b="1" dirty="0"/>
              <a:t>	An HTML document is a text document read in by a Web browser and then rendered on the screen.</a:t>
            </a:r>
          </a:p>
          <a:p>
            <a:pPr>
              <a:buNone/>
            </a:pPr>
            <a:endParaRPr lang="en-US" b="1" dirty="0"/>
          </a:p>
          <a:p>
            <a:r>
              <a:rPr lang="en-US" sz="2900" b="1" dirty="0"/>
              <a:t>The </a:t>
            </a:r>
            <a:r>
              <a:rPr lang="en-US" sz="2900" b="1" dirty="0">
                <a:solidFill>
                  <a:srgbClr val="0070C0"/>
                </a:solidFill>
              </a:rPr>
              <a:t>&lt;html&gt; </a:t>
            </a:r>
            <a:r>
              <a:rPr lang="en-US" sz="2900" b="1" dirty="0"/>
              <a:t>element is the root element and it defines the whole HTML document.</a:t>
            </a:r>
          </a:p>
          <a:p>
            <a:endParaRPr lang="en-US" sz="2900" b="1" dirty="0"/>
          </a:p>
          <a:p>
            <a:r>
              <a:rPr lang="en-US" sz="2900" b="1" dirty="0"/>
              <a:t>The </a:t>
            </a:r>
            <a:r>
              <a:rPr lang="en-US" sz="2900" b="1" dirty="0">
                <a:solidFill>
                  <a:srgbClr val="0070C0"/>
                </a:solidFill>
              </a:rPr>
              <a:t>&lt;head&gt; </a:t>
            </a:r>
            <a:r>
              <a:rPr lang="en-US" sz="2900" b="1" dirty="0"/>
              <a:t>element is where we given meta data about the webpage. &lt;title&gt; and others</a:t>
            </a:r>
          </a:p>
          <a:p>
            <a:endParaRPr lang="en-US" sz="2900" b="1" dirty="0"/>
          </a:p>
          <a:p>
            <a:r>
              <a:rPr lang="en-US" sz="2900" b="1" dirty="0"/>
              <a:t>The </a:t>
            </a:r>
            <a:r>
              <a:rPr lang="en-US" sz="2900" b="1" dirty="0">
                <a:solidFill>
                  <a:srgbClr val="0070C0"/>
                </a:solidFill>
              </a:rPr>
              <a:t>&lt;body&gt;</a:t>
            </a:r>
            <a:r>
              <a:rPr lang="en-US" sz="2900" b="1" dirty="0"/>
              <a:t> element defines the document's body.</a:t>
            </a:r>
          </a:p>
          <a:p>
            <a:endParaRPr lang="en-US" sz="2900" b="1" dirty="0"/>
          </a:p>
          <a:p>
            <a:r>
              <a:rPr lang="en-US" sz="2900" b="1" dirty="0"/>
              <a:t>The elements with no content are called </a:t>
            </a:r>
            <a:r>
              <a:rPr lang="en-US" sz="2900" b="1" dirty="0">
                <a:solidFill>
                  <a:srgbClr val="0070C0"/>
                </a:solidFill>
              </a:rPr>
              <a:t>empty elements</a:t>
            </a:r>
            <a:r>
              <a:rPr lang="en-US" sz="2900" b="1" dirty="0"/>
              <a:t>.</a:t>
            </a:r>
          </a:p>
          <a:p>
            <a:endParaRPr lang="en-US" sz="24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828" y="0"/>
            <a:ext cx="137517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8128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33400"/>
            <a:ext cx="8229600" cy="944562"/>
          </a:xfrm>
        </p:spPr>
        <p:txBody>
          <a:bodyPr/>
          <a:lstStyle/>
          <a:p>
            <a:pPr algn="l"/>
            <a:br>
              <a:rPr lang="en-US" sz="2500" b="1" dirty="0"/>
            </a:br>
            <a:r>
              <a:rPr lang="en-US" sz="2500" b="1" dirty="0"/>
              <a:t>Session Plan: 2</a:t>
            </a:r>
            <a:endParaRPr lang="en-IN" sz="25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sz="2500" b="1" dirty="0">
                <a:solidFill>
                  <a:srgbClr val="002060"/>
                </a:solidFill>
              </a:rPr>
              <a:t>Summary of Last Session- 5 min</a:t>
            </a:r>
          </a:p>
          <a:p>
            <a:pPr>
              <a:buFont typeface="Wingdings" pitchFamily="2" charset="2"/>
              <a:buChar char="Ø"/>
            </a:pPr>
            <a:r>
              <a:rPr lang="en-US" sz="2500" b="1" dirty="0">
                <a:solidFill>
                  <a:srgbClr val="002060"/>
                </a:solidFill>
              </a:rPr>
              <a:t>Topic – </a:t>
            </a:r>
            <a:r>
              <a:rPr lang="en-US" sz="2800" b="1" dirty="0">
                <a:solidFill>
                  <a:srgbClr val="0070C0"/>
                </a:solidFill>
              </a:rPr>
              <a:t>Formatting of HTML Elements and Attributes of HTML</a:t>
            </a:r>
            <a:r>
              <a:rPr lang="en-US" sz="2500" b="1" dirty="0">
                <a:solidFill>
                  <a:srgbClr val="002060"/>
                </a:solidFill>
              </a:rPr>
              <a:t>-20 min </a:t>
            </a:r>
          </a:p>
          <a:p>
            <a:pPr>
              <a:buFont typeface="Wingdings" pitchFamily="2" charset="2"/>
              <a:buChar char="Ø"/>
            </a:pPr>
            <a:r>
              <a:rPr lang="en-IN" sz="2800" b="1" dirty="0">
                <a:solidFill>
                  <a:srgbClr val="002060"/>
                </a:solidFill>
              </a:rPr>
              <a:t>Split to sections- 5min</a:t>
            </a:r>
            <a:endParaRPr lang="en-US" sz="2500" b="1" dirty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IN" sz="2800" b="1" dirty="0">
                <a:solidFill>
                  <a:srgbClr val="002060"/>
                </a:solidFill>
              </a:rPr>
              <a:t>Experimentation using tool -40 min</a:t>
            </a:r>
          </a:p>
          <a:p>
            <a:pPr>
              <a:buFont typeface="Wingdings" pitchFamily="2" charset="2"/>
              <a:buChar char="Ø"/>
            </a:pPr>
            <a:r>
              <a:rPr lang="en-IN" sz="2800" b="1" dirty="0">
                <a:solidFill>
                  <a:srgbClr val="002060"/>
                </a:solidFill>
              </a:rPr>
              <a:t>Assessment and Interaction (Active Learning Method) – 10 min</a:t>
            </a:r>
          </a:p>
          <a:p>
            <a:pPr>
              <a:buFont typeface="Wingdings" pitchFamily="2" charset="2"/>
              <a:buChar char="Ø"/>
            </a:pPr>
            <a:r>
              <a:rPr lang="en-IN" sz="2800" b="1" dirty="0">
                <a:solidFill>
                  <a:srgbClr val="002060"/>
                </a:solidFill>
              </a:rPr>
              <a:t>Documenting Results Summary and result Explanation- 20 min</a:t>
            </a:r>
          </a:p>
          <a:p>
            <a:pPr>
              <a:buFont typeface="Wingdings" pitchFamily="2" charset="2"/>
              <a:buChar char="v"/>
            </a:pPr>
            <a:r>
              <a:rPr lang="en-IN" sz="2800" b="1" dirty="0">
                <a:solidFill>
                  <a:srgbClr val="002060"/>
                </a:solidFill>
              </a:rPr>
              <a:t>Submitting as Assignment in LMS</a:t>
            </a:r>
          </a:p>
          <a:p>
            <a:endParaRPr lang="en-US" sz="2500" dirty="0"/>
          </a:p>
          <a:p>
            <a:pPr>
              <a:buFont typeface="Wingdings" pitchFamily="2" charset="2"/>
              <a:buChar char="Ø"/>
            </a:pPr>
            <a:endParaRPr lang="en-IN" sz="25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828" y="0"/>
            <a:ext cx="137517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1524377" y="555874"/>
            <a:ext cx="4979963" cy="358526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SESSION </a:t>
            </a:r>
            <a:r>
              <a:rPr lang="en-US" dirty="0"/>
              <a:t>DESCRIP</a:t>
            </a:r>
            <a:r>
              <a:rPr lang="en-US" sz="1800" dirty="0"/>
              <a:t>TION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760" y="504331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HTML Document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2" name="Picture 4" descr="SS | Website Layout - GeeksforGee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95400"/>
            <a:ext cx="8458200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6072" y="-54689"/>
            <a:ext cx="137517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0526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Basic Basic HTML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b="1" dirty="0"/>
          </a:p>
          <a:p>
            <a:r>
              <a:rPr lang="en-US" sz="3500" b="1" dirty="0"/>
              <a:t>the heading </a:t>
            </a:r>
            <a:r>
              <a:rPr lang="en-US" sz="3500" b="1" dirty="0">
                <a:hlinkClick r:id="rId2"/>
              </a:rPr>
              <a:t>&lt;h1&gt;-&lt;h6&gt;</a:t>
            </a:r>
            <a:r>
              <a:rPr lang="en-US" sz="3500" b="1" dirty="0"/>
              <a:t> tags</a:t>
            </a:r>
          </a:p>
          <a:p>
            <a:r>
              <a:rPr lang="en-US" sz="3500" b="1" dirty="0"/>
              <a:t>the </a:t>
            </a:r>
            <a:r>
              <a:rPr lang="en-US" sz="3500" b="1" dirty="0">
                <a:hlinkClick r:id="rId3"/>
              </a:rPr>
              <a:t>&lt;p&gt;</a:t>
            </a:r>
            <a:r>
              <a:rPr lang="en-US" sz="3500" b="1" dirty="0"/>
              <a:t> tag</a:t>
            </a:r>
          </a:p>
          <a:p>
            <a:r>
              <a:rPr lang="en-US" sz="3500" b="1" dirty="0"/>
              <a:t>the </a:t>
            </a:r>
            <a:r>
              <a:rPr lang="en-US" sz="3500" b="1" dirty="0">
                <a:hlinkClick r:id="rId4"/>
              </a:rPr>
              <a:t>&lt;a&gt;</a:t>
            </a:r>
            <a:r>
              <a:rPr lang="en-US" sz="3500" b="1" dirty="0"/>
              <a:t> tag</a:t>
            </a:r>
          </a:p>
          <a:p>
            <a:r>
              <a:rPr lang="en-US" sz="3500" b="1" dirty="0"/>
              <a:t>the </a:t>
            </a:r>
            <a:r>
              <a:rPr lang="en-US" sz="3500" b="1" dirty="0">
                <a:hlinkClick r:id="rId5"/>
              </a:rPr>
              <a:t>&lt;img /&gt;</a:t>
            </a:r>
            <a:r>
              <a:rPr lang="en-US" sz="3500" b="1" dirty="0"/>
              <a:t> tag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828" y="0"/>
            <a:ext cx="137517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3118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HTML Elements Text Formatting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5237"/>
            <a:ext cx="8229600" cy="50292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</a:rPr>
              <a:t>&lt;b&gt;</a:t>
            </a:r>
            <a:r>
              <a:rPr lang="en-US" sz="2400" dirty="0"/>
              <a:t> - Bold text</a:t>
            </a:r>
          </a:p>
          <a:p>
            <a:r>
              <a:rPr lang="en-US" sz="2400" dirty="0">
                <a:solidFill>
                  <a:srgbClr val="0070C0"/>
                </a:solidFill>
              </a:rPr>
              <a:t>&lt;strong&gt;</a:t>
            </a:r>
            <a:r>
              <a:rPr lang="en-US" sz="2400" dirty="0"/>
              <a:t> - Important text</a:t>
            </a:r>
          </a:p>
          <a:p>
            <a:r>
              <a:rPr lang="en-US" sz="2400" dirty="0">
                <a:solidFill>
                  <a:srgbClr val="0070C0"/>
                </a:solidFill>
              </a:rPr>
              <a:t>&lt;</a:t>
            </a:r>
            <a:r>
              <a:rPr lang="en-US" sz="2400" dirty="0" err="1">
                <a:solidFill>
                  <a:srgbClr val="0070C0"/>
                </a:solidFill>
              </a:rPr>
              <a:t>i</a:t>
            </a:r>
            <a:r>
              <a:rPr lang="en-US" sz="2400" dirty="0">
                <a:solidFill>
                  <a:srgbClr val="0070C0"/>
                </a:solidFill>
              </a:rPr>
              <a:t>&gt;</a:t>
            </a:r>
            <a:r>
              <a:rPr lang="en-US" sz="2400" dirty="0"/>
              <a:t> - Italic text</a:t>
            </a:r>
          </a:p>
          <a:p>
            <a:r>
              <a:rPr lang="en-US" sz="2400" dirty="0">
                <a:solidFill>
                  <a:srgbClr val="0070C0"/>
                </a:solidFill>
              </a:rPr>
              <a:t>&lt;</a:t>
            </a:r>
            <a:r>
              <a:rPr lang="en-US" sz="2400" dirty="0" err="1">
                <a:solidFill>
                  <a:srgbClr val="0070C0"/>
                </a:solidFill>
              </a:rPr>
              <a:t>em</a:t>
            </a:r>
            <a:r>
              <a:rPr lang="en-US" sz="2400" dirty="0">
                <a:solidFill>
                  <a:srgbClr val="0070C0"/>
                </a:solidFill>
              </a:rPr>
              <a:t>&gt;</a:t>
            </a:r>
            <a:r>
              <a:rPr lang="en-US" sz="2400" dirty="0"/>
              <a:t> - Emphasized text</a:t>
            </a:r>
          </a:p>
          <a:p>
            <a:r>
              <a:rPr lang="en-US" sz="2400" dirty="0">
                <a:solidFill>
                  <a:srgbClr val="0070C0"/>
                </a:solidFill>
              </a:rPr>
              <a:t>&lt;mark&gt;</a:t>
            </a:r>
            <a:r>
              <a:rPr lang="en-US" sz="2400" dirty="0"/>
              <a:t> - Marked text</a:t>
            </a:r>
          </a:p>
          <a:p>
            <a:r>
              <a:rPr lang="en-US" sz="2400" dirty="0">
                <a:solidFill>
                  <a:srgbClr val="0070C0"/>
                </a:solidFill>
              </a:rPr>
              <a:t>&lt;small&gt;</a:t>
            </a:r>
            <a:r>
              <a:rPr lang="en-US" sz="2400" dirty="0"/>
              <a:t> - Smaller text</a:t>
            </a:r>
          </a:p>
          <a:p>
            <a:r>
              <a:rPr lang="en-US" sz="2400" dirty="0">
                <a:solidFill>
                  <a:srgbClr val="0070C0"/>
                </a:solidFill>
              </a:rPr>
              <a:t>&lt;del&gt;</a:t>
            </a:r>
            <a:r>
              <a:rPr lang="en-US" sz="2400" dirty="0"/>
              <a:t> - Deleted text</a:t>
            </a:r>
          </a:p>
          <a:p>
            <a:r>
              <a:rPr lang="en-US" sz="2400" dirty="0">
                <a:solidFill>
                  <a:srgbClr val="0070C0"/>
                </a:solidFill>
              </a:rPr>
              <a:t>&lt;ins&gt; </a:t>
            </a:r>
            <a:r>
              <a:rPr lang="en-US" sz="2400" dirty="0"/>
              <a:t>- Inserted text</a:t>
            </a:r>
          </a:p>
          <a:p>
            <a:r>
              <a:rPr lang="en-US" sz="2400" dirty="0">
                <a:solidFill>
                  <a:srgbClr val="0070C0"/>
                </a:solidFill>
              </a:rPr>
              <a:t>&lt;sub&gt;</a:t>
            </a:r>
            <a:r>
              <a:rPr lang="en-US" sz="2400" dirty="0"/>
              <a:t> - Subscript text</a:t>
            </a:r>
          </a:p>
          <a:p>
            <a:r>
              <a:rPr lang="en-US" sz="2400" dirty="0">
                <a:solidFill>
                  <a:srgbClr val="0070C0"/>
                </a:solidFill>
              </a:rPr>
              <a:t>&lt;sup&gt;</a:t>
            </a:r>
            <a:r>
              <a:rPr lang="en-US" sz="2400" dirty="0"/>
              <a:t> - Superscript text</a:t>
            </a:r>
          </a:p>
          <a:p>
            <a:r>
              <a:rPr lang="en-US" sz="2400" dirty="0">
                <a:solidFill>
                  <a:srgbClr val="0070C0"/>
                </a:solidFill>
              </a:rPr>
              <a:t>&lt;pre&gt; </a:t>
            </a:r>
            <a:r>
              <a:rPr lang="en-US" sz="2400" dirty="0"/>
              <a:t>preformatted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/>
              <a:t>Tag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828" y="0"/>
            <a:ext cx="137517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380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305800" cy="5867400"/>
          </a:xfrm>
        </p:spPr>
        <p:txBody>
          <a:bodyPr/>
          <a:lstStyle/>
          <a:p>
            <a:r>
              <a:rPr lang="en-IN" dirty="0"/>
              <a:t>The HTML &lt;strong&gt; element defines text with strong importance. The 	content inside is typically displayed in bold.	</a:t>
            </a:r>
          </a:p>
          <a:p>
            <a:pPr>
              <a:buNone/>
            </a:pPr>
            <a:r>
              <a:rPr lang="en-IN" dirty="0"/>
              <a:t>&lt;strong&gt;This text is important!&lt;/strong&gt;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829" y="0"/>
            <a:ext cx="137517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3200400"/>
            <a:ext cx="7620000" cy="344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533400"/>
            <a:ext cx="8229600" cy="5821363"/>
          </a:xfrm>
        </p:spPr>
        <p:txBody>
          <a:bodyPr/>
          <a:lstStyle/>
          <a:p>
            <a:pPr>
              <a:buNone/>
            </a:pPr>
            <a:r>
              <a:rPr lang="en-IN" b="1" dirty="0" err="1"/>
              <a:t>i</a:t>
            </a:r>
            <a:r>
              <a:rPr lang="en-IN" b="1" dirty="0"/>
              <a:t>) HTML &lt;b&gt; and &lt;strong&gt; Elements:</a:t>
            </a:r>
          </a:p>
          <a:p>
            <a:pPr>
              <a:buNone/>
            </a:pPr>
            <a:r>
              <a:rPr lang="en-IN" dirty="0"/>
              <a:t>The HTML &lt;b&gt; element defines bold text, without any extra importance.</a:t>
            </a:r>
          </a:p>
          <a:p>
            <a:pPr>
              <a:buNone/>
            </a:pPr>
            <a:r>
              <a:rPr lang="en-IN" dirty="0"/>
              <a:t>&lt;b&gt;This text is bold&lt;/b&gt;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829" y="0"/>
            <a:ext cx="137517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 descr="C:\Users\Indra reddy\Desktop\Exp2 Images\bold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3048000"/>
            <a:ext cx="7086600" cy="340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81000"/>
            <a:ext cx="8382000" cy="6248400"/>
          </a:xfrm>
        </p:spPr>
        <p:txBody>
          <a:bodyPr/>
          <a:lstStyle/>
          <a:p>
            <a:pPr>
              <a:buNone/>
            </a:pPr>
            <a:r>
              <a:rPr lang="en-IN" b="1" dirty="0"/>
              <a:t>ii) HTML &lt;</a:t>
            </a:r>
            <a:r>
              <a:rPr lang="en-IN" b="1" dirty="0" err="1"/>
              <a:t>i</a:t>
            </a:r>
            <a:r>
              <a:rPr lang="en-IN" b="1" dirty="0"/>
              <a:t>&gt; and &lt;</a:t>
            </a:r>
            <a:r>
              <a:rPr lang="en-IN" b="1" dirty="0" err="1"/>
              <a:t>em</a:t>
            </a:r>
            <a:r>
              <a:rPr lang="en-IN" b="1" dirty="0"/>
              <a:t>&gt; Elements</a:t>
            </a:r>
            <a:endParaRPr lang="en-IN" dirty="0"/>
          </a:p>
          <a:p>
            <a:r>
              <a:rPr lang="en-US" sz="2500" dirty="0"/>
              <a:t>The HTML &lt;</a:t>
            </a:r>
            <a:r>
              <a:rPr lang="en-US" sz="2500" dirty="0" err="1"/>
              <a:t>i</a:t>
            </a:r>
            <a:r>
              <a:rPr lang="en-US" sz="2500" dirty="0"/>
              <a:t>&gt; element defines a part of text in an alternate voice or mood.</a:t>
            </a:r>
            <a:endParaRPr lang="en-IN" sz="2500" dirty="0"/>
          </a:p>
          <a:p>
            <a:r>
              <a:rPr lang="en-US" sz="2500" dirty="0"/>
              <a:t>The content inside is typically displayed in italic.</a:t>
            </a:r>
            <a:endParaRPr lang="en-IN" sz="2500" dirty="0"/>
          </a:p>
          <a:p>
            <a:pPr>
              <a:buNone/>
            </a:pPr>
            <a:r>
              <a:rPr lang="en-US" sz="2500" dirty="0"/>
              <a:t> 	&lt;</a:t>
            </a:r>
            <a:r>
              <a:rPr lang="en-US" sz="2500" dirty="0" err="1"/>
              <a:t>i</a:t>
            </a:r>
            <a:r>
              <a:rPr lang="en-US" sz="2500" dirty="0"/>
              <a:t>&gt;This text is italic&lt;/</a:t>
            </a:r>
            <a:r>
              <a:rPr lang="en-US" sz="2500" dirty="0" err="1"/>
              <a:t>i</a:t>
            </a:r>
            <a:r>
              <a:rPr lang="en-US" sz="2500" dirty="0"/>
              <a:t>&gt;</a:t>
            </a:r>
            <a:endParaRPr lang="en-IN" sz="2500" dirty="0"/>
          </a:p>
          <a:p>
            <a:pPr>
              <a:buNone/>
            </a:pP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829" y="0"/>
            <a:ext cx="137517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2895600"/>
            <a:ext cx="7239000" cy="3703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381000"/>
            <a:ext cx="7391400" cy="6248400"/>
          </a:xfrm>
        </p:spPr>
        <p:txBody>
          <a:bodyPr/>
          <a:lstStyle/>
          <a:p>
            <a:pPr algn="just"/>
            <a:r>
              <a:rPr lang="en-IN" dirty="0"/>
              <a:t>The HTML &lt;</a:t>
            </a:r>
            <a:r>
              <a:rPr lang="en-IN" dirty="0" err="1"/>
              <a:t>em</a:t>
            </a:r>
            <a:r>
              <a:rPr lang="en-IN" dirty="0"/>
              <a:t>&gt; element defines emphasized text. The content inside is typically displayed in italic.</a:t>
            </a:r>
          </a:p>
          <a:p>
            <a:pPr>
              <a:buNone/>
            </a:pPr>
            <a:r>
              <a:rPr lang="en-IN" dirty="0"/>
              <a:t>		&lt;</a:t>
            </a:r>
            <a:r>
              <a:rPr lang="en-IN" dirty="0" err="1"/>
              <a:t>em</a:t>
            </a:r>
            <a:r>
              <a:rPr lang="en-IN" dirty="0"/>
              <a:t>&gt;This text is emphasized&lt;/</a:t>
            </a:r>
            <a:r>
              <a:rPr lang="en-IN" dirty="0" err="1"/>
              <a:t>em</a:t>
            </a:r>
            <a:r>
              <a:rPr lang="en-IN" dirty="0"/>
              <a:t>&gt;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819400"/>
            <a:ext cx="70104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829" y="0"/>
            <a:ext cx="137517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096000"/>
          </a:xfrm>
        </p:spPr>
        <p:txBody>
          <a:bodyPr/>
          <a:lstStyle/>
          <a:p>
            <a:r>
              <a:rPr lang="en-IN" b="1" dirty="0"/>
              <a:t>iii) HTML &lt;small&gt; Element</a:t>
            </a:r>
            <a:endParaRPr lang="en-IN" dirty="0"/>
          </a:p>
          <a:p>
            <a:r>
              <a:rPr lang="en-IN" dirty="0"/>
              <a:t>The HTML &lt;small&gt; element defines smaller text</a:t>
            </a:r>
          </a:p>
          <a:p>
            <a:pPr>
              <a:buNone/>
            </a:pPr>
            <a:r>
              <a:rPr lang="en-IN" dirty="0"/>
              <a:t>		&lt;small&gt;This is some smaller text</a:t>
            </a:r>
            <a:r>
              <a:rPr lang="en-IN"/>
              <a:t>.&lt;/small&gt;</a:t>
            </a:r>
            <a:endParaRPr lang="en-IN" dirty="0"/>
          </a:p>
          <a:p>
            <a:pPr>
              <a:buNone/>
            </a:pPr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829" y="0"/>
            <a:ext cx="137517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2971800"/>
            <a:ext cx="7391400" cy="3617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324600"/>
          </a:xfrm>
        </p:spPr>
        <p:txBody>
          <a:bodyPr/>
          <a:lstStyle/>
          <a:p>
            <a:pPr>
              <a:buNone/>
            </a:pPr>
            <a:r>
              <a:rPr lang="en-IN" b="1" dirty="0"/>
              <a:t>iv) HTML &lt;mark&gt; Element</a:t>
            </a:r>
            <a:endParaRPr lang="en-IN" dirty="0"/>
          </a:p>
          <a:p>
            <a:r>
              <a:rPr lang="en-IN" sz="2500" dirty="0"/>
              <a:t>The HTML &lt;mark&gt; element defines text that should be marked or highlighted:</a:t>
            </a:r>
          </a:p>
          <a:p>
            <a:pPr>
              <a:buNone/>
            </a:pPr>
            <a:r>
              <a:rPr lang="en-IN" sz="2500" dirty="0"/>
              <a:t>&lt;p&gt;Do not forget to buy &lt;mark&gt;milk&lt;/mark&gt; today.&lt;/p&gt;</a:t>
            </a:r>
          </a:p>
          <a:p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829" y="0"/>
            <a:ext cx="137517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2362200"/>
            <a:ext cx="7315200" cy="42071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HTML 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000" b="1" dirty="0"/>
              <a:t>All HTML elements can have </a:t>
            </a:r>
            <a:r>
              <a:rPr lang="en-US" sz="3000" b="1" dirty="0">
                <a:solidFill>
                  <a:srgbClr val="0070C0"/>
                </a:solidFill>
              </a:rPr>
              <a:t>attributes</a:t>
            </a:r>
          </a:p>
          <a:p>
            <a:endParaRPr lang="en-US" sz="3000" b="1" dirty="0"/>
          </a:p>
          <a:p>
            <a:r>
              <a:rPr lang="en-US" sz="3000" b="1" dirty="0"/>
              <a:t>Attributes provide </a:t>
            </a:r>
            <a:r>
              <a:rPr lang="en-US" sz="3000" b="1" dirty="0">
                <a:solidFill>
                  <a:srgbClr val="0070C0"/>
                </a:solidFill>
              </a:rPr>
              <a:t>additional information</a:t>
            </a:r>
            <a:r>
              <a:rPr lang="en-US" sz="3000" b="1" dirty="0"/>
              <a:t> about elements</a:t>
            </a:r>
          </a:p>
          <a:p>
            <a:pPr>
              <a:buNone/>
            </a:pPr>
            <a:endParaRPr lang="en-US" sz="3000" b="1" dirty="0"/>
          </a:p>
          <a:p>
            <a:r>
              <a:rPr lang="en-US" sz="3000" b="1" dirty="0"/>
              <a:t>Attributes are always specified in </a:t>
            </a:r>
            <a:r>
              <a:rPr lang="en-US" sz="3000" b="1" dirty="0">
                <a:solidFill>
                  <a:srgbClr val="0070C0"/>
                </a:solidFill>
              </a:rPr>
              <a:t>the start tag</a:t>
            </a:r>
          </a:p>
          <a:p>
            <a:endParaRPr lang="en-US" sz="3000" b="1" dirty="0"/>
          </a:p>
          <a:p>
            <a:r>
              <a:rPr lang="en-US" sz="3000" b="1" dirty="0"/>
              <a:t>Attributes usually come in name/value pairs like: </a:t>
            </a:r>
            <a:r>
              <a:rPr lang="en-US" sz="3000" b="1" dirty="0">
                <a:solidFill>
                  <a:srgbClr val="0070C0"/>
                </a:solidFill>
              </a:rPr>
              <a:t>name="value"</a:t>
            </a:r>
          </a:p>
          <a:p>
            <a:endParaRPr lang="en-US" sz="24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828" y="0"/>
            <a:ext cx="137517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9218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920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Style Attribute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6934200" cy="1066800"/>
          </a:xfrm>
        </p:spPr>
        <p:txBody>
          <a:bodyPr/>
          <a:lstStyle/>
          <a:p>
            <a:pPr>
              <a:buNone/>
            </a:pPr>
            <a:endParaRPr lang="en-US" dirty="0"/>
          </a:p>
        </p:txBody>
      </p:sp>
      <p:pic>
        <p:nvPicPr>
          <p:cNvPr id="1026" name="Picture 2" descr="TML Containers and Style Attributes - Part 4 — Data Shop Tal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143000"/>
            <a:ext cx="8020555" cy="3153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xercise 2 Demo Part 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62710"/>
            <a:ext cx="8077200" cy="2549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828" y="0"/>
            <a:ext cx="137517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28138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Style Attribute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&lt;</a:t>
            </a:r>
            <a:r>
              <a:rPr lang="en-US" sz="2400" i="1" dirty="0" err="1"/>
              <a:t>tagname</a:t>
            </a:r>
            <a:r>
              <a:rPr lang="en-US" sz="2400" dirty="0"/>
              <a:t> </a:t>
            </a:r>
            <a:r>
              <a:rPr lang="en-US" sz="2400" dirty="0">
                <a:solidFill>
                  <a:srgbClr val="0070C0"/>
                </a:solidFill>
              </a:rPr>
              <a:t>style="</a:t>
            </a:r>
            <a:r>
              <a:rPr lang="en-US" sz="2400" i="1" dirty="0" err="1">
                <a:solidFill>
                  <a:srgbClr val="0070C0"/>
                </a:solidFill>
              </a:rPr>
              <a:t>property</a:t>
            </a:r>
            <a:r>
              <a:rPr lang="en-US" sz="2400" dirty="0" err="1">
                <a:solidFill>
                  <a:srgbClr val="0070C0"/>
                </a:solidFill>
              </a:rPr>
              <a:t>:</a:t>
            </a:r>
            <a:r>
              <a:rPr lang="en-US" sz="2400" i="1" dirty="0" err="1">
                <a:solidFill>
                  <a:srgbClr val="0070C0"/>
                </a:solidFill>
              </a:rPr>
              <a:t>value</a:t>
            </a:r>
            <a:r>
              <a:rPr lang="en-US" sz="2400" i="1" dirty="0">
                <a:solidFill>
                  <a:srgbClr val="0070C0"/>
                </a:solidFill>
              </a:rPr>
              <a:t>;</a:t>
            </a:r>
            <a:r>
              <a:rPr lang="en-US" sz="2400" dirty="0">
                <a:solidFill>
                  <a:srgbClr val="0070C0"/>
                </a:solidFill>
              </a:rPr>
              <a:t>"</a:t>
            </a:r>
            <a:r>
              <a:rPr lang="en-US" sz="2400" dirty="0"/>
              <a:t>&gt;</a:t>
            </a:r>
          </a:p>
          <a:p>
            <a:r>
              <a:rPr lang="en-US" sz="2400" b="1" dirty="0"/>
              <a:t>Background Color</a:t>
            </a:r>
          </a:p>
          <a:p>
            <a:pPr marL="400050" lvl="1" indent="0">
              <a:buNone/>
            </a:pPr>
            <a:r>
              <a:rPr lang="en-US" sz="2000" dirty="0"/>
              <a:t>&lt;p </a:t>
            </a:r>
            <a:r>
              <a:rPr lang="en-US" sz="2000" dirty="0">
                <a:solidFill>
                  <a:srgbClr val="0070C0"/>
                </a:solidFill>
              </a:rPr>
              <a:t>style="</a:t>
            </a:r>
            <a:r>
              <a:rPr lang="en-US" sz="2000" dirty="0" err="1">
                <a:solidFill>
                  <a:srgbClr val="0070C0"/>
                </a:solidFill>
              </a:rPr>
              <a:t>background-color:powderblue</a:t>
            </a:r>
            <a:r>
              <a:rPr lang="en-US" sz="2000" dirty="0"/>
              <a:t>;"&gt;</a:t>
            </a:r>
            <a:r>
              <a:rPr lang="mr-IN" sz="2000" dirty="0"/>
              <a:t>…</a:t>
            </a:r>
            <a:r>
              <a:rPr lang="en-US" sz="2000" dirty="0"/>
              <a:t>&lt;/p&gt;</a:t>
            </a:r>
          </a:p>
          <a:p>
            <a:pPr marL="400050" lvl="1" indent="0">
              <a:buNone/>
            </a:pPr>
            <a:r>
              <a:rPr lang="en-US" sz="2000" dirty="0"/>
              <a:t>Set background color for two different elements:</a:t>
            </a:r>
          </a:p>
          <a:p>
            <a:endParaRPr lang="en-US" sz="2400" b="1" dirty="0"/>
          </a:p>
          <a:p>
            <a:r>
              <a:rPr lang="en-US" sz="2400" b="1" dirty="0"/>
              <a:t>Text Color</a:t>
            </a:r>
          </a:p>
          <a:p>
            <a:pPr marL="457200" lvl="1" indent="0">
              <a:buNone/>
            </a:pPr>
            <a:r>
              <a:rPr lang="en-US" sz="2000" dirty="0"/>
              <a:t>&lt;h1 style="</a:t>
            </a:r>
            <a:r>
              <a:rPr lang="en-US" sz="2000" dirty="0" err="1">
                <a:solidFill>
                  <a:srgbClr val="0070C0"/>
                </a:solidFill>
              </a:rPr>
              <a:t>color:blue</a:t>
            </a:r>
            <a:r>
              <a:rPr lang="en-US" sz="2000" dirty="0">
                <a:solidFill>
                  <a:srgbClr val="0070C0"/>
                </a:solidFill>
              </a:rPr>
              <a:t>;</a:t>
            </a:r>
            <a:r>
              <a:rPr lang="en-US" sz="2000" dirty="0"/>
              <a:t>"&gt;This is a heading&lt;/h1&gt;</a:t>
            </a:r>
            <a:br>
              <a:rPr lang="en-US" sz="2000" dirty="0"/>
            </a:br>
            <a:r>
              <a:rPr lang="en-US" sz="2000" dirty="0"/>
              <a:t>&lt;p style="</a:t>
            </a:r>
            <a:r>
              <a:rPr lang="en-US" sz="2000" dirty="0" err="1">
                <a:solidFill>
                  <a:srgbClr val="0070C0"/>
                </a:solidFill>
              </a:rPr>
              <a:t>color:red</a:t>
            </a:r>
            <a:r>
              <a:rPr lang="en-US" sz="2000" dirty="0">
                <a:solidFill>
                  <a:srgbClr val="0070C0"/>
                </a:solidFill>
              </a:rPr>
              <a:t>;</a:t>
            </a:r>
            <a:r>
              <a:rPr lang="en-US" sz="2000" dirty="0"/>
              <a:t>"&gt;This is a paragraph.&lt;/p&gt;</a:t>
            </a:r>
          </a:p>
          <a:p>
            <a:endParaRPr lang="en-US" sz="2400" b="1" dirty="0"/>
          </a:p>
          <a:p>
            <a:r>
              <a:rPr lang="en-US" sz="2400" b="1" dirty="0"/>
              <a:t>Fonts</a:t>
            </a:r>
          </a:p>
          <a:p>
            <a:pPr marL="457200" lvl="1" indent="0">
              <a:buNone/>
            </a:pPr>
            <a:r>
              <a:rPr lang="en-US" sz="2000" dirty="0"/>
              <a:t>&lt;h1 style="</a:t>
            </a:r>
            <a:r>
              <a:rPr lang="en-US" sz="2000" dirty="0" err="1">
                <a:solidFill>
                  <a:srgbClr val="0070C0"/>
                </a:solidFill>
              </a:rPr>
              <a:t>font-family:verdana</a:t>
            </a:r>
            <a:r>
              <a:rPr lang="en-US" sz="2000" dirty="0"/>
              <a:t>;"&gt;This is a heading&lt;/h1&gt;</a:t>
            </a:r>
            <a:br>
              <a:rPr lang="en-US" sz="2000" dirty="0"/>
            </a:br>
            <a:r>
              <a:rPr lang="en-US" sz="2000" dirty="0"/>
              <a:t>&lt;p style="</a:t>
            </a:r>
            <a:r>
              <a:rPr lang="en-US" sz="2000" dirty="0" err="1">
                <a:solidFill>
                  <a:srgbClr val="0070C0"/>
                </a:solidFill>
              </a:rPr>
              <a:t>font-family:courier</a:t>
            </a:r>
            <a:r>
              <a:rPr lang="en-US" sz="2000" dirty="0"/>
              <a:t>;"&gt;This is a paragraph.&lt;/p&gt;</a:t>
            </a:r>
          </a:p>
          <a:p>
            <a:endParaRPr lang="en-US" sz="24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828" y="0"/>
            <a:ext cx="137517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41300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The Style Attribute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Text Size</a:t>
            </a:r>
          </a:p>
          <a:p>
            <a:pPr marL="457200" lvl="1" indent="0">
              <a:buNone/>
            </a:pPr>
            <a:r>
              <a:rPr lang="en-US" sz="2000" dirty="0"/>
              <a:t>&lt;h1 style="</a:t>
            </a:r>
            <a:r>
              <a:rPr lang="en-US" sz="2000" dirty="0">
                <a:solidFill>
                  <a:srgbClr val="0070C0"/>
                </a:solidFill>
              </a:rPr>
              <a:t>font-size:300%</a:t>
            </a:r>
            <a:r>
              <a:rPr lang="en-US" sz="2000" dirty="0"/>
              <a:t>;"&gt;This is a heading&lt;/h1&gt;</a:t>
            </a:r>
            <a:br>
              <a:rPr lang="en-US" sz="2000" dirty="0"/>
            </a:br>
            <a:r>
              <a:rPr lang="en-US" sz="2000" dirty="0"/>
              <a:t>&lt;p style="</a:t>
            </a:r>
            <a:r>
              <a:rPr lang="en-US" sz="2000" dirty="0">
                <a:solidFill>
                  <a:srgbClr val="0070C0"/>
                </a:solidFill>
              </a:rPr>
              <a:t>font-size:160%</a:t>
            </a:r>
            <a:r>
              <a:rPr lang="en-US" sz="2000" dirty="0"/>
              <a:t>;"&gt;This is a paragraph.&lt;/p&gt; </a:t>
            </a:r>
          </a:p>
          <a:p>
            <a:endParaRPr lang="en-US" sz="2400" dirty="0"/>
          </a:p>
          <a:p>
            <a:r>
              <a:rPr lang="en-US" sz="2400" b="1" dirty="0"/>
              <a:t>Text Alignment</a:t>
            </a:r>
          </a:p>
          <a:p>
            <a:pPr marL="457200" lvl="1" indent="0">
              <a:buNone/>
            </a:pPr>
            <a:r>
              <a:rPr lang="en-US" sz="2000" dirty="0"/>
              <a:t>&lt;h1 style="</a:t>
            </a:r>
            <a:r>
              <a:rPr lang="en-US" sz="2000" dirty="0" err="1">
                <a:solidFill>
                  <a:srgbClr val="0070C0"/>
                </a:solidFill>
              </a:rPr>
              <a:t>text-align:center</a:t>
            </a:r>
            <a:r>
              <a:rPr lang="en-US" sz="2000" dirty="0">
                <a:solidFill>
                  <a:srgbClr val="0070C0"/>
                </a:solidFill>
              </a:rPr>
              <a:t>;</a:t>
            </a:r>
            <a:r>
              <a:rPr lang="en-US" sz="2000" dirty="0"/>
              <a:t>"&gt;Centered Heading&lt;/h1&gt;</a:t>
            </a:r>
            <a:br>
              <a:rPr lang="en-US" sz="2000" dirty="0"/>
            </a:br>
            <a:r>
              <a:rPr lang="en-US" sz="2000" dirty="0"/>
              <a:t>&lt;p style="</a:t>
            </a:r>
            <a:r>
              <a:rPr lang="en-US" sz="2000" dirty="0" err="1">
                <a:solidFill>
                  <a:srgbClr val="0070C0"/>
                </a:solidFill>
              </a:rPr>
              <a:t>text-align:center</a:t>
            </a:r>
            <a:r>
              <a:rPr lang="en-US" sz="2000" dirty="0">
                <a:solidFill>
                  <a:srgbClr val="0070C0"/>
                </a:solidFill>
              </a:rPr>
              <a:t>;</a:t>
            </a:r>
            <a:r>
              <a:rPr lang="en-US" sz="2000" dirty="0"/>
              <a:t>"&gt;Centered paragraph.&lt;/p&gt;</a:t>
            </a:r>
          </a:p>
          <a:p>
            <a:endParaRPr lang="en-US" sz="24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828" y="0"/>
            <a:ext cx="137517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0885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 lvl="0">
              <a:buNone/>
            </a:pPr>
            <a:r>
              <a:rPr lang="en-IN" b="1" dirty="0"/>
              <a:t>The </a:t>
            </a:r>
            <a:r>
              <a:rPr lang="en-IN" b="1" dirty="0" err="1"/>
              <a:t>href</a:t>
            </a:r>
            <a:r>
              <a:rPr lang="en-IN" b="1" dirty="0"/>
              <a:t> Attribute:</a:t>
            </a:r>
          </a:p>
          <a:p>
            <a:r>
              <a:rPr lang="en-IN" sz="2000" dirty="0"/>
              <a:t>The &lt;a&gt; tag defines a hyperlink. The </a:t>
            </a:r>
            <a:r>
              <a:rPr lang="en-IN" sz="2000" dirty="0" err="1"/>
              <a:t>href</a:t>
            </a:r>
            <a:r>
              <a:rPr lang="en-IN" sz="2000" dirty="0"/>
              <a:t> attribute specifies the URL of the page the link goes to:</a:t>
            </a:r>
          </a:p>
          <a:p>
            <a:r>
              <a:rPr lang="en-IN" sz="2000" dirty="0"/>
              <a:t>&lt;a </a:t>
            </a:r>
            <a:r>
              <a:rPr lang="en-IN" sz="2000" dirty="0" err="1"/>
              <a:t>href</a:t>
            </a:r>
            <a:r>
              <a:rPr lang="en-IN" sz="2000" dirty="0"/>
              <a:t>="</a:t>
            </a:r>
            <a:r>
              <a:rPr lang="en-IN" sz="2000" u="sng" dirty="0">
                <a:hlinkClick r:id="rId2"/>
              </a:rPr>
              <a:t>https://www.kluniversity.in/</a:t>
            </a:r>
            <a:r>
              <a:rPr lang="en-IN" sz="2000" dirty="0"/>
              <a:t> "&gt; Visit K L University web site &lt;/a&gt;</a:t>
            </a:r>
          </a:p>
          <a:p>
            <a:endParaRPr lang="en-IN" dirty="0"/>
          </a:p>
          <a:p>
            <a:pPr>
              <a:buNone/>
            </a:pPr>
            <a:endParaRPr lang="en-US" dirty="0"/>
          </a:p>
        </p:txBody>
      </p:sp>
      <p:pic>
        <p:nvPicPr>
          <p:cNvPr id="6" name="Picture 5" descr="C:\Users\Indra reddy\Desktop\href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2819400"/>
            <a:ext cx="67818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828" y="0"/>
            <a:ext cx="137517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760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pPr lvl="0">
              <a:buNone/>
            </a:pPr>
            <a:r>
              <a:rPr lang="en-IN" b="1" dirty="0"/>
              <a:t>The </a:t>
            </a:r>
            <a:r>
              <a:rPr lang="en-IN" b="1" dirty="0" err="1"/>
              <a:t>src</a:t>
            </a:r>
            <a:r>
              <a:rPr lang="en-IN" b="1" dirty="0"/>
              <a:t> Attribute:</a:t>
            </a:r>
          </a:p>
          <a:p>
            <a:r>
              <a:rPr lang="en-IN" sz="2500" dirty="0"/>
              <a:t>The &lt;</a:t>
            </a:r>
            <a:r>
              <a:rPr lang="en-IN" sz="2500" dirty="0" err="1"/>
              <a:t>img</a:t>
            </a:r>
            <a:r>
              <a:rPr lang="en-IN" sz="2500" dirty="0"/>
              <a:t>&gt; tag is used to embed an image in an HTML page. The </a:t>
            </a:r>
            <a:r>
              <a:rPr lang="en-IN" sz="2500" dirty="0" err="1"/>
              <a:t>src</a:t>
            </a:r>
            <a:r>
              <a:rPr lang="en-IN" sz="2500" dirty="0"/>
              <a:t> attribute specifies the path to the image to be displayed: &lt;</a:t>
            </a:r>
            <a:r>
              <a:rPr lang="en-IN" sz="2500" dirty="0" err="1"/>
              <a:t>img</a:t>
            </a:r>
            <a:r>
              <a:rPr lang="en-IN" sz="2500" dirty="0"/>
              <a:t> </a:t>
            </a:r>
            <a:r>
              <a:rPr lang="en-IN" sz="2500" dirty="0" err="1"/>
              <a:t>src</a:t>
            </a:r>
            <a:r>
              <a:rPr lang="en-IN" sz="2500" dirty="0"/>
              <a:t>="KL_logo.jpg"&gt;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828" y="0"/>
            <a:ext cx="137517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 descr="C:\Users\Indra reddy\Desktop\img tag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2971800"/>
            <a:ext cx="73914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457200"/>
            <a:ext cx="8229600" cy="6096000"/>
          </a:xfrm>
        </p:spPr>
        <p:txBody>
          <a:bodyPr/>
          <a:lstStyle/>
          <a:p>
            <a:pPr lvl="0">
              <a:buNone/>
            </a:pPr>
            <a:r>
              <a:rPr lang="en-IN" b="1" dirty="0"/>
              <a:t>The width and height Attributes:</a:t>
            </a:r>
          </a:p>
          <a:p>
            <a:r>
              <a:rPr lang="en-IN" sz="2500" dirty="0"/>
              <a:t>The &lt;</a:t>
            </a:r>
            <a:r>
              <a:rPr lang="en-IN" sz="2500" dirty="0" err="1"/>
              <a:t>img</a:t>
            </a:r>
            <a:r>
              <a:rPr lang="en-IN" sz="2500" dirty="0"/>
              <a:t>&gt; tag should also contain the width and height attributes, which specifies the width and height of the image (in pixels):</a:t>
            </a:r>
          </a:p>
          <a:p>
            <a:r>
              <a:rPr lang="en-IN" sz="2500" dirty="0"/>
              <a:t>&lt;</a:t>
            </a:r>
            <a:r>
              <a:rPr lang="en-IN" sz="2500" dirty="0" err="1"/>
              <a:t>img</a:t>
            </a:r>
            <a:r>
              <a:rPr lang="en-IN" sz="2500" dirty="0"/>
              <a:t> </a:t>
            </a:r>
            <a:r>
              <a:rPr lang="en-IN" sz="2500" dirty="0" err="1"/>
              <a:t>src</a:t>
            </a:r>
            <a:r>
              <a:rPr lang="en-IN" sz="2500" dirty="0"/>
              <a:t>="KL_logo.jpg" width="500" height="600"&gt;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828" y="0"/>
            <a:ext cx="137517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2971800"/>
            <a:ext cx="68580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858000"/>
          </a:xfrm>
        </p:spPr>
        <p:txBody>
          <a:bodyPr/>
          <a:lstStyle/>
          <a:p>
            <a:pPr lvl="0">
              <a:buNone/>
            </a:pPr>
            <a:r>
              <a:rPr lang="en-IN" b="1" dirty="0"/>
              <a:t>The alt Attribute:</a:t>
            </a:r>
          </a:p>
          <a:p>
            <a:r>
              <a:rPr lang="en-IN" sz="2500" dirty="0"/>
              <a:t>The required alt attribute for the &lt;</a:t>
            </a:r>
            <a:r>
              <a:rPr lang="en-IN" sz="2500" dirty="0" err="1"/>
              <a:t>img</a:t>
            </a:r>
            <a:r>
              <a:rPr lang="en-IN" sz="2500" dirty="0"/>
              <a:t>&gt; tag specifies an alternate text for an image, if the image for some reason cannot be displayed. This can be due to slow connection, or an error in the </a:t>
            </a:r>
            <a:r>
              <a:rPr lang="en-IN" sz="2500" dirty="0" err="1"/>
              <a:t>src</a:t>
            </a:r>
            <a:r>
              <a:rPr lang="en-IN" sz="2500" dirty="0"/>
              <a:t> attribute, or if the user uses a screen reader.</a:t>
            </a:r>
          </a:p>
          <a:p>
            <a:r>
              <a:rPr lang="en-IN" sz="2500" dirty="0"/>
              <a:t>&lt;</a:t>
            </a:r>
            <a:r>
              <a:rPr lang="en-IN" sz="2500" dirty="0" err="1"/>
              <a:t>img</a:t>
            </a:r>
            <a:r>
              <a:rPr lang="en-IN" sz="2500" dirty="0"/>
              <a:t> </a:t>
            </a:r>
            <a:r>
              <a:rPr lang="en-IN" sz="2500" dirty="0" err="1"/>
              <a:t>src</a:t>
            </a:r>
            <a:r>
              <a:rPr lang="en-IN" sz="2500" dirty="0"/>
              <a:t>="</a:t>
            </a:r>
            <a:r>
              <a:rPr lang="en-IN" sz="2500" dirty="0" err="1"/>
              <a:t>KL_logo</a:t>
            </a:r>
            <a:r>
              <a:rPr lang="en-IN" sz="2500" dirty="0"/>
              <a:t>" alt="no image"&gt;</a:t>
            </a:r>
          </a:p>
          <a:p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828" y="0"/>
            <a:ext cx="137517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 descr="C:\Users\Indra reddy\Desktop\alt attribute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3276600"/>
            <a:ext cx="70104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giphy.gif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228600"/>
            <a:ext cx="6496050" cy="6164135"/>
          </a:xfr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Assignment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Create a HTML Document with Text Formatting and Styles.</a:t>
            </a:r>
          </a:p>
          <a:p>
            <a:r>
              <a:rPr lang="en-IN" b="1" dirty="0"/>
              <a:t>Create a hyper link with HTML Attributes and add image with Alt text message.</a:t>
            </a:r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2648244" y="920556"/>
            <a:ext cx="4811150" cy="420082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SUMMARY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57250"/>
            <a:ext cx="1493044" cy="450057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812409" y="1796269"/>
            <a:ext cx="7778138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</a:rPr>
              <a:t>Understanding about </a:t>
            </a:r>
            <a:r>
              <a:rPr lang="en-US" sz="2100" dirty="0"/>
              <a:t>the HTML elements and attributes</a:t>
            </a:r>
          </a:p>
          <a:p>
            <a:pPr algn="just"/>
            <a:endParaRPr lang="en-US" sz="2100" dirty="0">
              <a:latin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100" dirty="0">
              <a:latin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100" dirty="0">
              <a:latin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100" dirty="0">
              <a:latin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100" dirty="0">
              <a:latin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75535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2542977" y="928338"/>
            <a:ext cx="4058046" cy="30922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757421" y="1677117"/>
            <a:ext cx="7629158" cy="532683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257175" indent="-257175">
              <a:buFont typeface="+mj-lt"/>
              <a:buAutoNum type="arabicPeriod"/>
            </a:pPr>
            <a:r>
              <a:rPr lang="en-IN" sz="1200" dirty="0">
                <a:sym typeface="Calibri"/>
              </a:rPr>
              <a:t>Mention different types of </a:t>
            </a:r>
            <a:r>
              <a:rPr lang="en-US" sz="1200" dirty="0"/>
              <a:t>HTML elements </a:t>
            </a:r>
            <a:endParaRPr sz="12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757421" y="3722507"/>
            <a:ext cx="7629158" cy="532683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257175" indent="-257175">
              <a:buFont typeface="+mj-lt"/>
              <a:buAutoNum type="arabicPeriod" startAt="2"/>
            </a:pPr>
            <a:r>
              <a:rPr lang="en-IN" sz="1200" dirty="0"/>
              <a:t>Mention different commands of </a:t>
            </a:r>
            <a:r>
              <a:rPr lang="en-US" sz="1200" dirty="0"/>
              <a:t>HTML attributes</a:t>
            </a:r>
            <a:r>
              <a:rPr lang="en-IN" sz="1200" dirty="0"/>
              <a:t>.</a:t>
            </a:r>
          </a:p>
          <a:p>
            <a:pPr marL="257175" indent="-257175">
              <a:spcBef>
                <a:spcPts val="0"/>
              </a:spcBef>
              <a:spcAft>
                <a:spcPts val="0"/>
              </a:spcAft>
              <a:buFont typeface="+mj-lt"/>
              <a:buAutoNum type="arabicPeriod" startAt="2"/>
            </a:pPr>
            <a:endParaRPr sz="12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57250"/>
            <a:ext cx="1493044" cy="4500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38484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542977" y="928338"/>
            <a:ext cx="4058046" cy="30922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32997" y="2426138"/>
            <a:ext cx="7206176" cy="1054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+mj-lt"/>
              <a:buAutoNum type="arabicPeriod"/>
            </a:pPr>
            <a:r>
              <a:rPr lang="en-IN" sz="135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Enlist types of </a:t>
            </a:r>
            <a:r>
              <a:rPr lang="en-US" sz="1400" dirty="0"/>
              <a:t>HTML elements </a:t>
            </a:r>
          </a:p>
          <a:p>
            <a:pPr marL="257175" indent="-257175">
              <a:buFont typeface="+mj-lt"/>
              <a:buAutoNum type="arabicPeriod"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3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IN" sz="135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   Enlist different </a:t>
            </a:r>
            <a:r>
              <a:rPr lang="en-US" sz="1400" dirty="0"/>
              <a:t>HTML attributes</a:t>
            </a:r>
            <a:endParaRPr lang="en-US" sz="1200" dirty="0"/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57250"/>
            <a:ext cx="1493044" cy="4500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486192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1951893" y="2249951"/>
            <a:ext cx="5940083" cy="216290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18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1800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18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18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18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18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18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18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18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35900" y="2777491"/>
            <a:ext cx="2426678" cy="8124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09306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314</Words>
  <Application>Microsoft Office PowerPoint</Application>
  <PresentationFormat>On-screen Show (4:3)</PresentationFormat>
  <Paragraphs>156</Paragraphs>
  <Slides>28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PowerPoint Presentation</vt:lpstr>
      <vt:lpstr>PowerPoint Presentation</vt:lpstr>
      <vt:lpstr>PowerPoint Presentation</vt:lpstr>
      <vt:lpstr>HTML Document</vt:lpstr>
      <vt:lpstr> Session Plan: 2</vt:lpstr>
      <vt:lpstr>HTML Document Structure</vt:lpstr>
      <vt:lpstr>Basic Basic HTML Elements</vt:lpstr>
      <vt:lpstr>HTML Elements Text Formatting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HTML Attributes</vt:lpstr>
      <vt:lpstr>Style Attribute</vt:lpstr>
      <vt:lpstr> Style Attribute (cont.)</vt:lpstr>
      <vt:lpstr>The Style Attribute (cont.)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Assignment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Indra reddy A</dc:creator>
  <cp:lastModifiedBy>ATUL BHATTAD</cp:lastModifiedBy>
  <cp:revision>98</cp:revision>
  <dcterms:created xsi:type="dcterms:W3CDTF">2006-08-16T00:00:00Z</dcterms:created>
  <dcterms:modified xsi:type="dcterms:W3CDTF">2023-10-03T05:24:07Z</dcterms:modified>
</cp:coreProperties>
</file>