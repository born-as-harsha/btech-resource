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5"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CF34F6-B481-F375-C6C2-AA3245DF7163}" v="4" dt="2023-08-28T17:58:22.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12" autoAdjust="0"/>
    <p:restoredTop sz="94660"/>
  </p:normalViewPr>
  <p:slideViewPr>
    <p:cSldViewPr>
      <p:cViewPr>
        <p:scale>
          <a:sx n="100" d="100"/>
          <a:sy n="100" d="100"/>
        </p:scale>
        <p:origin x="870" y="-6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anon#60a6d6a0ec576ba096aa05e924eb41552b0a1a5375b641c958ea62323bb17882::" providerId="AD" clId="Web-{C9CF34F6-B481-F375-C6C2-AA3245DF7163}"/>
    <pc:docChg chg="modSld">
      <pc:chgData name="Guest User" userId="S::urn:spo:anon#60a6d6a0ec576ba096aa05e924eb41552b0a1a5375b641c958ea62323bb17882::" providerId="AD" clId="Web-{C9CF34F6-B481-F375-C6C2-AA3245DF7163}" dt="2023-08-28T17:58:22.800" v="3" actId="1076"/>
      <pc:docMkLst>
        <pc:docMk/>
      </pc:docMkLst>
      <pc:sldChg chg="modSp">
        <pc:chgData name="Guest User" userId="S::urn:spo:anon#60a6d6a0ec576ba096aa05e924eb41552b0a1a5375b641c958ea62323bb17882::" providerId="AD" clId="Web-{C9CF34F6-B481-F375-C6C2-AA3245DF7163}" dt="2023-08-28T17:58:22.800" v="3" actId="1076"/>
        <pc:sldMkLst>
          <pc:docMk/>
          <pc:sldMk cId="444828831" sldId="282"/>
        </pc:sldMkLst>
        <pc:picChg chg="mod">
          <ac:chgData name="Guest User" userId="S::urn:spo:anon#60a6d6a0ec576ba096aa05e924eb41552b0a1a5375b641c958ea62323bb17882::" providerId="AD" clId="Web-{C9CF34F6-B481-F375-C6C2-AA3245DF7163}" dt="2023-08-28T17:58:22.800" v="3" actId="1076"/>
          <ac:picMkLst>
            <pc:docMk/>
            <pc:sldMk cId="444828831" sldId="282"/>
            <ac:picMk id="4"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27709"/>
            <a:ext cx="8839200" cy="6553200"/>
          </a:xfrm>
        </p:spPr>
        <p:txBody>
          <a:bodyPr>
            <a:normAutofit/>
          </a:bodyPr>
          <a:lstStyle/>
          <a:p>
            <a:endParaRPr lang="en-US" sz="4000" b="1" dirty="0">
              <a:solidFill>
                <a:srgbClr val="FF0000"/>
              </a:solidFill>
              <a:latin typeface="Times New Roman" pitchFamily="18" charset="0"/>
              <a:cs typeface="Times New Roman" pitchFamily="18" charset="0"/>
            </a:endParaRPr>
          </a:p>
          <a:p>
            <a:endParaRPr lang="en-US" sz="4000" b="1" dirty="0">
              <a:solidFill>
                <a:srgbClr val="FF0000"/>
              </a:solidFill>
              <a:latin typeface="Times New Roman" pitchFamily="18" charset="0"/>
              <a:cs typeface="Times New Roman" pitchFamily="18" charset="0"/>
            </a:endParaRPr>
          </a:p>
          <a:p>
            <a:endParaRPr lang="en-US" sz="4000" b="1" dirty="0">
              <a:solidFill>
                <a:srgbClr val="FF0000"/>
              </a:solidFill>
              <a:latin typeface="Times New Roman" pitchFamily="18" charset="0"/>
              <a:cs typeface="Times New Roman" pitchFamily="18" charset="0"/>
            </a:endParaRPr>
          </a:p>
          <a:p>
            <a:r>
              <a:rPr lang="en-US" sz="4000" b="1" dirty="0">
                <a:solidFill>
                  <a:srgbClr val="FF0000"/>
                </a:solidFill>
                <a:latin typeface="Times New Roman" pitchFamily="18" charset="0"/>
                <a:cs typeface="Times New Roman" pitchFamily="18" charset="0"/>
              </a:rPr>
              <a:t>Data Visualization through POWER BI</a:t>
            </a:r>
          </a:p>
          <a:p>
            <a:pPr algn="r"/>
            <a:r>
              <a:rPr lang="en-US" sz="2800" b="1" dirty="0">
                <a:solidFill>
                  <a:schemeClr val="tx2"/>
                </a:solidFill>
                <a:latin typeface="Times New Roman" pitchFamily="18" charset="0"/>
                <a:cs typeface="Times New Roman" pitchFamily="18" charset="0"/>
              </a:rPr>
              <a:t>- Power BI dashboards</a:t>
            </a:r>
          </a:p>
          <a:p>
            <a:endParaRPr lang="en-US" sz="2800" dirty="0">
              <a:solidFill>
                <a:srgbClr val="FF0000"/>
              </a:solidFill>
              <a:latin typeface="Times New Roman" pitchFamily="18" charset="0"/>
              <a:cs typeface="Times New Roman" pitchFamily="18" charset="0"/>
            </a:endParaRPr>
          </a:p>
          <a:p>
            <a:endParaRPr lang="en-US" sz="2800" b="1" dirty="0">
              <a:solidFill>
                <a:schemeClr val="tx2"/>
              </a:solidFill>
              <a:latin typeface="Times New Roman" pitchFamily="18" charset="0"/>
              <a:cs typeface="Times New Roman" pitchFamily="18" charset="0"/>
            </a:endParaRPr>
          </a:p>
          <a:p>
            <a:endParaRPr lang="en-US" sz="2800" dirty="0">
              <a:solidFill>
                <a:srgbClr val="FF0000"/>
              </a:solidFill>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37" y="1"/>
            <a:ext cx="3033484" cy="91440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56" y="3581399"/>
            <a:ext cx="9157855" cy="3276601"/>
          </a:xfrm>
          <a:prstGeom prst="rect">
            <a:avLst/>
          </a:prstGeom>
        </p:spPr>
      </p:pic>
    </p:spTree>
    <p:extLst>
      <p:ext uri="{BB962C8B-B14F-4D97-AF65-F5344CB8AC3E}">
        <p14:creationId xmlns:p14="http://schemas.microsoft.com/office/powerpoint/2010/main" val="1744905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458200" cy="5745163"/>
          </a:xfrm>
        </p:spPr>
        <p:txBody>
          <a:bodyPr>
            <a:normAutofit/>
          </a:bodyPr>
          <a:lstStyle/>
          <a:p>
            <a:pPr marL="0" indent="0">
              <a:buNone/>
            </a:pPr>
            <a:endParaRPr lang="en-US" sz="3600" dirty="0">
              <a:latin typeface="Bookman Old Style" pitchFamily="18" charset="0"/>
            </a:endParaRPr>
          </a:p>
          <a:p>
            <a:pPr marL="0" indent="0">
              <a:buNone/>
            </a:pPr>
            <a:r>
              <a:rPr lang="en-US" sz="3600" b="1" dirty="0">
                <a:solidFill>
                  <a:schemeClr val="accent6">
                    <a:lumMod val="75000"/>
                  </a:schemeClr>
                </a:solidFill>
                <a:latin typeface="Bookman Old Style" pitchFamily="18" charset="0"/>
              </a:rPr>
              <a:t>Session-IV  Plan</a:t>
            </a:r>
          </a:p>
          <a:p>
            <a:pPr>
              <a:buFontTx/>
              <a:buChar char="-"/>
            </a:pPr>
            <a:r>
              <a:rPr lang="en-US" sz="2800" dirty="0">
                <a:solidFill>
                  <a:srgbClr val="002060"/>
                </a:solidFill>
                <a:latin typeface="Bookman Old Style" pitchFamily="18" charset="0"/>
              </a:rPr>
              <a:t>Creation of Pie  charts.</a:t>
            </a:r>
          </a:p>
          <a:p>
            <a:pPr>
              <a:buFontTx/>
              <a:buChar char="-"/>
            </a:pPr>
            <a:r>
              <a:rPr lang="en-US" sz="2800" dirty="0">
                <a:solidFill>
                  <a:srgbClr val="002060"/>
                </a:solidFill>
                <a:latin typeface="Bookman Old Style" pitchFamily="18" charset="0"/>
              </a:rPr>
              <a:t>Slicers in power BI.</a:t>
            </a:r>
          </a:p>
          <a:p>
            <a:pPr>
              <a:buFontTx/>
              <a:buChar char="-"/>
            </a:pPr>
            <a:r>
              <a:rPr lang="en-US" sz="2800" dirty="0">
                <a:solidFill>
                  <a:srgbClr val="002060"/>
                </a:solidFill>
                <a:latin typeface="Bookman Old Style" pitchFamily="18" charset="0"/>
              </a:rPr>
              <a:t>Simple dashboard .</a:t>
            </a:r>
          </a:p>
          <a:p>
            <a:pPr>
              <a:buFontTx/>
              <a:buChar char="-"/>
            </a:pPr>
            <a:r>
              <a:rPr lang="en-US" sz="2800" dirty="0">
                <a:solidFill>
                  <a:srgbClr val="002060"/>
                </a:solidFill>
                <a:latin typeface="Bookman Old Style" pitchFamily="18" charset="0"/>
              </a:rPr>
              <a:t>Assessment </a:t>
            </a:r>
          </a:p>
          <a:p>
            <a:pPr>
              <a:buFontTx/>
              <a:buChar char="-"/>
            </a:pPr>
            <a:r>
              <a:rPr lang="en-US" sz="2800" dirty="0">
                <a:solidFill>
                  <a:srgbClr val="002060"/>
                </a:solidFill>
                <a:latin typeface="Bookman Old Style" pitchFamily="18" charset="0"/>
              </a:rPr>
              <a:t>Summary and Interaction.</a:t>
            </a:r>
          </a:p>
        </p:txBody>
      </p:sp>
      <p:pic>
        <p:nvPicPr>
          <p:cNvPr id="2050" name="Picture 2" descr="https://hasgr.com/wp-content/uploads/2018/01/stick_figure_drawing_three_check_marks_nonlooping_300_clr_65781.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57150"/>
            <a:ext cx="1714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091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buNone/>
            </a:pPr>
            <a:r>
              <a:rPr lang="en-US" b="1" dirty="0">
                <a:solidFill>
                  <a:srgbClr val="00B0F0"/>
                </a:solidFill>
              </a:rPr>
              <a:t>Pie charts and slicers in power BI</a:t>
            </a:r>
          </a:p>
          <a:p>
            <a:pPr marL="0" indent="0" algn="just">
              <a:buNone/>
            </a:pPr>
            <a:r>
              <a:rPr lang="en-US" dirty="0"/>
              <a:t>Load the data to power BI- This data have individual details of an person infected by COVID 19.</a:t>
            </a:r>
          </a:p>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477" y="2438400"/>
            <a:ext cx="9020175"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4435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458200" cy="1143000"/>
          </a:xfrm>
        </p:spPr>
        <p:txBody>
          <a:bodyPr>
            <a:normAutofit fontScale="90000"/>
          </a:bodyPr>
          <a:lstStyle/>
          <a:p>
            <a:pPr marL="571500" indent="-571500">
              <a:buFont typeface="Wingdings" pitchFamily="2" charset="2"/>
              <a:buChar char="Ø"/>
            </a:pPr>
            <a:r>
              <a:rPr lang="en-US" dirty="0"/>
              <a:t>Check the data loaded properly or not.</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914224"/>
            <a:ext cx="8229600" cy="3897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3556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71500" indent="-571500">
              <a:buFont typeface="Wingdings" pitchFamily="2" charset="2"/>
              <a:buChar char="Ø"/>
            </a:pPr>
            <a:r>
              <a:rPr lang="en-US" dirty="0"/>
              <a:t>Here I want to visualize city wise count of male and female count.</a:t>
            </a:r>
          </a:p>
        </p:txBody>
      </p:sp>
      <p:sp>
        <p:nvSpPr>
          <p:cNvPr id="3" name="Content Placeholder 2"/>
          <p:cNvSpPr>
            <a:spLocks noGrp="1"/>
          </p:cNvSpPr>
          <p:nvPr>
            <p:ph idx="1"/>
          </p:nvPr>
        </p:nvSpPr>
        <p:spPr/>
        <p:txBody>
          <a:bodyPr/>
          <a:lstStyle/>
          <a:p>
            <a:pPr>
              <a:buFontTx/>
              <a:buChar char="-"/>
            </a:pPr>
            <a:r>
              <a:rPr lang="en-US" dirty="0"/>
              <a:t>Put pie chart </a:t>
            </a:r>
          </a:p>
          <a:p>
            <a:pPr>
              <a:buFontTx/>
              <a:buChar char="-"/>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852312"/>
            <a:ext cx="7772400" cy="400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47792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Font typeface="Wingdings" pitchFamily="2" charset="2"/>
              <a:buChar char="Ø"/>
            </a:pPr>
            <a:r>
              <a:rPr lang="en-US" dirty="0"/>
              <a:t> Now assign legend as gender and value as detected city. After doing this we got total count of male and females.</a:t>
            </a:r>
          </a:p>
          <a:p>
            <a:pPr marL="0" indent="0">
              <a:buNone/>
            </a:pP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732" y="2571750"/>
            <a:ext cx="8661268" cy="428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1816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Font typeface="Wingdings" pitchFamily="2" charset="2"/>
              <a:buChar char="Ø"/>
            </a:pPr>
            <a:r>
              <a:rPr lang="en-US" dirty="0"/>
              <a:t>To check city wise lets use slicer option, Slicer will enable user to sort or filter packed data.</a:t>
            </a:r>
          </a:p>
          <a:p>
            <a:pPr>
              <a:buFont typeface="Wingdings" pitchFamily="2" charset="2"/>
              <a:buChar char="Ø"/>
            </a:pPr>
            <a:r>
              <a:rPr lang="en-US" dirty="0"/>
              <a:t>Click on blank page and select slicer.</a:t>
            </a:r>
          </a:p>
          <a:p>
            <a:pPr>
              <a:buFont typeface="Wingdings" pitchFamily="2" charset="2"/>
              <a:buChar char="Ø"/>
            </a:pP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86" y="2149518"/>
            <a:ext cx="9133114" cy="4661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408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Font typeface="Wingdings" pitchFamily="2" charset="2"/>
              <a:buChar char="Ø"/>
            </a:pPr>
            <a:r>
              <a:rPr lang="en-US" dirty="0"/>
              <a:t>Assign field as detected city. </a:t>
            </a:r>
          </a:p>
          <a:p>
            <a:pPr marL="0" indent="0">
              <a:buNone/>
            </a:pP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166613"/>
            <a:ext cx="4953000" cy="569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6238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lgn="just">
              <a:buFont typeface="Wingdings" pitchFamily="2" charset="2"/>
              <a:buChar char="Ø"/>
            </a:pPr>
            <a:r>
              <a:rPr lang="en-US" dirty="0"/>
              <a:t>Edit the slicer as per convenient through format option.</a:t>
            </a:r>
          </a:p>
          <a:p>
            <a:pPr marL="0" indent="0" algn="just">
              <a:buNone/>
            </a:pP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1073" y="1662545"/>
            <a:ext cx="6096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7606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Font typeface="Wingdings" pitchFamily="2" charset="2"/>
              <a:buChar char="Ø"/>
            </a:pPr>
            <a:r>
              <a:rPr lang="en-US" dirty="0"/>
              <a:t> Now slicer is ready to act. We can find city wise gender count as shown .</a:t>
            </a:r>
          </a:p>
          <a:p>
            <a:pPr marL="0" indent="0">
              <a:buNone/>
            </a:pP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543957"/>
            <a:ext cx="7315200" cy="5320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9915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marL="0" indent="0" algn="ctr">
              <a:buNone/>
            </a:pPr>
            <a:r>
              <a:rPr lang="en-US" b="1" dirty="0">
                <a:solidFill>
                  <a:schemeClr val="accent2">
                    <a:lumMod val="75000"/>
                  </a:schemeClr>
                </a:solidFill>
              </a:rPr>
              <a:t>CREATING DASHBOARD IN POWER BI </a:t>
            </a:r>
          </a:p>
          <a:p>
            <a:pPr marL="0" indent="0" algn="ctr">
              <a:buNone/>
            </a:pPr>
            <a:endParaRPr lang="en-US" b="1" dirty="0">
              <a:solidFill>
                <a:schemeClr val="accent2">
                  <a:lumMod val="75000"/>
                </a:schemeClr>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447800"/>
            <a:ext cx="7334250" cy="430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6460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10600" cy="2925762"/>
          </a:xfrm>
        </p:spPr>
        <p:txBody>
          <a:bodyPr>
            <a:normAutofit/>
          </a:bodyPr>
          <a:lstStyle/>
          <a:p>
            <a:pPr algn="just"/>
            <a:r>
              <a:rPr lang="en-US" sz="3000" dirty="0">
                <a:solidFill>
                  <a:srgbClr val="00B050"/>
                </a:solidFill>
              </a:rPr>
              <a:t>This dashboard is prepared with two separate excel data sheets having </a:t>
            </a:r>
            <a:r>
              <a:rPr lang="en-US" sz="3000" dirty="0">
                <a:solidFill>
                  <a:schemeClr val="accent2">
                    <a:lumMod val="75000"/>
                  </a:schemeClr>
                </a:solidFill>
              </a:rPr>
              <a:t>state wise cured , death , confirmed count</a:t>
            </a:r>
            <a:r>
              <a:rPr lang="en-US" sz="3000" dirty="0">
                <a:solidFill>
                  <a:srgbClr val="00B050"/>
                </a:solidFill>
              </a:rPr>
              <a:t> and </a:t>
            </a:r>
            <a:r>
              <a:rPr lang="en-US" sz="3000" dirty="0">
                <a:solidFill>
                  <a:schemeClr val="accent4">
                    <a:lumMod val="75000"/>
                  </a:schemeClr>
                </a:solidFill>
              </a:rPr>
              <a:t>state wise sample collected with their results.</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5" y="3546765"/>
            <a:ext cx="3872345" cy="3228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3546764"/>
            <a:ext cx="43053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260607" y="3011177"/>
            <a:ext cx="1378839" cy="369332"/>
          </a:xfrm>
          <a:prstGeom prst="rect">
            <a:avLst/>
          </a:prstGeom>
          <a:noFill/>
        </p:spPr>
        <p:txBody>
          <a:bodyPr wrap="none" rtlCol="0">
            <a:spAutoFit/>
          </a:bodyPr>
          <a:lstStyle/>
          <a:p>
            <a:r>
              <a:rPr lang="en-US" dirty="0"/>
              <a:t>Work book 1</a:t>
            </a:r>
          </a:p>
        </p:txBody>
      </p:sp>
      <p:sp>
        <p:nvSpPr>
          <p:cNvPr id="8" name="TextBox 7"/>
          <p:cNvSpPr txBox="1"/>
          <p:nvPr/>
        </p:nvSpPr>
        <p:spPr>
          <a:xfrm>
            <a:off x="6477000" y="3011177"/>
            <a:ext cx="1378839" cy="369332"/>
          </a:xfrm>
          <a:prstGeom prst="rect">
            <a:avLst/>
          </a:prstGeom>
          <a:noFill/>
        </p:spPr>
        <p:txBody>
          <a:bodyPr wrap="none" rtlCol="0">
            <a:spAutoFit/>
          </a:bodyPr>
          <a:lstStyle/>
          <a:p>
            <a:r>
              <a:rPr lang="en-US" dirty="0"/>
              <a:t>Work book 2</a:t>
            </a:r>
          </a:p>
        </p:txBody>
      </p:sp>
    </p:spTree>
    <p:extLst>
      <p:ext uri="{BB962C8B-B14F-4D97-AF65-F5344CB8AC3E}">
        <p14:creationId xmlns:p14="http://schemas.microsoft.com/office/powerpoint/2010/main" val="1683989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fontAlgn="base">
              <a:buFont typeface="Wingdings" pitchFamily="2" charset="2"/>
              <a:buChar char="Ø"/>
            </a:pPr>
            <a:r>
              <a:rPr lang="en-US" dirty="0"/>
              <a:t>Step 1. To import data click on get data option which available on home tab and select file type.</a:t>
            </a:r>
          </a:p>
        </p:txBody>
      </p:sp>
      <p:pic>
        <p:nvPicPr>
          <p:cNvPr id="4" name="Picture 3"/>
          <p:cNvPicPr/>
          <p:nvPr/>
        </p:nvPicPr>
        <p:blipFill>
          <a:blip r:embed="rId2"/>
          <a:stretch>
            <a:fillRect/>
          </a:stretch>
        </p:blipFill>
        <p:spPr>
          <a:xfrm>
            <a:off x="1600200" y="2590800"/>
            <a:ext cx="7543800" cy="4232564"/>
          </a:xfrm>
          <a:prstGeom prst="rect">
            <a:avLst/>
          </a:prstGeom>
        </p:spPr>
      </p:pic>
    </p:spTree>
    <p:extLst>
      <p:ext uri="{BB962C8B-B14F-4D97-AF65-F5344CB8AC3E}">
        <p14:creationId xmlns:p14="http://schemas.microsoft.com/office/powerpoint/2010/main" val="3138237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Font typeface="Wingdings" pitchFamily="2" charset="2"/>
              <a:buChar char="Ø"/>
            </a:pPr>
            <a:r>
              <a:rPr lang="en-US" dirty="0"/>
              <a:t>Click on type of file and it will ask location from which file to be uploaded. Now select the file and click on open.</a:t>
            </a:r>
          </a:p>
        </p:txBody>
      </p:sp>
      <p:pic>
        <p:nvPicPr>
          <p:cNvPr id="4" name="Picture 3"/>
          <p:cNvPicPr/>
          <p:nvPr/>
        </p:nvPicPr>
        <p:blipFill>
          <a:blip r:embed="rId2"/>
          <a:stretch>
            <a:fillRect/>
          </a:stretch>
        </p:blipFill>
        <p:spPr>
          <a:xfrm>
            <a:off x="3048000" y="2075180"/>
            <a:ext cx="5943600" cy="4782820"/>
          </a:xfrm>
          <a:prstGeom prst="rect">
            <a:avLst/>
          </a:prstGeom>
        </p:spPr>
      </p:pic>
    </p:spTree>
    <p:extLst>
      <p:ext uri="{BB962C8B-B14F-4D97-AF65-F5344CB8AC3E}">
        <p14:creationId xmlns:p14="http://schemas.microsoft.com/office/powerpoint/2010/main" val="2586374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Font typeface="Wingdings" pitchFamily="2" charset="2"/>
              <a:buChar char="Ø"/>
            </a:pPr>
            <a:r>
              <a:rPr lang="en-US" dirty="0"/>
              <a:t>After clicking open, Navigator popup which will ask to select particular sheet from the sheet. Select raw data and click on transform data.</a:t>
            </a:r>
          </a:p>
        </p:txBody>
      </p:sp>
      <p:pic>
        <p:nvPicPr>
          <p:cNvPr id="4" name="Picture 3"/>
          <p:cNvPicPr/>
          <p:nvPr/>
        </p:nvPicPr>
        <p:blipFill>
          <a:blip r:embed="rId2"/>
          <a:stretch>
            <a:fillRect/>
          </a:stretch>
        </p:blipFill>
        <p:spPr>
          <a:xfrm>
            <a:off x="3214255" y="2087072"/>
            <a:ext cx="5943600" cy="4791710"/>
          </a:xfrm>
          <a:prstGeom prst="rect">
            <a:avLst/>
          </a:prstGeom>
        </p:spPr>
      </p:pic>
    </p:spTree>
    <p:extLst>
      <p:ext uri="{BB962C8B-B14F-4D97-AF65-F5344CB8AC3E}">
        <p14:creationId xmlns:p14="http://schemas.microsoft.com/office/powerpoint/2010/main" val="2447552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algn="just">
              <a:buFont typeface="Wingdings" pitchFamily="2" charset="2"/>
              <a:buChar char="Ø"/>
            </a:pPr>
            <a:r>
              <a:rPr lang="en-US" dirty="0"/>
              <a:t>After clicking on transform data we will get window called power query editor in which we can manipulate data. Check all data are visible or not and edit if required only.</a:t>
            </a:r>
          </a:p>
          <a:p>
            <a:pPr algn="just"/>
            <a:endParaRPr lang="en-US" dirty="0"/>
          </a:p>
        </p:txBody>
      </p:sp>
      <p:pic>
        <p:nvPicPr>
          <p:cNvPr id="4" name="Picture 3"/>
          <p:cNvPicPr/>
          <p:nvPr/>
        </p:nvPicPr>
        <p:blipFill>
          <a:blip r:embed="rId2"/>
          <a:stretch>
            <a:fillRect/>
          </a:stretch>
        </p:blipFill>
        <p:spPr>
          <a:xfrm>
            <a:off x="1828800" y="2971800"/>
            <a:ext cx="7308273" cy="3886200"/>
          </a:xfrm>
          <a:prstGeom prst="rect">
            <a:avLst/>
          </a:prstGeom>
        </p:spPr>
      </p:pic>
    </p:spTree>
    <p:extLst>
      <p:ext uri="{BB962C8B-B14F-4D97-AF65-F5344CB8AC3E}">
        <p14:creationId xmlns:p14="http://schemas.microsoft.com/office/powerpoint/2010/main" val="3936223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lgn="just">
              <a:buFont typeface="Wingdings" pitchFamily="2" charset="2"/>
              <a:buChar char="Ø"/>
            </a:pPr>
            <a:r>
              <a:rPr lang="en-US" dirty="0"/>
              <a:t>Once edit or transforming has done then click on close and apply button from left fop corner which is mandatory to apply the changes made in data.</a:t>
            </a:r>
          </a:p>
          <a:p>
            <a:pPr algn="just">
              <a:buFont typeface="Wingdings" pitchFamily="2" charset="2"/>
              <a:buChar char="Ø"/>
            </a:pPr>
            <a:endParaRPr lang="en-US" dirty="0"/>
          </a:p>
        </p:txBody>
      </p:sp>
      <p:pic>
        <p:nvPicPr>
          <p:cNvPr id="4" name="Picture 3"/>
          <p:cNvPicPr/>
          <p:nvPr/>
        </p:nvPicPr>
        <p:blipFill>
          <a:blip r:embed="rId2"/>
          <a:stretch>
            <a:fillRect/>
          </a:stretch>
        </p:blipFill>
        <p:spPr>
          <a:xfrm>
            <a:off x="2362200" y="2667001"/>
            <a:ext cx="6781800" cy="4191000"/>
          </a:xfrm>
          <a:prstGeom prst="rect">
            <a:avLst/>
          </a:prstGeom>
        </p:spPr>
      </p:pic>
    </p:spTree>
    <p:extLst>
      <p:ext uri="{BB962C8B-B14F-4D97-AF65-F5344CB8AC3E}">
        <p14:creationId xmlns:p14="http://schemas.microsoft.com/office/powerpoint/2010/main" val="649855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229600" cy="4525963"/>
          </a:xfrm>
        </p:spPr>
        <p:txBody>
          <a:bodyPr/>
          <a:lstStyle/>
          <a:p>
            <a:pPr>
              <a:buFont typeface="Wingdings" pitchFamily="2" charset="2"/>
              <a:buChar char="Ø"/>
            </a:pPr>
            <a:r>
              <a:rPr lang="en-US" dirty="0"/>
              <a:t>Ensure all information is imported properly or not from right side fields.</a:t>
            </a:r>
          </a:p>
          <a:p>
            <a:pPr marL="0" indent="0">
              <a:buNone/>
            </a:pPr>
            <a:endParaRPr lang="en-US" dirty="0"/>
          </a:p>
        </p:txBody>
      </p:sp>
      <p:pic>
        <p:nvPicPr>
          <p:cNvPr id="4" name="Picture 3"/>
          <p:cNvPicPr/>
          <p:nvPr/>
        </p:nvPicPr>
        <p:blipFill>
          <a:blip r:embed="rId2"/>
          <a:stretch>
            <a:fillRect/>
          </a:stretch>
        </p:blipFill>
        <p:spPr>
          <a:xfrm>
            <a:off x="1828800" y="1676400"/>
            <a:ext cx="7315200" cy="5181600"/>
          </a:xfrm>
          <a:prstGeom prst="rect">
            <a:avLst/>
          </a:prstGeom>
        </p:spPr>
      </p:pic>
    </p:spTree>
    <p:extLst>
      <p:ext uri="{BB962C8B-B14F-4D97-AF65-F5344CB8AC3E}">
        <p14:creationId xmlns:p14="http://schemas.microsoft.com/office/powerpoint/2010/main" val="1525043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81000"/>
            <a:ext cx="8229600" cy="4525963"/>
          </a:xfrm>
        </p:spPr>
        <p:txBody>
          <a:bodyPr/>
          <a:lstStyle/>
          <a:p>
            <a:pPr>
              <a:buFont typeface="Wingdings" pitchFamily="2" charset="2"/>
              <a:buChar char="Ø"/>
            </a:pPr>
            <a:r>
              <a:rPr lang="en-US" dirty="0"/>
              <a:t>Repeat the steps 6-10 to import another set of data consisting sample details. </a:t>
            </a:r>
          </a:p>
        </p:txBody>
      </p:sp>
      <p:pic>
        <p:nvPicPr>
          <p:cNvPr id="4" name="Picture 3"/>
          <p:cNvPicPr/>
          <p:nvPr/>
        </p:nvPicPr>
        <p:blipFill>
          <a:blip r:embed="rId2"/>
          <a:stretch>
            <a:fillRect/>
          </a:stretch>
        </p:blipFill>
        <p:spPr>
          <a:xfrm>
            <a:off x="2286000" y="1752601"/>
            <a:ext cx="6878782" cy="5070764"/>
          </a:xfrm>
          <a:prstGeom prst="rect">
            <a:avLst/>
          </a:prstGeom>
        </p:spPr>
      </p:pic>
    </p:spTree>
    <p:extLst>
      <p:ext uri="{BB962C8B-B14F-4D97-AF65-F5344CB8AC3E}">
        <p14:creationId xmlns:p14="http://schemas.microsoft.com/office/powerpoint/2010/main" val="2641914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Font typeface="Wingdings" pitchFamily="2" charset="2"/>
              <a:buChar char="Ø"/>
            </a:pPr>
            <a:r>
              <a:rPr lang="en-US" dirty="0"/>
              <a:t>Check data and modeling of sheets as shown in figure.</a:t>
            </a:r>
          </a:p>
          <a:p>
            <a:pPr marL="0" indent="0">
              <a:buNone/>
            </a:pPr>
            <a:endParaRPr lang="en-US" dirty="0"/>
          </a:p>
        </p:txBody>
      </p:sp>
      <p:pic>
        <p:nvPicPr>
          <p:cNvPr id="4" name="Picture 3"/>
          <p:cNvPicPr/>
          <p:nvPr/>
        </p:nvPicPr>
        <p:blipFill>
          <a:blip r:embed="rId2"/>
          <a:stretch>
            <a:fillRect/>
          </a:stretch>
        </p:blipFill>
        <p:spPr>
          <a:xfrm>
            <a:off x="76200" y="1562966"/>
            <a:ext cx="4038600" cy="5267325"/>
          </a:xfrm>
          <a:prstGeom prst="rect">
            <a:avLst/>
          </a:prstGeom>
        </p:spPr>
      </p:pic>
      <p:pic>
        <p:nvPicPr>
          <p:cNvPr id="5" name="Picture 4"/>
          <p:cNvPicPr/>
          <p:nvPr/>
        </p:nvPicPr>
        <p:blipFill>
          <a:blip r:embed="rId3"/>
          <a:stretch>
            <a:fillRect/>
          </a:stretch>
        </p:blipFill>
        <p:spPr>
          <a:xfrm>
            <a:off x="5105400" y="1591945"/>
            <a:ext cx="4031673" cy="5266055"/>
          </a:xfrm>
          <a:prstGeom prst="rect">
            <a:avLst/>
          </a:prstGeom>
        </p:spPr>
      </p:pic>
    </p:spTree>
    <p:extLst>
      <p:ext uri="{BB962C8B-B14F-4D97-AF65-F5344CB8AC3E}">
        <p14:creationId xmlns:p14="http://schemas.microsoft.com/office/powerpoint/2010/main" val="388905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lgn="just">
              <a:buFont typeface="Wingdings" pitchFamily="2" charset="2"/>
              <a:buChar char="Ø"/>
            </a:pPr>
            <a:r>
              <a:rPr lang="en-US" dirty="0"/>
              <a:t>Now the POWER BI engine is ready to create dashboard. Initially name the dashboard “ COVID 19 DETAILS INDIA”. By selecting put text box and restyle it as per requirement.</a:t>
            </a:r>
          </a:p>
        </p:txBody>
      </p:sp>
      <p:pic>
        <p:nvPicPr>
          <p:cNvPr id="4" name="Picture 3"/>
          <p:cNvPicPr/>
          <p:nvPr/>
        </p:nvPicPr>
        <p:blipFill>
          <a:blip r:embed="rId2"/>
          <a:stretch>
            <a:fillRect/>
          </a:stretch>
        </p:blipFill>
        <p:spPr>
          <a:xfrm>
            <a:off x="1752600" y="2743200"/>
            <a:ext cx="7010400" cy="2675890"/>
          </a:xfrm>
          <a:prstGeom prst="rect">
            <a:avLst/>
          </a:prstGeom>
        </p:spPr>
      </p:pic>
    </p:spTree>
    <p:extLst>
      <p:ext uri="{BB962C8B-B14F-4D97-AF65-F5344CB8AC3E}">
        <p14:creationId xmlns:p14="http://schemas.microsoft.com/office/powerpoint/2010/main" val="960711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Font typeface="Wingdings" pitchFamily="2" charset="2"/>
              <a:buChar char="Ø"/>
            </a:pPr>
            <a:r>
              <a:rPr lang="en-US" dirty="0"/>
              <a:t>Now put bar chart for state wise confirmed chart by using bar charts by clicking on visualizations .</a:t>
            </a:r>
          </a:p>
          <a:p>
            <a:pPr>
              <a:buFont typeface="Wingdings" pitchFamily="2" charset="2"/>
              <a:buChar char="Ø"/>
            </a:pPr>
            <a:endParaRPr lang="en-US" dirty="0"/>
          </a:p>
          <a:p>
            <a:endParaRPr lang="en-US" dirty="0"/>
          </a:p>
        </p:txBody>
      </p:sp>
      <p:pic>
        <p:nvPicPr>
          <p:cNvPr id="4" name="Picture 3"/>
          <p:cNvPicPr/>
          <p:nvPr/>
        </p:nvPicPr>
        <p:blipFill>
          <a:blip r:embed="rId2"/>
          <a:stretch>
            <a:fillRect/>
          </a:stretch>
        </p:blipFill>
        <p:spPr>
          <a:xfrm>
            <a:off x="1295400" y="2362200"/>
            <a:ext cx="7848600" cy="4495800"/>
          </a:xfrm>
          <a:prstGeom prst="rect">
            <a:avLst/>
          </a:prstGeom>
        </p:spPr>
      </p:pic>
    </p:spTree>
    <p:extLst>
      <p:ext uri="{BB962C8B-B14F-4D97-AF65-F5344CB8AC3E}">
        <p14:creationId xmlns:p14="http://schemas.microsoft.com/office/powerpoint/2010/main" val="2893028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buFont typeface="Wingdings" pitchFamily="2" charset="2"/>
              <a:buChar char="Ø"/>
            </a:pPr>
            <a:r>
              <a:rPr lang="en-US" dirty="0"/>
              <a:t>Now on the dashboard we have blank bar chart with fields to be assigned. </a:t>
            </a:r>
          </a:p>
          <a:p>
            <a:pPr marL="0" indent="0">
              <a:buNone/>
            </a:pPr>
            <a:endParaRPr lang="en-US" dirty="0"/>
          </a:p>
        </p:txBody>
      </p:sp>
      <p:pic>
        <p:nvPicPr>
          <p:cNvPr id="4" name="Picture 3"/>
          <p:cNvPicPr/>
          <p:nvPr/>
        </p:nvPicPr>
        <p:blipFill>
          <a:blip r:embed="rId2"/>
          <a:stretch>
            <a:fillRect/>
          </a:stretch>
        </p:blipFill>
        <p:spPr>
          <a:xfrm>
            <a:off x="1828800" y="1752600"/>
            <a:ext cx="7315200" cy="5105401"/>
          </a:xfrm>
          <a:prstGeom prst="rect">
            <a:avLst/>
          </a:prstGeom>
        </p:spPr>
      </p:pic>
    </p:spTree>
    <p:extLst>
      <p:ext uri="{BB962C8B-B14F-4D97-AF65-F5344CB8AC3E}">
        <p14:creationId xmlns:p14="http://schemas.microsoft.com/office/powerpoint/2010/main" val="1053619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pPr algn="just">
              <a:buFont typeface="Wingdings" pitchFamily="2" charset="2"/>
              <a:buChar char="Ø"/>
            </a:pPr>
            <a:r>
              <a:rPr lang="en-US" dirty="0"/>
              <a:t>Here one parameter is state another parameter is confirmed cases. Select on state and select on confirmed tab as shown below.</a:t>
            </a:r>
          </a:p>
          <a:p>
            <a:endParaRPr lang="en-US" dirty="0"/>
          </a:p>
        </p:txBody>
      </p:sp>
      <p:pic>
        <p:nvPicPr>
          <p:cNvPr id="4" name="Picture 3"/>
          <p:cNvPicPr/>
          <p:nvPr/>
        </p:nvPicPr>
        <p:blipFill>
          <a:blip r:embed="rId2"/>
          <a:stretch>
            <a:fillRect/>
          </a:stretch>
        </p:blipFill>
        <p:spPr>
          <a:xfrm>
            <a:off x="1676400" y="1905001"/>
            <a:ext cx="7467600" cy="4953000"/>
          </a:xfrm>
          <a:prstGeom prst="rect">
            <a:avLst/>
          </a:prstGeom>
        </p:spPr>
      </p:pic>
    </p:spTree>
    <p:extLst>
      <p:ext uri="{BB962C8B-B14F-4D97-AF65-F5344CB8AC3E}">
        <p14:creationId xmlns:p14="http://schemas.microsoft.com/office/powerpoint/2010/main" val="6357642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buFont typeface="Wingdings" pitchFamily="2" charset="2"/>
              <a:buChar char="Ø"/>
            </a:pPr>
            <a:r>
              <a:rPr lang="en-US" dirty="0"/>
              <a:t>To edit this plot style click on format. Now we have many options to change chart style. Modify the chart as per requirement.</a:t>
            </a:r>
          </a:p>
        </p:txBody>
      </p:sp>
      <p:pic>
        <p:nvPicPr>
          <p:cNvPr id="4" name="Picture 3"/>
          <p:cNvPicPr/>
          <p:nvPr/>
        </p:nvPicPr>
        <p:blipFill>
          <a:blip r:embed="rId2"/>
          <a:stretch>
            <a:fillRect/>
          </a:stretch>
        </p:blipFill>
        <p:spPr>
          <a:xfrm>
            <a:off x="2057400" y="2209801"/>
            <a:ext cx="7086600" cy="4648200"/>
          </a:xfrm>
          <a:prstGeom prst="rect">
            <a:avLst/>
          </a:prstGeom>
        </p:spPr>
      </p:pic>
    </p:spTree>
    <p:extLst>
      <p:ext uri="{BB962C8B-B14F-4D97-AF65-F5344CB8AC3E}">
        <p14:creationId xmlns:p14="http://schemas.microsoft.com/office/powerpoint/2010/main" val="195938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81000"/>
            <a:ext cx="8229600" cy="4525963"/>
          </a:xfrm>
        </p:spPr>
        <p:txBody>
          <a:bodyPr/>
          <a:lstStyle/>
          <a:p>
            <a:pPr algn="just">
              <a:buFont typeface="Wingdings" pitchFamily="2" charset="2"/>
              <a:buChar char="Ø"/>
            </a:pPr>
            <a:r>
              <a:rPr lang="en-US" dirty="0"/>
              <a:t>Now put the stacked bar chart from sheet 1 (sample details) to check positive and negative intensity state wise. And modify the chart.</a:t>
            </a:r>
          </a:p>
          <a:p>
            <a:endParaRPr lang="en-US" dirty="0"/>
          </a:p>
        </p:txBody>
      </p:sp>
      <p:pic>
        <p:nvPicPr>
          <p:cNvPr id="4" name="Picture 3"/>
          <p:cNvPicPr/>
          <p:nvPr/>
        </p:nvPicPr>
        <p:blipFill>
          <a:blip r:embed="rId2"/>
          <a:stretch>
            <a:fillRect/>
          </a:stretch>
        </p:blipFill>
        <p:spPr>
          <a:xfrm>
            <a:off x="1026597" y="1833008"/>
            <a:ext cx="7086600" cy="4800600"/>
          </a:xfrm>
          <a:prstGeom prst="rect">
            <a:avLst/>
          </a:prstGeom>
        </p:spPr>
      </p:pic>
    </p:spTree>
    <p:extLst>
      <p:ext uri="{BB962C8B-B14F-4D97-AF65-F5344CB8AC3E}">
        <p14:creationId xmlns:p14="http://schemas.microsoft.com/office/powerpoint/2010/main" val="444828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Font typeface="Wingdings" pitchFamily="2" charset="2"/>
              <a:buChar char="Ø"/>
            </a:pPr>
            <a:r>
              <a:rPr lang="en-US" dirty="0"/>
              <a:t>Now put pie chart to visualize death distribution by state.</a:t>
            </a:r>
          </a:p>
          <a:p>
            <a:pPr marL="0" indent="0">
              <a:buNone/>
            </a:pPr>
            <a:endParaRPr lang="en-US" dirty="0"/>
          </a:p>
        </p:txBody>
      </p:sp>
      <p:pic>
        <p:nvPicPr>
          <p:cNvPr id="4" name="Picture 3"/>
          <p:cNvPicPr/>
          <p:nvPr/>
        </p:nvPicPr>
        <p:blipFill>
          <a:blip r:embed="rId2"/>
          <a:stretch>
            <a:fillRect/>
          </a:stretch>
        </p:blipFill>
        <p:spPr>
          <a:xfrm>
            <a:off x="1413164" y="1669473"/>
            <a:ext cx="7668491" cy="5188527"/>
          </a:xfrm>
          <a:prstGeom prst="rect">
            <a:avLst/>
          </a:prstGeom>
        </p:spPr>
      </p:pic>
    </p:spTree>
    <p:extLst>
      <p:ext uri="{BB962C8B-B14F-4D97-AF65-F5344CB8AC3E}">
        <p14:creationId xmlns:p14="http://schemas.microsoft.com/office/powerpoint/2010/main" val="5524179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a:buFont typeface="Wingdings" pitchFamily="2" charset="2"/>
              <a:buChar char="Ø"/>
            </a:pPr>
            <a:r>
              <a:rPr lang="en-US" dirty="0"/>
              <a:t>Put state wise cured map.</a:t>
            </a:r>
          </a:p>
          <a:p>
            <a:endParaRPr lang="en-US" dirty="0"/>
          </a:p>
        </p:txBody>
      </p:sp>
      <p:pic>
        <p:nvPicPr>
          <p:cNvPr id="4" name="Picture 3"/>
          <p:cNvPicPr/>
          <p:nvPr/>
        </p:nvPicPr>
        <p:blipFill>
          <a:blip r:embed="rId2"/>
          <a:stretch>
            <a:fillRect/>
          </a:stretch>
        </p:blipFill>
        <p:spPr>
          <a:xfrm>
            <a:off x="1905000" y="1828800"/>
            <a:ext cx="7239000" cy="5029200"/>
          </a:xfrm>
          <a:prstGeom prst="rect">
            <a:avLst/>
          </a:prstGeom>
        </p:spPr>
      </p:pic>
    </p:spTree>
    <p:extLst>
      <p:ext uri="{BB962C8B-B14F-4D97-AF65-F5344CB8AC3E}">
        <p14:creationId xmlns:p14="http://schemas.microsoft.com/office/powerpoint/2010/main" val="2030117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buFont typeface="Wingdings" pitchFamily="2" charset="2"/>
              <a:buChar char="Ø"/>
            </a:pPr>
            <a:r>
              <a:rPr lang="en-US" dirty="0"/>
              <a:t>Interactive dash board is ready with 4 different visualizations. </a:t>
            </a:r>
          </a:p>
        </p:txBody>
      </p:sp>
      <p:pic>
        <p:nvPicPr>
          <p:cNvPr id="4" name="Picture 3"/>
          <p:cNvPicPr/>
          <p:nvPr/>
        </p:nvPicPr>
        <p:blipFill>
          <a:blip r:embed="rId2"/>
          <a:stretch>
            <a:fillRect/>
          </a:stretch>
        </p:blipFill>
        <p:spPr>
          <a:xfrm>
            <a:off x="1676400" y="1981200"/>
            <a:ext cx="7467600" cy="4911436"/>
          </a:xfrm>
          <a:prstGeom prst="rect">
            <a:avLst/>
          </a:prstGeom>
        </p:spPr>
      </p:pic>
    </p:spTree>
    <p:extLst>
      <p:ext uri="{BB962C8B-B14F-4D97-AF65-F5344CB8AC3E}">
        <p14:creationId xmlns:p14="http://schemas.microsoft.com/office/powerpoint/2010/main" val="3361725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buFont typeface="Wingdings" pitchFamily="2" charset="2"/>
              <a:buChar char="Ø"/>
            </a:pPr>
            <a:r>
              <a:rPr lang="en-US" dirty="0"/>
              <a:t>We can export this as </a:t>
            </a:r>
            <a:r>
              <a:rPr lang="en-US" dirty="0" err="1"/>
              <a:t>pdf</a:t>
            </a:r>
            <a:r>
              <a:rPr lang="en-US" dirty="0"/>
              <a:t> by clicking on file-export as –</a:t>
            </a:r>
            <a:r>
              <a:rPr lang="en-US" dirty="0" err="1"/>
              <a:t>pdf</a:t>
            </a:r>
            <a:r>
              <a:rPr lang="en-US" dirty="0"/>
              <a:t>.</a:t>
            </a:r>
          </a:p>
          <a:p>
            <a:pPr marL="0" indent="0">
              <a:buNone/>
            </a:pPr>
            <a:endParaRPr lang="en-US" dirty="0"/>
          </a:p>
          <a:p>
            <a:pPr>
              <a:buFont typeface="Wingdings" pitchFamily="2" charset="2"/>
              <a:buChar char="Ø"/>
            </a:pPr>
            <a:endParaRPr lang="en-US" dirty="0"/>
          </a:p>
        </p:txBody>
      </p:sp>
      <p:pic>
        <p:nvPicPr>
          <p:cNvPr id="4" name="Picture 3"/>
          <p:cNvPicPr/>
          <p:nvPr/>
        </p:nvPicPr>
        <p:blipFill>
          <a:blip r:embed="rId2"/>
          <a:stretch>
            <a:fillRect/>
          </a:stretch>
        </p:blipFill>
        <p:spPr>
          <a:xfrm>
            <a:off x="1676401" y="1828800"/>
            <a:ext cx="7446818" cy="5029200"/>
          </a:xfrm>
          <a:prstGeom prst="rect">
            <a:avLst/>
          </a:prstGeom>
        </p:spPr>
      </p:pic>
    </p:spTree>
    <p:extLst>
      <p:ext uri="{BB962C8B-B14F-4D97-AF65-F5344CB8AC3E}">
        <p14:creationId xmlns:p14="http://schemas.microsoft.com/office/powerpoint/2010/main" val="2612064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560</Words>
  <Application>Microsoft Office PowerPoint</Application>
  <PresentationFormat>On-screen Show (4:3)</PresentationFormat>
  <Paragraphs>46</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PowerPoint Presentation</vt:lpstr>
      <vt:lpstr>PowerPoint Presentation</vt:lpstr>
      <vt:lpstr>Check the data loaded properly or not.</vt:lpstr>
      <vt:lpstr>Here I want to visualize city wise count of male and female count.</vt:lpstr>
      <vt:lpstr>PowerPoint Presentation</vt:lpstr>
      <vt:lpstr>PowerPoint Presentation</vt:lpstr>
      <vt:lpstr>PowerPoint Presentation</vt:lpstr>
      <vt:lpstr>PowerPoint Presentation</vt:lpstr>
      <vt:lpstr>PowerPoint Presentation</vt:lpstr>
      <vt:lpstr>PowerPoint Presentation</vt:lpstr>
      <vt:lpstr>This dashboard is prepared with two separate excel data sheets having state wise cured , death , confirmed count and state wise sample collected with their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NEW</dc:creator>
  <cp:lastModifiedBy>Nitin Dattatreya Kamitkar</cp:lastModifiedBy>
  <cp:revision>28</cp:revision>
  <dcterms:created xsi:type="dcterms:W3CDTF">2006-08-16T00:00:00Z</dcterms:created>
  <dcterms:modified xsi:type="dcterms:W3CDTF">2023-08-28T17:58:27Z</dcterms:modified>
</cp:coreProperties>
</file>