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8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3CD361-DF3E-A592-8A13-7539B1306696}" v="2" dt="2024-12-21T09:35:53.6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33CD361-DF3E-A592-8A13-7539B1306696}"/>
    <pc:docChg chg="modSld">
      <pc:chgData name="" userId="" providerId="" clId="Web-{333CD361-DF3E-A592-8A13-7539B1306696}" dt="2024-12-21T09:35:53.648" v="1" actId="1076"/>
      <pc:docMkLst>
        <pc:docMk/>
      </pc:docMkLst>
      <pc:sldChg chg="modSp">
        <pc:chgData name="" userId="" providerId="" clId="Web-{333CD361-DF3E-A592-8A13-7539B1306696}" dt="2024-12-21T09:35:53.648" v="1" actId="1076"/>
        <pc:sldMkLst>
          <pc:docMk/>
          <pc:sldMk cId="1203094244" sldId="257"/>
        </pc:sldMkLst>
        <pc:picChg chg="mod">
          <ac:chgData name="" userId="" providerId="" clId="Web-{333CD361-DF3E-A592-8A13-7539B1306696}" dt="2024-12-21T09:35:53.648" v="1" actId="1076"/>
          <ac:picMkLst>
            <pc:docMk/>
            <pc:sldMk cId="1203094244" sldId="257"/>
            <ac:picMk id="5"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37E5202-FCDE-4279-B73D-82D3599BDAA7}"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2067161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7E5202-FCDE-4279-B73D-82D3599BDAA7}"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233565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E5202-FCDE-4279-B73D-82D3599BDAA7}"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328081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7E5202-FCDE-4279-B73D-82D3599BDAA7}"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100995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7E5202-FCDE-4279-B73D-82D3599BDAA7}" type="datetimeFigureOut">
              <a:rPr lang="en-US" smtClean="0"/>
              <a:t>12/21/2024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3386379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37E5202-FCDE-4279-B73D-82D3599BDAA7}" type="datetimeFigureOut">
              <a:rPr lang="en-US" smtClean="0"/>
              <a:t>12/21/2024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4053617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7E5202-FCDE-4279-B73D-82D3599BDAA7}" type="datetimeFigureOut">
              <a:rPr lang="en-US" smtClean="0"/>
              <a:t>12/21/2024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3164443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7E5202-FCDE-4279-B73D-82D3599BDAA7}"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160270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7E5202-FCDE-4279-B73D-82D3599BDAA7}"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924474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7E5202-FCDE-4279-B73D-82D3599BDAA7}"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1350373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7E5202-FCDE-4279-B73D-82D3599BDAA7}"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F3A89-D317-43D0-B46B-8E154F232623}" type="slidenum">
              <a:rPr lang="en-US" smtClean="0"/>
              <a:t>‹#›</a:t>
            </a:fld>
            <a:endParaRPr lang="en-US"/>
          </a:p>
        </p:txBody>
      </p:sp>
    </p:spTree>
    <p:extLst>
      <p:ext uri="{BB962C8B-B14F-4D97-AF65-F5344CB8AC3E}">
        <p14:creationId xmlns:p14="http://schemas.microsoft.com/office/powerpoint/2010/main" val="3685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7E5202-FCDE-4279-B73D-82D3599BDAA7}" type="datetimeFigureOut">
              <a:rPr lang="en-US" smtClean="0"/>
              <a:t>12/21/2024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1F3A89-D317-43D0-B46B-8E154F232623}" type="slidenum">
              <a:rPr lang="en-US" smtClean="0"/>
              <a:t>‹#›</a:t>
            </a:fld>
            <a:endParaRPr lang="en-US"/>
          </a:p>
        </p:txBody>
      </p:sp>
    </p:spTree>
    <p:extLst>
      <p:ext uri="{BB962C8B-B14F-4D97-AF65-F5344CB8AC3E}">
        <p14:creationId xmlns:p14="http://schemas.microsoft.com/office/powerpoint/2010/main" val="2565515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7709"/>
            <a:ext cx="8839200" cy="6553200"/>
          </a:xfrm>
        </p:spPr>
        <p:txBody>
          <a:bodyPr>
            <a:normAutofit/>
          </a:bodyPr>
          <a:lstStyle/>
          <a:p>
            <a:endParaRPr lang="en-US" sz="4000" b="1" dirty="0">
              <a:solidFill>
                <a:srgbClr val="FF0000"/>
              </a:solidFill>
              <a:latin typeface="Times New Roman" pitchFamily="18" charset="0"/>
              <a:cs typeface="Times New Roman" pitchFamily="18" charset="0"/>
            </a:endParaRPr>
          </a:p>
          <a:p>
            <a:endParaRPr lang="en-US" sz="4000" b="1" dirty="0">
              <a:solidFill>
                <a:srgbClr val="FF0000"/>
              </a:solidFill>
              <a:latin typeface="Times New Roman" pitchFamily="18" charset="0"/>
              <a:cs typeface="Times New Roman" pitchFamily="18" charset="0"/>
            </a:endParaRPr>
          </a:p>
          <a:p>
            <a:endParaRPr lang="en-US" sz="4000" b="1" dirty="0">
              <a:solidFill>
                <a:srgbClr val="FF0000"/>
              </a:solidFill>
              <a:latin typeface="Times New Roman" pitchFamily="18" charset="0"/>
              <a:cs typeface="Times New Roman" pitchFamily="18" charset="0"/>
            </a:endParaRPr>
          </a:p>
          <a:p>
            <a:r>
              <a:rPr lang="en-US" sz="4000" b="1" dirty="0">
                <a:solidFill>
                  <a:srgbClr val="FF0000"/>
                </a:solidFill>
                <a:latin typeface="Times New Roman" pitchFamily="18" charset="0"/>
                <a:cs typeface="Times New Roman" pitchFamily="18" charset="0"/>
              </a:rPr>
              <a:t>Data Visualization through Excel</a:t>
            </a:r>
          </a:p>
          <a:p>
            <a:pPr algn="r"/>
            <a:r>
              <a:rPr lang="en-US" sz="2800" b="1" dirty="0">
                <a:solidFill>
                  <a:schemeClr val="tx2"/>
                </a:solidFill>
                <a:latin typeface="Times New Roman" pitchFamily="18" charset="0"/>
                <a:cs typeface="Times New Roman" pitchFamily="18" charset="0"/>
              </a:rPr>
              <a:t>- Excel dashboards</a:t>
            </a:r>
          </a:p>
          <a:p>
            <a:endParaRPr lang="en-US" sz="2800" dirty="0">
              <a:solidFill>
                <a:srgbClr val="FF0000"/>
              </a:solidFill>
              <a:latin typeface="Times New Roman" pitchFamily="18" charset="0"/>
              <a:cs typeface="Times New Roman" pitchFamily="18" charset="0"/>
            </a:endParaRPr>
          </a:p>
          <a:p>
            <a:endParaRPr lang="en-US" sz="2800" b="1" dirty="0">
              <a:solidFill>
                <a:schemeClr val="tx2"/>
              </a:solidFill>
              <a:latin typeface="Times New Roman" pitchFamily="18" charset="0"/>
              <a:cs typeface="Times New Roman" pitchFamily="18" charset="0"/>
            </a:endParaRPr>
          </a:p>
          <a:p>
            <a:endParaRPr lang="en-US" sz="2800" dirty="0">
              <a:solidFill>
                <a:srgbClr val="FF0000"/>
              </a:solidFill>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37" y="1"/>
            <a:ext cx="3033484" cy="9144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53" y="3408871"/>
            <a:ext cx="9157855" cy="3276601"/>
          </a:xfrm>
          <a:prstGeom prst="rect">
            <a:avLst/>
          </a:prstGeom>
        </p:spPr>
      </p:pic>
    </p:spTree>
    <p:extLst>
      <p:ext uri="{BB962C8B-B14F-4D97-AF65-F5344CB8AC3E}">
        <p14:creationId xmlns:p14="http://schemas.microsoft.com/office/powerpoint/2010/main" val="1203094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458200" cy="5745163"/>
          </a:xfrm>
        </p:spPr>
        <p:txBody>
          <a:bodyPr>
            <a:normAutofit/>
          </a:bodyPr>
          <a:lstStyle/>
          <a:p>
            <a:pPr marL="0" indent="0">
              <a:buNone/>
            </a:pPr>
            <a:endParaRPr lang="en-US" sz="3600" dirty="0">
              <a:latin typeface="Bookman Old Style" pitchFamily="18" charset="0"/>
            </a:endParaRPr>
          </a:p>
          <a:p>
            <a:pPr marL="0" indent="0">
              <a:buNone/>
            </a:pPr>
            <a:r>
              <a:rPr lang="en-US" sz="3600" b="1" dirty="0">
                <a:solidFill>
                  <a:schemeClr val="accent6">
                    <a:lumMod val="75000"/>
                  </a:schemeClr>
                </a:solidFill>
                <a:latin typeface="Bookman Old Style" pitchFamily="18" charset="0"/>
              </a:rPr>
              <a:t>Session-II  Plan</a:t>
            </a:r>
          </a:p>
          <a:p>
            <a:pPr>
              <a:buFontTx/>
              <a:buChar char="-"/>
            </a:pPr>
            <a:r>
              <a:rPr lang="en-US" sz="2800" dirty="0">
                <a:solidFill>
                  <a:srgbClr val="002060"/>
                </a:solidFill>
                <a:latin typeface="Bookman Old Style" pitchFamily="18" charset="0"/>
              </a:rPr>
              <a:t>Common terminologies.</a:t>
            </a:r>
          </a:p>
          <a:p>
            <a:pPr>
              <a:buFontTx/>
              <a:buChar char="-"/>
            </a:pPr>
            <a:r>
              <a:rPr lang="en-US" sz="2800" dirty="0">
                <a:solidFill>
                  <a:srgbClr val="002060"/>
                </a:solidFill>
                <a:latin typeface="Bookman Old Style" pitchFamily="18" charset="0"/>
              </a:rPr>
              <a:t>Data understanding.</a:t>
            </a:r>
          </a:p>
          <a:p>
            <a:pPr>
              <a:buFontTx/>
              <a:buChar char="-"/>
            </a:pPr>
            <a:r>
              <a:rPr lang="en-US" sz="2800" dirty="0">
                <a:solidFill>
                  <a:srgbClr val="002060"/>
                </a:solidFill>
                <a:latin typeface="Bookman Old Style" pitchFamily="18" charset="0"/>
              </a:rPr>
              <a:t>Creation of column chart.</a:t>
            </a:r>
          </a:p>
          <a:p>
            <a:pPr>
              <a:buFontTx/>
              <a:buChar char="-"/>
            </a:pPr>
            <a:r>
              <a:rPr lang="en-US" sz="2800" dirty="0">
                <a:solidFill>
                  <a:srgbClr val="002060"/>
                </a:solidFill>
                <a:latin typeface="Bookman Old Style" pitchFamily="18" charset="0"/>
              </a:rPr>
              <a:t>Creation of bar chart.</a:t>
            </a:r>
          </a:p>
          <a:p>
            <a:pPr>
              <a:buFontTx/>
              <a:buChar char="-"/>
            </a:pPr>
            <a:r>
              <a:rPr lang="en-US" sz="2800" dirty="0">
                <a:solidFill>
                  <a:srgbClr val="002060"/>
                </a:solidFill>
                <a:latin typeface="Bookman Old Style" pitchFamily="18" charset="0"/>
              </a:rPr>
              <a:t>Creation of heat map.</a:t>
            </a:r>
          </a:p>
          <a:p>
            <a:pPr>
              <a:buFontTx/>
              <a:buChar char="-"/>
            </a:pPr>
            <a:r>
              <a:rPr lang="en-US" sz="2800" dirty="0">
                <a:solidFill>
                  <a:srgbClr val="002060"/>
                </a:solidFill>
                <a:latin typeface="Bookman Old Style" pitchFamily="18" charset="0"/>
              </a:rPr>
              <a:t>Simple dashboard.</a:t>
            </a:r>
          </a:p>
          <a:p>
            <a:pPr>
              <a:buFontTx/>
              <a:buChar char="-"/>
            </a:pPr>
            <a:r>
              <a:rPr lang="en-US" sz="2800" dirty="0">
                <a:solidFill>
                  <a:srgbClr val="002060"/>
                </a:solidFill>
                <a:latin typeface="Bookman Old Style" pitchFamily="18" charset="0"/>
              </a:rPr>
              <a:t>Assessment </a:t>
            </a:r>
          </a:p>
          <a:p>
            <a:pPr>
              <a:buFontTx/>
              <a:buChar char="-"/>
            </a:pPr>
            <a:r>
              <a:rPr lang="en-US" sz="2800" dirty="0">
                <a:solidFill>
                  <a:srgbClr val="002060"/>
                </a:solidFill>
                <a:latin typeface="Bookman Old Style" pitchFamily="18" charset="0"/>
              </a:rPr>
              <a:t>Summary and Interaction.</a:t>
            </a:r>
          </a:p>
        </p:txBody>
      </p:sp>
      <p:pic>
        <p:nvPicPr>
          <p:cNvPr id="2050" name="Picture 2" descr="https://hasgr.com/wp-content/uploads/2018/01/stick_figure_drawing_three_check_marks_nonlooping_300_clr_6578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57150"/>
            <a:ext cx="1714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052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dirty="0">
                <a:solidFill>
                  <a:schemeClr val="accent2"/>
                </a:solidFill>
              </a:rPr>
              <a:t>Common components /Terminology of the chart.</a:t>
            </a:r>
          </a:p>
          <a:p>
            <a:pPr marL="0" indent="0">
              <a:buNone/>
            </a:pP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3214" b="5128"/>
          <a:stretch/>
        </p:blipFill>
        <p:spPr>
          <a:xfrm>
            <a:off x="263236" y="1752600"/>
            <a:ext cx="8686800" cy="4197927"/>
          </a:xfrm>
          <a:prstGeom prst="rect">
            <a:avLst/>
          </a:prstGeom>
        </p:spPr>
      </p:pic>
    </p:spTree>
    <p:extLst>
      <p:ext uri="{BB962C8B-B14F-4D97-AF65-F5344CB8AC3E}">
        <p14:creationId xmlns:p14="http://schemas.microsoft.com/office/powerpoint/2010/main" val="3713699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en-US" b="1" i="1" dirty="0">
                <a:solidFill>
                  <a:schemeClr val="accent5"/>
                </a:solidFill>
                <a:latin typeface="Britannic Bold" pitchFamily="34" charset="0"/>
              </a:rPr>
              <a:t>What is Excel dashboard ?</a:t>
            </a:r>
          </a:p>
          <a:p>
            <a:pPr algn="just">
              <a:buFont typeface="Wingdings" pitchFamily="2" charset="2"/>
              <a:buChar char="Ø"/>
            </a:pPr>
            <a:r>
              <a:rPr lang="en-US" dirty="0">
                <a:solidFill>
                  <a:schemeClr val="accent2">
                    <a:lumMod val="75000"/>
                  </a:schemeClr>
                </a:solidFill>
              </a:rPr>
              <a:t>An </a:t>
            </a:r>
            <a:r>
              <a:rPr lang="en-US" b="1" dirty="0">
                <a:solidFill>
                  <a:schemeClr val="accent2">
                    <a:lumMod val="75000"/>
                  </a:schemeClr>
                </a:solidFill>
              </a:rPr>
              <a:t>Excel dashboard</a:t>
            </a:r>
            <a:r>
              <a:rPr lang="en-US" dirty="0">
                <a:solidFill>
                  <a:schemeClr val="accent2">
                    <a:lumMod val="75000"/>
                  </a:schemeClr>
                </a:solidFill>
              </a:rPr>
              <a:t> is one-pager (mostly, but not always necessary) that helps managers and business leaders in tracking key KPIs or metrics and take a decision based on it. </a:t>
            </a:r>
          </a:p>
          <a:p>
            <a:pPr algn="just">
              <a:buFont typeface="Wingdings" pitchFamily="2" charset="2"/>
              <a:buChar char="Ø"/>
            </a:pPr>
            <a:r>
              <a:rPr lang="en-US" dirty="0">
                <a:solidFill>
                  <a:schemeClr val="accent6">
                    <a:lumMod val="75000"/>
                  </a:schemeClr>
                </a:solidFill>
              </a:rPr>
              <a:t>It contains charts/tables/views that are backed by data. </a:t>
            </a:r>
          </a:p>
          <a:p>
            <a:pPr algn="just">
              <a:buFont typeface="Wingdings" pitchFamily="2" charset="2"/>
              <a:buChar char="Ø"/>
            </a:pPr>
            <a:r>
              <a:rPr lang="en-US" dirty="0">
                <a:solidFill>
                  <a:schemeClr val="accent2">
                    <a:lumMod val="50000"/>
                  </a:schemeClr>
                </a:solidFill>
              </a:rPr>
              <a:t>A </a:t>
            </a:r>
            <a:r>
              <a:rPr lang="en-US" b="1" dirty="0">
                <a:solidFill>
                  <a:schemeClr val="accent2">
                    <a:lumMod val="50000"/>
                  </a:schemeClr>
                </a:solidFill>
              </a:rPr>
              <a:t>dashboard</a:t>
            </a:r>
            <a:r>
              <a:rPr lang="en-US" dirty="0">
                <a:solidFill>
                  <a:schemeClr val="accent2">
                    <a:lumMod val="50000"/>
                  </a:schemeClr>
                </a:solidFill>
              </a:rPr>
              <a:t> is often called a report, however, not all reports are </a:t>
            </a:r>
            <a:r>
              <a:rPr lang="en-US" b="1" dirty="0">
                <a:solidFill>
                  <a:schemeClr val="accent2">
                    <a:lumMod val="50000"/>
                  </a:schemeClr>
                </a:solidFill>
              </a:rPr>
              <a:t>dashboards</a:t>
            </a:r>
            <a:r>
              <a:rPr lang="en-US" dirty="0">
                <a:solidFill>
                  <a:schemeClr val="accent2">
                    <a:lumMod val="50000"/>
                  </a:schemeClr>
                </a:solidFill>
              </a:rPr>
              <a:t>.</a:t>
            </a:r>
            <a:endParaRPr lang="en-US" b="1" dirty="0">
              <a:solidFill>
                <a:schemeClr val="accent2">
                  <a:lumMod val="50000"/>
                </a:schemeClr>
              </a:solidFill>
            </a:endParaRPr>
          </a:p>
        </p:txBody>
      </p:sp>
    </p:spTree>
    <p:extLst>
      <p:ext uri="{BB962C8B-B14F-4D97-AF65-F5344CB8AC3E}">
        <p14:creationId xmlns:p14="http://schemas.microsoft.com/office/powerpoint/2010/main" val="73416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62E573F6-5D48-4085-9815-36680A1E4A17}"/>
              </a:ext>
            </a:extLst>
          </p:cNvPr>
          <p:cNvSpPr txBox="1"/>
          <p:nvPr/>
        </p:nvSpPr>
        <p:spPr>
          <a:xfrm>
            <a:off x="2743200" y="381000"/>
            <a:ext cx="3003194" cy="461665"/>
          </a:xfrm>
          <a:prstGeom prst="rect">
            <a:avLst/>
          </a:prstGeom>
          <a:noFill/>
        </p:spPr>
        <p:txBody>
          <a:bodyPr wrap="none" rtlCol="0">
            <a:spAutoFit/>
          </a:bodyPr>
          <a:lstStyle/>
          <a:p>
            <a:r>
              <a:rPr lang="en-US" sz="2400" b="1" dirty="0"/>
              <a:t>DASHBOARD IN EXCEL</a:t>
            </a:r>
          </a:p>
        </p:txBody>
      </p:sp>
      <p:pic>
        <p:nvPicPr>
          <p:cNvPr id="3" name="Picture 2">
            <a:extLst>
              <a:ext uri="{FF2B5EF4-FFF2-40B4-BE49-F238E27FC236}">
                <a16:creationId xmlns:a16="http://schemas.microsoft.com/office/drawing/2014/main" id="{BBAC80B8-E20B-44EC-9ECE-B27E6FED4480}"/>
              </a:ext>
            </a:extLst>
          </p:cNvPr>
          <p:cNvPicPr>
            <a:picLocks noChangeAspect="1"/>
          </p:cNvPicPr>
          <p:nvPr/>
        </p:nvPicPr>
        <p:blipFill>
          <a:blip r:embed="rId2"/>
          <a:stretch>
            <a:fillRect/>
          </a:stretch>
        </p:blipFill>
        <p:spPr>
          <a:xfrm>
            <a:off x="0" y="1791972"/>
            <a:ext cx="9144000" cy="5066028"/>
          </a:xfrm>
          <a:prstGeom prst="rect">
            <a:avLst/>
          </a:prstGeom>
        </p:spPr>
      </p:pic>
    </p:spTree>
    <p:extLst>
      <p:ext uri="{BB962C8B-B14F-4D97-AF65-F5344CB8AC3E}">
        <p14:creationId xmlns:p14="http://schemas.microsoft.com/office/powerpoint/2010/main" val="4058292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a:t> </a:t>
            </a:r>
            <a:r>
              <a:rPr lang="en-US" b="1" dirty="0">
                <a:solidFill>
                  <a:schemeClr val="accent2"/>
                </a:solidFill>
              </a:rPr>
              <a:t>Before you start !</a:t>
            </a:r>
          </a:p>
          <a:p>
            <a:pPr>
              <a:buFont typeface="Wingdings" pitchFamily="2" charset="2"/>
              <a:buChar char="ü"/>
            </a:pPr>
            <a:r>
              <a:rPr lang="en-US" sz="3600" dirty="0"/>
              <a:t>Import your data into Excel</a:t>
            </a:r>
          </a:p>
          <a:p>
            <a:pPr>
              <a:buFont typeface="Wingdings" pitchFamily="2" charset="2"/>
              <a:buChar char="ü"/>
            </a:pPr>
            <a:r>
              <a:rPr lang="en-US" sz="3600" dirty="0"/>
              <a:t>Clean your data</a:t>
            </a:r>
          </a:p>
          <a:p>
            <a:pPr>
              <a:buFont typeface="Wingdings" pitchFamily="2" charset="2"/>
              <a:buChar char="ü"/>
            </a:pPr>
            <a:r>
              <a:rPr lang="en-US" sz="3600" dirty="0"/>
              <a:t>Set up your workbook</a:t>
            </a:r>
          </a:p>
          <a:p>
            <a:pPr>
              <a:buFont typeface="Wingdings" pitchFamily="2" charset="2"/>
              <a:buChar char="ü"/>
            </a:pPr>
            <a:r>
              <a:rPr lang="en-US" sz="3600" dirty="0"/>
              <a:t>Understand your requirements</a:t>
            </a:r>
          </a:p>
          <a:p>
            <a:pPr marL="0" indent="0">
              <a:buNone/>
            </a:pPr>
            <a:endParaRPr lang="en-US" dirty="0"/>
          </a:p>
          <a:p>
            <a:pPr marL="0" indent="0">
              <a:buNone/>
            </a:pPr>
            <a:endParaRPr lang="en-US" b="1" dirty="0">
              <a:solidFill>
                <a:schemeClr val="accent2"/>
              </a:solidFill>
            </a:endParaRPr>
          </a:p>
        </p:txBody>
      </p:sp>
    </p:spTree>
    <p:extLst>
      <p:ext uri="{BB962C8B-B14F-4D97-AF65-F5344CB8AC3E}">
        <p14:creationId xmlns:p14="http://schemas.microsoft.com/office/powerpoint/2010/main" val="3586002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3.giphy.com/media/j6vqc7bPdjuRJ3Lx01/giphy.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33945"/>
            <a:ext cx="8560336"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843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CREATING SIMPLE EXCEL DASHBOARD FOR COVID 19 INDIA DATA</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8229599" cy="4714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9896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lstStyle/>
          <a:p>
            <a:pPr marL="0" indent="0">
              <a:buNone/>
            </a:pPr>
            <a:r>
              <a:rPr lang="en-US" dirty="0"/>
              <a:t>STEPS</a:t>
            </a:r>
          </a:p>
          <a:p>
            <a:pPr marL="0" indent="0">
              <a:buNone/>
            </a:pPr>
            <a:r>
              <a:rPr lang="en-US" dirty="0"/>
              <a:t>1.Read data carefully and understand what it is.</a:t>
            </a:r>
          </a:p>
          <a:p>
            <a:pPr marL="0" indent="0">
              <a:buNone/>
            </a:pPr>
            <a:r>
              <a:rPr lang="en-US" dirty="0"/>
              <a:t>2.Rename the sheet as Raw data as shown</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799917"/>
            <a:ext cx="36576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799917"/>
            <a:ext cx="2771775"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3352800" y="3909579"/>
            <a:ext cx="1371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58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a:t>3.Create new sheet and rename it as pivot tables.</a:t>
            </a:r>
          </a:p>
          <a:p>
            <a:pPr marL="0" indent="0">
              <a:buNone/>
            </a:pPr>
            <a:r>
              <a:rPr lang="en-US" dirty="0"/>
              <a:t>4. in pivot table sheet click on insert option and then click on pivot table.</a:t>
            </a:r>
          </a:p>
          <a:p>
            <a:endParaRPr lang="en-US" dirty="0"/>
          </a:p>
        </p:txBody>
      </p:sp>
      <p:pic>
        <p:nvPicPr>
          <p:cNvPr id="4" name="Picture 3"/>
          <p:cNvPicPr/>
          <p:nvPr/>
        </p:nvPicPr>
        <p:blipFill>
          <a:blip r:embed="rId2"/>
          <a:stretch>
            <a:fillRect/>
          </a:stretch>
        </p:blipFill>
        <p:spPr>
          <a:xfrm>
            <a:off x="20783" y="2743200"/>
            <a:ext cx="4322618" cy="4114800"/>
          </a:xfrm>
          <a:prstGeom prst="rect">
            <a:avLst/>
          </a:prstGeom>
        </p:spPr>
      </p:pic>
      <p:pic>
        <p:nvPicPr>
          <p:cNvPr id="5" name="Picture 4"/>
          <p:cNvPicPr/>
          <p:nvPr/>
        </p:nvPicPr>
        <p:blipFill>
          <a:blip r:embed="rId3"/>
          <a:stretch>
            <a:fillRect/>
          </a:stretch>
        </p:blipFill>
        <p:spPr>
          <a:xfrm>
            <a:off x="5638801" y="2743200"/>
            <a:ext cx="3505200" cy="4087091"/>
          </a:xfrm>
          <a:prstGeom prst="rect">
            <a:avLst/>
          </a:prstGeom>
        </p:spPr>
      </p:pic>
    </p:spTree>
    <p:extLst>
      <p:ext uri="{BB962C8B-B14F-4D97-AF65-F5344CB8AC3E}">
        <p14:creationId xmlns:p14="http://schemas.microsoft.com/office/powerpoint/2010/main" val="2013590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lgn="just">
              <a:buNone/>
            </a:pPr>
            <a:r>
              <a:rPr lang="en-US" dirty="0"/>
              <a:t>5. Now you got pivot table asking range of the sheet or data for which table to be put. Go to raw data sheet and select the range and click ok.</a:t>
            </a:r>
          </a:p>
        </p:txBody>
      </p:sp>
      <p:pic>
        <p:nvPicPr>
          <p:cNvPr id="4" name="Picture 3"/>
          <p:cNvPicPr/>
          <p:nvPr/>
        </p:nvPicPr>
        <p:blipFill>
          <a:blip r:embed="rId2"/>
          <a:stretch>
            <a:fillRect/>
          </a:stretch>
        </p:blipFill>
        <p:spPr>
          <a:xfrm>
            <a:off x="4343400" y="2667000"/>
            <a:ext cx="4800600" cy="4191000"/>
          </a:xfrm>
          <a:prstGeom prst="rect">
            <a:avLst/>
          </a:prstGeom>
        </p:spPr>
      </p:pic>
    </p:spTree>
    <p:extLst>
      <p:ext uri="{BB962C8B-B14F-4D97-AF65-F5344CB8AC3E}">
        <p14:creationId xmlns:p14="http://schemas.microsoft.com/office/powerpoint/2010/main" val="2467904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a:t>6. Now the pivot table is ready with pivot table field list.</a:t>
            </a:r>
          </a:p>
          <a:p>
            <a:pPr marL="0" indent="0">
              <a:buNone/>
            </a:pPr>
            <a:endParaRPr lang="en-US" dirty="0"/>
          </a:p>
          <a:p>
            <a:endParaRPr lang="en-US" dirty="0"/>
          </a:p>
        </p:txBody>
      </p:sp>
      <p:pic>
        <p:nvPicPr>
          <p:cNvPr id="4" name="Picture 3"/>
          <p:cNvPicPr/>
          <p:nvPr/>
        </p:nvPicPr>
        <p:blipFill>
          <a:blip r:embed="rId2"/>
          <a:stretch>
            <a:fillRect/>
          </a:stretch>
        </p:blipFill>
        <p:spPr>
          <a:xfrm>
            <a:off x="990600" y="1828800"/>
            <a:ext cx="8153400" cy="5029200"/>
          </a:xfrm>
          <a:prstGeom prst="rect">
            <a:avLst/>
          </a:prstGeom>
        </p:spPr>
      </p:pic>
    </p:spTree>
    <p:extLst>
      <p:ext uri="{BB962C8B-B14F-4D97-AF65-F5344CB8AC3E}">
        <p14:creationId xmlns:p14="http://schemas.microsoft.com/office/powerpoint/2010/main" val="3065188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marL="0" indent="0" algn="just">
              <a:buNone/>
            </a:pPr>
            <a:r>
              <a:rPr lang="en-US" sz="2500" dirty="0"/>
              <a:t>7. Select data variable for which you would like to put chart and drag them to appropriate areas mention at the bottom of PTF list (Drag and drop). Example states in ROW LABEL and count of cured value in VALUES. Now segregated data has been filtered from raw sheet and generated separate table.</a:t>
            </a:r>
          </a:p>
          <a:p>
            <a:pPr marL="0" indent="0" algn="just">
              <a:buNone/>
            </a:pPr>
            <a:endParaRPr lang="en-US" dirty="0"/>
          </a:p>
        </p:txBody>
      </p:sp>
      <p:pic>
        <p:nvPicPr>
          <p:cNvPr id="6" name="Picture 5"/>
          <p:cNvPicPr/>
          <p:nvPr/>
        </p:nvPicPr>
        <p:blipFill>
          <a:blip r:embed="rId2"/>
          <a:stretch>
            <a:fillRect/>
          </a:stretch>
        </p:blipFill>
        <p:spPr>
          <a:xfrm>
            <a:off x="2971800" y="2514600"/>
            <a:ext cx="6151418" cy="4343400"/>
          </a:xfrm>
          <a:prstGeom prst="rect">
            <a:avLst/>
          </a:prstGeom>
        </p:spPr>
      </p:pic>
    </p:spTree>
    <p:extLst>
      <p:ext uri="{BB962C8B-B14F-4D97-AF65-F5344CB8AC3E}">
        <p14:creationId xmlns:p14="http://schemas.microsoft.com/office/powerpoint/2010/main" val="1199283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6172200"/>
          </a:xfrm>
        </p:spPr>
        <p:txBody>
          <a:bodyPr/>
          <a:lstStyle/>
          <a:p>
            <a:pPr marL="0" indent="0">
              <a:buNone/>
            </a:pPr>
            <a:r>
              <a:rPr lang="en-US" sz="2800" dirty="0"/>
              <a:t>8. Repeat the procedure and create multiple pivot tables as per requirement on same sheet. In this examples three pivot tables are formed a) state wise cured count b) state wise death and c) state wise cured, death, confirmed.</a:t>
            </a:r>
          </a:p>
          <a:p>
            <a:pPr marL="0" indent="0">
              <a:buNone/>
            </a:pPr>
            <a:endParaRPr lang="en-US" dirty="0"/>
          </a:p>
          <a:p>
            <a:pPr marL="0" indent="0">
              <a:buNone/>
            </a:pPr>
            <a:endParaRPr lang="en-US" dirty="0"/>
          </a:p>
        </p:txBody>
      </p:sp>
      <p:pic>
        <p:nvPicPr>
          <p:cNvPr id="5" name="Picture 4"/>
          <p:cNvPicPr/>
          <p:nvPr/>
        </p:nvPicPr>
        <p:blipFill>
          <a:blip r:embed="rId2"/>
          <a:stretch>
            <a:fillRect/>
          </a:stretch>
        </p:blipFill>
        <p:spPr>
          <a:xfrm>
            <a:off x="2895600" y="2667000"/>
            <a:ext cx="6255327" cy="4156364"/>
          </a:xfrm>
          <a:prstGeom prst="rect">
            <a:avLst/>
          </a:prstGeom>
        </p:spPr>
      </p:pic>
    </p:spTree>
    <p:extLst>
      <p:ext uri="{BB962C8B-B14F-4D97-AF65-F5344CB8AC3E}">
        <p14:creationId xmlns:p14="http://schemas.microsoft.com/office/powerpoint/2010/main" val="1931905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lgn="just">
              <a:buNone/>
            </a:pPr>
            <a:r>
              <a:rPr lang="en-US" dirty="0"/>
              <a:t>9.Now select particular pivot table data to put chart.  Here I clicked on row label of first pivot and clicked on option. There we will get pivot chart option.</a:t>
            </a:r>
          </a:p>
          <a:p>
            <a:pPr marL="0" indent="0" algn="just">
              <a:buNone/>
            </a:pPr>
            <a:endParaRPr lang="en-US" dirty="0"/>
          </a:p>
        </p:txBody>
      </p:sp>
      <p:pic>
        <p:nvPicPr>
          <p:cNvPr id="4" name="Picture 3"/>
          <p:cNvPicPr/>
          <p:nvPr/>
        </p:nvPicPr>
        <p:blipFill>
          <a:blip r:embed="rId2"/>
          <a:stretch>
            <a:fillRect/>
          </a:stretch>
        </p:blipFill>
        <p:spPr>
          <a:xfrm>
            <a:off x="1219200" y="2895601"/>
            <a:ext cx="7910945" cy="3962400"/>
          </a:xfrm>
          <a:prstGeom prst="rect">
            <a:avLst/>
          </a:prstGeom>
        </p:spPr>
      </p:pic>
    </p:spTree>
    <p:extLst>
      <p:ext uri="{BB962C8B-B14F-4D97-AF65-F5344CB8AC3E}">
        <p14:creationId xmlns:p14="http://schemas.microsoft.com/office/powerpoint/2010/main" val="3052652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lgn="just">
              <a:buNone/>
            </a:pPr>
            <a:r>
              <a:rPr lang="en-US" dirty="0"/>
              <a:t>10. Once you click on pivot chart it will ask you to select type of chart. As here we are having two variables to compare the data I will select column chart and click on ok.</a:t>
            </a:r>
          </a:p>
        </p:txBody>
      </p:sp>
      <p:pic>
        <p:nvPicPr>
          <p:cNvPr id="5" name="Picture 4"/>
          <p:cNvPicPr/>
          <p:nvPr/>
        </p:nvPicPr>
        <p:blipFill>
          <a:blip r:embed="rId2"/>
          <a:stretch>
            <a:fillRect/>
          </a:stretch>
        </p:blipFill>
        <p:spPr>
          <a:xfrm>
            <a:off x="1295400" y="2438400"/>
            <a:ext cx="7560945" cy="4371109"/>
          </a:xfrm>
          <a:prstGeom prst="rect">
            <a:avLst/>
          </a:prstGeom>
        </p:spPr>
      </p:pic>
    </p:spTree>
    <p:extLst>
      <p:ext uri="{BB962C8B-B14F-4D97-AF65-F5344CB8AC3E}">
        <p14:creationId xmlns:p14="http://schemas.microsoft.com/office/powerpoint/2010/main" val="2745327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buNone/>
            </a:pPr>
            <a:r>
              <a:rPr lang="en-US" dirty="0"/>
              <a:t>11. Go to new sheet (click on new sheet) and rename as charts. After renaming the sheet go to view and uncheck gridlines to make sheet plain. </a:t>
            </a:r>
          </a:p>
          <a:p>
            <a:pPr marL="0" indent="0">
              <a:buNone/>
            </a:pPr>
            <a:endParaRPr lang="en-US" dirty="0"/>
          </a:p>
        </p:txBody>
      </p:sp>
      <p:pic>
        <p:nvPicPr>
          <p:cNvPr id="4" name="Picture 3"/>
          <p:cNvPicPr/>
          <p:nvPr/>
        </p:nvPicPr>
        <p:blipFill>
          <a:blip r:embed="rId2"/>
          <a:stretch>
            <a:fillRect/>
          </a:stretch>
        </p:blipFill>
        <p:spPr>
          <a:xfrm>
            <a:off x="2743201" y="2867891"/>
            <a:ext cx="6366164" cy="3990109"/>
          </a:xfrm>
          <a:prstGeom prst="rect">
            <a:avLst/>
          </a:prstGeom>
        </p:spPr>
      </p:pic>
    </p:spTree>
    <p:extLst>
      <p:ext uri="{BB962C8B-B14F-4D97-AF65-F5344CB8AC3E}">
        <p14:creationId xmlns:p14="http://schemas.microsoft.com/office/powerpoint/2010/main" val="2073349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marL="0" indent="0" algn="just">
              <a:buNone/>
            </a:pPr>
            <a:r>
              <a:rPr lang="en-US" dirty="0"/>
              <a:t>12</a:t>
            </a:r>
            <a:r>
              <a:rPr lang="en-US" sz="2500" dirty="0"/>
              <a:t>. Repeat the procedure 9 and 10 to create required different charts, transfer all the charts drawn for pivot table using cut and paste option. Before doing it we should modify chart with effective visualization like color, axis title, chart title, data labeling etc. </a:t>
            </a:r>
          </a:p>
          <a:p>
            <a:pPr marL="0" indent="0" algn="just">
              <a:buNone/>
            </a:pPr>
            <a:endParaRPr lang="en-US" sz="2500" dirty="0"/>
          </a:p>
          <a:p>
            <a:pPr marL="0" indent="0">
              <a:buNone/>
            </a:pPr>
            <a:endParaRPr lang="en-US" dirty="0"/>
          </a:p>
        </p:txBody>
      </p:sp>
      <p:pic>
        <p:nvPicPr>
          <p:cNvPr id="5" name="Picture 4"/>
          <p:cNvPicPr/>
          <p:nvPr/>
        </p:nvPicPr>
        <p:blipFill>
          <a:blip r:embed="rId2"/>
          <a:stretch>
            <a:fillRect/>
          </a:stretch>
        </p:blipFill>
        <p:spPr>
          <a:xfrm>
            <a:off x="1447800" y="2590800"/>
            <a:ext cx="7710055" cy="4281055"/>
          </a:xfrm>
          <a:prstGeom prst="rect">
            <a:avLst/>
          </a:prstGeom>
        </p:spPr>
      </p:pic>
    </p:spTree>
    <p:extLst>
      <p:ext uri="{BB962C8B-B14F-4D97-AF65-F5344CB8AC3E}">
        <p14:creationId xmlns:p14="http://schemas.microsoft.com/office/powerpoint/2010/main" val="3389073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lgn="just">
              <a:buNone/>
            </a:pPr>
            <a:r>
              <a:rPr lang="en-US" dirty="0"/>
              <a:t>13. These modifications can be done through layout option which will appear after clicking on chart.</a:t>
            </a:r>
          </a:p>
          <a:p>
            <a:pPr marL="0" indent="0" algn="just">
              <a:buNone/>
            </a:pPr>
            <a:endParaRPr lang="en-US" dirty="0"/>
          </a:p>
        </p:txBody>
      </p:sp>
      <p:pic>
        <p:nvPicPr>
          <p:cNvPr id="4" name="Picture 3"/>
          <p:cNvPicPr/>
          <p:nvPr/>
        </p:nvPicPr>
        <p:blipFill>
          <a:blip r:embed="rId2"/>
          <a:stretch>
            <a:fillRect/>
          </a:stretch>
        </p:blipFill>
        <p:spPr>
          <a:xfrm>
            <a:off x="1828801" y="2819400"/>
            <a:ext cx="7315200" cy="4038600"/>
          </a:xfrm>
          <a:prstGeom prst="rect">
            <a:avLst/>
          </a:prstGeom>
        </p:spPr>
      </p:pic>
    </p:spTree>
    <p:extLst>
      <p:ext uri="{BB962C8B-B14F-4D97-AF65-F5344CB8AC3E}">
        <p14:creationId xmlns:p14="http://schemas.microsoft.com/office/powerpoint/2010/main" val="1075667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marL="0" indent="0" algn="just">
              <a:buNone/>
            </a:pPr>
            <a:r>
              <a:rPr lang="en-US" sz="2500" dirty="0"/>
              <a:t>14. Once all charts are transferred to charts sheet after modification connect all pivot tables using slicer option. For that purpose go to pivot tables sheet then select any table &gt; insert &gt; click on slicer. Select state/union territory and click on ok.</a:t>
            </a:r>
          </a:p>
        </p:txBody>
      </p:sp>
      <p:pic>
        <p:nvPicPr>
          <p:cNvPr id="4" name="Picture 3"/>
          <p:cNvPicPr/>
          <p:nvPr/>
        </p:nvPicPr>
        <p:blipFill>
          <a:blip r:embed="rId2"/>
          <a:stretch>
            <a:fillRect/>
          </a:stretch>
        </p:blipFill>
        <p:spPr>
          <a:xfrm>
            <a:off x="3505200" y="2286000"/>
            <a:ext cx="5638800" cy="4440382"/>
          </a:xfrm>
          <a:prstGeom prst="rect">
            <a:avLst/>
          </a:prstGeom>
        </p:spPr>
      </p:pic>
    </p:spTree>
    <p:extLst>
      <p:ext uri="{BB962C8B-B14F-4D97-AF65-F5344CB8AC3E}">
        <p14:creationId xmlns:p14="http://schemas.microsoft.com/office/powerpoint/2010/main" val="1168265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8600"/>
            <a:ext cx="8229600" cy="4525963"/>
          </a:xfrm>
        </p:spPr>
        <p:txBody>
          <a:bodyPr/>
          <a:lstStyle/>
          <a:p>
            <a:pPr marL="0" indent="0">
              <a:buNone/>
            </a:pPr>
            <a:r>
              <a:rPr lang="en-US" dirty="0"/>
              <a:t>15. Now slicer has been added, cut and pastes that slicer to charts sheet.</a:t>
            </a:r>
          </a:p>
          <a:p>
            <a:pPr marL="0" indent="0">
              <a:buNone/>
            </a:pPr>
            <a:endParaRPr lang="en-US" dirty="0"/>
          </a:p>
          <a:p>
            <a:pPr marL="0" indent="0">
              <a:buNone/>
            </a:pPr>
            <a:endParaRPr lang="en-US" dirty="0"/>
          </a:p>
        </p:txBody>
      </p:sp>
      <p:pic>
        <p:nvPicPr>
          <p:cNvPr id="5" name="Picture 4"/>
          <p:cNvPicPr/>
          <p:nvPr/>
        </p:nvPicPr>
        <p:blipFill>
          <a:blip r:embed="rId2"/>
          <a:stretch>
            <a:fillRect/>
          </a:stretch>
        </p:blipFill>
        <p:spPr>
          <a:xfrm>
            <a:off x="1219201" y="2057400"/>
            <a:ext cx="7924800" cy="4800600"/>
          </a:xfrm>
          <a:prstGeom prst="rect">
            <a:avLst/>
          </a:prstGeom>
        </p:spPr>
      </p:pic>
    </p:spTree>
    <p:extLst>
      <p:ext uri="{BB962C8B-B14F-4D97-AF65-F5344CB8AC3E}">
        <p14:creationId xmlns:p14="http://schemas.microsoft.com/office/powerpoint/2010/main" val="56890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marL="0" indent="0">
              <a:buNone/>
            </a:pPr>
            <a:r>
              <a:rPr lang="en-US" dirty="0"/>
              <a:t>16</a:t>
            </a:r>
            <a:r>
              <a:rPr lang="en-US" sz="3000" dirty="0"/>
              <a:t>. This slice is having link with only that particular chart now we need link this slicer to remaining chart by right clicking on that and use connect pivot tables option.</a:t>
            </a:r>
          </a:p>
          <a:p>
            <a:pPr marL="0" indent="0">
              <a:buNone/>
            </a:pPr>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905000" y="2590800"/>
            <a:ext cx="7239000" cy="4267200"/>
          </a:xfrm>
          <a:prstGeom prst="rect">
            <a:avLst/>
          </a:prstGeom>
        </p:spPr>
      </p:pic>
    </p:spTree>
    <p:extLst>
      <p:ext uri="{BB962C8B-B14F-4D97-AF65-F5344CB8AC3E}">
        <p14:creationId xmlns:p14="http://schemas.microsoft.com/office/powerpoint/2010/main" val="1356068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a:t>17. </a:t>
            </a:r>
            <a:r>
              <a:rPr lang="en-US" sz="2800" dirty="0"/>
              <a:t>After clicking Pivot table connections, we will get a popup asking which all pivot table need to be connected? In this example we have selected all pivot tables and clicked ok as shown in figure.</a:t>
            </a:r>
          </a:p>
          <a:p>
            <a:pPr marL="0" indent="0">
              <a:buNone/>
            </a:pPr>
            <a:endParaRPr lang="en-US" sz="2800" dirty="0"/>
          </a:p>
        </p:txBody>
      </p:sp>
      <p:pic>
        <p:nvPicPr>
          <p:cNvPr id="5" name="Picture 4"/>
          <p:cNvPicPr/>
          <p:nvPr/>
        </p:nvPicPr>
        <p:blipFill>
          <a:blip r:embed="rId2"/>
          <a:stretch>
            <a:fillRect/>
          </a:stretch>
        </p:blipFill>
        <p:spPr>
          <a:xfrm>
            <a:off x="1981200" y="2743200"/>
            <a:ext cx="7162800" cy="4080164"/>
          </a:xfrm>
          <a:prstGeom prst="rect">
            <a:avLst/>
          </a:prstGeom>
        </p:spPr>
      </p:pic>
    </p:spTree>
    <p:extLst>
      <p:ext uri="{BB962C8B-B14F-4D97-AF65-F5344CB8AC3E}">
        <p14:creationId xmlns:p14="http://schemas.microsoft.com/office/powerpoint/2010/main" val="945796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marL="0" indent="0" algn="just">
              <a:buNone/>
            </a:pPr>
            <a:r>
              <a:rPr lang="en-US" dirty="0"/>
              <a:t>18. Now all pivot tables are connected to that slicer. We can now interact with simple dashboard</a:t>
            </a:r>
          </a:p>
          <a:p>
            <a:pPr marL="0" indent="0">
              <a:buNone/>
            </a:pPr>
            <a:endParaRPr lang="en-US" dirty="0"/>
          </a:p>
        </p:txBody>
      </p:sp>
      <p:pic>
        <p:nvPicPr>
          <p:cNvPr id="5" name="Picture 4"/>
          <p:cNvPicPr/>
          <p:nvPr/>
        </p:nvPicPr>
        <p:blipFill>
          <a:blip r:embed="rId2"/>
          <a:stretch>
            <a:fillRect/>
          </a:stretch>
        </p:blipFill>
        <p:spPr>
          <a:xfrm>
            <a:off x="914400" y="2286000"/>
            <a:ext cx="8194964" cy="4572000"/>
          </a:xfrm>
          <a:prstGeom prst="rect">
            <a:avLst/>
          </a:prstGeom>
        </p:spPr>
      </p:pic>
    </p:spTree>
    <p:extLst>
      <p:ext uri="{BB962C8B-B14F-4D97-AF65-F5344CB8AC3E}">
        <p14:creationId xmlns:p14="http://schemas.microsoft.com/office/powerpoint/2010/main" val="1848097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681</Words>
  <Application>Microsoft Office PowerPoint</Application>
  <PresentationFormat>On-screen Show (4:3)</PresentationFormat>
  <Paragraphs>47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CREATING SIMPLE EXCEL DASHBOARD FOR COVID 19 INDIA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Dattatreya Kamitkar</dc:creator>
  <cp:lastModifiedBy>Nitin Dattatreya Kamitkar</cp:lastModifiedBy>
  <cp:revision>4</cp:revision>
  <dcterms:created xsi:type="dcterms:W3CDTF">2020-07-20T14:24:12Z</dcterms:created>
  <dcterms:modified xsi:type="dcterms:W3CDTF">2024-12-21T09:36:03Z</dcterms:modified>
</cp:coreProperties>
</file>