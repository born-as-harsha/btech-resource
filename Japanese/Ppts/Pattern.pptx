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3" r:id="rId3"/>
    <p:sldId id="266" r:id="rId4"/>
    <p:sldId id="267" r:id="rId5"/>
    <p:sldId id="257" r:id="rId6"/>
    <p:sldId id="258" r:id="rId7"/>
    <p:sldId id="265" r:id="rId8"/>
    <p:sldId id="259" r:id="rId9"/>
    <p:sldId id="260" r:id="rId10"/>
    <p:sldId id="268" r:id="rId11"/>
    <p:sldId id="269" r:id="rId12"/>
    <p:sldId id="270" r:id="rId13"/>
    <p:sldId id="271" r:id="rId14"/>
    <p:sldId id="264" r:id="rId15"/>
    <p:sldId id="272" r:id="rId16"/>
    <p:sldId id="273" r:id="rId17"/>
    <p:sldId id="274" r:id="rId18"/>
    <p:sldId id="275" r:id="rId19"/>
    <p:sldId id="276" r:id="rId20"/>
    <p:sldId id="262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1236" y="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Simple Tense Patterns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Using Kore, Sore, Are, Kono, Sono, Ano, Koko, Soko, Asoko, and Mo Particle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5E08BC-F384-0346-F5DA-4C2A866A20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7250"/>
            <a:ext cx="9144000" cy="5143500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sz="4500" b="1" u="sng" dirty="0">
                <a:highlight>
                  <a:srgbClr val="FFFF00"/>
                </a:highlight>
              </a:rPr>
              <a:t>Particle</a:t>
            </a:r>
          </a:p>
          <a:p>
            <a:pPr marL="0" indent="0">
              <a:buNone/>
            </a:pPr>
            <a:r>
              <a:rPr lang="en-US" altLang="ja-JP" sz="4500" b="1" dirty="0"/>
              <a:t>						</a:t>
            </a:r>
            <a:r>
              <a:rPr lang="en-US" altLang="ja-JP" sz="6400" b="1" dirty="0"/>
              <a:t>(</a:t>
            </a:r>
            <a:r>
              <a:rPr lang="ja-JP" altLang="en-US" sz="6400" b="1" u="sng" dirty="0"/>
              <a:t>はー </a:t>
            </a:r>
            <a:r>
              <a:rPr lang="en-US" altLang="ja-JP" sz="6400" b="1" u="sng" dirty="0" err="1"/>
              <a:t>wa</a:t>
            </a:r>
            <a:r>
              <a:rPr lang="en-US" altLang="ja-JP" sz="6400" b="1" u="sng" dirty="0"/>
              <a:t>)</a:t>
            </a:r>
            <a:r>
              <a:rPr lang="ja-JP" altLang="en-US" sz="6400" b="1" u="sng" dirty="0"/>
              <a:t>　＝</a:t>
            </a:r>
            <a:r>
              <a:rPr lang="en-US" altLang="ja-JP" sz="6400" b="1" u="sng" dirty="0" err="1"/>
              <a:t>Noun+wa</a:t>
            </a:r>
            <a:r>
              <a:rPr lang="en-US" altLang="ja-JP" sz="6400" b="1" u="sng" dirty="0"/>
              <a:t>)</a:t>
            </a:r>
          </a:p>
          <a:p>
            <a:pPr marL="0" indent="0">
              <a:buNone/>
            </a:pPr>
            <a:endParaRPr lang="en-US" altLang="ja-JP" sz="6400" b="1" u="sng" dirty="0"/>
          </a:p>
          <a:p>
            <a:pPr marL="0" indent="0">
              <a:buNone/>
            </a:pPr>
            <a:r>
              <a:rPr lang="en-US" sz="6400" b="1" dirty="0"/>
              <a:t> 					</a:t>
            </a:r>
            <a:r>
              <a:rPr lang="en-US" sz="6400" b="1" dirty="0">
                <a:highlight>
                  <a:srgbClr val="FFFF00"/>
                </a:highlight>
              </a:rPr>
              <a:t> </a:t>
            </a:r>
            <a:r>
              <a:rPr lang="ja-JP" altLang="en-US" sz="6400" b="1" dirty="0">
                <a:solidFill>
                  <a:srgbClr val="FF0000"/>
                </a:solidFill>
                <a:highlight>
                  <a:srgbClr val="FFFF00"/>
                </a:highlight>
              </a:rPr>
              <a:t>はー</a:t>
            </a:r>
            <a:r>
              <a:rPr lang="en-US" sz="6400" b="1" dirty="0">
                <a:highlight>
                  <a:srgbClr val="FFFF00"/>
                </a:highlight>
              </a:rPr>
              <a:t>Used to indicate the topic of a sentence</a:t>
            </a:r>
            <a:endParaRPr lang="en-US" sz="64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pPr marL="0" indent="0">
              <a:buNone/>
            </a:pPr>
            <a:endParaRPr lang="en-US" sz="6400" dirty="0"/>
          </a:p>
          <a:p>
            <a:r>
              <a:rPr lang="en-US" sz="6400" dirty="0">
                <a:highlight>
                  <a:srgbClr val="FFFF00"/>
                </a:highlight>
              </a:rPr>
              <a:t>Rule: </a:t>
            </a:r>
            <a:r>
              <a:rPr lang="en-US" sz="6400" b="1" dirty="0" err="1"/>
              <a:t>wa</a:t>
            </a:r>
            <a:r>
              <a:rPr lang="en-US" sz="6400" b="1" dirty="0"/>
              <a:t> is use after the noun to make topic of the sentence</a:t>
            </a:r>
          </a:p>
          <a:p>
            <a:r>
              <a:rPr lang="en-US" sz="6400" b="1" dirty="0"/>
              <a:t>Structure: </a:t>
            </a:r>
            <a:r>
              <a:rPr lang="en-IN" sz="6400" b="1" dirty="0">
                <a:solidFill>
                  <a:srgbClr val="C00000"/>
                </a:solidFill>
              </a:rPr>
              <a:t>Noun+ </a:t>
            </a:r>
            <a:r>
              <a:rPr lang="en-IN" sz="6400" b="1" dirty="0" err="1">
                <a:solidFill>
                  <a:srgbClr val="C00000"/>
                </a:solidFill>
              </a:rPr>
              <a:t>Wa</a:t>
            </a:r>
            <a:r>
              <a:rPr lang="en-IN" sz="6400" b="1" dirty="0">
                <a:solidFill>
                  <a:srgbClr val="C00000"/>
                </a:solidFill>
              </a:rPr>
              <a:t>+ Noun2 + </a:t>
            </a:r>
            <a:r>
              <a:rPr lang="en-IN" sz="6400" b="1" dirty="0" err="1">
                <a:solidFill>
                  <a:srgbClr val="C00000"/>
                </a:solidFill>
              </a:rPr>
              <a:t>Desu</a:t>
            </a:r>
            <a:r>
              <a:rPr lang="en-IN" sz="6400" b="1" dirty="0">
                <a:solidFill>
                  <a:srgbClr val="C00000"/>
                </a:solidFill>
              </a:rPr>
              <a:t>.</a:t>
            </a:r>
            <a:r>
              <a:rPr lang="en-US" sz="6400" b="1" dirty="0"/>
              <a:t> </a:t>
            </a:r>
            <a:r>
              <a:rPr lang="en-US" sz="6400" b="1" dirty="0">
                <a:highlight>
                  <a:srgbClr val="FFFF00"/>
                </a:highlight>
              </a:rPr>
              <a:t>( Noun1 is Noun2)</a:t>
            </a:r>
          </a:p>
          <a:p>
            <a:pPr marL="0" indent="0" algn="l">
              <a:buNone/>
            </a:pPr>
            <a:endParaRPr lang="en-IN" sz="6400" b="1" dirty="0">
              <a:solidFill>
                <a:schemeClr val="tx1"/>
              </a:solidFill>
            </a:endParaRPr>
          </a:p>
          <a:p>
            <a:pPr algn="l"/>
            <a:r>
              <a:rPr lang="en-IN" sz="6400" b="1" dirty="0">
                <a:solidFill>
                  <a:schemeClr val="tx1"/>
                </a:solidFill>
              </a:rPr>
              <a:t>For Example : </a:t>
            </a:r>
          </a:p>
          <a:p>
            <a:pPr algn="l"/>
            <a:endParaRPr lang="en-IN" sz="6400" b="1" dirty="0">
              <a:solidFill>
                <a:schemeClr val="tx1"/>
              </a:solidFill>
            </a:endParaRPr>
          </a:p>
          <a:p>
            <a:pPr marL="514350" indent="-514350" algn="l">
              <a:buFont typeface="+mj-lt"/>
              <a:buAutoNum type="arabicPeriod"/>
            </a:pPr>
            <a:r>
              <a:rPr lang="en-IN" sz="6400" b="1" u="sng" dirty="0" err="1">
                <a:solidFill>
                  <a:schemeClr val="tx1"/>
                </a:solidFill>
                <a:highlight>
                  <a:srgbClr val="FFFF00"/>
                </a:highlight>
              </a:rPr>
              <a:t>Watashi</a:t>
            </a:r>
            <a:r>
              <a:rPr lang="en-IN" sz="6400" b="1" dirty="0">
                <a:solidFill>
                  <a:schemeClr val="tx1"/>
                </a:solidFill>
              </a:rPr>
              <a:t> </a:t>
            </a:r>
            <a:r>
              <a:rPr lang="en-IN" sz="6400" b="1" dirty="0" err="1">
                <a:solidFill>
                  <a:schemeClr val="tx1"/>
                </a:solidFill>
              </a:rPr>
              <a:t>wa</a:t>
            </a:r>
            <a:r>
              <a:rPr lang="en-IN" sz="6400" b="1" dirty="0">
                <a:solidFill>
                  <a:schemeClr val="tx1"/>
                </a:solidFill>
              </a:rPr>
              <a:t> </a:t>
            </a:r>
            <a:r>
              <a:rPr lang="en-IN" sz="6400" b="1" u="sng" dirty="0">
                <a:solidFill>
                  <a:schemeClr val="tx1"/>
                </a:solidFill>
                <a:highlight>
                  <a:srgbClr val="FFFF00"/>
                </a:highlight>
              </a:rPr>
              <a:t>Sensei</a:t>
            </a:r>
            <a:r>
              <a:rPr lang="en-IN" sz="6400" b="1" dirty="0">
                <a:solidFill>
                  <a:schemeClr val="tx1"/>
                </a:solidFill>
              </a:rPr>
              <a:t> </a:t>
            </a:r>
            <a:r>
              <a:rPr lang="en-IN" sz="6400" b="1" dirty="0" err="1">
                <a:solidFill>
                  <a:schemeClr val="tx1"/>
                </a:solidFill>
              </a:rPr>
              <a:t>Desu</a:t>
            </a:r>
            <a:r>
              <a:rPr lang="en-IN" sz="6400" b="1" dirty="0">
                <a:solidFill>
                  <a:schemeClr val="tx1"/>
                </a:solidFill>
              </a:rPr>
              <a:t> (I am Teacher)</a:t>
            </a:r>
          </a:p>
          <a:p>
            <a:pPr marL="514350" indent="-514350" algn="l">
              <a:buFont typeface="+mj-lt"/>
              <a:buAutoNum type="arabicPeriod"/>
            </a:pPr>
            <a:endParaRPr lang="en-IN" sz="6400" b="1" dirty="0"/>
          </a:p>
          <a:p>
            <a:pPr marL="514350" indent="-514350" algn="l">
              <a:buFont typeface="+mj-lt"/>
              <a:buAutoNum type="arabicPeriod"/>
            </a:pPr>
            <a:r>
              <a:rPr lang="en-IN" sz="6400" b="1" dirty="0"/>
              <a:t>. </a:t>
            </a:r>
            <a:r>
              <a:rPr lang="en-IN" sz="6400" b="1" u="sng" dirty="0" err="1">
                <a:solidFill>
                  <a:schemeClr val="tx1"/>
                </a:solidFill>
                <a:highlight>
                  <a:srgbClr val="FFFF00"/>
                </a:highlight>
              </a:rPr>
              <a:t>Watashi</a:t>
            </a:r>
            <a:r>
              <a:rPr lang="en-IN" sz="6400" b="1" dirty="0">
                <a:solidFill>
                  <a:schemeClr val="tx1"/>
                </a:solidFill>
              </a:rPr>
              <a:t>  </a:t>
            </a:r>
            <a:r>
              <a:rPr lang="en-IN" sz="6400" b="1" dirty="0" err="1">
                <a:solidFill>
                  <a:schemeClr val="tx1"/>
                </a:solidFill>
              </a:rPr>
              <a:t>wa</a:t>
            </a:r>
            <a:r>
              <a:rPr lang="en-IN" sz="6400" b="1" dirty="0">
                <a:solidFill>
                  <a:schemeClr val="tx1"/>
                </a:solidFill>
              </a:rPr>
              <a:t> </a:t>
            </a:r>
            <a:r>
              <a:rPr lang="en-IN" sz="6400" b="1" u="sng" dirty="0" err="1">
                <a:solidFill>
                  <a:schemeClr val="tx1"/>
                </a:solidFill>
                <a:highlight>
                  <a:srgbClr val="FFFF00"/>
                </a:highlight>
              </a:rPr>
              <a:t>gakusei</a:t>
            </a:r>
            <a:r>
              <a:rPr lang="en-IN" sz="6400" b="1" dirty="0">
                <a:solidFill>
                  <a:schemeClr val="tx1"/>
                </a:solidFill>
              </a:rPr>
              <a:t> </a:t>
            </a:r>
            <a:r>
              <a:rPr lang="en-IN" sz="6400" b="1" dirty="0" err="1">
                <a:solidFill>
                  <a:schemeClr val="tx1"/>
                </a:solidFill>
              </a:rPr>
              <a:t>Desu</a:t>
            </a:r>
            <a:r>
              <a:rPr lang="en-IN" sz="6400" b="1" dirty="0">
                <a:solidFill>
                  <a:schemeClr val="tx1"/>
                </a:solidFill>
              </a:rPr>
              <a:t> . (I am student)</a:t>
            </a:r>
          </a:p>
          <a:p>
            <a:pPr marL="514350" indent="-514350" algn="l">
              <a:buFont typeface="+mj-lt"/>
              <a:buAutoNum type="arabicPeriod"/>
            </a:pPr>
            <a:endParaRPr lang="en-IN" sz="6400" b="1" u="sng" dirty="0">
              <a:solidFill>
                <a:schemeClr val="tx1"/>
              </a:solidFill>
              <a:highlight>
                <a:srgbClr val="FFFF00"/>
              </a:highlight>
            </a:endParaRPr>
          </a:p>
          <a:p>
            <a:pPr marL="514350" indent="-514350" algn="l">
              <a:buFont typeface="+mj-lt"/>
              <a:buAutoNum type="arabicPeriod"/>
            </a:pPr>
            <a:r>
              <a:rPr lang="en-IN" sz="6400" b="1" u="sng" dirty="0" err="1">
                <a:solidFill>
                  <a:schemeClr val="tx1"/>
                </a:solidFill>
                <a:highlight>
                  <a:srgbClr val="FFFF00"/>
                </a:highlight>
              </a:rPr>
              <a:t>Watashi</a:t>
            </a:r>
            <a:r>
              <a:rPr lang="en-IN" sz="6400" b="1" dirty="0">
                <a:solidFill>
                  <a:schemeClr val="tx1"/>
                </a:solidFill>
              </a:rPr>
              <a:t> </a:t>
            </a:r>
            <a:r>
              <a:rPr lang="en-IN" sz="6400" b="1" dirty="0" err="1">
                <a:solidFill>
                  <a:schemeClr val="tx1"/>
                </a:solidFill>
              </a:rPr>
              <a:t>wa</a:t>
            </a:r>
            <a:r>
              <a:rPr lang="en-IN" sz="6400" b="1" dirty="0">
                <a:solidFill>
                  <a:schemeClr val="tx1"/>
                </a:solidFill>
              </a:rPr>
              <a:t> </a:t>
            </a:r>
            <a:r>
              <a:rPr lang="en-IN" sz="6400" b="1" u="sng" dirty="0" err="1">
                <a:solidFill>
                  <a:schemeClr val="tx1"/>
                </a:solidFill>
                <a:highlight>
                  <a:srgbClr val="FFFF00"/>
                </a:highlight>
              </a:rPr>
              <a:t>isha</a:t>
            </a:r>
            <a:r>
              <a:rPr lang="en-IN" sz="6400" b="1" dirty="0">
                <a:solidFill>
                  <a:schemeClr val="tx1"/>
                </a:solidFill>
              </a:rPr>
              <a:t> </a:t>
            </a:r>
            <a:r>
              <a:rPr lang="en-IN" sz="6400" b="1" dirty="0" err="1">
                <a:solidFill>
                  <a:schemeClr val="tx1"/>
                </a:solidFill>
              </a:rPr>
              <a:t>desu</a:t>
            </a:r>
            <a:r>
              <a:rPr lang="en-IN" sz="6400" b="1" dirty="0">
                <a:solidFill>
                  <a:schemeClr val="tx1"/>
                </a:solidFill>
              </a:rPr>
              <a:t> (I am doctor)</a:t>
            </a:r>
          </a:p>
          <a:p>
            <a:pPr marL="514350" indent="-514350">
              <a:buFont typeface="+mj-lt"/>
              <a:buAutoNum type="arabicPeriod"/>
            </a:pPr>
            <a:endParaRPr lang="en-US" sz="4000" dirty="0">
              <a:highlight>
                <a:srgbClr val="FFFF00"/>
              </a:highlight>
            </a:endParaRPr>
          </a:p>
          <a:p>
            <a:pPr marL="514350" indent="-514350">
              <a:buFont typeface="+mj-lt"/>
              <a:buAutoNum type="arabicPeriod"/>
            </a:pPr>
            <a:endParaRPr lang="en-US" sz="4000" dirty="0"/>
          </a:p>
          <a:p>
            <a:pPr marL="514350" indent="-514350">
              <a:buFont typeface="+mj-lt"/>
              <a:buAutoNum type="arabicPeriod"/>
            </a:pPr>
            <a:r>
              <a:rPr lang="en-US" sz="6400" dirty="0"/>
              <a:t>- </a:t>
            </a:r>
            <a:r>
              <a:rPr lang="en-US" sz="6400" b="1" dirty="0"/>
              <a:t>Watashi </a:t>
            </a:r>
            <a:r>
              <a:rPr lang="en-US" sz="6400" b="1" dirty="0" err="1"/>
              <a:t>wa</a:t>
            </a:r>
            <a:r>
              <a:rPr lang="en-US" sz="6400" b="1" dirty="0"/>
              <a:t> Irfan </a:t>
            </a:r>
            <a:r>
              <a:rPr lang="en-US" sz="6400" b="1" dirty="0" err="1"/>
              <a:t>desu</a:t>
            </a:r>
            <a:r>
              <a:rPr lang="en-US" sz="6400" b="1" dirty="0"/>
              <a:t>. (I am Irfan.)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6400" b="1" dirty="0"/>
              <a:t>- Venkatesh-</a:t>
            </a:r>
            <a:r>
              <a:rPr lang="en-US" sz="6400" b="1" dirty="0" err="1"/>
              <a:t>san</a:t>
            </a:r>
            <a:r>
              <a:rPr lang="en-US" sz="6400" b="1" dirty="0"/>
              <a:t> </a:t>
            </a:r>
            <a:r>
              <a:rPr lang="en-US" sz="6400" b="1" dirty="0" err="1"/>
              <a:t>wa</a:t>
            </a:r>
            <a:r>
              <a:rPr lang="en-US" sz="6400" b="1" dirty="0"/>
              <a:t> </a:t>
            </a:r>
            <a:r>
              <a:rPr lang="en-US" sz="6400" b="1" dirty="0" err="1"/>
              <a:t>nijuu</a:t>
            </a:r>
            <a:r>
              <a:rPr lang="en-US" sz="6400" b="1" dirty="0"/>
              <a:t> </a:t>
            </a:r>
            <a:r>
              <a:rPr lang="en-US" sz="6400" b="1" dirty="0" err="1"/>
              <a:t>sai</a:t>
            </a:r>
            <a:r>
              <a:rPr lang="en-US" sz="6400" b="1" dirty="0"/>
              <a:t> </a:t>
            </a:r>
            <a:r>
              <a:rPr lang="en-US" sz="6400" b="1" dirty="0" err="1"/>
              <a:t>desu</a:t>
            </a:r>
            <a:r>
              <a:rPr lang="en-US" sz="6400" b="1" dirty="0"/>
              <a:t>. (Venkatesh-</a:t>
            </a:r>
            <a:r>
              <a:rPr lang="en-US" sz="6400" b="1" dirty="0" err="1"/>
              <a:t>san</a:t>
            </a:r>
            <a:r>
              <a:rPr lang="en-US" sz="6400" b="1" dirty="0"/>
              <a:t> is 20 years old.)	</a:t>
            </a:r>
            <a:endParaRPr lang="en-US" sz="64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6400" b="1" dirty="0"/>
              <a:t>-</a:t>
            </a:r>
            <a:r>
              <a:rPr lang="en-US" sz="6400" b="1" dirty="0" err="1"/>
              <a:t>Ashita</a:t>
            </a:r>
            <a:r>
              <a:rPr lang="en-US" sz="6400" b="1" dirty="0"/>
              <a:t> </a:t>
            </a:r>
            <a:r>
              <a:rPr lang="en-US" sz="6400" b="1" dirty="0" err="1"/>
              <a:t>wa</a:t>
            </a:r>
            <a:r>
              <a:rPr lang="en-US" sz="6400" b="1" dirty="0"/>
              <a:t> </a:t>
            </a:r>
            <a:r>
              <a:rPr lang="en-US" sz="6400" b="1" dirty="0" err="1"/>
              <a:t>getsuyobi</a:t>
            </a:r>
            <a:r>
              <a:rPr lang="en-US" sz="6400" b="1" dirty="0"/>
              <a:t> </a:t>
            </a:r>
            <a:r>
              <a:rPr lang="en-US" sz="6400" b="1" dirty="0" err="1"/>
              <a:t>desu</a:t>
            </a:r>
            <a:r>
              <a:rPr lang="en-US" sz="6400" b="1" dirty="0"/>
              <a:t>.				    						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6400" b="1" dirty="0"/>
              <a:t>-Maariya </a:t>
            </a:r>
            <a:r>
              <a:rPr lang="en-US" sz="6400" b="1" dirty="0" err="1"/>
              <a:t>saan</a:t>
            </a:r>
            <a:r>
              <a:rPr lang="en-US" sz="6400" b="1" dirty="0"/>
              <a:t> </a:t>
            </a:r>
            <a:r>
              <a:rPr lang="en-US" sz="6400" b="1" dirty="0" err="1"/>
              <a:t>wa</a:t>
            </a:r>
            <a:r>
              <a:rPr lang="en-US" sz="6400" b="1" dirty="0"/>
              <a:t> isha </a:t>
            </a:r>
            <a:r>
              <a:rPr lang="en-US" sz="6400" b="1" dirty="0" err="1"/>
              <a:t>desu</a:t>
            </a:r>
            <a:r>
              <a:rPr lang="en-US" sz="6400" b="1" dirty="0"/>
              <a:t>. </a:t>
            </a:r>
            <a:r>
              <a:rPr lang="en-US" sz="4000" b="1" dirty="0"/>
              <a:t>	</a:t>
            </a:r>
            <a:r>
              <a:rPr lang="en-US" sz="4000" dirty="0"/>
              <a:t>	</a:t>
            </a:r>
            <a:r>
              <a:rPr lang="en-US" dirty="0"/>
              <a:t>		    			</a:t>
            </a:r>
            <a:endParaRPr lang="en-US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3943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highlight>
                  <a:srgbClr val="FFFF00"/>
                </a:highlight>
              </a:rPr>
              <a:t>[ja </a:t>
            </a:r>
            <a:r>
              <a:rPr dirty="0" err="1">
                <a:highlight>
                  <a:srgbClr val="FFFF00"/>
                </a:highlight>
              </a:rPr>
              <a:t>arimasen</a:t>
            </a:r>
            <a:r>
              <a:rPr dirty="0">
                <a:highlight>
                  <a:srgbClr val="FFFF00"/>
                </a:highlight>
              </a:rPr>
              <a:t>] = Negative Sentence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9184" y="1600200"/>
            <a:ext cx="8357616" cy="4983162"/>
          </a:xfrm>
        </p:spPr>
        <p:txBody>
          <a:bodyPr>
            <a:normAutofit fontScale="70000" lnSpcReduction="20000"/>
          </a:bodyPr>
          <a:lstStyle/>
          <a:p>
            <a:r>
              <a:rPr dirty="0"/>
              <a:t>Used to form negative sentences.</a:t>
            </a:r>
          </a:p>
          <a:p>
            <a:r>
              <a:rPr lang="en-IN" b="1" dirty="0">
                <a:solidFill>
                  <a:srgbClr val="FF0000"/>
                </a:solidFill>
              </a:rPr>
              <a:t>Rule :  </a:t>
            </a:r>
            <a:r>
              <a:rPr lang="en-IN" b="1" dirty="0">
                <a:solidFill>
                  <a:schemeClr val="accent2">
                    <a:lumMod val="50000"/>
                  </a:schemeClr>
                </a:solidFill>
              </a:rPr>
              <a:t>Noun + </a:t>
            </a:r>
            <a:r>
              <a:rPr lang="en-IN" b="1" dirty="0" err="1">
                <a:solidFill>
                  <a:schemeClr val="accent2">
                    <a:lumMod val="50000"/>
                  </a:schemeClr>
                </a:solidFill>
              </a:rPr>
              <a:t>wa</a:t>
            </a:r>
            <a:r>
              <a:rPr lang="en-IN" b="1" dirty="0">
                <a:solidFill>
                  <a:schemeClr val="accent2">
                    <a:lumMod val="50000"/>
                  </a:schemeClr>
                </a:solidFill>
              </a:rPr>
              <a:t>+ Noun 2+ </a:t>
            </a:r>
            <a:r>
              <a:rPr lang="en-IN" b="1" dirty="0" err="1">
                <a:solidFill>
                  <a:schemeClr val="accent2">
                    <a:lumMod val="50000"/>
                  </a:schemeClr>
                </a:solidFill>
              </a:rPr>
              <a:t>jya-arimasen</a:t>
            </a:r>
            <a:r>
              <a:rPr lang="en-IN" b="1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dirty="0"/>
              <a:t> (</a:t>
            </a:r>
            <a:r>
              <a:rPr lang="en-US" dirty="0">
                <a:highlight>
                  <a:srgbClr val="FFFF00"/>
                </a:highlight>
              </a:rPr>
              <a:t>Noun1 is not Noun 2) </a:t>
            </a:r>
          </a:p>
          <a:p>
            <a:r>
              <a:rPr lang="en-IN" b="1" u="sng" dirty="0">
                <a:solidFill>
                  <a:srgbClr val="7030A0"/>
                </a:solidFill>
              </a:rPr>
              <a:t>Negative sentence</a:t>
            </a:r>
          </a:p>
          <a:p>
            <a:pPr algn="l"/>
            <a:r>
              <a:rPr lang="en-IN" b="1" dirty="0">
                <a:solidFill>
                  <a:srgbClr val="FF0000"/>
                </a:solidFill>
              </a:rPr>
              <a:t>For Example:  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IN" b="1" dirty="0">
                <a:solidFill>
                  <a:schemeClr val="tx1"/>
                </a:solidFill>
              </a:rPr>
              <a:t> </a:t>
            </a:r>
            <a:r>
              <a:rPr lang="en-IN" b="1" dirty="0" err="1">
                <a:solidFill>
                  <a:schemeClr val="tx1"/>
                </a:solidFill>
                <a:highlight>
                  <a:srgbClr val="FFFF00"/>
                </a:highlight>
              </a:rPr>
              <a:t>watashi</a:t>
            </a:r>
            <a:r>
              <a:rPr lang="en-IN" b="1" dirty="0">
                <a:solidFill>
                  <a:schemeClr val="tx1"/>
                </a:solidFill>
              </a:rPr>
              <a:t> </a:t>
            </a:r>
            <a:r>
              <a:rPr lang="en-IN" b="1" dirty="0" err="1">
                <a:solidFill>
                  <a:schemeClr val="tx1"/>
                </a:solidFill>
              </a:rPr>
              <a:t>wa</a:t>
            </a:r>
            <a:r>
              <a:rPr lang="en-IN" b="1" dirty="0">
                <a:solidFill>
                  <a:schemeClr val="tx1"/>
                </a:solidFill>
              </a:rPr>
              <a:t> </a:t>
            </a:r>
            <a:r>
              <a:rPr lang="en-IN" b="1" dirty="0">
                <a:solidFill>
                  <a:schemeClr val="tx1"/>
                </a:solidFill>
                <a:highlight>
                  <a:srgbClr val="FFFF00"/>
                </a:highlight>
              </a:rPr>
              <a:t>sensei</a:t>
            </a:r>
            <a:r>
              <a:rPr lang="en-IN" b="1" dirty="0">
                <a:solidFill>
                  <a:schemeClr val="tx1"/>
                </a:solidFill>
              </a:rPr>
              <a:t> </a:t>
            </a:r>
            <a:r>
              <a:rPr lang="en-IN" b="1" dirty="0" err="1">
                <a:solidFill>
                  <a:schemeClr val="tx1"/>
                </a:solidFill>
              </a:rPr>
              <a:t>jya-arimasen</a:t>
            </a:r>
            <a:r>
              <a:rPr lang="en-IN" b="1" dirty="0">
                <a:solidFill>
                  <a:schemeClr val="tx1"/>
                </a:solidFill>
              </a:rPr>
              <a:t> (I am not teacher)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IN" b="1" dirty="0">
                <a:solidFill>
                  <a:schemeClr val="tx1"/>
                </a:solidFill>
              </a:rPr>
              <a:t> </a:t>
            </a:r>
            <a:r>
              <a:rPr lang="en-IN" b="1" dirty="0" err="1">
                <a:solidFill>
                  <a:schemeClr val="tx1"/>
                </a:solidFill>
                <a:highlight>
                  <a:srgbClr val="FFFF00"/>
                </a:highlight>
              </a:rPr>
              <a:t>Watashi</a:t>
            </a:r>
            <a:r>
              <a:rPr lang="en-IN" b="1" dirty="0">
                <a:solidFill>
                  <a:schemeClr val="tx1"/>
                </a:solidFill>
                <a:highlight>
                  <a:srgbClr val="FFFF00"/>
                </a:highlight>
              </a:rPr>
              <a:t> </a:t>
            </a:r>
            <a:r>
              <a:rPr lang="en-IN" b="1" dirty="0" err="1">
                <a:solidFill>
                  <a:schemeClr val="tx1"/>
                </a:solidFill>
              </a:rPr>
              <a:t>wa</a:t>
            </a:r>
            <a:r>
              <a:rPr lang="en-IN" b="1" dirty="0">
                <a:solidFill>
                  <a:schemeClr val="tx1"/>
                </a:solidFill>
              </a:rPr>
              <a:t> </a:t>
            </a:r>
            <a:r>
              <a:rPr lang="en-IN" b="1" dirty="0" err="1">
                <a:solidFill>
                  <a:schemeClr val="tx1"/>
                </a:solidFill>
                <a:highlight>
                  <a:srgbClr val="FFFF00"/>
                </a:highlight>
              </a:rPr>
              <a:t>gakesei</a:t>
            </a:r>
            <a:r>
              <a:rPr lang="en-IN" b="1" dirty="0">
                <a:solidFill>
                  <a:schemeClr val="tx1"/>
                </a:solidFill>
              </a:rPr>
              <a:t> </a:t>
            </a:r>
            <a:r>
              <a:rPr lang="en-IN" b="1" dirty="0" err="1">
                <a:solidFill>
                  <a:schemeClr val="tx1"/>
                </a:solidFill>
              </a:rPr>
              <a:t>jya-arimasen</a:t>
            </a:r>
            <a:r>
              <a:rPr lang="en-IN" b="1" dirty="0">
                <a:solidFill>
                  <a:schemeClr val="tx1"/>
                </a:solidFill>
              </a:rPr>
              <a:t> ( I am not student)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IN" b="1" dirty="0">
                <a:highlight>
                  <a:srgbClr val="FFFF00"/>
                </a:highlight>
              </a:rPr>
              <a:t> </a:t>
            </a:r>
            <a:r>
              <a:rPr lang="en-IN" b="1" dirty="0" err="1">
                <a:solidFill>
                  <a:schemeClr val="tx1"/>
                </a:solidFill>
                <a:highlight>
                  <a:srgbClr val="FFFF00"/>
                </a:highlight>
              </a:rPr>
              <a:t>Watashi</a:t>
            </a:r>
            <a:r>
              <a:rPr lang="en-IN" b="1" dirty="0">
                <a:solidFill>
                  <a:schemeClr val="tx1"/>
                </a:solidFill>
              </a:rPr>
              <a:t> </a:t>
            </a:r>
            <a:r>
              <a:rPr lang="en-IN" b="1" dirty="0" err="1">
                <a:solidFill>
                  <a:schemeClr val="tx1"/>
                </a:solidFill>
              </a:rPr>
              <a:t>wa</a:t>
            </a:r>
            <a:r>
              <a:rPr lang="en-IN" b="1" dirty="0">
                <a:solidFill>
                  <a:schemeClr val="tx1"/>
                </a:solidFill>
              </a:rPr>
              <a:t> </a:t>
            </a:r>
            <a:r>
              <a:rPr lang="en-IN" b="1" dirty="0" err="1">
                <a:solidFill>
                  <a:schemeClr val="tx1"/>
                </a:solidFill>
                <a:highlight>
                  <a:srgbClr val="FFFF00"/>
                </a:highlight>
              </a:rPr>
              <a:t>isha</a:t>
            </a:r>
            <a:r>
              <a:rPr lang="en-IN" b="1" dirty="0">
                <a:solidFill>
                  <a:schemeClr val="tx1"/>
                </a:solidFill>
              </a:rPr>
              <a:t> </a:t>
            </a:r>
            <a:r>
              <a:rPr lang="en-IN" b="1" dirty="0" err="1">
                <a:solidFill>
                  <a:schemeClr val="tx1"/>
                </a:solidFill>
              </a:rPr>
              <a:t>jya-arimasen</a:t>
            </a:r>
            <a:r>
              <a:rPr lang="en-IN" b="1" dirty="0">
                <a:solidFill>
                  <a:schemeClr val="tx1"/>
                </a:solidFill>
              </a:rPr>
              <a:t> (I am not a doctor)</a:t>
            </a:r>
          </a:p>
          <a:p>
            <a:pPr marL="514350" indent="-514350">
              <a:buFont typeface="+mj-lt"/>
              <a:buAutoNum type="arabicPeriod"/>
            </a:pPr>
            <a:endParaRPr lang="en-US" dirty="0">
              <a:highlight>
                <a:srgbClr val="FFFF00"/>
              </a:highlight>
            </a:endParaRPr>
          </a:p>
          <a:p>
            <a:pPr marL="514350" indent="-514350">
              <a:buFont typeface="+mj-lt"/>
              <a:buAutoNum type="arabicPeriod"/>
            </a:pPr>
            <a:endParaRPr dirty="0"/>
          </a:p>
          <a:p>
            <a:pPr marL="514350" indent="-514350">
              <a:buFont typeface="+mj-lt"/>
              <a:buAutoNum type="arabicPeriod"/>
            </a:pPr>
            <a:r>
              <a:rPr b="1" dirty="0"/>
              <a:t>- Tanaka-</a:t>
            </a:r>
            <a:r>
              <a:rPr b="1" dirty="0" err="1"/>
              <a:t>san</a:t>
            </a:r>
            <a:r>
              <a:rPr b="1" dirty="0"/>
              <a:t> </a:t>
            </a:r>
            <a:r>
              <a:rPr b="1" dirty="0" err="1"/>
              <a:t>wa</a:t>
            </a:r>
            <a:r>
              <a:rPr b="1" dirty="0"/>
              <a:t> </a:t>
            </a:r>
            <a:r>
              <a:rPr b="1" dirty="0" err="1"/>
              <a:t>Indojin</a:t>
            </a:r>
            <a:r>
              <a:rPr b="1" dirty="0"/>
              <a:t> ja </a:t>
            </a:r>
            <a:r>
              <a:rPr b="1" dirty="0" err="1"/>
              <a:t>arimasen</a:t>
            </a:r>
            <a:r>
              <a:rPr b="1" dirty="0"/>
              <a:t>. (Tanaka-</a:t>
            </a:r>
            <a:r>
              <a:rPr b="1" dirty="0" err="1"/>
              <a:t>san</a:t>
            </a:r>
            <a:r>
              <a:rPr b="1" dirty="0"/>
              <a:t> is not an Indian.)</a:t>
            </a:r>
          </a:p>
          <a:p>
            <a:pPr marL="514350" indent="-514350">
              <a:buFont typeface="+mj-lt"/>
              <a:buAutoNum type="arabicPeriod"/>
            </a:pPr>
            <a:r>
              <a:rPr b="1" dirty="0"/>
              <a:t>- </a:t>
            </a:r>
            <a:r>
              <a:rPr lang="en-US" b="1" dirty="0"/>
              <a:t>Anand </a:t>
            </a:r>
            <a:r>
              <a:rPr lang="en-US" b="1" dirty="0" err="1"/>
              <a:t>san</a:t>
            </a:r>
            <a:r>
              <a:rPr b="1" dirty="0"/>
              <a:t> </a:t>
            </a:r>
            <a:r>
              <a:rPr b="1" dirty="0" err="1"/>
              <a:t>wa</a:t>
            </a:r>
            <a:r>
              <a:rPr b="1" dirty="0"/>
              <a:t> </a:t>
            </a:r>
            <a:r>
              <a:rPr b="1" dirty="0" err="1"/>
              <a:t>gakusei</a:t>
            </a:r>
            <a:r>
              <a:rPr b="1" dirty="0"/>
              <a:t> ja </a:t>
            </a:r>
            <a:r>
              <a:rPr b="1" dirty="0" err="1"/>
              <a:t>arimasen</a:t>
            </a:r>
            <a:r>
              <a:rPr b="1" dirty="0"/>
              <a:t>. (</a:t>
            </a:r>
            <a:r>
              <a:rPr lang="en-US" b="1" dirty="0"/>
              <a:t>Anand</a:t>
            </a:r>
            <a:r>
              <a:rPr b="1" dirty="0"/>
              <a:t>-</a:t>
            </a:r>
            <a:r>
              <a:rPr b="1" dirty="0" err="1"/>
              <a:t>san</a:t>
            </a:r>
            <a:r>
              <a:rPr b="1" dirty="0"/>
              <a:t> is not a student.)</a:t>
            </a:r>
          </a:p>
          <a:p>
            <a:pPr marL="514350" indent="-514350">
              <a:buFont typeface="+mj-lt"/>
              <a:buAutoNum type="arabicPeriod"/>
            </a:pPr>
            <a:r>
              <a:rPr b="1" dirty="0"/>
              <a:t>- Watashi </a:t>
            </a:r>
            <a:r>
              <a:rPr b="1" dirty="0" err="1"/>
              <a:t>wa</a:t>
            </a:r>
            <a:r>
              <a:rPr b="1" dirty="0"/>
              <a:t> </a:t>
            </a:r>
            <a:r>
              <a:rPr b="1" dirty="0" err="1"/>
              <a:t>nijuu</a:t>
            </a:r>
            <a:r>
              <a:rPr b="1" dirty="0"/>
              <a:t> </a:t>
            </a:r>
            <a:r>
              <a:rPr b="1" dirty="0" err="1"/>
              <a:t>sai</a:t>
            </a:r>
            <a:r>
              <a:rPr b="1" dirty="0"/>
              <a:t> ja </a:t>
            </a:r>
            <a:r>
              <a:rPr b="1" dirty="0" err="1"/>
              <a:t>arimasen</a:t>
            </a:r>
            <a:r>
              <a:rPr b="1" dirty="0"/>
              <a:t>. (I am not 20 years old.)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highlight>
                  <a:srgbClr val="FFFF00"/>
                </a:highlight>
              </a:rPr>
              <a:t>[の - no] = </a:t>
            </a:r>
            <a:r>
              <a:rPr lang="en-US" dirty="0">
                <a:highlight>
                  <a:srgbClr val="FFFF00"/>
                </a:highlight>
              </a:rPr>
              <a:t>relationship </a:t>
            </a:r>
            <a:r>
              <a:rPr dirty="0">
                <a:highlight>
                  <a:srgbClr val="FFFF00"/>
                </a:highlight>
              </a:rPr>
              <a:t>/Ownership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682" y="1600200"/>
            <a:ext cx="8599118" cy="4983162"/>
          </a:xfrm>
        </p:spPr>
        <p:txBody>
          <a:bodyPr>
            <a:normAutofit fontScale="85000" lnSpcReduction="20000"/>
          </a:bodyPr>
          <a:lstStyle/>
          <a:p>
            <a:r>
              <a:rPr dirty="0"/>
              <a:t>Used to show relation or ownership.</a:t>
            </a:r>
          </a:p>
          <a:p>
            <a:r>
              <a:rPr dirty="0"/>
              <a:t>Structure: N1 no N2 </a:t>
            </a:r>
            <a:r>
              <a:rPr dirty="0" err="1"/>
              <a:t>desu</a:t>
            </a:r>
            <a:r>
              <a:rPr dirty="0"/>
              <a:t>.</a:t>
            </a:r>
            <a:endParaRPr lang="en-US" dirty="0"/>
          </a:p>
          <a:p>
            <a:pPr marL="0" indent="0">
              <a:buNone/>
            </a:pPr>
            <a:r>
              <a:rPr lang="ja-JP" altLang="en-US" b="1" u="sng" dirty="0">
                <a:solidFill>
                  <a:srgbClr val="FF0000"/>
                </a:solidFill>
                <a:highlight>
                  <a:srgbClr val="FFFF00"/>
                </a:highlight>
              </a:rPr>
              <a:t>のー</a:t>
            </a:r>
            <a:r>
              <a:rPr lang="en-US" altLang="ja-JP" b="1" u="sng" dirty="0">
                <a:solidFill>
                  <a:srgbClr val="FF0000"/>
                </a:solidFill>
                <a:highlight>
                  <a:srgbClr val="FFFF00"/>
                </a:highlight>
              </a:rPr>
              <a:t>No</a:t>
            </a:r>
            <a:r>
              <a:rPr lang="ja-JP" alt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　（</a:t>
            </a:r>
            <a:r>
              <a:rPr lang="en-US" altLang="ja-JP" b="1" dirty="0">
                <a:solidFill>
                  <a:srgbClr val="FF0000"/>
                </a:solidFill>
                <a:highlight>
                  <a:srgbClr val="FFFF00"/>
                </a:highlight>
              </a:rPr>
              <a:t>connect two words together)</a:t>
            </a:r>
          </a:p>
          <a:p>
            <a:pPr marL="0" indent="0">
              <a:buNone/>
            </a:pPr>
            <a:r>
              <a:rPr lang="en-US" dirty="0"/>
              <a:t>Examples:</a:t>
            </a:r>
            <a:endParaRPr lang="en-US" altLang="ja-JP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pPr marL="385763" indent="-385763">
              <a:buAutoNum type="arabicPeriod"/>
            </a:pPr>
            <a:r>
              <a:rPr lang="en-US" dirty="0"/>
              <a:t>Riya no </a:t>
            </a:r>
            <a:r>
              <a:rPr lang="en-US" dirty="0" err="1"/>
              <a:t>kaban</a:t>
            </a:r>
            <a:r>
              <a:rPr lang="en-US" dirty="0"/>
              <a:t> </a:t>
            </a:r>
            <a:r>
              <a:rPr lang="en-US" dirty="0" err="1"/>
              <a:t>desu</a:t>
            </a:r>
            <a:r>
              <a:rPr lang="en-US" dirty="0"/>
              <a:t> ( this is Riya’s bag)</a:t>
            </a:r>
          </a:p>
          <a:p>
            <a:pPr marL="385763" indent="-385763">
              <a:buAutoNum type="arabicPeriod"/>
            </a:pPr>
            <a:r>
              <a:rPr lang="en-US" dirty="0" err="1"/>
              <a:t>Neko</a:t>
            </a:r>
            <a:r>
              <a:rPr lang="en-US" dirty="0"/>
              <a:t> no </a:t>
            </a:r>
            <a:r>
              <a:rPr lang="en-US" dirty="0" err="1"/>
              <a:t>mimi</a:t>
            </a:r>
            <a:r>
              <a:rPr lang="en-US" dirty="0"/>
              <a:t> </a:t>
            </a:r>
            <a:r>
              <a:rPr lang="en-US" dirty="0" err="1"/>
              <a:t>desu</a:t>
            </a:r>
            <a:r>
              <a:rPr lang="en-US" dirty="0"/>
              <a:t> ( this is cat’s ear)</a:t>
            </a:r>
          </a:p>
          <a:p>
            <a:pPr marL="385763" indent="-385763">
              <a:buAutoNum type="arabicPeriod"/>
            </a:pPr>
            <a:r>
              <a:rPr lang="en-US" dirty="0"/>
              <a:t>Watashi no pen </a:t>
            </a:r>
            <a:r>
              <a:rPr lang="en-US" dirty="0" err="1"/>
              <a:t>desu</a:t>
            </a:r>
            <a:r>
              <a:rPr lang="en-US" dirty="0"/>
              <a:t> ( this is my pen)</a:t>
            </a:r>
          </a:p>
          <a:p>
            <a:pPr marL="385763" indent="-385763">
              <a:buAutoNum type="arabicPeriod"/>
            </a:pPr>
            <a:r>
              <a:rPr lang="en-US" dirty="0"/>
              <a:t>Kimura </a:t>
            </a:r>
            <a:r>
              <a:rPr lang="en-US" dirty="0" err="1"/>
              <a:t>saan</a:t>
            </a:r>
            <a:r>
              <a:rPr lang="en-US" dirty="0"/>
              <a:t> no hon </a:t>
            </a:r>
            <a:r>
              <a:rPr lang="en-US" dirty="0" err="1"/>
              <a:t>desu</a:t>
            </a:r>
            <a:r>
              <a:rPr lang="en-US" dirty="0"/>
              <a:t> ( this is kimura’s book</a:t>
            </a:r>
            <a:endParaRPr dirty="0"/>
          </a:p>
          <a:p>
            <a:pPr marL="0" indent="0">
              <a:buNone/>
            </a:pPr>
            <a:r>
              <a:rPr lang="en-US" dirty="0"/>
              <a:t>5. </a:t>
            </a:r>
            <a:r>
              <a:rPr dirty="0"/>
              <a:t>Watashi </a:t>
            </a:r>
            <a:r>
              <a:rPr dirty="0" err="1"/>
              <a:t>wa</a:t>
            </a:r>
            <a:r>
              <a:rPr dirty="0"/>
              <a:t> KL </a:t>
            </a:r>
            <a:r>
              <a:rPr dirty="0" err="1"/>
              <a:t>Daigaku</a:t>
            </a:r>
            <a:r>
              <a:rPr dirty="0"/>
              <a:t> no </a:t>
            </a:r>
            <a:r>
              <a:rPr dirty="0" err="1"/>
              <a:t>gakusei</a:t>
            </a:r>
            <a:r>
              <a:rPr dirty="0"/>
              <a:t> </a:t>
            </a:r>
            <a:r>
              <a:rPr dirty="0" err="1"/>
              <a:t>desu</a:t>
            </a:r>
            <a:r>
              <a:rPr dirty="0"/>
              <a:t>. </a:t>
            </a:r>
            <a:endParaRPr lang="en-US" dirty="0"/>
          </a:p>
          <a:p>
            <a:pPr marL="0" indent="0">
              <a:buNone/>
            </a:pPr>
            <a:r>
              <a:rPr lang="en-IN" dirty="0"/>
              <a:t>		</a:t>
            </a:r>
            <a:r>
              <a:rPr dirty="0"/>
              <a:t>(I am a student of KL University.)</a:t>
            </a:r>
          </a:p>
          <a:p>
            <a:pPr marL="0" indent="0">
              <a:buNone/>
            </a:pPr>
            <a:r>
              <a:rPr lang="en-US" dirty="0"/>
              <a:t>6. </a:t>
            </a:r>
            <a:r>
              <a:rPr dirty="0"/>
              <a:t>Harshita-</a:t>
            </a:r>
            <a:r>
              <a:rPr dirty="0" err="1"/>
              <a:t>san</a:t>
            </a:r>
            <a:r>
              <a:rPr dirty="0"/>
              <a:t> </a:t>
            </a:r>
            <a:r>
              <a:rPr dirty="0" err="1"/>
              <a:t>wa</a:t>
            </a:r>
            <a:r>
              <a:rPr dirty="0"/>
              <a:t> </a:t>
            </a:r>
            <a:r>
              <a:rPr dirty="0" err="1"/>
              <a:t>TechM</a:t>
            </a:r>
            <a:r>
              <a:rPr dirty="0"/>
              <a:t> no </a:t>
            </a:r>
            <a:r>
              <a:rPr dirty="0" err="1"/>
              <a:t>kaishain</a:t>
            </a:r>
            <a:r>
              <a:rPr dirty="0"/>
              <a:t> </a:t>
            </a:r>
            <a:r>
              <a:rPr dirty="0" err="1"/>
              <a:t>desu</a:t>
            </a:r>
            <a:r>
              <a:rPr dirty="0"/>
              <a:t>. </a:t>
            </a:r>
            <a:endParaRPr lang="en-US" dirty="0"/>
          </a:p>
          <a:p>
            <a:pPr marL="0" indent="0">
              <a:buNone/>
            </a:pPr>
            <a:r>
              <a:rPr lang="en-IN" dirty="0"/>
              <a:t>      </a:t>
            </a:r>
            <a:r>
              <a:rPr dirty="0"/>
              <a:t>(Harshita-</a:t>
            </a:r>
            <a:r>
              <a:rPr dirty="0" err="1"/>
              <a:t>san</a:t>
            </a:r>
            <a:r>
              <a:rPr dirty="0"/>
              <a:t> is an employee of Tech Mahindra.)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Definitions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dirty="0"/>
              <a:t>1.</a:t>
            </a:r>
            <a:r>
              <a:rPr lang="en-US" dirty="0"/>
              <a:t>  </a:t>
            </a:r>
            <a:r>
              <a:rPr dirty="0"/>
              <a:t> Kore (</a:t>
            </a:r>
            <a:r>
              <a:rPr dirty="0" err="1"/>
              <a:t>これ</a:t>
            </a:r>
            <a:r>
              <a:rPr dirty="0"/>
              <a:t>): This (near the speaker)</a:t>
            </a:r>
          </a:p>
          <a:p>
            <a:pPr marL="0" indent="0">
              <a:buNone/>
            </a:pPr>
            <a:r>
              <a:rPr dirty="0"/>
              <a:t>2.</a:t>
            </a:r>
            <a:r>
              <a:rPr lang="en-US" dirty="0"/>
              <a:t>  </a:t>
            </a:r>
            <a:r>
              <a:rPr dirty="0"/>
              <a:t> Sore (</a:t>
            </a:r>
            <a:r>
              <a:rPr dirty="0" err="1"/>
              <a:t>それ</a:t>
            </a:r>
            <a:r>
              <a:rPr dirty="0"/>
              <a:t>): That (near the listener)</a:t>
            </a:r>
          </a:p>
          <a:p>
            <a:pPr marL="0" indent="0">
              <a:buNone/>
            </a:pPr>
            <a:r>
              <a:rPr dirty="0"/>
              <a:t>3.</a:t>
            </a:r>
            <a:r>
              <a:rPr lang="en-US" dirty="0"/>
              <a:t>  </a:t>
            </a:r>
            <a:r>
              <a:rPr dirty="0"/>
              <a:t> Are (</a:t>
            </a:r>
            <a:r>
              <a:rPr dirty="0" err="1"/>
              <a:t>あれ</a:t>
            </a:r>
            <a:r>
              <a:rPr dirty="0"/>
              <a:t>): That over there (far from both)</a:t>
            </a:r>
            <a:endParaRPr lang="en-US" dirty="0"/>
          </a:p>
          <a:p>
            <a:pPr marL="0" indent="0">
              <a:buNone/>
            </a:pPr>
            <a:endParaRPr dirty="0"/>
          </a:p>
          <a:p>
            <a:pPr marL="514350" indent="-514350">
              <a:buFont typeface="+mj-lt"/>
              <a:buAutoNum type="arabicPeriod"/>
            </a:pPr>
            <a:r>
              <a:rPr dirty="0"/>
              <a:t>Kono (</a:t>
            </a:r>
            <a:r>
              <a:rPr dirty="0" err="1"/>
              <a:t>この</a:t>
            </a:r>
            <a:r>
              <a:rPr dirty="0"/>
              <a:t>): This [noun]</a:t>
            </a:r>
          </a:p>
          <a:p>
            <a:pPr marL="514350" indent="-514350">
              <a:buFont typeface="+mj-lt"/>
              <a:buAutoNum type="arabicPeriod"/>
            </a:pPr>
            <a:r>
              <a:rPr dirty="0"/>
              <a:t>Sono (</a:t>
            </a:r>
            <a:r>
              <a:rPr dirty="0" err="1"/>
              <a:t>その</a:t>
            </a:r>
            <a:r>
              <a:rPr dirty="0"/>
              <a:t>): That [noun]</a:t>
            </a:r>
          </a:p>
          <a:p>
            <a:pPr marL="514350" indent="-514350">
              <a:buFont typeface="+mj-lt"/>
              <a:buAutoNum type="arabicPeriod"/>
            </a:pPr>
            <a:r>
              <a:rPr dirty="0"/>
              <a:t>Ano (</a:t>
            </a:r>
            <a:r>
              <a:rPr dirty="0" err="1"/>
              <a:t>あの</a:t>
            </a:r>
            <a:r>
              <a:rPr dirty="0"/>
              <a:t>): That [noun] over there</a:t>
            </a:r>
            <a:endParaRPr lang="en-US" dirty="0"/>
          </a:p>
          <a:p>
            <a:endParaRPr dirty="0"/>
          </a:p>
          <a:p>
            <a:pPr marL="514350" indent="-514350">
              <a:buFont typeface="+mj-lt"/>
              <a:buAutoNum type="arabicPeriod"/>
            </a:pPr>
            <a:r>
              <a:rPr dirty="0"/>
              <a:t> Koko (</a:t>
            </a:r>
            <a:r>
              <a:rPr dirty="0" err="1"/>
              <a:t>ここ</a:t>
            </a:r>
            <a:r>
              <a:rPr dirty="0"/>
              <a:t>): Here (location near speaker)</a:t>
            </a:r>
          </a:p>
          <a:p>
            <a:pPr marL="514350" indent="-514350">
              <a:buFont typeface="+mj-lt"/>
              <a:buAutoNum type="arabicPeriod"/>
            </a:pPr>
            <a:r>
              <a:rPr dirty="0"/>
              <a:t> </a:t>
            </a:r>
            <a:r>
              <a:rPr dirty="0" err="1"/>
              <a:t>Soko</a:t>
            </a:r>
            <a:r>
              <a:rPr dirty="0"/>
              <a:t> (</a:t>
            </a:r>
            <a:r>
              <a:rPr dirty="0" err="1"/>
              <a:t>そこ</a:t>
            </a:r>
            <a:r>
              <a:rPr dirty="0"/>
              <a:t>): There (location near listener)</a:t>
            </a:r>
          </a:p>
          <a:p>
            <a:pPr marL="514350" indent="-514350">
              <a:buFont typeface="+mj-lt"/>
              <a:buAutoNum type="arabicPeriod"/>
            </a:pPr>
            <a:r>
              <a:rPr dirty="0"/>
              <a:t> </a:t>
            </a:r>
            <a:r>
              <a:rPr dirty="0" err="1"/>
              <a:t>Asoko</a:t>
            </a:r>
            <a:r>
              <a:rPr dirty="0"/>
              <a:t> (</a:t>
            </a:r>
            <a:r>
              <a:rPr dirty="0" err="1"/>
              <a:t>あそこ</a:t>
            </a:r>
            <a:r>
              <a:rPr dirty="0"/>
              <a:t>): Over there (location far from both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>
                <a:highlight>
                  <a:srgbClr val="FFFF00"/>
                </a:highlight>
              </a:rPr>
              <a:t>. Mo (も): Also, too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Examples with Kore, Sore, 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dirty="0"/>
              <a:t>1. </a:t>
            </a:r>
            <a:r>
              <a:rPr dirty="0">
                <a:highlight>
                  <a:srgbClr val="FFFF00"/>
                </a:highlight>
              </a:rPr>
              <a:t>Kore </a:t>
            </a:r>
            <a:r>
              <a:rPr dirty="0" err="1">
                <a:highlight>
                  <a:srgbClr val="FFFF00"/>
                </a:highlight>
              </a:rPr>
              <a:t>wa</a:t>
            </a:r>
            <a:r>
              <a:rPr dirty="0">
                <a:highlight>
                  <a:srgbClr val="FFFF00"/>
                </a:highlight>
              </a:rPr>
              <a:t> nan </a:t>
            </a:r>
            <a:r>
              <a:rPr dirty="0" err="1">
                <a:highlight>
                  <a:srgbClr val="FFFF00"/>
                </a:highlight>
              </a:rPr>
              <a:t>desu</a:t>
            </a:r>
            <a:r>
              <a:rPr dirty="0">
                <a:highlight>
                  <a:srgbClr val="FFFF00"/>
                </a:highlight>
              </a:rPr>
              <a:t> ka? (What is this?)</a:t>
            </a:r>
            <a:endParaRPr lang="en-US" dirty="0">
              <a:highlight>
                <a:srgbClr val="FFFF00"/>
              </a:highlight>
            </a:endParaRP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   - Positive: Kore </a:t>
            </a:r>
            <a:r>
              <a:rPr dirty="0" err="1"/>
              <a:t>wa</a:t>
            </a:r>
            <a:r>
              <a:rPr dirty="0"/>
              <a:t> hon </a:t>
            </a:r>
            <a:r>
              <a:rPr dirty="0" err="1"/>
              <a:t>desu</a:t>
            </a:r>
            <a:r>
              <a:rPr dirty="0"/>
              <a:t>. (This is a book.)</a:t>
            </a:r>
          </a:p>
          <a:p>
            <a:pPr marL="0" indent="0">
              <a:buNone/>
            </a:pPr>
            <a:r>
              <a:rPr dirty="0"/>
              <a:t>   - Negative: Kore </a:t>
            </a:r>
            <a:r>
              <a:rPr dirty="0" err="1"/>
              <a:t>wa</a:t>
            </a:r>
            <a:r>
              <a:rPr dirty="0"/>
              <a:t> hon jya-</a:t>
            </a:r>
            <a:r>
              <a:rPr dirty="0" err="1"/>
              <a:t>arimasen</a:t>
            </a:r>
            <a:r>
              <a:rPr dirty="0"/>
              <a:t>. (This is not a book.)</a:t>
            </a:r>
          </a:p>
          <a:p>
            <a:pPr marL="0" indent="0">
              <a:buNone/>
            </a:pPr>
            <a:r>
              <a:rPr dirty="0"/>
              <a:t>   -</a:t>
            </a:r>
          </a:p>
          <a:p>
            <a:pPr marL="0" indent="0">
              <a:buNone/>
            </a:pPr>
            <a:r>
              <a:rPr dirty="0"/>
              <a:t>2. </a:t>
            </a:r>
            <a:r>
              <a:rPr dirty="0">
                <a:highlight>
                  <a:srgbClr val="FFFF00"/>
                </a:highlight>
              </a:rPr>
              <a:t>Sore </a:t>
            </a:r>
            <a:r>
              <a:rPr dirty="0" err="1">
                <a:highlight>
                  <a:srgbClr val="FFFF00"/>
                </a:highlight>
              </a:rPr>
              <a:t>wa</a:t>
            </a:r>
            <a:r>
              <a:rPr dirty="0">
                <a:highlight>
                  <a:srgbClr val="FFFF00"/>
                </a:highlight>
              </a:rPr>
              <a:t> nan </a:t>
            </a:r>
            <a:r>
              <a:rPr dirty="0" err="1">
                <a:highlight>
                  <a:srgbClr val="FFFF00"/>
                </a:highlight>
              </a:rPr>
              <a:t>desu</a:t>
            </a:r>
            <a:r>
              <a:rPr dirty="0">
                <a:highlight>
                  <a:srgbClr val="FFFF00"/>
                </a:highlight>
              </a:rPr>
              <a:t> ka? (What is that?)</a:t>
            </a:r>
            <a:endParaRPr lang="en-US" dirty="0">
              <a:highlight>
                <a:srgbClr val="FFFF00"/>
              </a:highlight>
            </a:endParaRPr>
          </a:p>
          <a:p>
            <a:endParaRPr dirty="0"/>
          </a:p>
          <a:p>
            <a:pPr marL="0" indent="0">
              <a:buNone/>
            </a:pPr>
            <a:r>
              <a:rPr lang="en-US" dirty="0"/>
              <a:t> </a:t>
            </a:r>
            <a:r>
              <a:rPr dirty="0"/>
              <a:t>  - Positive: Sore </a:t>
            </a:r>
            <a:r>
              <a:rPr dirty="0" err="1"/>
              <a:t>wa</a:t>
            </a:r>
            <a:r>
              <a:rPr dirty="0"/>
              <a:t> </a:t>
            </a:r>
            <a:r>
              <a:rPr dirty="0" err="1"/>
              <a:t>enpitsu</a:t>
            </a:r>
            <a:r>
              <a:rPr dirty="0"/>
              <a:t> </a:t>
            </a:r>
            <a:r>
              <a:rPr dirty="0" err="1"/>
              <a:t>desu</a:t>
            </a:r>
            <a:r>
              <a:rPr dirty="0"/>
              <a:t>. (That is a pencil.)</a:t>
            </a:r>
          </a:p>
          <a:p>
            <a:pPr marL="0" indent="0">
              <a:buNone/>
            </a:pPr>
            <a:r>
              <a:rPr dirty="0"/>
              <a:t>   - Negative: Sore </a:t>
            </a:r>
            <a:r>
              <a:rPr dirty="0" err="1"/>
              <a:t>wa</a:t>
            </a:r>
            <a:r>
              <a:rPr dirty="0"/>
              <a:t> </a:t>
            </a:r>
            <a:r>
              <a:rPr dirty="0" err="1"/>
              <a:t>enpitsu</a:t>
            </a:r>
            <a:r>
              <a:rPr dirty="0"/>
              <a:t> jya-</a:t>
            </a:r>
            <a:r>
              <a:rPr dirty="0" err="1"/>
              <a:t>arimasen</a:t>
            </a:r>
            <a:r>
              <a:rPr dirty="0"/>
              <a:t>. (That is not a pencil.)</a:t>
            </a:r>
          </a:p>
          <a:p>
            <a:pPr marL="0" indent="0">
              <a:buNone/>
            </a:pPr>
            <a:r>
              <a:rPr dirty="0"/>
              <a:t>   </a:t>
            </a:r>
          </a:p>
          <a:p>
            <a:pPr marL="0" indent="0">
              <a:buNone/>
            </a:pPr>
            <a:r>
              <a:rPr dirty="0"/>
              <a:t>3. </a:t>
            </a:r>
            <a:r>
              <a:rPr dirty="0">
                <a:highlight>
                  <a:srgbClr val="FFFF00"/>
                </a:highlight>
              </a:rPr>
              <a:t>Are </a:t>
            </a:r>
            <a:r>
              <a:rPr dirty="0" err="1">
                <a:highlight>
                  <a:srgbClr val="FFFF00"/>
                </a:highlight>
              </a:rPr>
              <a:t>wa</a:t>
            </a:r>
            <a:r>
              <a:rPr dirty="0">
                <a:highlight>
                  <a:srgbClr val="FFFF00"/>
                </a:highlight>
              </a:rPr>
              <a:t> nan </a:t>
            </a:r>
            <a:r>
              <a:rPr dirty="0" err="1">
                <a:highlight>
                  <a:srgbClr val="FFFF00"/>
                </a:highlight>
              </a:rPr>
              <a:t>desu</a:t>
            </a:r>
            <a:r>
              <a:rPr dirty="0">
                <a:highlight>
                  <a:srgbClr val="FFFF00"/>
                </a:highlight>
              </a:rPr>
              <a:t> ka? (What is that over there?)</a:t>
            </a:r>
          </a:p>
          <a:p>
            <a:pPr marL="0" indent="0">
              <a:buNone/>
            </a:pPr>
            <a:r>
              <a:rPr dirty="0"/>
              <a:t>   - Positive: Are </a:t>
            </a:r>
            <a:r>
              <a:rPr dirty="0" err="1"/>
              <a:t>wa</a:t>
            </a:r>
            <a:r>
              <a:rPr dirty="0"/>
              <a:t> </a:t>
            </a:r>
            <a:r>
              <a:rPr dirty="0" err="1"/>
              <a:t>kaban</a:t>
            </a:r>
            <a:r>
              <a:rPr dirty="0"/>
              <a:t> </a:t>
            </a:r>
            <a:r>
              <a:rPr dirty="0" err="1"/>
              <a:t>desu</a:t>
            </a:r>
            <a:r>
              <a:rPr dirty="0"/>
              <a:t>. (That over there is a bag.)</a:t>
            </a:r>
          </a:p>
          <a:p>
            <a:pPr marL="0" indent="0">
              <a:buNone/>
            </a:pPr>
            <a:r>
              <a:rPr dirty="0"/>
              <a:t>   - Negative: Are </a:t>
            </a:r>
            <a:r>
              <a:rPr dirty="0" err="1"/>
              <a:t>wa</a:t>
            </a:r>
            <a:r>
              <a:rPr dirty="0"/>
              <a:t> </a:t>
            </a:r>
            <a:r>
              <a:rPr dirty="0" err="1"/>
              <a:t>kaban</a:t>
            </a:r>
            <a:r>
              <a:rPr dirty="0"/>
              <a:t> jya-</a:t>
            </a:r>
            <a:r>
              <a:rPr dirty="0" err="1"/>
              <a:t>arimasen</a:t>
            </a:r>
            <a:r>
              <a:rPr dirty="0"/>
              <a:t>. (That over there is not a bag.)</a:t>
            </a:r>
          </a:p>
          <a:p>
            <a:pPr marL="0" indent="0">
              <a:buNone/>
            </a:pPr>
            <a:r>
              <a:rPr dirty="0"/>
              <a:t>   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11556-D384-D6E1-6270-D8D026869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79" y="857250"/>
            <a:ext cx="9074021" cy="5143500"/>
          </a:xfrm>
        </p:spPr>
        <p:txBody>
          <a:bodyPr/>
          <a:lstStyle/>
          <a:p>
            <a:pPr marL="0" indent="0" algn="ctr">
              <a:buNone/>
            </a:pPr>
            <a:r>
              <a:rPr lang="en-US" b="1" u="sng" dirty="0">
                <a:highlight>
                  <a:srgbClr val="FFFF00"/>
                </a:highlight>
              </a:rPr>
              <a:t>Grammer</a:t>
            </a:r>
          </a:p>
          <a:p>
            <a:pPr marL="385763" indent="-385763">
              <a:buAutoNum type="arabicPeriod"/>
            </a:pPr>
            <a:r>
              <a:rPr lang="en-US" dirty="0" err="1">
                <a:solidFill>
                  <a:srgbClr val="FF0000"/>
                </a:solidFill>
                <a:highlight>
                  <a:srgbClr val="FFFF00"/>
                </a:highlight>
              </a:rPr>
              <a:t>Desu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en-US" dirty="0" err="1">
                <a:solidFill>
                  <a:srgbClr val="FF0000"/>
                </a:solidFill>
                <a:highlight>
                  <a:srgbClr val="FFFF00"/>
                </a:highlight>
              </a:rPr>
              <a:t>kaa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? – (interrogative </a:t>
            </a:r>
            <a:r>
              <a:rPr lang="en-US" dirty="0" err="1">
                <a:solidFill>
                  <a:srgbClr val="FF0000"/>
                </a:solidFill>
                <a:highlight>
                  <a:srgbClr val="FFFF00"/>
                </a:highlight>
              </a:rPr>
              <a:t>sentance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In Japanese language “</a:t>
            </a:r>
            <a:r>
              <a:rPr lang="en-US" dirty="0" err="1">
                <a:solidFill>
                  <a:srgbClr val="FF0000"/>
                </a:solidFill>
                <a:highlight>
                  <a:srgbClr val="FFFF00"/>
                </a:highlight>
              </a:rPr>
              <a:t>Desu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 ka” used for </a:t>
            </a:r>
            <a:r>
              <a:rPr lang="en-US" dirty="0" err="1">
                <a:solidFill>
                  <a:srgbClr val="FF0000"/>
                </a:solidFill>
                <a:highlight>
                  <a:srgbClr val="FFFF00"/>
                </a:highlight>
              </a:rPr>
              <a:t>Interogative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 sentence. </a:t>
            </a:r>
          </a:p>
          <a:p>
            <a:r>
              <a:rPr lang="en-US" dirty="0"/>
              <a:t>Kore </a:t>
            </a:r>
            <a:r>
              <a:rPr lang="en-US" dirty="0" err="1"/>
              <a:t>waa</a:t>
            </a:r>
            <a:r>
              <a:rPr lang="en-US" dirty="0"/>
              <a:t> naan </a:t>
            </a:r>
            <a:r>
              <a:rPr lang="en-US" dirty="0" err="1"/>
              <a:t>desu</a:t>
            </a:r>
            <a:r>
              <a:rPr lang="en-US" dirty="0"/>
              <a:t> </a:t>
            </a:r>
            <a:r>
              <a:rPr lang="en-US" dirty="0" err="1"/>
              <a:t>kaa</a:t>
            </a:r>
            <a:r>
              <a:rPr lang="en-US" dirty="0"/>
              <a:t>? (What is this)</a:t>
            </a:r>
          </a:p>
          <a:p>
            <a:r>
              <a:rPr lang="en-US" dirty="0"/>
              <a:t>Kore </a:t>
            </a:r>
            <a:r>
              <a:rPr lang="en-US" dirty="0" err="1"/>
              <a:t>waa</a:t>
            </a:r>
            <a:r>
              <a:rPr lang="en-US" dirty="0"/>
              <a:t> _____</a:t>
            </a:r>
            <a:r>
              <a:rPr lang="en-US" dirty="0" err="1"/>
              <a:t>desu</a:t>
            </a:r>
            <a:r>
              <a:rPr lang="en-US" dirty="0"/>
              <a:t>. (this is ____)</a:t>
            </a:r>
          </a:p>
          <a:p>
            <a:r>
              <a:rPr lang="en-US" dirty="0"/>
              <a:t>Kore </a:t>
            </a:r>
            <a:r>
              <a:rPr lang="en-US" dirty="0" err="1"/>
              <a:t>waa</a:t>
            </a:r>
            <a:r>
              <a:rPr lang="en-US" dirty="0"/>
              <a:t>______</a:t>
            </a:r>
            <a:r>
              <a:rPr lang="en-US" dirty="0" err="1"/>
              <a:t>jya</a:t>
            </a:r>
            <a:r>
              <a:rPr lang="en-US" dirty="0"/>
              <a:t> </a:t>
            </a:r>
            <a:r>
              <a:rPr lang="en-US" dirty="0" err="1"/>
              <a:t>arimasen</a:t>
            </a:r>
            <a:r>
              <a:rPr lang="en-US" dirty="0"/>
              <a:t>. (negative)</a:t>
            </a:r>
          </a:p>
        </p:txBody>
      </p:sp>
      <p:pic>
        <p:nvPicPr>
          <p:cNvPr id="5" name="Picture 4" descr="A drawing of a camera">
            <a:extLst>
              <a:ext uri="{FF2B5EF4-FFF2-40B4-BE49-F238E27FC236}">
                <a16:creationId xmlns:a16="http://schemas.microsoft.com/office/drawing/2014/main" id="{28750E1E-F4CC-5D76-A4B7-7E8A771301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296" y="3311779"/>
            <a:ext cx="8438519" cy="1954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785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with Kono, Sono, Ano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840" y="1600200"/>
            <a:ext cx="8900160" cy="4654296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dirty="0"/>
              <a:t>1. </a:t>
            </a:r>
            <a:r>
              <a:rPr dirty="0">
                <a:highlight>
                  <a:srgbClr val="FFFF00"/>
                </a:highlight>
              </a:rPr>
              <a:t>Kono hon </a:t>
            </a:r>
            <a:r>
              <a:rPr dirty="0" err="1">
                <a:highlight>
                  <a:srgbClr val="FFFF00"/>
                </a:highlight>
              </a:rPr>
              <a:t>wa</a:t>
            </a:r>
            <a:r>
              <a:rPr dirty="0">
                <a:highlight>
                  <a:srgbClr val="FFFF00"/>
                </a:highlight>
              </a:rPr>
              <a:t> dare no </a:t>
            </a:r>
            <a:r>
              <a:rPr dirty="0" err="1">
                <a:highlight>
                  <a:srgbClr val="FFFF00"/>
                </a:highlight>
              </a:rPr>
              <a:t>desu</a:t>
            </a:r>
            <a:r>
              <a:rPr dirty="0">
                <a:highlight>
                  <a:srgbClr val="FFFF00"/>
                </a:highlight>
              </a:rPr>
              <a:t> ka? (Whose book is this?)</a:t>
            </a:r>
            <a:endParaRPr lang="en-US" dirty="0">
              <a:highlight>
                <a:srgbClr val="FFFF00"/>
              </a:highlight>
            </a:endParaRPr>
          </a:p>
          <a:p>
            <a:pPr marL="0" indent="0">
              <a:buNone/>
            </a:pPr>
            <a:endParaRPr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dirty="0"/>
              <a:t>   - Positive: Kono hon </a:t>
            </a:r>
            <a:r>
              <a:rPr dirty="0" err="1"/>
              <a:t>wa</a:t>
            </a:r>
            <a:r>
              <a:rPr dirty="0"/>
              <a:t> watashi no </a:t>
            </a:r>
            <a:r>
              <a:rPr dirty="0" err="1"/>
              <a:t>desu</a:t>
            </a:r>
            <a:r>
              <a:rPr dirty="0"/>
              <a:t>. (This book is mine.)</a:t>
            </a:r>
          </a:p>
          <a:p>
            <a:pPr marL="0" indent="0">
              <a:buNone/>
            </a:pPr>
            <a:r>
              <a:rPr dirty="0"/>
              <a:t>   - </a:t>
            </a:r>
            <a:r>
              <a:rPr dirty="0">
                <a:highlight>
                  <a:srgbClr val="FFFF00"/>
                </a:highlight>
              </a:rPr>
              <a:t>Negative</a:t>
            </a:r>
            <a:r>
              <a:rPr dirty="0"/>
              <a:t>: Kono hon </a:t>
            </a:r>
            <a:r>
              <a:rPr dirty="0" err="1"/>
              <a:t>wa</a:t>
            </a:r>
            <a:r>
              <a:rPr dirty="0"/>
              <a:t> watashi no </a:t>
            </a:r>
            <a:r>
              <a:rPr dirty="0">
                <a:highlight>
                  <a:srgbClr val="FFFF00"/>
                </a:highlight>
              </a:rPr>
              <a:t>jya-</a:t>
            </a:r>
            <a:r>
              <a:rPr dirty="0" err="1">
                <a:highlight>
                  <a:srgbClr val="FFFF00"/>
                </a:highlight>
              </a:rPr>
              <a:t>arimasen</a:t>
            </a:r>
            <a:r>
              <a:rPr dirty="0"/>
              <a:t>. (This book is not mine.)</a:t>
            </a:r>
          </a:p>
          <a:p>
            <a:pPr marL="0" indent="0">
              <a:buNone/>
            </a:pPr>
            <a:r>
              <a:rPr dirty="0"/>
              <a:t>   -</a:t>
            </a:r>
          </a:p>
          <a:p>
            <a:pPr marL="0" indent="0">
              <a:buNone/>
            </a:pPr>
            <a:r>
              <a:rPr dirty="0"/>
              <a:t>2. Sono pen </a:t>
            </a:r>
            <a:r>
              <a:rPr dirty="0" err="1"/>
              <a:t>wa</a:t>
            </a:r>
            <a:r>
              <a:rPr dirty="0"/>
              <a:t> dare no </a:t>
            </a:r>
            <a:r>
              <a:rPr dirty="0" err="1"/>
              <a:t>desu</a:t>
            </a:r>
            <a:r>
              <a:rPr dirty="0"/>
              <a:t> ka? (Whose pen is that?)</a:t>
            </a:r>
            <a:endParaRPr lang="en-US" dirty="0"/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 </a:t>
            </a:r>
            <a:r>
              <a:rPr lang="en-US" dirty="0"/>
              <a:t> </a:t>
            </a:r>
            <a:r>
              <a:rPr dirty="0"/>
              <a:t> - Positive: Sono pen </a:t>
            </a:r>
            <a:r>
              <a:rPr dirty="0" err="1"/>
              <a:t>wa</a:t>
            </a:r>
            <a:r>
              <a:rPr dirty="0"/>
              <a:t> sensei no </a:t>
            </a:r>
            <a:r>
              <a:rPr dirty="0" err="1"/>
              <a:t>desu</a:t>
            </a:r>
            <a:r>
              <a:rPr dirty="0"/>
              <a:t>. (That pen is the teacher's.)</a:t>
            </a:r>
          </a:p>
          <a:p>
            <a:pPr marL="0" indent="0">
              <a:buNone/>
            </a:pPr>
            <a:r>
              <a:rPr dirty="0"/>
              <a:t>   - Negative: Sono pen </a:t>
            </a:r>
            <a:r>
              <a:rPr dirty="0" err="1"/>
              <a:t>wa</a:t>
            </a:r>
            <a:r>
              <a:rPr dirty="0"/>
              <a:t> sensei no jya-</a:t>
            </a:r>
            <a:r>
              <a:rPr dirty="0" err="1"/>
              <a:t>arimasen</a:t>
            </a:r>
            <a:r>
              <a:rPr dirty="0"/>
              <a:t>. (That pen is not the teacher's.)</a:t>
            </a:r>
          </a:p>
          <a:p>
            <a:pPr marL="0" indent="0">
              <a:buNone/>
            </a:pPr>
            <a:r>
              <a:rPr dirty="0"/>
              <a:t>   -</a:t>
            </a:r>
          </a:p>
          <a:p>
            <a:pPr marL="0" indent="0">
              <a:buNone/>
            </a:pPr>
            <a:r>
              <a:rPr dirty="0"/>
              <a:t>3. Ano bag </a:t>
            </a:r>
            <a:r>
              <a:rPr dirty="0" err="1"/>
              <a:t>wa</a:t>
            </a:r>
            <a:r>
              <a:rPr dirty="0"/>
              <a:t> dare no </a:t>
            </a:r>
            <a:r>
              <a:rPr dirty="0" err="1"/>
              <a:t>desu</a:t>
            </a:r>
            <a:r>
              <a:rPr dirty="0"/>
              <a:t> ka? (Whose bag is that over there?)</a:t>
            </a:r>
          </a:p>
          <a:p>
            <a:pPr marL="0" indent="0">
              <a:buNone/>
            </a:pPr>
            <a:r>
              <a:rPr dirty="0"/>
              <a:t>   - Positive: Ano bag </a:t>
            </a:r>
            <a:r>
              <a:rPr dirty="0" err="1"/>
              <a:t>wa</a:t>
            </a:r>
            <a:r>
              <a:rPr dirty="0"/>
              <a:t> </a:t>
            </a:r>
            <a:r>
              <a:rPr dirty="0" err="1"/>
              <a:t>tomodachi</a:t>
            </a:r>
            <a:r>
              <a:rPr dirty="0"/>
              <a:t> no </a:t>
            </a:r>
            <a:r>
              <a:rPr dirty="0" err="1"/>
              <a:t>desu</a:t>
            </a:r>
            <a:r>
              <a:rPr dirty="0"/>
              <a:t>. (That bag over there is my friend's.)</a:t>
            </a:r>
          </a:p>
          <a:p>
            <a:pPr marL="0" indent="0">
              <a:buNone/>
            </a:pPr>
            <a:r>
              <a:rPr dirty="0"/>
              <a:t>   - Negative: Ano bag </a:t>
            </a:r>
            <a:r>
              <a:rPr dirty="0" err="1"/>
              <a:t>wa</a:t>
            </a:r>
            <a:r>
              <a:rPr dirty="0"/>
              <a:t> </a:t>
            </a:r>
            <a:r>
              <a:rPr dirty="0" err="1"/>
              <a:t>tomodachi</a:t>
            </a:r>
            <a:r>
              <a:rPr dirty="0"/>
              <a:t> no jya-</a:t>
            </a:r>
            <a:r>
              <a:rPr dirty="0" err="1"/>
              <a:t>arimasen</a:t>
            </a:r>
            <a:r>
              <a:rPr dirty="0"/>
              <a:t>.(That bag over there is no</a:t>
            </a:r>
            <a:r>
              <a:rPr lang="en-US" dirty="0"/>
              <a:t>t</a:t>
            </a:r>
            <a:r>
              <a:rPr dirty="0"/>
              <a:t> m</a:t>
            </a:r>
            <a:r>
              <a:rPr lang="en-US" dirty="0"/>
              <a:t>y </a:t>
            </a:r>
            <a:r>
              <a:rPr dirty="0"/>
              <a:t>friend's.)</a:t>
            </a:r>
          </a:p>
          <a:p>
            <a:pPr marL="0" indent="0">
              <a:buNone/>
            </a:pPr>
            <a:r>
              <a:rPr dirty="0"/>
              <a:t>   - With Mo: Ano bag </a:t>
            </a:r>
            <a:r>
              <a:rPr dirty="0" err="1"/>
              <a:t>mo</a:t>
            </a:r>
            <a:r>
              <a:rPr dirty="0"/>
              <a:t> </a:t>
            </a:r>
            <a:r>
              <a:rPr dirty="0" err="1"/>
              <a:t>tomodachi</a:t>
            </a:r>
            <a:r>
              <a:rPr dirty="0"/>
              <a:t> no </a:t>
            </a:r>
            <a:r>
              <a:rPr dirty="0" err="1"/>
              <a:t>desu</a:t>
            </a:r>
            <a:r>
              <a:rPr dirty="0"/>
              <a:t>. (That bag over there is also my friend's.)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57399"/>
            <a:ext cx="8229600" cy="452596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dirty="0"/>
              <a:t>1. Koko </a:t>
            </a:r>
            <a:r>
              <a:rPr dirty="0" err="1"/>
              <a:t>wa</a:t>
            </a:r>
            <a:r>
              <a:rPr dirty="0"/>
              <a:t> </a:t>
            </a:r>
            <a:r>
              <a:rPr lang="en-US" dirty="0"/>
              <a:t>Nan</a:t>
            </a:r>
            <a:r>
              <a:rPr dirty="0"/>
              <a:t> </a:t>
            </a:r>
            <a:r>
              <a:rPr dirty="0" err="1">
                <a:highlight>
                  <a:srgbClr val="FFFF00"/>
                </a:highlight>
              </a:rPr>
              <a:t>desu</a:t>
            </a:r>
            <a:r>
              <a:rPr dirty="0">
                <a:highlight>
                  <a:srgbClr val="FFFF00"/>
                </a:highlight>
              </a:rPr>
              <a:t> ka? </a:t>
            </a:r>
            <a:r>
              <a:rPr dirty="0"/>
              <a:t>(</a:t>
            </a:r>
            <a:r>
              <a:rPr lang="en-US" dirty="0"/>
              <a:t>what is here</a:t>
            </a:r>
            <a:r>
              <a:rPr dirty="0"/>
              <a:t>?)</a:t>
            </a:r>
          </a:p>
          <a:p>
            <a:pPr marL="0" indent="0">
              <a:buNone/>
            </a:pPr>
            <a:r>
              <a:rPr dirty="0"/>
              <a:t>   - Positive: Koko </a:t>
            </a:r>
            <a:r>
              <a:rPr dirty="0" err="1"/>
              <a:t>wa</a:t>
            </a:r>
            <a:r>
              <a:rPr dirty="0"/>
              <a:t> </a:t>
            </a:r>
            <a:r>
              <a:rPr dirty="0" err="1"/>
              <a:t>eki</a:t>
            </a:r>
            <a:r>
              <a:rPr dirty="0"/>
              <a:t> </a:t>
            </a:r>
            <a:r>
              <a:rPr dirty="0" err="1">
                <a:highlight>
                  <a:srgbClr val="FFFF00"/>
                </a:highlight>
              </a:rPr>
              <a:t>desu</a:t>
            </a:r>
            <a:r>
              <a:rPr dirty="0">
                <a:highlight>
                  <a:srgbClr val="FFFF00"/>
                </a:highlight>
              </a:rPr>
              <a:t>.</a:t>
            </a:r>
            <a:r>
              <a:rPr dirty="0"/>
              <a:t> (This place is the station.)</a:t>
            </a:r>
          </a:p>
          <a:p>
            <a:pPr marL="0" indent="0">
              <a:buNone/>
            </a:pPr>
            <a:r>
              <a:rPr dirty="0"/>
              <a:t>   - Negative: Koko </a:t>
            </a:r>
            <a:r>
              <a:rPr dirty="0" err="1"/>
              <a:t>wa</a:t>
            </a:r>
            <a:r>
              <a:rPr dirty="0"/>
              <a:t> </a:t>
            </a:r>
            <a:r>
              <a:rPr dirty="0" err="1"/>
              <a:t>eki</a:t>
            </a:r>
            <a:r>
              <a:rPr dirty="0"/>
              <a:t> </a:t>
            </a:r>
            <a:r>
              <a:rPr dirty="0">
                <a:highlight>
                  <a:srgbClr val="FFFF00"/>
                </a:highlight>
              </a:rPr>
              <a:t>jya-</a:t>
            </a:r>
            <a:r>
              <a:rPr dirty="0" err="1">
                <a:highlight>
                  <a:srgbClr val="FFFF00"/>
                </a:highlight>
              </a:rPr>
              <a:t>arimasen</a:t>
            </a:r>
            <a:r>
              <a:rPr dirty="0">
                <a:highlight>
                  <a:srgbClr val="FFFF00"/>
                </a:highlight>
              </a:rPr>
              <a:t>. </a:t>
            </a:r>
            <a:r>
              <a:rPr dirty="0"/>
              <a:t>(This place is not the station.)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2. </a:t>
            </a:r>
            <a:r>
              <a:rPr dirty="0" err="1"/>
              <a:t>Soko</a:t>
            </a:r>
            <a:r>
              <a:rPr dirty="0"/>
              <a:t> </a:t>
            </a:r>
            <a:r>
              <a:rPr dirty="0" err="1"/>
              <a:t>wa</a:t>
            </a:r>
            <a:r>
              <a:rPr dirty="0"/>
              <a:t> </a:t>
            </a:r>
            <a:r>
              <a:rPr lang="en-US" dirty="0"/>
              <a:t>Nan</a:t>
            </a:r>
            <a:r>
              <a:rPr dirty="0"/>
              <a:t> </a:t>
            </a:r>
            <a:r>
              <a:rPr dirty="0" err="1"/>
              <a:t>desu</a:t>
            </a:r>
            <a:r>
              <a:rPr dirty="0"/>
              <a:t> ka? (</a:t>
            </a:r>
            <a:r>
              <a:rPr lang="en-US" dirty="0"/>
              <a:t>What is that place?</a:t>
            </a:r>
            <a:endParaRPr dirty="0"/>
          </a:p>
          <a:p>
            <a:pPr marL="0" indent="0">
              <a:buNone/>
            </a:pPr>
            <a:r>
              <a:rPr dirty="0"/>
              <a:t>   - Positive: </a:t>
            </a:r>
            <a:r>
              <a:rPr dirty="0" err="1"/>
              <a:t>Soko</a:t>
            </a:r>
            <a:r>
              <a:rPr dirty="0"/>
              <a:t> </a:t>
            </a:r>
            <a:r>
              <a:rPr dirty="0" err="1"/>
              <a:t>wa</a:t>
            </a:r>
            <a:r>
              <a:rPr dirty="0"/>
              <a:t> </a:t>
            </a:r>
            <a:r>
              <a:rPr dirty="0" err="1"/>
              <a:t>toire</a:t>
            </a:r>
            <a:r>
              <a:rPr dirty="0"/>
              <a:t> </a:t>
            </a:r>
            <a:r>
              <a:rPr dirty="0" err="1"/>
              <a:t>desu</a:t>
            </a:r>
            <a:r>
              <a:rPr dirty="0"/>
              <a:t>. (That place is the toilet.)</a:t>
            </a:r>
          </a:p>
          <a:p>
            <a:pPr marL="0" indent="0">
              <a:buNone/>
            </a:pPr>
            <a:r>
              <a:rPr dirty="0"/>
              <a:t>   - Negative: </a:t>
            </a:r>
            <a:r>
              <a:rPr dirty="0" err="1"/>
              <a:t>Soko</a:t>
            </a:r>
            <a:r>
              <a:rPr dirty="0"/>
              <a:t> </a:t>
            </a:r>
            <a:r>
              <a:rPr dirty="0" err="1"/>
              <a:t>wa</a:t>
            </a:r>
            <a:r>
              <a:rPr dirty="0"/>
              <a:t> </a:t>
            </a:r>
            <a:r>
              <a:rPr dirty="0" err="1"/>
              <a:t>toire</a:t>
            </a:r>
            <a:r>
              <a:rPr dirty="0"/>
              <a:t> jya-</a:t>
            </a:r>
            <a:r>
              <a:rPr dirty="0" err="1"/>
              <a:t>arimasen</a:t>
            </a:r>
            <a:r>
              <a:rPr dirty="0"/>
              <a:t>. (That pl</a:t>
            </a:r>
            <a:r>
              <a:rPr lang="en-US" dirty="0"/>
              <a:t>ace</a:t>
            </a:r>
            <a:r>
              <a:rPr dirty="0"/>
              <a:t> is not the toilet.)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3. </a:t>
            </a:r>
            <a:r>
              <a:rPr dirty="0" err="1"/>
              <a:t>Asoko</a:t>
            </a:r>
            <a:r>
              <a:rPr dirty="0"/>
              <a:t> </a:t>
            </a:r>
            <a:r>
              <a:rPr dirty="0" err="1"/>
              <a:t>wa</a:t>
            </a:r>
            <a:r>
              <a:rPr dirty="0"/>
              <a:t> </a:t>
            </a:r>
            <a:r>
              <a:rPr lang="en-US" dirty="0"/>
              <a:t>Nan</a:t>
            </a:r>
            <a:r>
              <a:rPr dirty="0"/>
              <a:t> </a:t>
            </a:r>
            <a:r>
              <a:rPr dirty="0" err="1"/>
              <a:t>desu</a:t>
            </a:r>
            <a:r>
              <a:rPr dirty="0"/>
              <a:t> ka? (</a:t>
            </a:r>
            <a:r>
              <a:rPr lang="en-US" dirty="0"/>
              <a:t>What is  there?)</a:t>
            </a:r>
          </a:p>
          <a:p>
            <a:pPr marL="0" indent="0">
              <a:buNone/>
            </a:pPr>
            <a:r>
              <a:rPr dirty="0"/>
              <a:t>   - Positive: </a:t>
            </a:r>
            <a:r>
              <a:rPr dirty="0" err="1"/>
              <a:t>Asoko</a:t>
            </a:r>
            <a:r>
              <a:rPr dirty="0"/>
              <a:t> </a:t>
            </a:r>
            <a:r>
              <a:rPr dirty="0" err="1"/>
              <a:t>wa</a:t>
            </a:r>
            <a:r>
              <a:rPr dirty="0"/>
              <a:t> </a:t>
            </a:r>
            <a:r>
              <a:rPr dirty="0" err="1"/>
              <a:t>kouen</a:t>
            </a:r>
            <a:r>
              <a:rPr dirty="0"/>
              <a:t> </a:t>
            </a:r>
            <a:r>
              <a:rPr dirty="0" err="1"/>
              <a:t>desu</a:t>
            </a:r>
            <a:r>
              <a:rPr dirty="0"/>
              <a:t>. ( there is the park.)</a:t>
            </a:r>
          </a:p>
          <a:p>
            <a:pPr marL="0" indent="0">
              <a:buNone/>
            </a:pPr>
            <a:r>
              <a:rPr dirty="0"/>
              <a:t>  </a:t>
            </a:r>
            <a:r>
              <a:rPr lang="en-US" dirty="0"/>
              <a:t> </a:t>
            </a:r>
            <a:r>
              <a:rPr dirty="0"/>
              <a:t>- Negative: </a:t>
            </a:r>
            <a:r>
              <a:rPr dirty="0" err="1"/>
              <a:t>Asoko</a:t>
            </a:r>
            <a:r>
              <a:rPr dirty="0"/>
              <a:t> </a:t>
            </a:r>
            <a:r>
              <a:rPr dirty="0" err="1"/>
              <a:t>wa</a:t>
            </a:r>
            <a:r>
              <a:rPr dirty="0"/>
              <a:t> </a:t>
            </a:r>
            <a:r>
              <a:rPr dirty="0" err="1"/>
              <a:t>kouen</a:t>
            </a:r>
            <a:r>
              <a:rPr dirty="0"/>
              <a:t> jya-</a:t>
            </a:r>
            <a:r>
              <a:rPr dirty="0" err="1"/>
              <a:t>arimasen</a:t>
            </a:r>
            <a:r>
              <a:rPr dirty="0"/>
              <a:t>. ( there is not the park.)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3AF1AD-F178-4E88-B6CF-AB0365ED60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5059"/>
            <a:ext cx="8382000" cy="162215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Using そうです / そうじゃありません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Explanation and Examples</a:t>
            </a:r>
          </a:p>
        </p:txBody>
      </p:sp>
    </p:spTree>
    <p:extLst>
      <p:ext uri="{BB962C8B-B14F-4D97-AF65-F5344CB8AC3E}">
        <p14:creationId xmlns:p14="http://schemas.microsoft.com/office/powerpoint/2010/main" val="33244976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 err="1"/>
              <a:t>そうです</a:t>
            </a:r>
            <a:r>
              <a:rPr lang="en-US" dirty="0"/>
              <a:t>  </a:t>
            </a:r>
            <a:r>
              <a:rPr lang="en-US" dirty="0" err="1"/>
              <a:t>soudesu</a:t>
            </a:r>
            <a:r>
              <a:rPr dirty="0"/>
              <a:t>:</a:t>
            </a:r>
            <a:endParaRPr lang="en-US" dirty="0"/>
          </a:p>
          <a:p>
            <a:r>
              <a:rPr dirty="0"/>
              <a:t> Means 'Yes, that’s right' or 'Yes, it is so.’</a:t>
            </a:r>
            <a:endParaRPr lang="en-US" dirty="0"/>
          </a:p>
          <a:p>
            <a:pPr marL="0" indent="0">
              <a:buNone/>
            </a:pPr>
            <a:r>
              <a:rPr lang="en-IN" dirty="0"/>
              <a:t>    </a:t>
            </a:r>
            <a:r>
              <a:rPr dirty="0"/>
              <a:t> (</a:t>
            </a:r>
            <a:r>
              <a:rPr lang="en-US" dirty="0"/>
              <a:t>positive</a:t>
            </a:r>
            <a:r>
              <a:rPr dirty="0"/>
              <a:t> answer)</a:t>
            </a:r>
          </a:p>
          <a:p>
            <a:r>
              <a:rPr lang="ja-JP" altLang="en-US" dirty="0"/>
              <a:t>そうじゃありません </a:t>
            </a:r>
            <a:r>
              <a:rPr lang="en-US" altLang="ja-JP" dirty="0" err="1"/>
              <a:t>soujya-arimasen</a:t>
            </a:r>
            <a:r>
              <a:rPr lang="en-US" altLang="ja-JP" dirty="0"/>
              <a:t>: </a:t>
            </a:r>
            <a:endParaRPr lang="ja-JP" altLang="en-US" dirty="0"/>
          </a:p>
          <a:p>
            <a:pPr marL="0" indent="0">
              <a:buNone/>
            </a:pPr>
            <a:r>
              <a:rPr lang="en-IN" dirty="0"/>
              <a:t>     </a:t>
            </a:r>
            <a:r>
              <a:rPr dirty="0"/>
              <a:t>Means 'No, that’s not right' or 'No, it isn’t so.’ </a:t>
            </a:r>
            <a:r>
              <a:rPr lang="en-US" dirty="0"/>
              <a:t>       </a:t>
            </a:r>
            <a:r>
              <a:rPr dirty="0"/>
              <a:t>(Negative answer)</a:t>
            </a:r>
          </a:p>
          <a:p>
            <a:endParaRPr dirty="0"/>
          </a:p>
          <a:p>
            <a:r>
              <a:rPr dirty="0">
                <a:highlight>
                  <a:srgbClr val="FFFF00"/>
                </a:highlight>
              </a:rPr>
              <a:t>Used to confirm or deny a statement or question.</a:t>
            </a:r>
            <a:endParaRPr lang="en-US" dirty="0">
              <a:highlight>
                <a:srgbClr val="FFFF00"/>
              </a:highlight>
            </a:endParaRPr>
          </a:p>
          <a:p>
            <a:r>
              <a:rPr lang="en-US" sz="2600" b="1" dirty="0">
                <a:highlight>
                  <a:srgbClr val="FFFF00"/>
                </a:highlight>
              </a:rPr>
              <a:t>Instead of </a:t>
            </a:r>
            <a:r>
              <a:rPr lang="en-US" altLang="ja-JP" sz="2600" b="1" dirty="0" err="1">
                <a:highlight>
                  <a:srgbClr val="FFFF00"/>
                </a:highlight>
              </a:rPr>
              <a:t>soujya-arimasen</a:t>
            </a:r>
            <a:r>
              <a:rPr lang="en-US" sz="2600" b="1" dirty="0">
                <a:highlight>
                  <a:srgbClr val="FFFF00"/>
                </a:highlight>
              </a:rPr>
              <a:t> we can use </a:t>
            </a:r>
            <a:r>
              <a:rPr lang="en-US" sz="2600" b="1" dirty="0" err="1">
                <a:highlight>
                  <a:srgbClr val="FFFF00"/>
                </a:highlight>
              </a:rPr>
              <a:t>chigaimasu</a:t>
            </a:r>
            <a:endParaRPr lang="en-US" sz="2600" b="1" dirty="0">
              <a:highlight>
                <a:srgbClr val="FFFF00"/>
              </a:highlight>
            </a:endParaRPr>
          </a:p>
          <a:p>
            <a:endParaRPr 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2334995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14400"/>
          </a:xfrm>
        </p:spPr>
        <p:txBody>
          <a:bodyPr/>
          <a:lstStyle/>
          <a:p>
            <a:r>
              <a:rPr dirty="0"/>
              <a:t>Example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>
            <a:normAutofit fontScale="92500" lnSpcReduction="10000"/>
          </a:bodyPr>
          <a:lstStyle/>
          <a:p>
            <a:r>
              <a:rPr sz="2400" dirty="0"/>
              <a:t>Q</a:t>
            </a:r>
            <a:r>
              <a:rPr lang="en-US" sz="2400" dirty="0"/>
              <a:t>):</a:t>
            </a:r>
            <a:r>
              <a:rPr sz="2400" dirty="0"/>
              <a:t> </a:t>
            </a:r>
            <a:r>
              <a:rPr sz="2400" dirty="0" err="1"/>
              <a:t>これはほんですか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r>
              <a:rPr lang="en-US" sz="2400" dirty="0"/>
              <a:t>    Kore </a:t>
            </a:r>
            <a:r>
              <a:rPr lang="en-US" sz="2400" dirty="0" err="1"/>
              <a:t>wa</a:t>
            </a:r>
            <a:r>
              <a:rPr lang="en-US" sz="2400" dirty="0"/>
              <a:t> hon </a:t>
            </a:r>
            <a:r>
              <a:rPr lang="en-US" sz="2400" dirty="0" err="1"/>
              <a:t>desu</a:t>
            </a:r>
            <a:r>
              <a:rPr lang="en-US" sz="2400" dirty="0"/>
              <a:t> ka--- Is this a book? </a:t>
            </a:r>
            <a:endParaRPr sz="2400" dirty="0"/>
          </a:p>
          <a:p>
            <a:r>
              <a:rPr sz="2400" dirty="0"/>
              <a:t>Ans </a:t>
            </a:r>
            <a:r>
              <a:rPr lang="en-US" sz="2400" dirty="0"/>
              <a:t>)</a:t>
            </a:r>
            <a:r>
              <a:rPr sz="2400" dirty="0"/>
              <a:t>: </a:t>
            </a:r>
            <a:r>
              <a:rPr sz="2400" dirty="0" err="1"/>
              <a:t>はい、そうです</a:t>
            </a:r>
            <a:r>
              <a:rPr sz="2400" dirty="0"/>
              <a:t>。</a:t>
            </a:r>
          </a:p>
          <a:p>
            <a:pPr marL="0" indent="0">
              <a:buNone/>
            </a:pPr>
            <a:r>
              <a:rPr lang="en-US" sz="2400" dirty="0"/>
              <a:t>    Hai, sou </a:t>
            </a:r>
            <a:r>
              <a:rPr lang="en-US" sz="2400" dirty="0" err="1"/>
              <a:t>desu</a:t>
            </a:r>
            <a:r>
              <a:rPr lang="en-US" sz="2400" dirty="0"/>
              <a:t>.---- Yes, it is.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b="1" dirty="0"/>
              <a:t>Q):</a:t>
            </a:r>
            <a:r>
              <a:rPr lang="en-US" sz="2400" dirty="0"/>
              <a:t> </a:t>
            </a:r>
            <a:r>
              <a:rPr lang="ja-JP" altLang="en-US" sz="2400" dirty="0"/>
              <a:t>これはみずですか</a:t>
            </a:r>
            <a:r>
              <a:rPr lang="en-US" altLang="ja-JP" sz="2400" dirty="0"/>
              <a:t>.</a:t>
            </a:r>
            <a:br>
              <a:rPr lang="ja-JP" altLang="en-US" sz="2400" dirty="0"/>
            </a:br>
            <a:r>
              <a:rPr lang="en-US" sz="2400" b="1" dirty="0"/>
              <a:t>Kore </a:t>
            </a:r>
            <a:r>
              <a:rPr lang="en-US" sz="2400" b="1" dirty="0" err="1"/>
              <a:t>wa</a:t>
            </a:r>
            <a:r>
              <a:rPr lang="en-US" sz="2400" b="1" dirty="0"/>
              <a:t> </a:t>
            </a:r>
            <a:r>
              <a:rPr lang="en-US" sz="2400" b="1" dirty="0" err="1"/>
              <a:t>mizu</a:t>
            </a:r>
            <a:r>
              <a:rPr lang="en-US" sz="2400" b="1" dirty="0"/>
              <a:t> </a:t>
            </a:r>
            <a:r>
              <a:rPr lang="en-US" sz="2400" b="1" dirty="0" err="1"/>
              <a:t>desu</a:t>
            </a:r>
            <a:r>
              <a:rPr lang="en-US" sz="2400" b="1" dirty="0"/>
              <a:t> ka?</a:t>
            </a:r>
            <a:r>
              <a:rPr lang="en-US" sz="2400" dirty="0"/>
              <a:t> --- Is this water?</a:t>
            </a:r>
          </a:p>
          <a:p>
            <a:r>
              <a:rPr lang="en-US" sz="2400" b="1" dirty="0"/>
              <a:t>A):</a:t>
            </a:r>
            <a:r>
              <a:rPr lang="en-US" sz="2400" dirty="0"/>
              <a:t> </a:t>
            </a:r>
            <a:r>
              <a:rPr lang="ja-JP" altLang="en-US" sz="2400" dirty="0"/>
              <a:t>はい、そうです。</a:t>
            </a:r>
            <a:br>
              <a:rPr lang="ja-JP" altLang="en-US" sz="2400" dirty="0"/>
            </a:br>
            <a:r>
              <a:rPr lang="en-US" sz="2400" b="1" dirty="0"/>
              <a:t>Hai, sou </a:t>
            </a:r>
            <a:r>
              <a:rPr lang="en-US" sz="2400" b="1" dirty="0" err="1"/>
              <a:t>desu</a:t>
            </a:r>
            <a:r>
              <a:rPr lang="en-US" sz="2400" b="1" dirty="0"/>
              <a:t>.</a:t>
            </a:r>
            <a:r>
              <a:rPr lang="en-US" sz="2400" dirty="0"/>
              <a:t> --- Yes, it is.</a:t>
            </a:r>
          </a:p>
          <a:p>
            <a:endParaRPr lang="en-US" sz="2400" dirty="0"/>
          </a:p>
          <a:p>
            <a:r>
              <a:rPr lang="en-US" sz="2600" b="1" dirty="0"/>
              <a:t>Q):</a:t>
            </a:r>
            <a:r>
              <a:rPr lang="en-US" sz="2600" dirty="0"/>
              <a:t> </a:t>
            </a:r>
            <a:r>
              <a:rPr lang="ja-JP" altLang="en-US" sz="2600" dirty="0"/>
              <a:t>あなたはがくせいですか</a:t>
            </a:r>
            <a:r>
              <a:rPr lang="en-US" altLang="ja-JP" sz="2600" dirty="0"/>
              <a:t>.</a:t>
            </a:r>
            <a:br>
              <a:rPr lang="ja-JP" altLang="en-US" sz="2600" dirty="0"/>
            </a:br>
            <a:r>
              <a:rPr lang="en-US" sz="2600" b="1" dirty="0" err="1"/>
              <a:t>Anata</a:t>
            </a:r>
            <a:r>
              <a:rPr lang="en-US" sz="2600" b="1" dirty="0"/>
              <a:t> </a:t>
            </a:r>
            <a:r>
              <a:rPr lang="en-US" sz="2600" b="1" dirty="0" err="1"/>
              <a:t>wa</a:t>
            </a:r>
            <a:r>
              <a:rPr lang="en-US" sz="2600" b="1" dirty="0"/>
              <a:t> </a:t>
            </a:r>
            <a:r>
              <a:rPr lang="en-US" sz="2600" b="1" dirty="0" err="1"/>
              <a:t>gakusei</a:t>
            </a:r>
            <a:r>
              <a:rPr lang="en-US" sz="2600" b="1" dirty="0"/>
              <a:t> </a:t>
            </a:r>
            <a:r>
              <a:rPr lang="en-US" sz="2600" b="1" dirty="0" err="1"/>
              <a:t>desu</a:t>
            </a:r>
            <a:r>
              <a:rPr lang="en-US" sz="2600" b="1" dirty="0"/>
              <a:t> ka?</a:t>
            </a:r>
            <a:r>
              <a:rPr lang="en-US" sz="2600" dirty="0"/>
              <a:t> --- Are you a student?</a:t>
            </a:r>
          </a:p>
          <a:p>
            <a:r>
              <a:rPr lang="en-US" sz="2600" b="1" dirty="0"/>
              <a:t>A):</a:t>
            </a:r>
            <a:r>
              <a:rPr lang="en-US" sz="2600" dirty="0"/>
              <a:t> </a:t>
            </a:r>
            <a:r>
              <a:rPr lang="ja-JP" altLang="en-US" sz="2600" dirty="0"/>
              <a:t>いいえ、そうじゃありません。</a:t>
            </a:r>
            <a:br>
              <a:rPr lang="ja-JP" altLang="en-US" sz="2600" dirty="0"/>
            </a:br>
            <a:r>
              <a:rPr lang="en-US" sz="2600" b="1" dirty="0" err="1"/>
              <a:t>Iie</a:t>
            </a:r>
            <a:r>
              <a:rPr lang="en-US" sz="2600" b="1" dirty="0"/>
              <a:t>, sou ja </a:t>
            </a:r>
            <a:r>
              <a:rPr lang="en-US" sz="2600" b="1" dirty="0" err="1"/>
              <a:t>arimasen</a:t>
            </a:r>
            <a:r>
              <a:rPr lang="en-US" sz="2600" b="1" dirty="0"/>
              <a:t>.</a:t>
            </a:r>
            <a:r>
              <a:rPr lang="en-US" sz="2600" dirty="0"/>
              <a:t> --- No, I am not.</a:t>
            </a:r>
          </a:p>
          <a:p>
            <a:endParaRPr lang="en-US" sz="2400" dirty="0"/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728944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57199"/>
          </a:xfrm>
        </p:spPr>
        <p:txBody>
          <a:bodyPr>
            <a:normAutofit fontScale="90000"/>
          </a:bodyPr>
          <a:lstStyle/>
          <a:p>
            <a:r>
              <a:rPr dirty="0"/>
              <a:t>Example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80872"/>
            <a:ext cx="8229600" cy="5483352"/>
          </a:xfrm>
        </p:spPr>
        <p:txBody>
          <a:bodyPr>
            <a:normAutofit fontScale="70000" lnSpcReduction="20000"/>
          </a:bodyPr>
          <a:lstStyle/>
          <a:p>
            <a:r>
              <a:rPr dirty="0"/>
              <a:t>Question </a:t>
            </a:r>
            <a:r>
              <a:rPr lang="en-US" dirty="0"/>
              <a:t>:- </a:t>
            </a:r>
            <a:r>
              <a:rPr dirty="0" err="1"/>
              <a:t>たなかさんはせんせいですか</a:t>
            </a:r>
            <a:endParaRPr lang="en-US" dirty="0"/>
          </a:p>
          <a:p>
            <a:pPr marL="0" indent="0">
              <a:buNone/>
            </a:pPr>
            <a:r>
              <a:rPr lang="it-IT" dirty="0"/>
              <a:t>     Tanaka-san wa sensei desu ka?</a:t>
            </a:r>
          </a:p>
          <a:p>
            <a:pPr marL="0" indent="0">
              <a:buNone/>
            </a:pPr>
            <a:r>
              <a:rPr lang="en-US" dirty="0"/>
              <a:t>     Is Tanaka a teacher?</a:t>
            </a:r>
          </a:p>
          <a:p>
            <a:pPr marL="0" indent="0">
              <a:buNone/>
            </a:pPr>
            <a:endParaRPr dirty="0"/>
          </a:p>
          <a:p>
            <a:r>
              <a:rPr dirty="0"/>
              <a:t>Answer </a:t>
            </a:r>
            <a:r>
              <a:rPr lang="en-US" dirty="0"/>
              <a:t>:-</a:t>
            </a:r>
            <a:r>
              <a:rPr dirty="0" err="1"/>
              <a:t>いいえ、そうじゃありません</a:t>
            </a:r>
            <a:r>
              <a:rPr dirty="0"/>
              <a:t>。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dirty="0"/>
              <a:t> </a:t>
            </a:r>
            <a:r>
              <a:rPr dirty="0" err="1"/>
              <a:t>Iie</a:t>
            </a:r>
            <a:r>
              <a:rPr dirty="0"/>
              <a:t>, sou ja </a:t>
            </a:r>
            <a:r>
              <a:rPr dirty="0" err="1"/>
              <a:t>arimasen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 </a:t>
            </a:r>
            <a:r>
              <a:rPr lang="en-US" dirty="0"/>
              <a:t>   </a:t>
            </a:r>
            <a:r>
              <a:rPr dirty="0"/>
              <a:t> No, they are not.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Question:</a:t>
            </a:r>
            <a:br>
              <a:rPr lang="en-US" dirty="0"/>
            </a:br>
            <a:r>
              <a:rPr lang="ja-JP" altLang="en-US" dirty="0"/>
              <a:t>これはあなたのペンですか</a:t>
            </a:r>
            <a:r>
              <a:rPr lang="en-US" altLang="ja-JP" dirty="0"/>
              <a:t>.</a:t>
            </a:r>
            <a:br>
              <a:rPr lang="ja-JP" altLang="en-US" dirty="0"/>
            </a:br>
            <a:r>
              <a:rPr lang="en-US" b="1" dirty="0"/>
              <a:t>Kore </a:t>
            </a:r>
            <a:r>
              <a:rPr lang="en-US" b="1" dirty="0" err="1"/>
              <a:t>wa</a:t>
            </a:r>
            <a:r>
              <a:rPr lang="en-US" b="1" dirty="0"/>
              <a:t> </a:t>
            </a:r>
            <a:r>
              <a:rPr lang="en-US" b="1" dirty="0" err="1"/>
              <a:t>anata</a:t>
            </a:r>
            <a:r>
              <a:rPr lang="en-US" b="1" dirty="0"/>
              <a:t> no pen </a:t>
            </a:r>
            <a:r>
              <a:rPr lang="en-US" b="1" dirty="0" err="1"/>
              <a:t>desu</a:t>
            </a:r>
            <a:r>
              <a:rPr lang="en-US" b="1" dirty="0"/>
              <a:t> ka?</a:t>
            </a:r>
            <a:br>
              <a:rPr lang="en-US" dirty="0"/>
            </a:br>
            <a:r>
              <a:rPr lang="en-US" dirty="0"/>
              <a:t>Is this your pen?</a:t>
            </a:r>
          </a:p>
          <a:p>
            <a:endParaRPr lang="en-US" dirty="0"/>
          </a:p>
          <a:p>
            <a:r>
              <a:rPr lang="en-US" b="1" dirty="0"/>
              <a:t>Answer:</a:t>
            </a:r>
            <a:br>
              <a:rPr lang="en-US" dirty="0"/>
            </a:br>
            <a:r>
              <a:rPr lang="ja-JP" altLang="en-US" dirty="0"/>
              <a:t>いいえ、そうじゃありません。</a:t>
            </a:r>
            <a:br>
              <a:rPr lang="ja-JP" altLang="en-US" dirty="0"/>
            </a:br>
            <a:r>
              <a:rPr lang="en-US" b="1" dirty="0" err="1"/>
              <a:t>Iie</a:t>
            </a:r>
            <a:r>
              <a:rPr lang="en-US" b="1" dirty="0"/>
              <a:t>, sou ja </a:t>
            </a:r>
            <a:r>
              <a:rPr lang="en-US" b="1" dirty="0" err="1"/>
              <a:t>arimasen</a:t>
            </a:r>
            <a:r>
              <a:rPr lang="en-US" b="1" dirty="0"/>
              <a:t>.</a:t>
            </a:r>
            <a:br>
              <a:rPr lang="en-US" dirty="0"/>
            </a:br>
            <a:r>
              <a:rPr lang="en-US" dirty="0"/>
              <a:t>No, it is not.</a:t>
            </a:r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636402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FD50AF-BA40-AFB8-EBDF-8E9253DD85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7250"/>
            <a:ext cx="9144000" cy="5143500"/>
          </a:xfrm>
        </p:spPr>
        <p:txBody>
          <a:bodyPr>
            <a:normAutofit/>
          </a:bodyPr>
          <a:lstStyle/>
          <a:p>
            <a:pPr algn="ctr"/>
            <a:r>
              <a:rPr lang="en-US" b="1" u="sng" dirty="0">
                <a:highlight>
                  <a:srgbClr val="FFFF00"/>
                </a:highlight>
              </a:rPr>
              <a:t>Grammer </a:t>
            </a:r>
            <a:r>
              <a:rPr lang="en-US" b="1" u="sng" dirty="0" err="1">
                <a:highlight>
                  <a:srgbClr val="FFFF00"/>
                </a:highlight>
              </a:rPr>
              <a:t>Pettren</a:t>
            </a:r>
            <a:r>
              <a:rPr lang="en-US" b="1" u="sng" dirty="0">
                <a:highlight>
                  <a:srgbClr val="FFFF00"/>
                </a:highlight>
              </a:rPr>
              <a:t> -2</a:t>
            </a:r>
          </a:p>
          <a:p>
            <a:pPr marL="0" indent="0" algn="ctr">
              <a:buNone/>
            </a:pPr>
            <a:r>
              <a:rPr lang="ja-JP" alt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もー</a:t>
            </a:r>
            <a:r>
              <a:rPr lang="en-US" altLang="ja-JP" b="1" dirty="0">
                <a:solidFill>
                  <a:srgbClr val="FF0000"/>
                </a:solidFill>
                <a:highlight>
                  <a:srgbClr val="FFFF00"/>
                </a:highlight>
              </a:rPr>
              <a:t>Mo (Meaning is also or too)</a:t>
            </a:r>
            <a:endParaRPr lang="en-US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r>
              <a:rPr lang="en-US" dirty="0" err="1">
                <a:highlight>
                  <a:srgbClr val="FFFF00"/>
                </a:highlight>
              </a:rPr>
              <a:t>Noun+mo</a:t>
            </a:r>
            <a:endParaRPr lang="en-US" dirty="0">
              <a:highlight>
                <a:srgbClr val="FFFF00"/>
              </a:highlight>
            </a:endParaRPr>
          </a:p>
          <a:p>
            <a:pPr marL="0" indent="0">
              <a:buNone/>
            </a:pPr>
            <a:endParaRPr lang="en-US" dirty="0"/>
          </a:p>
          <a:p>
            <a:pPr marL="385763" indent="-385763">
              <a:buAutoNum type="arabicPeriod"/>
            </a:pPr>
            <a:r>
              <a:rPr lang="en-US" dirty="0" err="1"/>
              <a:t>Watashi</a:t>
            </a:r>
            <a:r>
              <a:rPr lang="en-US" dirty="0"/>
              <a:t> </a:t>
            </a:r>
            <a:r>
              <a:rPr lang="en-US" dirty="0" err="1"/>
              <a:t>wa</a:t>
            </a:r>
            <a:r>
              <a:rPr lang="en-US" dirty="0"/>
              <a:t> sensei </a:t>
            </a:r>
            <a:r>
              <a:rPr lang="en-US" dirty="0" err="1"/>
              <a:t>desu</a:t>
            </a:r>
            <a:r>
              <a:rPr lang="en-US" dirty="0"/>
              <a:t>, </a:t>
            </a:r>
            <a:r>
              <a:rPr lang="en-US" dirty="0" err="1"/>
              <a:t>anata</a:t>
            </a:r>
            <a:r>
              <a:rPr lang="en-US" dirty="0"/>
              <a:t> </a:t>
            </a:r>
            <a:r>
              <a:rPr lang="en-US" dirty="0" err="1"/>
              <a:t>mo</a:t>
            </a:r>
            <a:r>
              <a:rPr lang="en-US" dirty="0"/>
              <a:t> sensei </a:t>
            </a:r>
            <a:r>
              <a:rPr lang="en-US" dirty="0" err="1"/>
              <a:t>desu</a:t>
            </a:r>
            <a:r>
              <a:rPr lang="en-US" dirty="0"/>
              <a:t>.</a:t>
            </a:r>
          </a:p>
          <a:p>
            <a:pPr marL="385763" indent="-385763">
              <a:buAutoNum type="arabicPeriod"/>
            </a:pPr>
            <a:r>
              <a:rPr lang="en-US" dirty="0"/>
              <a:t>Riya </a:t>
            </a:r>
            <a:r>
              <a:rPr lang="en-US" dirty="0" err="1"/>
              <a:t>saan</a:t>
            </a:r>
            <a:r>
              <a:rPr lang="en-US" dirty="0"/>
              <a:t> </a:t>
            </a:r>
            <a:r>
              <a:rPr lang="en-US" dirty="0" err="1"/>
              <a:t>wa</a:t>
            </a:r>
            <a:r>
              <a:rPr lang="en-US" dirty="0"/>
              <a:t> </a:t>
            </a:r>
            <a:r>
              <a:rPr lang="en-US" dirty="0" err="1"/>
              <a:t>gakuse</a:t>
            </a:r>
            <a:r>
              <a:rPr lang="en-US" dirty="0"/>
              <a:t> </a:t>
            </a:r>
            <a:r>
              <a:rPr lang="en-US" dirty="0" err="1"/>
              <a:t>desu</a:t>
            </a:r>
            <a:r>
              <a:rPr lang="en-US" dirty="0"/>
              <a:t>. </a:t>
            </a:r>
            <a:r>
              <a:rPr lang="en-US" dirty="0" err="1"/>
              <a:t>Sumitto</a:t>
            </a:r>
            <a:r>
              <a:rPr lang="en-US" dirty="0"/>
              <a:t> </a:t>
            </a:r>
            <a:r>
              <a:rPr lang="en-US" dirty="0" err="1"/>
              <a:t>saan</a:t>
            </a:r>
            <a:r>
              <a:rPr lang="en-US" dirty="0"/>
              <a:t> </a:t>
            </a:r>
            <a:r>
              <a:rPr lang="en-US" dirty="0" err="1"/>
              <a:t>mo</a:t>
            </a:r>
            <a:r>
              <a:rPr lang="en-US" dirty="0"/>
              <a:t> </a:t>
            </a:r>
            <a:r>
              <a:rPr lang="en-US" dirty="0" err="1"/>
              <a:t>gakuse</a:t>
            </a:r>
            <a:r>
              <a:rPr lang="en-US" dirty="0"/>
              <a:t> </a:t>
            </a:r>
            <a:r>
              <a:rPr lang="en-US" dirty="0" err="1"/>
              <a:t>desu</a:t>
            </a:r>
            <a:r>
              <a:rPr lang="en-US" dirty="0"/>
              <a:t>.	</a:t>
            </a:r>
          </a:p>
          <a:p>
            <a:pPr marL="0" indent="0">
              <a:buNone/>
            </a:pPr>
            <a:r>
              <a:rPr lang="en-US" dirty="0"/>
              <a:t>					</a:t>
            </a:r>
          </a:p>
          <a:p>
            <a:pPr marL="0" indent="0">
              <a:buNone/>
            </a:pPr>
            <a:endParaRPr lang="en-US" altLang="ja-JP" b="1" u="sng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20693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Japanese Grammar: S1 ka, S2 ka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Examples and Explanation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Definition of S1 ka, S2 ka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pattern </a:t>
            </a:r>
            <a:r>
              <a:rPr lang="en-US" dirty="0">
                <a:highlight>
                  <a:srgbClr val="FFFF00"/>
                </a:highlight>
              </a:rPr>
              <a:t>'S1 ka, S2 ka' </a:t>
            </a:r>
            <a:r>
              <a:rPr lang="en-US" dirty="0"/>
              <a:t>is used when </a:t>
            </a:r>
            <a:r>
              <a:rPr lang="en-US" dirty="0">
                <a:highlight>
                  <a:srgbClr val="FFFF00"/>
                </a:highlight>
              </a:rPr>
              <a:t>presenting two choices or </a:t>
            </a:r>
            <a:r>
              <a:rPr lang="en-US" dirty="0" err="1">
                <a:highlight>
                  <a:srgbClr val="FFFF00"/>
                </a:highlight>
              </a:rPr>
              <a:t>possibilities</a:t>
            </a:r>
            <a:r>
              <a:rPr lang="en-US" dirty="0" err="1"/>
              <a:t>.</a:t>
            </a:r>
            <a:r>
              <a:rPr dirty="0" err="1"/>
              <a:t>It</a:t>
            </a:r>
            <a:r>
              <a:rPr dirty="0"/>
              <a:t> can be translated as 'Is it S1 or S2?' or 'Whether S1 or S2' in English.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71538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Examples 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0416" y="832104"/>
            <a:ext cx="8406384" cy="5751258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Kore </a:t>
            </a:r>
            <a:r>
              <a:rPr dirty="0" err="1"/>
              <a:t>wa</a:t>
            </a:r>
            <a:r>
              <a:rPr dirty="0"/>
              <a:t> 7 </a:t>
            </a:r>
            <a:r>
              <a:rPr dirty="0" err="1">
                <a:highlight>
                  <a:srgbClr val="FFFF00"/>
                </a:highlight>
              </a:rPr>
              <a:t>desu</a:t>
            </a:r>
            <a:r>
              <a:rPr dirty="0">
                <a:highlight>
                  <a:srgbClr val="FFFF00"/>
                </a:highlight>
              </a:rPr>
              <a:t> ka</a:t>
            </a:r>
            <a:r>
              <a:rPr dirty="0"/>
              <a:t>, </a:t>
            </a:r>
            <a:r>
              <a:rPr lang="en-US" dirty="0"/>
              <a:t>1</a:t>
            </a:r>
            <a:r>
              <a:rPr dirty="0">
                <a:highlight>
                  <a:srgbClr val="FFFF00"/>
                </a:highlight>
              </a:rPr>
              <a:t>desu ka</a:t>
            </a:r>
            <a:r>
              <a:rPr dirty="0"/>
              <a:t>?</a:t>
            </a:r>
          </a:p>
          <a:p>
            <a:r>
              <a:rPr dirty="0"/>
              <a:t>→ Is this 7 or </a:t>
            </a:r>
            <a:r>
              <a:rPr lang="en-US" dirty="0"/>
              <a:t>1</a:t>
            </a:r>
            <a:r>
              <a:rPr dirty="0"/>
              <a:t>?</a:t>
            </a:r>
            <a:endParaRPr lang="en-US" dirty="0"/>
          </a:p>
          <a:p>
            <a:endParaRPr lang="en-IN" dirty="0"/>
          </a:p>
          <a:p>
            <a:r>
              <a:rPr lang="en-US" dirty="0"/>
              <a:t>Kore </a:t>
            </a:r>
            <a:r>
              <a:rPr lang="en-US" dirty="0" err="1"/>
              <a:t>wa</a:t>
            </a:r>
            <a:r>
              <a:rPr lang="en-US" dirty="0"/>
              <a:t> takai </a:t>
            </a:r>
            <a:r>
              <a:rPr lang="en-US" dirty="0" err="1"/>
              <a:t>desu</a:t>
            </a:r>
            <a:r>
              <a:rPr lang="en-US" dirty="0"/>
              <a:t> ka, </a:t>
            </a:r>
            <a:r>
              <a:rPr lang="en-US" dirty="0" err="1"/>
              <a:t>yasui</a:t>
            </a:r>
            <a:r>
              <a:rPr lang="en-US" dirty="0"/>
              <a:t> </a:t>
            </a:r>
            <a:r>
              <a:rPr lang="en-US" dirty="0" err="1"/>
              <a:t>desu</a:t>
            </a:r>
            <a:r>
              <a:rPr lang="en-US" dirty="0"/>
              <a:t> ka?</a:t>
            </a:r>
          </a:p>
          <a:p>
            <a:r>
              <a:rPr lang="en-US" dirty="0"/>
              <a:t>→ Is this expensive or cheap?</a:t>
            </a:r>
          </a:p>
          <a:p>
            <a:endParaRPr lang="en-US" dirty="0"/>
          </a:p>
          <a:p>
            <a:r>
              <a:rPr lang="en-US" dirty="0" err="1"/>
              <a:t>Anata</a:t>
            </a:r>
            <a:r>
              <a:rPr lang="en-US" dirty="0"/>
              <a:t> </a:t>
            </a:r>
            <a:r>
              <a:rPr lang="en-US" dirty="0" err="1"/>
              <a:t>wa</a:t>
            </a:r>
            <a:r>
              <a:rPr lang="en-US" dirty="0"/>
              <a:t> </a:t>
            </a:r>
            <a:r>
              <a:rPr lang="en-US" dirty="0" err="1"/>
              <a:t>kimasu</a:t>
            </a:r>
            <a:r>
              <a:rPr lang="en-US" dirty="0"/>
              <a:t> ka, </a:t>
            </a:r>
            <a:r>
              <a:rPr lang="en-US" dirty="0" err="1"/>
              <a:t>kimasen</a:t>
            </a:r>
            <a:r>
              <a:rPr lang="en-US" dirty="0"/>
              <a:t> ka?</a:t>
            </a:r>
          </a:p>
          <a:p>
            <a:r>
              <a:rPr lang="en-US" dirty="0"/>
              <a:t>→ Will you come or not?</a:t>
            </a:r>
          </a:p>
          <a:p>
            <a:endParaRPr lang="en-US" dirty="0"/>
          </a:p>
          <a:p>
            <a:r>
              <a:rPr lang="en-US" dirty="0" err="1"/>
              <a:t>Sakka</a:t>
            </a:r>
            <a:r>
              <a:rPr lang="en-US" dirty="0"/>
              <a:t> </a:t>
            </a:r>
            <a:r>
              <a:rPr lang="en-US" dirty="0" err="1"/>
              <a:t>wa</a:t>
            </a:r>
            <a:r>
              <a:rPr lang="en-US" dirty="0"/>
              <a:t> suki </a:t>
            </a:r>
            <a:r>
              <a:rPr lang="en-US" dirty="0" err="1"/>
              <a:t>desu</a:t>
            </a:r>
            <a:r>
              <a:rPr lang="en-US" dirty="0"/>
              <a:t> ka, </a:t>
            </a:r>
            <a:r>
              <a:rPr lang="en-US" dirty="0" err="1"/>
              <a:t>basuketto</a:t>
            </a:r>
            <a:r>
              <a:rPr lang="en-US" dirty="0"/>
              <a:t> </a:t>
            </a:r>
            <a:r>
              <a:rPr lang="en-US" dirty="0" err="1"/>
              <a:t>boru</a:t>
            </a:r>
            <a:r>
              <a:rPr lang="en-US" dirty="0"/>
              <a:t> </a:t>
            </a:r>
            <a:r>
              <a:rPr lang="en-US" dirty="0" err="1"/>
              <a:t>wa</a:t>
            </a:r>
            <a:r>
              <a:rPr lang="en-US" dirty="0"/>
              <a:t> suki </a:t>
            </a:r>
            <a:r>
              <a:rPr lang="en-US" dirty="0" err="1"/>
              <a:t>desu</a:t>
            </a:r>
            <a:r>
              <a:rPr lang="en-US" dirty="0"/>
              <a:t> ka?</a:t>
            </a:r>
          </a:p>
          <a:p>
            <a:r>
              <a:rPr lang="en-US" dirty="0"/>
              <a:t>→ Do you like soccer or basketball?</a:t>
            </a:r>
          </a:p>
          <a:p>
            <a:endParaRPr lang="en-US" dirty="0"/>
          </a:p>
          <a:p>
            <a:endParaRPr lang="en-US" dirty="0"/>
          </a:p>
          <a:p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1648" y="390144"/>
            <a:ext cx="8455152" cy="6096000"/>
          </a:xfrm>
        </p:spPr>
        <p:txBody>
          <a:bodyPr>
            <a:normAutofit fontScale="77500" lnSpcReduction="20000"/>
          </a:bodyPr>
          <a:lstStyle/>
          <a:p>
            <a:r>
              <a:rPr dirty="0"/>
              <a:t>Koko </a:t>
            </a:r>
            <a:r>
              <a:rPr dirty="0" err="1"/>
              <a:t>wa</a:t>
            </a:r>
            <a:r>
              <a:rPr dirty="0"/>
              <a:t> </a:t>
            </a:r>
            <a:r>
              <a:rPr dirty="0" err="1"/>
              <a:t>atsui</a:t>
            </a:r>
            <a:r>
              <a:rPr dirty="0"/>
              <a:t> </a:t>
            </a:r>
            <a:r>
              <a:rPr dirty="0" err="1"/>
              <a:t>desu</a:t>
            </a:r>
            <a:r>
              <a:rPr dirty="0"/>
              <a:t> ka, </a:t>
            </a:r>
            <a:r>
              <a:rPr dirty="0" err="1"/>
              <a:t>samui</a:t>
            </a:r>
            <a:r>
              <a:rPr dirty="0"/>
              <a:t> </a:t>
            </a:r>
            <a:r>
              <a:rPr dirty="0" err="1"/>
              <a:t>desu</a:t>
            </a:r>
            <a:r>
              <a:rPr dirty="0"/>
              <a:t> ka?</a:t>
            </a:r>
          </a:p>
          <a:p>
            <a:r>
              <a:rPr dirty="0"/>
              <a:t>→ Is it hot here or cold?</a:t>
            </a:r>
            <a:endParaRPr lang="en-US" dirty="0"/>
          </a:p>
          <a:p>
            <a:endParaRPr lang="en-US" dirty="0"/>
          </a:p>
          <a:p>
            <a:r>
              <a:rPr lang="en-US" dirty="0"/>
              <a:t>Eigo </a:t>
            </a:r>
            <a:r>
              <a:rPr lang="en-US" dirty="0" err="1"/>
              <a:t>wa</a:t>
            </a:r>
            <a:r>
              <a:rPr lang="en-US" dirty="0"/>
              <a:t> </a:t>
            </a:r>
            <a:r>
              <a:rPr lang="en-US" dirty="0" err="1"/>
              <a:t>benkyou</a:t>
            </a:r>
            <a:r>
              <a:rPr lang="en-US" dirty="0"/>
              <a:t> shimasu ka, </a:t>
            </a:r>
            <a:r>
              <a:rPr lang="en-US" dirty="0" err="1"/>
              <a:t>nihongo</a:t>
            </a:r>
            <a:r>
              <a:rPr lang="en-US" dirty="0"/>
              <a:t> </a:t>
            </a:r>
            <a:r>
              <a:rPr lang="en-US" dirty="0" err="1"/>
              <a:t>wa</a:t>
            </a:r>
            <a:r>
              <a:rPr lang="en-US" dirty="0"/>
              <a:t> </a:t>
            </a:r>
            <a:r>
              <a:rPr lang="en-US" dirty="0" err="1"/>
              <a:t>benkyou</a:t>
            </a:r>
            <a:r>
              <a:rPr lang="en-US" dirty="0"/>
              <a:t> shimasu ka?</a:t>
            </a:r>
          </a:p>
          <a:p>
            <a:r>
              <a:rPr lang="en-US" dirty="0"/>
              <a:t>→ Will you study English or Japanese?</a:t>
            </a:r>
          </a:p>
          <a:p>
            <a:endParaRPr lang="en-US" dirty="0"/>
          </a:p>
          <a:p>
            <a:r>
              <a:rPr lang="en-US" dirty="0"/>
              <a:t>Watashi </a:t>
            </a:r>
            <a:r>
              <a:rPr lang="en-US" dirty="0" err="1"/>
              <a:t>wa</a:t>
            </a:r>
            <a:r>
              <a:rPr lang="en-US" dirty="0"/>
              <a:t> </a:t>
            </a:r>
            <a:r>
              <a:rPr lang="en-US" dirty="0" err="1"/>
              <a:t>tabemasu</a:t>
            </a:r>
            <a:r>
              <a:rPr lang="en-US" dirty="0"/>
              <a:t> ka, nomimasu ka?</a:t>
            </a:r>
          </a:p>
          <a:p>
            <a:r>
              <a:rPr lang="en-US" dirty="0"/>
              <a:t>→ Will I eat or drink?</a:t>
            </a:r>
          </a:p>
          <a:p>
            <a:endParaRPr lang="en-US" dirty="0"/>
          </a:p>
          <a:p>
            <a:r>
              <a:rPr lang="en-US" dirty="0"/>
              <a:t>Kono hon </a:t>
            </a:r>
            <a:r>
              <a:rPr lang="en-US" dirty="0" err="1"/>
              <a:t>wa</a:t>
            </a:r>
            <a:r>
              <a:rPr lang="en-US" dirty="0"/>
              <a:t> </a:t>
            </a:r>
            <a:r>
              <a:rPr lang="en-US" dirty="0" err="1"/>
              <a:t>omoshiroi</a:t>
            </a:r>
            <a:r>
              <a:rPr lang="en-US" dirty="0"/>
              <a:t> </a:t>
            </a:r>
            <a:r>
              <a:rPr lang="en-US" dirty="0" err="1"/>
              <a:t>desu</a:t>
            </a:r>
            <a:r>
              <a:rPr lang="en-US" dirty="0"/>
              <a:t> ka, </a:t>
            </a:r>
            <a:r>
              <a:rPr lang="en-US" dirty="0" err="1"/>
              <a:t>tsumaranai</a:t>
            </a:r>
            <a:r>
              <a:rPr lang="en-US" dirty="0"/>
              <a:t> </a:t>
            </a:r>
            <a:r>
              <a:rPr lang="en-US" dirty="0" err="1"/>
              <a:t>desu</a:t>
            </a:r>
            <a:r>
              <a:rPr lang="en-US" dirty="0"/>
              <a:t> ka?</a:t>
            </a:r>
          </a:p>
          <a:p>
            <a:r>
              <a:rPr lang="en-US" dirty="0"/>
              <a:t>→ Is this book interesting or boring?</a:t>
            </a:r>
          </a:p>
          <a:p>
            <a:endParaRPr lang="en-US" dirty="0"/>
          </a:p>
          <a:p>
            <a:r>
              <a:rPr lang="en-US" dirty="0"/>
              <a:t>Kimi </a:t>
            </a:r>
            <a:r>
              <a:rPr lang="en-US" dirty="0" err="1"/>
              <a:t>wa</a:t>
            </a:r>
            <a:r>
              <a:rPr lang="en-US" dirty="0"/>
              <a:t> </a:t>
            </a:r>
            <a:r>
              <a:rPr lang="en-US" dirty="0" err="1"/>
              <a:t>kirei</a:t>
            </a:r>
            <a:r>
              <a:rPr lang="en-US" dirty="0"/>
              <a:t> </a:t>
            </a:r>
            <a:r>
              <a:rPr lang="en-US" dirty="0" err="1"/>
              <a:t>desu</a:t>
            </a:r>
            <a:r>
              <a:rPr lang="en-US" dirty="0"/>
              <a:t> ka, </a:t>
            </a:r>
            <a:r>
              <a:rPr lang="en-US" dirty="0" err="1"/>
              <a:t>kakkoii</a:t>
            </a:r>
            <a:r>
              <a:rPr lang="en-US" dirty="0"/>
              <a:t> </a:t>
            </a:r>
            <a:r>
              <a:rPr lang="en-US" dirty="0" err="1"/>
              <a:t>desu</a:t>
            </a:r>
            <a:r>
              <a:rPr lang="en-US" dirty="0"/>
              <a:t> ka?</a:t>
            </a:r>
          </a:p>
          <a:p>
            <a:r>
              <a:rPr lang="en-US" dirty="0"/>
              <a:t>→ Are you pretty or cool?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C3FC89C6-ECDB-909E-5C90-75E5F0B92F2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95072" y="1046912"/>
            <a:ext cx="8400288" cy="5447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4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 it hot or cold?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4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 you like cats or dogs?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4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 it early or late?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4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 he tall or short?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4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 she happy or sad?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4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 it sunny or cloudy?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4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 it movies or drama?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4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 it quiet or noisy? </a:t>
            </a:r>
          </a:p>
        </p:txBody>
      </p:sp>
    </p:spTree>
    <p:extLst>
      <p:ext uri="{BB962C8B-B14F-4D97-AF65-F5344CB8AC3E}">
        <p14:creationId xmlns:p14="http://schemas.microsoft.com/office/powerpoint/2010/main" val="17692971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2C04F6-44DB-28F9-FFDB-D7B3BEA12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7250"/>
            <a:ext cx="9144000" cy="5094515"/>
          </a:xfrm>
        </p:spPr>
        <p:txBody>
          <a:bodyPr>
            <a:normAutofit fontScale="77500" lnSpcReduction="20000"/>
          </a:bodyPr>
          <a:lstStyle/>
          <a:p>
            <a:pPr algn="ctr"/>
            <a:r>
              <a:rPr lang="en-IN" b="1" u="sng" dirty="0">
                <a:solidFill>
                  <a:schemeClr val="accent2">
                    <a:lumMod val="50000"/>
                  </a:schemeClr>
                </a:solidFill>
                <a:highlight>
                  <a:srgbClr val="FFFF00"/>
                </a:highlight>
              </a:rPr>
              <a:t>Simple Interrogative Tense Pattern</a:t>
            </a:r>
          </a:p>
          <a:p>
            <a:pPr marL="0" indent="0">
              <a:buNone/>
            </a:pPr>
            <a:r>
              <a:rPr lang="en-US" dirty="0"/>
              <a:t>												</a:t>
            </a:r>
          </a:p>
          <a:p>
            <a:pPr marL="0" indent="0">
              <a:buNone/>
            </a:pPr>
            <a:r>
              <a:rPr lang="en-US" dirty="0"/>
              <a:t>												</a:t>
            </a:r>
            <a:r>
              <a:rPr lang="en-US" dirty="0">
                <a:highlight>
                  <a:srgbClr val="FFFF00"/>
                </a:highlight>
              </a:rPr>
              <a:t>Japanese</a:t>
            </a:r>
            <a:r>
              <a:rPr lang="en-US" dirty="0"/>
              <a:t>		</a:t>
            </a:r>
            <a:r>
              <a:rPr lang="en-US" dirty="0">
                <a:highlight>
                  <a:srgbClr val="FFFF00"/>
                </a:highlight>
              </a:rPr>
              <a:t>English</a:t>
            </a:r>
          </a:p>
          <a:p>
            <a:pPr marL="0" indent="0">
              <a:buNone/>
            </a:pPr>
            <a:r>
              <a:rPr lang="en-US" dirty="0"/>
              <a:t>1)	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</a:rPr>
              <a:t>_______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</a:rPr>
              <a:t>Naan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</a:rPr>
              <a:t>desu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</a:rPr>
              <a:t> ka?</a:t>
            </a:r>
            <a:r>
              <a:rPr lang="en-US" b="1" dirty="0"/>
              <a:t>					</a:t>
            </a:r>
            <a:r>
              <a:rPr lang="en-US" b="1" dirty="0" err="1"/>
              <a:t>Daare</a:t>
            </a:r>
            <a:r>
              <a:rPr lang="en-US" b="1" dirty="0"/>
              <a:t>            -  	Who</a:t>
            </a:r>
          </a:p>
          <a:p>
            <a:pPr marL="0" indent="0">
              <a:buNone/>
            </a:pPr>
            <a:r>
              <a:rPr lang="en-US" dirty="0"/>
              <a:t>												</a:t>
            </a:r>
            <a:r>
              <a:rPr lang="en-US" b="1" dirty="0"/>
              <a:t>Naan             -	What</a:t>
            </a:r>
          </a:p>
          <a:p>
            <a:pPr marL="385763" indent="-385763">
              <a:buAutoNum type="arabicParenR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Kore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wa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naan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desu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ka?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</a:rPr>
              <a:t>(What is this)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	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Kono-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hito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    -  This person</a:t>
            </a:r>
          </a:p>
          <a:p>
            <a:pPr marL="0" indent="0">
              <a:buNone/>
            </a:pPr>
            <a:r>
              <a:rPr lang="en-US" dirty="0"/>
              <a:t>Ans: </a:t>
            </a:r>
            <a:r>
              <a:rPr lang="en-US" dirty="0">
                <a:solidFill>
                  <a:srgbClr val="FF0000"/>
                </a:solidFill>
              </a:rPr>
              <a:t>kore </a:t>
            </a:r>
            <a:r>
              <a:rPr lang="en-US" dirty="0" err="1">
                <a:solidFill>
                  <a:srgbClr val="FF0000"/>
                </a:solidFill>
              </a:rPr>
              <a:t>wa</a:t>
            </a:r>
            <a:r>
              <a:rPr lang="en-US" dirty="0">
                <a:solidFill>
                  <a:srgbClr val="FF0000"/>
                </a:solidFill>
              </a:rPr>
              <a:t> ______</a:t>
            </a:r>
            <a:r>
              <a:rPr lang="en-US" dirty="0" err="1">
                <a:solidFill>
                  <a:srgbClr val="FF0000"/>
                </a:solidFill>
              </a:rPr>
              <a:t>desu</a:t>
            </a:r>
            <a:r>
              <a:rPr lang="en-US" dirty="0">
                <a:solidFill>
                  <a:srgbClr val="FF0000"/>
                </a:solidFill>
              </a:rPr>
              <a:t>.				 	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Sono-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hito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    -</a:t>
            </a:r>
            <a:r>
              <a:rPr lang="en-US" b="1" dirty="0">
                <a:solidFill>
                  <a:srgbClr val="FF0000"/>
                </a:solidFill>
              </a:rPr>
              <a:t> 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The person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								                        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Ano-Hito -</a:t>
            </a:r>
            <a:r>
              <a:rPr lang="en-US" b="1" dirty="0">
                <a:solidFill>
                  <a:srgbClr val="FF0000"/>
                </a:solidFill>
              </a:rPr>
              <a:t>    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That Person</a:t>
            </a:r>
          </a:p>
          <a:p>
            <a:pPr marL="385763" indent="-385763">
              <a:buAutoNum type="alphaUcParenR" startAt="2"/>
            </a:pPr>
            <a:r>
              <a:rPr lang="en-US" dirty="0">
                <a:solidFill>
                  <a:srgbClr val="FF0000"/>
                </a:solidFill>
              </a:rPr>
              <a:t>Kore </a:t>
            </a:r>
            <a:r>
              <a:rPr lang="en-US" dirty="0" err="1">
                <a:solidFill>
                  <a:srgbClr val="FF0000"/>
                </a:solidFill>
              </a:rPr>
              <a:t>wa</a:t>
            </a:r>
            <a:r>
              <a:rPr lang="en-US" dirty="0">
                <a:solidFill>
                  <a:srgbClr val="FF0000"/>
                </a:solidFill>
              </a:rPr>
              <a:t>_______</a:t>
            </a:r>
            <a:r>
              <a:rPr lang="en-US" dirty="0" err="1">
                <a:solidFill>
                  <a:srgbClr val="FF0000"/>
                </a:solidFill>
              </a:rPr>
              <a:t>jya-arimasen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>
                <a:highlight>
                  <a:srgbClr val="FFFF00"/>
                </a:highlight>
              </a:rPr>
              <a:t>(Negative tense)	</a:t>
            </a:r>
          </a:p>
          <a:p>
            <a:pPr marL="0" indent="0">
              <a:buNone/>
            </a:pPr>
            <a:endParaRPr lang="en-US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US" dirty="0"/>
              <a:t>2) Ano-</a:t>
            </a:r>
            <a:r>
              <a:rPr lang="en-US" dirty="0" err="1"/>
              <a:t>hito</a:t>
            </a:r>
            <a:r>
              <a:rPr lang="en-US" dirty="0"/>
              <a:t> </a:t>
            </a:r>
            <a:r>
              <a:rPr lang="en-US" dirty="0" err="1"/>
              <a:t>wa</a:t>
            </a:r>
            <a:r>
              <a:rPr lang="en-US" dirty="0"/>
              <a:t> </a:t>
            </a:r>
            <a:r>
              <a:rPr lang="en-US" b="1" u="sng" dirty="0">
                <a:highlight>
                  <a:srgbClr val="FFFF00"/>
                </a:highlight>
              </a:rPr>
              <a:t>dare</a:t>
            </a:r>
            <a:r>
              <a:rPr lang="en-US" b="1" dirty="0">
                <a:highlight>
                  <a:srgbClr val="FFFF00"/>
                </a:highlight>
              </a:rPr>
              <a:t> </a:t>
            </a:r>
            <a:r>
              <a:rPr lang="en-US" b="1" dirty="0" err="1">
                <a:highlight>
                  <a:srgbClr val="FFFF00"/>
                </a:highlight>
              </a:rPr>
              <a:t>desu</a:t>
            </a:r>
            <a:r>
              <a:rPr lang="en-US" b="1" dirty="0">
                <a:highlight>
                  <a:srgbClr val="FFFF00"/>
                </a:highlight>
              </a:rPr>
              <a:t> ka? </a:t>
            </a:r>
            <a:r>
              <a:rPr lang="en-US" b="1" dirty="0"/>
              <a:t>(Interrogative)</a:t>
            </a:r>
          </a:p>
          <a:p>
            <a:pPr marL="0" indent="0">
              <a:buNone/>
            </a:pPr>
            <a:r>
              <a:rPr lang="en-US" b="1" dirty="0"/>
              <a:t>Ans:  Ano-</a:t>
            </a:r>
            <a:r>
              <a:rPr lang="en-US" b="1" dirty="0" err="1"/>
              <a:t>hito</a:t>
            </a:r>
            <a:r>
              <a:rPr lang="en-US" b="1" dirty="0"/>
              <a:t> </a:t>
            </a:r>
            <a:r>
              <a:rPr lang="en-US" b="1" dirty="0" err="1"/>
              <a:t>wa</a:t>
            </a:r>
            <a:r>
              <a:rPr lang="en-US" b="1" dirty="0"/>
              <a:t>______</a:t>
            </a:r>
            <a:r>
              <a:rPr lang="en-US" b="1" dirty="0" err="1"/>
              <a:t>Saan</a:t>
            </a:r>
            <a:r>
              <a:rPr lang="en-US" b="1" dirty="0"/>
              <a:t> </a:t>
            </a:r>
            <a:r>
              <a:rPr lang="en-US" b="1" dirty="0" err="1"/>
              <a:t>desu</a:t>
            </a:r>
            <a:r>
              <a:rPr lang="en-US" b="1" dirty="0"/>
              <a:t>.</a:t>
            </a:r>
          </a:p>
          <a:p>
            <a:pPr marL="0" indent="0">
              <a:buNone/>
            </a:pPr>
            <a:r>
              <a:rPr lang="en-US" b="1" dirty="0"/>
              <a:t>Ano-</a:t>
            </a:r>
            <a:r>
              <a:rPr lang="en-US" b="1" dirty="0" err="1"/>
              <a:t>hito</a:t>
            </a:r>
            <a:r>
              <a:rPr lang="en-US" b="1" dirty="0"/>
              <a:t> </a:t>
            </a:r>
            <a:r>
              <a:rPr lang="en-US" b="1" dirty="0" err="1"/>
              <a:t>wa</a:t>
            </a:r>
            <a:r>
              <a:rPr lang="en-US" b="1" dirty="0"/>
              <a:t> ______</a:t>
            </a:r>
            <a:r>
              <a:rPr lang="en-US" b="1" dirty="0" err="1"/>
              <a:t>Saan</a:t>
            </a:r>
            <a:r>
              <a:rPr lang="en-US" b="1" dirty="0"/>
              <a:t> </a:t>
            </a:r>
            <a:r>
              <a:rPr lang="en-US" b="1" dirty="0" err="1"/>
              <a:t>jya-arimasen</a:t>
            </a:r>
            <a:r>
              <a:rPr lang="en-US" b="1" dirty="0"/>
              <a:t>. (Negative).</a:t>
            </a:r>
          </a:p>
        </p:txBody>
      </p:sp>
    </p:spTree>
    <p:extLst>
      <p:ext uri="{BB962C8B-B14F-4D97-AF65-F5344CB8AC3E}">
        <p14:creationId xmlns:p14="http://schemas.microsoft.com/office/powerpoint/2010/main" val="42278768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1002</TotalTime>
  <Words>1822</Words>
  <Application>Microsoft Office PowerPoint</Application>
  <PresentationFormat>On-screen Show (4:3)</PresentationFormat>
  <Paragraphs>208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Simple Tense Patterns</vt:lpstr>
      <vt:lpstr>PowerPoint Presentation</vt:lpstr>
      <vt:lpstr>[ja arimasen] = Negative Sentence</vt:lpstr>
      <vt:lpstr>[の - no] = relationship /Ownership</vt:lpstr>
      <vt:lpstr>Definitions</vt:lpstr>
      <vt:lpstr>Examples with Kore, Sore, Are</vt:lpstr>
      <vt:lpstr>PowerPoint Presentation</vt:lpstr>
      <vt:lpstr>Examples with Kono, Sono, Ano</vt:lpstr>
      <vt:lpstr>PowerPoint Presentation</vt:lpstr>
      <vt:lpstr>Using そうです / そうじゃありません</vt:lpstr>
      <vt:lpstr>Definition</vt:lpstr>
      <vt:lpstr>Example 1</vt:lpstr>
      <vt:lpstr>Example 2</vt:lpstr>
      <vt:lpstr>PowerPoint Presentation</vt:lpstr>
      <vt:lpstr>Japanese Grammar: S1 ka, S2 ka</vt:lpstr>
      <vt:lpstr>Definition of S1 ka, S2 ka</vt:lpstr>
      <vt:lpstr>Examples 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Irfan mohammed</cp:lastModifiedBy>
  <cp:revision>30</cp:revision>
  <dcterms:created xsi:type="dcterms:W3CDTF">2013-01-27T09:14:16Z</dcterms:created>
  <dcterms:modified xsi:type="dcterms:W3CDTF">2025-02-12T06:16:18Z</dcterms:modified>
  <cp:category/>
</cp:coreProperties>
</file>